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Total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Registered Students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Total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291</c:v>
                </c:pt>
                <c:pt idx="1">
                  <c:v>3</c:v>
                </c:pt>
                <c:pt idx="2">
                  <c:v>54</c:v>
                </c:pt>
                <c:pt idx="3">
                  <c:v>39</c:v>
                </c:pt>
                <c:pt idx="4">
                  <c:v>23</c:v>
                </c:pt>
                <c:pt idx="5">
                  <c:v>14</c:v>
                </c:pt>
                <c:pt idx="6">
                  <c:v>9</c:v>
                </c:pt>
                <c:pt idx="7">
                  <c:v>11</c:v>
                </c:pt>
                <c:pt idx="8">
                  <c:v>444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Placed Students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Total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263</c:v>
                </c:pt>
                <c:pt idx="1">
                  <c:v>3</c:v>
                </c:pt>
                <c:pt idx="2">
                  <c:v>44</c:v>
                </c:pt>
                <c:pt idx="3">
                  <c:v>38</c:v>
                </c:pt>
                <c:pt idx="4">
                  <c:v>15</c:v>
                </c:pt>
                <c:pt idx="5">
                  <c:v>10</c:v>
                </c:pt>
                <c:pt idx="6">
                  <c:v>7</c:v>
                </c:pt>
                <c:pt idx="7">
                  <c:v>11</c:v>
                </c:pt>
                <c:pt idx="8">
                  <c:v>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64822224"/>
        <c:axId val="-264825488"/>
      </c:barChart>
      <c:catAx>
        <c:axId val="-264822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64825488"/>
        <c:crosses val="autoZero"/>
        <c:auto val="1"/>
        <c:lblAlgn val="ctr"/>
        <c:lblOffset val="100"/>
        <c:noMultiLvlLbl val="0"/>
      </c:catAx>
      <c:valAx>
        <c:axId val="-264825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64822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arshan.ac.in/program/diploma-mechanical" TargetMode="External"/><Relationship Id="rId3" Type="http://schemas.openxmlformats.org/officeDocument/2006/relationships/hyperlink" Target="tel:07096979952" TargetMode="External"/><Relationship Id="rId7" Type="http://schemas.openxmlformats.org/officeDocument/2006/relationships/hyperlink" Target="https://darshan.ac.in/program/diploma-electrical" TargetMode="External"/><Relationship Id="rId2" Type="http://schemas.openxmlformats.org/officeDocument/2006/relationships/hyperlink" Target="https://admission.darshan.ac.in/?utm_source=DUWebsite&amp;utm_medium=display&amp;utm_campaign=programs-offered-page-apply-now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arshan.ac.in/program/diploma-civil" TargetMode="External"/><Relationship Id="rId5" Type="http://schemas.openxmlformats.org/officeDocument/2006/relationships/hyperlink" Target="https://darshan.ac.in/program/diploma-computer" TargetMode="External"/><Relationship Id="rId4" Type="http://schemas.openxmlformats.org/officeDocument/2006/relationships/hyperlink" Target="tel:07096979962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gujarat.gov.in/" TargetMode="External"/><Relationship Id="rId2" Type="http://schemas.openxmlformats.org/officeDocument/2006/relationships/hyperlink" Target="https://mysy.guj.nic.i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Darshan University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--Krish 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4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Darshan University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Darshan University (DU)</a:t>
            </a:r>
            <a:r>
              <a:rPr lang="en-US" dirty="0"/>
              <a:t> is a prominent institution offering a broad slate of academic programs and professional courses at the undergraduate, graduate, and postgraduate levels in </a:t>
            </a:r>
            <a:r>
              <a:rPr lang="en-US" b="1" dirty="0"/>
              <a:t>Engineering &amp; Technology, Science, Management,</a:t>
            </a:r>
            <a:r>
              <a:rPr lang="en-US" dirty="0"/>
              <a:t> and </a:t>
            </a:r>
            <a:r>
              <a:rPr lang="en-US" b="1" dirty="0" smtClean="0"/>
              <a:t>Yoga</a:t>
            </a:r>
          </a:p>
          <a:p>
            <a:r>
              <a:rPr lang="en-US" dirty="0"/>
              <a:t>The University is located in peaceful and sylvan surroundings with a distinctive collegiate structure, about 19 km from Rajkot, Gujarat, India. It was established as an Engineering Institute in 2009 by </a:t>
            </a:r>
            <a:r>
              <a:rPr lang="en-US" b="1" dirty="0"/>
              <a:t>Shree G. N. Patel Education &amp; Charitable Trust</a:t>
            </a:r>
            <a:r>
              <a:rPr lang="en-US" dirty="0"/>
              <a:t> with the objective of imparting quality education and training in various fields of Engineering and Technology. </a:t>
            </a:r>
            <a:endParaRPr lang="en-US" dirty="0" smtClean="0"/>
          </a:p>
          <a:p>
            <a:r>
              <a:rPr lang="en-US" dirty="0"/>
              <a:t>It has since been transformed into </a:t>
            </a:r>
            <a:r>
              <a:rPr lang="en-US" b="1" dirty="0"/>
              <a:t>Darshan University</a:t>
            </a:r>
            <a:r>
              <a:rPr lang="en-US" dirty="0"/>
              <a:t> through an Act by the </a:t>
            </a:r>
            <a:r>
              <a:rPr lang="en-US" b="1" dirty="0"/>
              <a:t>Government of Gujarat under the Gujarat State Private Universities (Amendment) Act, 2021 (Act No. 15).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Ramnik G. Dhamsaniya</a:t>
            </a:r>
            <a:br>
              <a:rPr lang="en-US" b="1" dirty="0"/>
            </a:br>
            <a:r>
              <a:rPr lang="en-US" b="1" dirty="0"/>
              <a:t>Manish V. Sanghani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18" y="2160588"/>
            <a:ext cx="3684552" cy="3881437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4" y="2160588"/>
            <a:ext cx="3963152" cy="3881437"/>
          </a:xfrm>
        </p:spPr>
      </p:pic>
    </p:spTree>
    <p:extLst>
      <p:ext uri="{BB962C8B-B14F-4D97-AF65-F5344CB8AC3E}">
        <p14:creationId xmlns:p14="http://schemas.microsoft.com/office/powerpoint/2010/main" val="204155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Offered (About Darshan University and Our Motto)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2652043"/>
          </a:xfrm>
        </p:spPr>
        <p:txBody>
          <a:bodyPr/>
          <a:lstStyle/>
          <a:p>
            <a:r>
              <a:rPr lang="en-US" b="1" dirty="0"/>
              <a:t>Admission 2026</a:t>
            </a:r>
            <a:endParaRPr lang="en-US" dirty="0"/>
          </a:p>
          <a:p>
            <a:r>
              <a:rPr lang="en-US" dirty="0"/>
              <a:t>Direct Admission for all programs has already started.</a:t>
            </a:r>
          </a:p>
          <a:p>
            <a:r>
              <a:rPr lang="en-US" dirty="0">
                <a:hlinkClick r:id="rId2"/>
              </a:rPr>
              <a:t>Apply Now</a:t>
            </a:r>
            <a:endParaRPr lang="en-US" dirty="0"/>
          </a:p>
          <a:p>
            <a:r>
              <a:rPr lang="en-US" b="1" dirty="0"/>
              <a:t>For admission regarding query: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r>
              <a:rPr lang="en-US" dirty="0">
                <a:hlinkClick r:id="rId3"/>
              </a:rPr>
              <a:t>+91-7096979952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r>
              <a:rPr lang="en-US" dirty="0">
                <a:hlinkClick r:id="rId4"/>
              </a:rPr>
              <a:t>+91-7096979962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2242969"/>
          </a:xfrm>
        </p:spPr>
        <p:txBody>
          <a:bodyPr/>
          <a:lstStyle/>
          <a:p>
            <a:r>
              <a:rPr lang="en-US" b="1" dirty="0"/>
              <a:t>Diploma (After 10</a:t>
            </a:r>
            <a:r>
              <a:rPr lang="en-US" b="1" baseline="30000" dirty="0"/>
              <a:t>th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>
                <a:hlinkClick r:id="rId5"/>
              </a:rPr>
              <a:t> Computer Engineering</a:t>
            </a:r>
            <a:endParaRPr lang="en-US" dirty="0"/>
          </a:p>
          <a:p>
            <a:r>
              <a:rPr lang="en-US" dirty="0">
                <a:hlinkClick r:id="rId6"/>
              </a:rPr>
              <a:t> Civil Engineering</a:t>
            </a:r>
            <a:endParaRPr lang="en-US" dirty="0"/>
          </a:p>
          <a:p>
            <a:r>
              <a:rPr lang="en-US" dirty="0">
                <a:hlinkClick r:id="rId7"/>
              </a:rPr>
              <a:t> Electrical Engineering</a:t>
            </a:r>
            <a:endParaRPr lang="en-US" dirty="0"/>
          </a:p>
          <a:p>
            <a:r>
              <a:rPr lang="en-US" dirty="0">
                <a:hlinkClick r:id="rId8"/>
              </a:rPr>
              <a:t> Mechanical Engineering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4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Darshan University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434095"/>
          </a:xfrm>
        </p:spPr>
        <p:txBody>
          <a:bodyPr/>
          <a:lstStyle/>
          <a:p>
            <a:r>
              <a:rPr lang="en-US" b="1" dirty="0" smtClean="0"/>
              <a:t>Academic </a:t>
            </a:r>
            <a:r>
              <a:rPr lang="en-US" b="1" dirty="0"/>
              <a:t>Staff</a:t>
            </a:r>
          </a:p>
          <a:p>
            <a:r>
              <a:rPr lang="en-US" dirty="0"/>
              <a:t>Well-Qualified, Experienced, Industry Linked and Dedicated Academic Staff</a:t>
            </a:r>
            <a:r>
              <a:rPr lang="en-US" dirty="0" smtClean="0"/>
              <a:t>.</a:t>
            </a:r>
          </a:p>
          <a:p>
            <a:r>
              <a:rPr lang="en-US" b="1" dirty="0"/>
              <a:t>Industry Oriented Curriculum</a:t>
            </a:r>
          </a:p>
          <a:p>
            <a:r>
              <a:rPr lang="en-US" dirty="0"/>
              <a:t>Curriculum includes latest technologies as per industry demands.</a:t>
            </a:r>
          </a:p>
          <a:p>
            <a:r>
              <a:rPr lang="en-US" b="1" dirty="0" smtClean="0"/>
              <a:t>Project-based </a:t>
            </a:r>
            <a:r>
              <a:rPr lang="en-US" b="1" dirty="0"/>
              <a:t>Learning</a:t>
            </a:r>
          </a:p>
          <a:p>
            <a:r>
              <a:rPr lang="en-US" dirty="0"/>
              <a:t>Extensive student-corporate interaction through internships and projects</a:t>
            </a:r>
            <a:r>
              <a:rPr lang="en-US" dirty="0" smtClean="0"/>
              <a:t>.</a:t>
            </a:r>
          </a:p>
          <a:p>
            <a:r>
              <a:rPr lang="en-US" b="1" dirty="0"/>
              <a:t>Skill Development Activities</a:t>
            </a:r>
          </a:p>
          <a:p>
            <a:r>
              <a:rPr lang="en-US" dirty="0"/>
              <a:t>Focus on skill development activities to make students industry-ready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9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Scholarships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47537"/>
            <a:ext cx="8596668" cy="4693825"/>
          </a:xfrm>
        </p:spPr>
        <p:txBody>
          <a:bodyPr/>
          <a:lstStyle/>
          <a:p>
            <a:r>
              <a:rPr lang="en-US" b="1" dirty="0"/>
              <a:t>[1]   </a:t>
            </a:r>
            <a:r>
              <a:rPr lang="en-US" b="1" dirty="0">
                <a:hlinkClick r:id="rId2" tooltip="Mukhyamantri Yuva Swalamban Yojana"/>
              </a:rPr>
              <a:t>MYSY (</a:t>
            </a:r>
            <a:r>
              <a:rPr lang="en-US" b="1" dirty="0" err="1">
                <a:hlinkClick r:id="rId2" tooltip="Mukhyamantri Yuva Swalamban Yojana"/>
              </a:rPr>
              <a:t>Mukhyamantri</a:t>
            </a:r>
            <a:r>
              <a:rPr lang="en-US" b="1" dirty="0">
                <a:hlinkClick r:id="rId2" tooltip="Mukhyamantri Yuva Swalamban Yojana"/>
              </a:rPr>
              <a:t> </a:t>
            </a:r>
            <a:r>
              <a:rPr lang="en-US" b="1" dirty="0" err="1">
                <a:hlinkClick r:id="rId2" tooltip="Mukhyamantri Yuva Swalamban Yojana"/>
              </a:rPr>
              <a:t>Yuva</a:t>
            </a:r>
            <a:r>
              <a:rPr lang="en-US" b="1" dirty="0">
                <a:hlinkClick r:id="rId2" tooltip="Mukhyamantri Yuva Swalamban Yojana"/>
              </a:rPr>
              <a:t> </a:t>
            </a:r>
            <a:r>
              <a:rPr lang="en-US" b="1" dirty="0" err="1">
                <a:hlinkClick r:id="rId2" tooltip="Mukhyamantri Yuva Swalamban Yojana"/>
              </a:rPr>
              <a:t>Swalamban</a:t>
            </a:r>
            <a:r>
              <a:rPr lang="en-US" b="1" dirty="0">
                <a:hlinkClick r:id="rId2" tooltip="Mukhyamantri Yuva Swalamban Yojana"/>
              </a:rPr>
              <a:t> </a:t>
            </a:r>
            <a:r>
              <a:rPr lang="en-US" b="1" dirty="0" err="1">
                <a:hlinkClick r:id="rId2" tooltip="Mukhyamantri Yuva Swalamban Yojana"/>
              </a:rPr>
              <a:t>Yojana</a:t>
            </a:r>
            <a:r>
              <a:rPr lang="en-US" b="1" dirty="0">
                <a:hlinkClick r:id="rId2" tooltip="Mukhyamantri Yuva Swalamban Yojana"/>
              </a:rPr>
              <a:t>)</a:t>
            </a:r>
            <a:r>
              <a:rPr lang="en-US" b="1" dirty="0"/>
              <a:t> </a:t>
            </a:r>
          </a:p>
          <a:p>
            <a:r>
              <a:rPr lang="en-US" b="1" dirty="0"/>
              <a:t>Eligibility: </a:t>
            </a:r>
            <a:r>
              <a:rPr lang="en-US" dirty="0"/>
              <a:t>Student must have secured 80 or more Percentile in 10</a:t>
            </a:r>
            <a:r>
              <a:rPr lang="en-US" baseline="30000" dirty="0"/>
              <a:t>th</a:t>
            </a:r>
            <a:r>
              <a:rPr lang="en-US" dirty="0"/>
              <a:t> / 12</a:t>
            </a:r>
            <a:r>
              <a:rPr lang="en-US" baseline="30000" dirty="0"/>
              <a:t>th</a:t>
            </a:r>
            <a:r>
              <a:rPr lang="en-US" dirty="0"/>
              <a:t> exam and family income must be less than </a:t>
            </a:r>
            <a:r>
              <a:rPr lang="en-US" dirty="0" err="1"/>
              <a:t>Rs</a:t>
            </a:r>
            <a:r>
              <a:rPr lang="en-US" dirty="0"/>
              <a:t>. 6 lakh/annum.</a:t>
            </a:r>
          </a:p>
          <a:p>
            <a:r>
              <a:rPr lang="en-US" b="1" dirty="0"/>
              <a:t>Amount of Scholarship:</a:t>
            </a:r>
            <a:endParaRPr lang="en-US" dirty="0"/>
          </a:p>
          <a:p>
            <a:pPr lvl="1"/>
            <a:r>
              <a:rPr lang="en-US" b="1" dirty="0"/>
              <a:t>For Degree Engineering: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. 50,000/- or 50% of tuition fees whichever is less.</a:t>
            </a:r>
          </a:p>
          <a:p>
            <a:pPr lvl="1"/>
            <a:r>
              <a:rPr lang="en-US" b="1" dirty="0"/>
              <a:t>For Diploma Engineering: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. 25,000/- or 50% of tuition fees whichever is less.</a:t>
            </a:r>
          </a:p>
          <a:p>
            <a:pPr lvl="1"/>
            <a:r>
              <a:rPr lang="en-US" b="1" dirty="0"/>
              <a:t>For </a:t>
            </a:r>
            <a:r>
              <a:rPr lang="en-US" b="1" dirty="0" err="1"/>
              <a:t>B.Com</a:t>
            </a:r>
            <a:r>
              <a:rPr lang="en-US" b="1" dirty="0"/>
              <a:t>./BBA/BCA/B.Sc.:</a:t>
            </a:r>
            <a:r>
              <a:rPr lang="en-US" dirty="0"/>
              <a:t> Up to </a:t>
            </a:r>
            <a:r>
              <a:rPr lang="en-US" dirty="0" err="1"/>
              <a:t>Rs</a:t>
            </a:r>
            <a:r>
              <a:rPr lang="en-US" dirty="0"/>
              <a:t>. 10,000/- or 50% of tuition fees whichever is less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[2]   </a:t>
            </a:r>
            <a:r>
              <a:rPr lang="en-US" b="1" dirty="0">
                <a:hlinkClick r:id="rId3" tooltip="Scholarships for Scheduled Caste Candidates"/>
              </a:rPr>
              <a:t>Scholarships for SC/ST Students</a:t>
            </a:r>
            <a:r>
              <a:rPr lang="en-US" b="1" dirty="0"/>
              <a:t> </a:t>
            </a:r>
          </a:p>
          <a:p>
            <a:r>
              <a:rPr lang="en-US" b="1" dirty="0"/>
              <a:t>Eligibility: </a:t>
            </a:r>
            <a:r>
              <a:rPr lang="en-US" dirty="0"/>
              <a:t>Student must belong to SC or ST category and family income must be less than </a:t>
            </a:r>
            <a:r>
              <a:rPr lang="en-US" dirty="0" err="1"/>
              <a:t>Rs</a:t>
            </a:r>
            <a:r>
              <a:rPr lang="en-US" dirty="0"/>
              <a:t>. 2,50,000/annum.</a:t>
            </a:r>
          </a:p>
          <a:p>
            <a:r>
              <a:rPr lang="en-US" b="1" dirty="0"/>
              <a:t>Amount of Scholarship:</a:t>
            </a:r>
            <a:r>
              <a:rPr lang="en-US" dirty="0"/>
              <a:t> Approximately 100% of tuition fees as per Government norms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29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Placement of Last 3 years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777298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86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114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Darshan University</vt:lpstr>
      <vt:lpstr>About Darshan University</vt:lpstr>
      <vt:lpstr>Ramnik G. Dhamsaniya Manish V. Sanghani </vt:lpstr>
      <vt:lpstr>Program Offered (About Darshan University and Our Motto)</vt:lpstr>
      <vt:lpstr>Why Darshan University ?</vt:lpstr>
      <vt:lpstr>Scholarships</vt:lpstr>
      <vt:lpstr>Placement of Last 3 years</vt:lpstr>
      <vt:lpstr>Course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Darshan University</dc:title>
  <dc:creator>student</dc:creator>
  <cp:lastModifiedBy>student</cp:lastModifiedBy>
  <cp:revision>11</cp:revision>
  <dcterms:created xsi:type="dcterms:W3CDTF">2026-03-10T09:32:48Z</dcterms:created>
  <dcterms:modified xsi:type="dcterms:W3CDTF">2026-03-10T10:04:55Z</dcterms:modified>
</cp:coreProperties>
</file>