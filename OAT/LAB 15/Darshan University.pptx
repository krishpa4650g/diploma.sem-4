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0" d="100"/>
          <a:sy n="80" d="100"/>
        </p:scale>
        <p:origin x="3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Program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Total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Registered Students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Total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291</c:v>
                </c:pt>
                <c:pt idx="1">
                  <c:v>3</c:v>
                </c:pt>
                <c:pt idx="2">
                  <c:v>54</c:v>
                </c:pt>
                <c:pt idx="3">
                  <c:v>39</c:v>
                </c:pt>
                <c:pt idx="4">
                  <c:v>23</c:v>
                </c:pt>
                <c:pt idx="5">
                  <c:v>14</c:v>
                </c:pt>
                <c:pt idx="6">
                  <c:v>9</c:v>
                </c:pt>
                <c:pt idx="7">
                  <c:v>11</c:v>
                </c:pt>
                <c:pt idx="8">
                  <c:v>444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Placed Students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Total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263</c:v>
                </c:pt>
                <c:pt idx="1">
                  <c:v>3</c:v>
                </c:pt>
                <c:pt idx="2">
                  <c:v>44</c:v>
                </c:pt>
                <c:pt idx="3">
                  <c:v>38</c:v>
                </c:pt>
                <c:pt idx="4">
                  <c:v>15</c:v>
                </c:pt>
                <c:pt idx="5">
                  <c:v>10</c:v>
                </c:pt>
                <c:pt idx="6">
                  <c:v>7</c:v>
                </c:pt>
                <c:pt idx="7">
                  <c:v>11</c:v>
                </c:pt>
                <c:pt idx="8">
                  <c:v>391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73680656"/>
        <c:axId val="1573682288"/>
      </c:barChart>
      <c:catAx>
        <c:axId val="15736806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3682288"/>
        <c:crosses val="autoZero"/>
        <c:auto val="1"/>
        <c:lblAlgn val="ctr"/>
        <c:lblOffset val="100"/>
        <c:noMultiLvlLbl val="0"/>
      </c:catAx>
      <c:valAx>
        <c:axId val="157368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3680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C889F8-72DB-4C27-A57D-E973D66B94F0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F5007-C38D-475B-8D28-5D969F5EEA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10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9F5007-C38D-475B-8D28-5D969F5EEA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81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B66E6-D932-401C-81BD-92868731F7FD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C183F-35EA-4608-8D4B-A60AE6E1F299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AAA21-335B-484C-91C4-1225EDE02A64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7FE47-6AAA-45D8-9B77-0D5F4FB9A9E8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F1BE0-49EE-4684-838E-7C6FF8F1AD86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FB99-CD45-430F-9BF6-9F2E8C99DE08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A68CA9-60A1-4098-ABF6-052B175F8102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5B0D3-9D07-4084-948B-5459E1668C5D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2601D-AA31-4739-9C49-01B4AC0A2AFB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A2DAA-AC99-4662-8053-69E6FF387E1F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79D01-BFD4-41A5-8886-FE566956E41A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FC4D9D-FD72-45F8-AC9A-9E7051D16DE4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5F47E-24F3-4F62-92C4-721725C7DC1B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D3067B-F28C-4BA1-9338-399D96285EC5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A520-24DE-4769-95BF-E9952B96C66D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237CA-2F9C-47A0-8287-86549BC94B91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1CF59-9E54-443E-8A39-1BBB45C05E94}" type="datetime1">
              <a:rPr lang="en-US" smtClean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rshan.ac.in/program/diploma-mechanical" TargetMode="External"/><Relationship Id="rId3" Type="http://schemas.openxmlformats.org/officeDocument/2006/relationships/hyperlink" Target="tel:07096979952" TargetMode="External"/><Relationship Id="rId7" Type="http://schemas.openxmlformats.org/officeDocument/2006/relationships/hyperlink" Target="https://darshan.ac.in/program/diploma-electrical" TargetMode="External"/><Relationship Id="rId2" Type="http://schemas.openxmlformats.org/officeDocument/2006/relationships/hyperlink" Target="https://admission.darshan.ac.in/?utm_source=DUWebsite&amp;utm_medium=display&amp;utm_campaign=programs-offered-page-apply-now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arshan.ac.in/program/diploma-civil" TargetMode="External"/><Relationship Id="rId5" Type="http://schemas.openxmlformats.org/officeDocument/2006/relationships/hyperlink" Target="https://darshan.ac.in/program/diploma-computer" TargetMode="External"/><Relationship Id="rId4" Type="http://schemas.openxmlformats.org/officeDocument/2006/relationships/hyperlink" Target="tel:07096979962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gujarat.gov.in/" TargetMode="External"/><Relationship Id="rId2" Type="http://schemas.openxmlformats.org/officeDocument/2006/relationships/hyperlink" Target="https://mysy.guj.nic.in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Darshan University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--Krish Patel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241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About Darshan University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Darshan University (DU)</a:t>
            </a:r>
            <a:r>
              <a:rPr lang="en-US" dirty="0"/>
              <a:t> is a prominent institution offering a broad slate of academic programs and professional courses at the undergraduate, graduate, and postgraduate levels in </a:t>
            </a:r>
            <a:r>
              <a:rPr lang="en-US" b="1" dirty="0"/>
              <a:t>Engineering &amp; Technology, Science, Management,</a:t>
            </a:r>
            <a:r>
              <a:rPr lang="en-US" dirty="0"/>
              <a:t> and </a:t>
            </a:r>
            <a:r>
              <a:rPr lang="en-US" b="1" dirty="0" smtClean="0"/>
              <a:t>Yoga</a:t>
            </a:r>
          </a:p>
          <a:p>
            <a:r>
              <a:rPr lang="en-US" dirty="0"/>
              <a:t>The University is located in peaceful and sylvan surroundings with a distinctive collegiate structure, about 19 km from Rajkot, Gujarat, India. It was established as an Engineering Institute in 2009 by </a:t>
            </a:r>
            <a:r>
              <a:rPr lang="en-US" b="1" dirty="0"/>
              <a:t>Shree G. N. Patel Education &amp; Charitable Trust</a:t>
            </a:r>
            <a:r>
              <a:rPr lang="en-US" dirty="0"/>
              <a:t> with the objective of imparting quality education and training in various fields of Engineering and Technology. </a:t>
            </a:r>
            <a:endParaRPr lang="en-US" dirty="0" smtClean="0"/>
          </a:p>
          <a:p>
            <a:r>
              <a:rPr lang="en-US" dirty="0"/>
              <a:t>It has since been transformed into </a:t>
            </a:r>
            <a:r>
              <a:rPr lang="en-US" b="1" dirty="0"/>
              <a:t>Darshan University</a:t>
            </a:r>
            <a:r>
              <a:rPr lang="en-US" dirty="0"/>
              <a:t> through an Act by the </a:t>
            </a:r>
            <a:r>
              <a:rPr lang="en-US" b="1" dirty="0"/>
              <a:t>Government of Gujarat under the Gujarat State Private Universities (Amendment) Act, 2021 (Act No. 15).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24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Ramnik G. Dhamsaniya</a:t>
            </a:r>
            <a:br>
              <a:rPr lang="en-US" b="1" dirty="0"/>
            </a:br>
            <a:r>
              <a:rPr lang="en-US" b="1" dirty="0"/>
              <a:t>Manish V. Sanghani</a:t>
            </a:r>
            <a:br>
              <a:rPr lang="en-US" b="1" dirty="0"/>
            </a:b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18" y="2160588"/>
            <a:ext cx="3684552" cy="3881437"/>
          </a:xfr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74" y="2160588"/>
            <a:ext cx="3963152" cy="3881437"/>
          </a:xfr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553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 Offered (About Darshan University and Our Motto)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2652043"/>
          </a:xfrm>
        </p:spPr>
        <p:txBody>
          <a:bodyPr/>
          <a:lstStyle/>
          <a:p>
            <a:r>
              <a:rPr lang="en-US" b="1" dirty="0"/>
              <a:t>Admission 2026</a:t>
            </a:r>
            <a:endParaRPr lang="en-US" dirty="0"/>
          </a:p>
          <a:p>
            <a:r>
              <a:rPr lang="en-US" dirty="0"/>
              <a:t>Direct Admission for all programs has already started.</a:t>
            </a:r>
          </a:p>
          <a:p>
            <a:r>
              <a:rPr lang="en-US" dirty="0">
                <a:hlinkClick r:id="rId2"/>
              </a:rPr>
              <a:t>Apply Now</a:t>
            </a:r>
            <a:endParaRPr lang="en-US" dirty="0"/>
          </a:p>
          <a:p>
            <a:r>
              <a:rPr lang="en-US" b="1" dirty="0"/>
              <a:t>For admission regarding query: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 </a:t>
            </a:r>
            <a:r>
              <a:rPr lang="en-US" dirty="0">
                <a:hlinkClick r:id="rId3"/>
              </a:rPr>
              <a:t>+91-7096979952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 </a:t>
            </a:r>
            <a:r>
              <a:rPr lang="en-US" dirty="0">
                <a:hlinkClick r:id="rId4"/>
              </a:rPr>
              <a:t>+91-7096979962</a:t>
            </a:r>
            <a:endParaRPr lang="en-US" dirty="0"/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2242969"/>
          </a:xfrm>
        </p:spPr>
        <p:txBody>
          <a:bodyPr/>
          <a:lstStyle/>
          <a:p>
            <a:r>
              <a:rPr lang="en-US" b="1" dirty="0"/>
              <a:t>Diploma (After 10</a:t>
            </a:r>
            <a:r>
              <a:rPr lang="en-US" b="1" baseline="30000" dirty="0"/>
              <a:t>th</a:t>
            </a:r>
            <a:r>
              <a:rPr lang="en-US" b="1" dirty="0"/>
              <a:t>)</a:t>
            </a:r>
            <a:endParaRPr lang="en-US" dirty="0"/>
          </a:p>
          <a:p>
            <a:r>
              <a:rPr lang="en-US" dirty="0">
                <a:hlinkClick r:id="rId5"/>
              </a:rPr>
              <a:t> Computer Engineering</a:t>
            </a:r>
            <a:endParaRPr lang="en-US" dirty="0"/>
          </a:p>
          <a:p>
            <a:r>
              <a:rPr lang="en-US" dirty="0">
                <a:hlinkClick r:id="rId6"/>
              </a:rPr>
              <a:t> Civil Engineering</a:t>
            </a:r>
            <a:endParaRPr lang="en-US" dirty="0"/>
          </a:p>
          <a:p>
            <a:r>
              <a:rPr lang="en-US" dirty="0">
                <a:hlinkClick r:id="rId7"/>
              </a:rPr>
              <a:t> Electrical Engineering</a:t>
            </a:r>
            <a:endParaRPr lang="en-US" dirty="0"/>
          </a:p>
          <a:p>
            <a:r>
              <a:rPr lang="en-US" dirty="0">
                <a:hlinkClick r:id="rId8"/>
              </a:rPr>
              <a:t> Mechanical Engineering</a:t>
            </a:r>
            <a:endParaRPr lang="en-US" dirty="0"/>
          </a:p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7342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Darshan University 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434095"/>
          </a:xfrm>
        </p:spPr>
        <p:txBody>
          <a:bodyPr/>
          <a:lstStyle/>
          <a:p>
            <a:r>
              <a:rPr lang="en-US" b="1" dirty="0" smtClean="0"/>
              <a:t>Academic </a:t>
            </a:r>
            <a:r>
              <a:rPr lang="en-US" b="1" dirty="0"/>
              <a:t>Staff</a:t>
            </a:r>
          </a:p>
          <a:p>
            <a:r>
              <a:rPr lang="en-US" dirty="0"/>
              <a:t>Well-Qualified, Experienced, Industry Linked and Dedicated Academic Staff</a:t>
            </a:r>
            <a:r>
              <a:rPr lang="en-US" dirty="0" smtClean="0"/>
              <a:t>.</a:t>
            </a:r>
          </a:p>
          <a:p>
            <a:r>
              <a:rPr lang="en-US" b="1" dirty="0"/>
              <a:t>Industry Oriented Curriculum</a:t>
            </a:r>
          </a:p>
          <a:p>
            <a:r>
              <a:rPr lang="en-US" dirty="0"/>
              <a:t>Curriculum includes latest technologies as per industry demands.</a:t>
            </a:r>
          </a:p>
          <a:p>
            <a:r>
              <a:rPr lang="en-US" b="1" dirty="0" smtClean="0"/>
              <a:t>Project-based </a:t>
            </a:r>
            <a:r>
              <a:rPr lang="en-US" b="1" dirty="0"/>
              <a:t>Learning</a:t>
            </a:r>
          </a:p>
          <a:p>
            <a:r>
              <a:rPr lang="en-US" dirty="0"/>
              <a:t>Extensive student-corporate interaction through internships and projects</a:t>
            </a:r>
            <a:r>
              <a:rPr lang="en-US" dirty="0" smtClean="0"/>
              <a:t>.</a:t>
            </a:r>
          </a:p>
          <a:p>
            <a:r>
              <a:rPr lang="en-US" b="1" dirty="0"/>
              <a:t>Skill Development Activities</a:t>
            </a:r>
          </a:p>
          <a:p>
            <a:r>
              <a:rPr lang="en-US" dirty="0"/>
              <a:t>Focus on skill development activities to make students industry-ready</a:t>
            </a:r>
            <a:r>
              <a:rPr lang="en-US" dirty="0" smtClean="0"/>
              <a:t>.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192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/>
              <a:t>Scholarships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347537"/>
            <a:ext cx="8596668" cy="4693825"/>
          </a:xfrm>
        </p:spPr>
        <p:txBody>
          <a:bodyPr/>
          <a:lstStyle/>
          <a:p>
            <a:r>
              <a:rPr lang="en-US" b="1" dirty="0"/>
              <a:t>[1]   </a:t>
            </a:r>
            <a:r>
              <a:rPr lang="en-US" b="1" dirty="0">
                <a:hlinkClick r:id="rId2" tooltip="Mukhyamantri Yuva Swalamban Yojana"/>
              </a:rPr>
              <a:t>MYSY (</a:t>
            </a:r>
            <a:r>
              <a:rPr lang="en-US" b="1" dirty="0" err="1">
                <a:hlinkClick r:id="rId2" tooltip="Mukhyamantri Yuva Swalamban Yojana"/>
              </a:rPr>
              <a:t>Mukhyamantri</a:t>
            </a:r>
            <a:r>
              <a:rPr lang="en-US" b="1" dirty="0">
                <a:hlinkClick r:id="rId2" tooltip="Mukhyamantri Yuva Swalamban Yojana"/>
              </a:rPr>
              <a:t> </a:t>
            </a:r>
            <a:r>
              <a:rPr lang="en-US" b="1" dirty="0" err="1">
                <a:hlinkClick r:id="rId2" tooltip="Mukhyamantri Yuva Swalamban Yojana"/>
              </a:rPr>
              <a:t>Yuva</a:t>
            </a:r>
            <a:r>
              <a:rPr lang="en-US" b="1" dirty="0">
                <a:hlinkClick r:id="rId2" tooltip="Mukhyamantri Yuva Swalamban Yojana"/>
              </a:rPr>
              <a:t> </a:t>
            </a:r>
            <a:r>
              <a:rPr lang="en-US" b="1" dirty="0" err="1">
                <a:hlinkClick r:id="rId2" tooltip="Mukhyamantri Yuva Swalamban Yojana"/>
              </a:rPr>
              <a:t>Swalamban</a:t>
            </a:r>
            <a:r>
              <a:rPr lang="en-US" b="1" dirty="0">
                <a:hlinkClick r:id="rId2" tooltip="Mukhyamantri Yuva Swalamban Yojana"/>
              </a:rPr>
              <a:t> </a:t>
            </a:r>
            <a:r>
              <a:rPr lang="en-US" b="1" dirty="0" err="1">
                <a:hlinkClick r:id="rId2" tooltip="Mukhyamantri Yuva Swalamban Yojana"/>
              </a:rPr>
              <a:t>Yojana</a:t>
            </a:r>
            <a:r>
              <a:rPr lang="en-US" b="1" dirty="0">
                <a:hlinkClick r:id="rId2" tooltip="Mukhyamantri Yuva Swalamban Yojana"/>
              </a:rPr>
              <a:t>)</a:t>
            </a:r>
            <a:r>
              <a:rPr lang="en-US" b="1" dirty="0"/>
              <a:t> </a:t>
            </a:r>
          </a:p>
          <a:p>
            <a:r>
              <a:rPr lang="en-US" b="1" dirty="0"/>
              <a:t>Eligibility: </a:t>
            </a:r>
            <a:r>
              <a:rPr lang="en-US" dirty="0"/>
              <a:t>Student must have secured 80 or more Percentile in 10</a:t>
            </a:r>
            <a:r>
              <a:rPr lang="en-US" baseline="30000" dirty="0"/>
              <a:t>th</a:t>
            </a:r>
            <a:r>
              <a:rPr lang="en-US" dirty="0"/>
              <a:t> / 12</a:t>
            </a:r>
            <a:r>
              <a:rPr lang="en-US" baseline="30000" dirty="0"/>
              <a:t>th</a:t>
            </a:r>
            <a:r>
              <a:rPr lang="en-US" dirty="0"/>
              <a:t> exam and family income must be less than </a:t>
            </a:r>
            <a:r>
              <a:rPr lang="en-US" dirty="0" err="1"/>
              <a:t>Rs</a:t>
            </a:r>
            <a:r>
              <a:rPr lang="en-US" dirty="0"/>
              <a:t>. 6 lakh/annum.</a:t>
            </a:r>
          </a:p>
          <a:p>
            <a:r>
              <a:rPr lang="en-US" b="1" dirty="0"/>
              <a:t>Amount of Scholarship:</a:t>
            </a:r>
            <a:endParaRPr lang="en-US" dirty="0"/>
          </a:p>
          <a:p>
            <a:pPr lvl="1"/>
            <a:r>
              <a:rPr lang="en-US" b="1" dirty="0"/>
              <a:t>For Degree Engineering:</a:t>
            </a:r>
            <a:r>
              <a:rPr lang="en-US" dirty="0"/>
              <a:t> </a:t>
            </a:r>
            <a:r>
              <a:rPr lang="en-US" dirty="0" err="1"/>
              <a:t>Rs</a:t>
            </a:r>
            <a:r>
              <a:rPr lang="en-US" dirty="0"/>
              <a:t>. 50,000/- or 50% of tuition fees whichever is less.</a:t>
            </a:r>
          </a:p>
          <a:p>
            <a:pPr lvl="1"/>
            <a:r>
              <a:rPr lang="en-US" b="1" dirty="0"/>
              <a:t>For Diploma Engineering:</a:t>
            </a:r>
            <a:r>
              <a:rPr lang="en-US" dirty="0"/>
              <a:t> </a:t>
            </a:r>
            <a:r>
              <a:rPr lang="en-US" dirty="0" err="1"/>
              <a:t>Rs</a:t>
            </a:r>
            <a:r>
              <a:rPr lang="en-US" dirty="0"/>
              <a:t>. 25,000/- or 50% of tuition fees whichever is less.</a:t>
            </a:r>
          </a:p>
          <a:p>
            <a:pPr lvl="1"/>
            <a:r>
              <a:rPr lang="en-US" b="1" dirty="0"/>
              <a:t>For </a:t>
            </a:r>
            <a:r>
              <a:rPr lang="en-US" b="1" dirty="0" err="1"/>
              <a:t>B.Com</a:t>
            </a:r>
            <a:r>
              <a:rPr lang="en-US" b="1" dirty="0"/>
              <a:t>./BBA/BCA/B.Sc.:</a:t>
            </a:r>
            <a:r>
              <a:rPr lang="en-US" dirty="0"/>
              <a:t> Up to </a:t>
            </a:r>
            <a:r>
              <a:rPr lang="en-US" dirty="0" err="1"/>
              <a:t>Rs</a:t>
            </a:r>
            <a:r>
              <a:rPr lang="en-US" dirty="0"/>
              <a:t>. 10,000/- or 50% of tuition fees whichever is less</a:t>
            </a:r>
            <a:r>
              <a:rPr lang="en-US" dirty="0" smtClean="0"/>
              <a:t>.</a:t>
            </a:r>
            <a:endParaRPr lang="en-US" dirty="0"/>
          </a:p>
          <a:p>
            <a:r>
              <a:rPr lang="en-US" b="1" dirty="0"/>
              <a:t>[2]   </a:t>
            </a:r>
            <a:r>
              <a:rPr lang="en-US" b="1" dirty="0">
                <a:hlinkClick r:id="rId3" tooltip="Scholarships for Scheduled Caste Candidates"/>
              </a:rPr>
              <a:t>Scholarships for SC/ST Students</a:t>
            </a:r>
            <a:r>
              <a:rPr lang="en-US" b="1" dirty="0"/>
              <a:t> </a:t>
            </a:r>
          </a:p>
          <a:p>
            <a:r>
              <a:rPr lang="en-US" b="1" dirty="0"/>
              <a:t>Eligibility: </a:t>
            </a:r>
            <a:r>
              <a:rPr lang="en-US" dirty="0"/>
              <a:t>Student must belong to SC or ST category and family income must be less than </a:t>
            </a:r>
            <a:r>
              <a:rPr lang="en-US" dirty="0" err="1"/>
              <a:t>Rs</a:t>
            </a:r>
            <a:r>
              <a:rPr lang="en-US" dirty="0"/>
              <a:t>. 2,50,000/annum.</a:t>
            </a:r>
          </a:p>
          <a:p>
            <a:r>
              <a:rPr lang="en-US" b="1" dirty="0"/>
              <a:t>Amount of Scholarship:</a:t>
            </a:r>
            <a:r>
              <a:rPr lang="en-US" dirty="0"/>
              <a:t> Approximately 100% of tuition fees as per Government norms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9294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Placement of Last 3 years</a:t>
            </a:r>
            <a:endParaRPr lang="en-US" dirty="0"/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85777298"/>
              </p:ext>
            </p:extLst>
          </p:nvPr>
        </p:nvGraphicFramePr>
        <p:xfrm>
          <a:off x="677863" y="2160588"/>
          <a:ext cx="8596312" cy="38814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650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Course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14800627"/>
              </p:ext>
            </p:extLst>
          </p:nvPr>
        </p:nvGraphicFramePr>
        <p:xfrm>
          <a:off x="677687" y="1251785"/>
          <a:ext cx="11197480" cy="53949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99640"/>
                <a:gridCol w="1599640"/>
                <a:gridCol w="1599640"/>
                <a:gridCol w="1599640"/>
                <a:gridCol w="1599640"/>
                <a:gridCol w="1599640"/>
                <a:gridCol w="1599640"/>
              </a:tblGrid>
              <a:tr h="226447"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>
                          <a:effectLst/>
                        </a:rPr>
                        <a:t>#</a:t>
                      </a:r>
                    </a:p>
                  </a:txBody>
                  <a:tcPr anchor="b"/>
                </a:tc>
                <a:tc rowSpan="2">
                  <a:txBody>
                    <a:bodyPr/>
                    <a:lstStyle/>
                    <a:p>
                      <a:pPr algn="l" fontAlgn="b"/>
                      <a:r>
                        <a:rPr lang="en-US">
                          <a:effectLst/>
                        </a:rPr>
                        <a:t>Course Name</a:t>
                      </a:r>
                    </a:p>
                  </a:txBody>
                  <a:tcPr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>
                          <a:effectLst/>
                        </a:rPr>
                        <a:t>Type</a:t>
                      </a:r>
                    </a:p>
                  </a:txBody>
                  <a:tcPr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US">
                          <a:effectLst/>
                        </a:rPr>
                        <a:t>Credits</a:t>
                      </a:r>
                    </a:p>
                  </a:txBody>
                  <a:tcPr anchor="b"/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>
                          <a:effectLst/>
                        </a:rPr>
                        <a:t>Contact Hours per Week</a:t>
                      </a:r>
                    </a:p>
                  </a:txBody>
                  <a:tcPr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22644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>
                          <a:effectLst/>
                        </a:rPr>
                        <a:t>Theory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>
                          <a:effectLst/>
                        </a:rPr>
                        <a:t>Tutorial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>
                          <a:effectLst/>
                        </a:rPr>
                        <a:t>Practical</a:t>
                      </a:r>
                    </a:p>
                  </a:txBody>
                  <a:tcPr anchor="b"/>
                </a:tc>
              </a:tr>
              <a:tr h="566118"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Office Automation Tools </a:t>
                      </a:r>
                      <a:r>
                        <a:rPr lang="en-US">
                          <a:solidFill>
                            <a:srgbClr val="FF0000"/>
                          </a:solidFill>
                          <a:effectLst/>
                        </a:rPr>
                        <a:t>*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/>
                </a:tc>
              </a:tr>
              <a:tr h="905789"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Life Management &amp; Human Values </a:t>
                      </a:r>
                      <a:r>
                        <a:rPr lang="en-US">
                          <a:solidFill>
                            <a:srgbClr val="FF0000"/>
                          </a:solidFill>
                          <a:effectLst/>
                        </a:rPr>
                        <a:t>*</a:t>
                      </a:r>
                      <a:endParaRPr lang="en-US"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0</a:t>
                      </a:r>
                    </a:p>
                  </a:txBody>
                  <a:tcPr/>
                </a:tc>
              </a:tr>
              <a:tr h="396283"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Operating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/>
                </a:tc>
              </a:tr>
              <a:tr h="396283"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PHP and WordPress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/>
                </a:tc>
              </a:tr>
              <a:tr h="566118"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Python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2</a:t>
                      </a:r>
                    </a:p>
                  </a:txBody>
                  <a:tcPr/>
                </a:tc>
              </a:tr>
              <a:tr h="566118"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>
                          <a:effectLst/>
                        </a:rPr>
                        <a:t>Open Elective -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dirty="0">
                          <a:effectLst/>
                        </a:rPr>
                        <a:t>OE -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>
                          <a:effectLst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dirty="0">
                          <a:effectLst/>
                        </a:rP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5681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Thankk</a:t>
            </a:r>
            <a:r>
              <a:rPr lang="en-US" dirty="0" smtClean="0"/>
              <a:t> </a:t>
            </a:r>
            <a:r>
              <a:rPr lang="en-US" dirty="0" err="1" smtClean="0"/>
              <a:t>Youu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----Presented by The Krish Patel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KRISH PATEL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3714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45</TotalTime>
  <Words>219</Words>
  <Application>Microsoft Office PowerPoint</Application>
  <PresentationFormat>Widescreen</PresentationFormat>
  <Paragraphs>110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Trebuchet MS</vt:lpstr>
      <vt:lpstr>Wingdings 3</vt:lpstr>
      <vt:lpstr>Facet</vt:lpstr>
      <vt:lpstr>Darshan University</vt:lpstr>
      <vt:lpstr>About Darshan University</vt:lpstr>
      <vt:lpstr>Ramnik G. Dhamsaniya Manish V. Sanghani </vt:lpstr>
      <vt:lpstr>Program Offered (About Darshan University and Our Motto)</vt:lpstr>
      <vt:lpstr>Why Darshan University ?</vt:lpstr>
      <vt:lpstr>Scholarships</vt:lpstr>
      <vt:lpstr>Placement of Last 3 years</vt:lpstr>
      <vt:lpstr>Course</vt:lpstr>
      <vt:lpstr>Thankk Youu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Darshan University</dc:title>
  <dc:creator>student</dc:creator>
  <cp:lastModifiedBy>student</cp:lastModifiedBy>
  <cp:revision>18</cp:revision>
  <dcterms:created xsi:type="dcterms:W3CDTF">2026-03-10T09:32:48Z</dcterms:created>
  <dcterms:modified xsi:type="dcterms:W3CDTF">2026-03-17T09:55:03Z</dcterms:modified>
</cp:coreProperties>
</file>