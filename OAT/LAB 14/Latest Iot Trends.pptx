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0AFF3C-0819-4B88-80EB-95C3C7E73D08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B1DDD58F-4412-4337-8FD6-6DA78DDC8B78}">
      <dgm:prSet phldrT="[Text]"/>
      <dgm:spPr/>
      <dgm:t>
        <a:bodyPr/>
        <a:lstStyle/>
        <a:p>
          <a:r>
            <a:rPr lang="en-US" dirty="0" smtClean="0"/>
            <a:t>Customer Focus</a:t>
          </a:r>
          <a:endParaRPr lang="en-US" dirty="0"/>
        </a:p>
      </dgm:t>
    </dgm:pt>
    <dgm:pt modelId="{060B7229-935C-4F41-859B-D085B048B6AE}" type="parTrans" cxnId="{B355A682-E2BC-4104-B6C0-0BAA8EFD315A}">
      <dgm:prSet/>
      <dgm:spPr/>
      <dgm:t>
        <a:bodyPr/>
        <a:lstStyle/>
        <a:p>
          <a:endParaRPr lang="en-US"/>
        </a:p>
      </dgm:t>
    </dgm:pt>
    <dgm:pt modelId="{4A24CD4B-E3A0-4BD2-8362-0BFAD1B3D0DD}" type="sibTrans" cxnId="{B355A682-E2BC-4104-B6C0-0BAA8EFD315A}">
      <dgm:prSet/>
      <dgm:spPr/>
      <dgm:t>
        <a:bodyPr/>
        <a:lstStyle/>
        <a:p>
          <a:endParaRPr lang="en-US"/>
        </a:p>
      </dgm:t>
    </dgm:pt>
    <dgm:pt modelId="{1A00D462-18B1-408A-9753-27D2D7FCA95E}">
      <dgm:prSet phldrT="[Text]"/>
      <dgm:spPr/>
      <dgm:t>
        <a:bodyPr/>
        <a:lstStyle/>
        <a:p>
          <a:r>
            <a:rPr lang="en-US" dirty="0" smtClean="0"/>
            <a:t>Respect</a:t>
          </a:r>
          <a:endParaRPr lang="en-US" dirty="0"/>
        </a:p>
      </dgm:t>
    </dgm:pt>
    <dgm:pt modelId="{0B33DD2C-9FF8-4F9E-9D3E-0C46228E862F}" type="parTrans" cxnId="{B1F1625E-1C05-4BFE-B1BC-7B4957D1EF03}">
      <dgm:prSet/>
      <dgm:spPr/>
      <dgm:t>
        <a:bodyPr/>
        <a:lstStyle/>
        <a:p>
          <a:endParaRPr lang="en-US"/>
        </a:p>
      </dgm:t>
    </dgm:pt>
    <dgm:pt modelId="{5F6020A9-0B5B-4C1F-ADF1-2B8501579EE5}" type="sibTrans" cxnId="{B1F1625E-1C05-4BFE-B1BC-7B4957D1EF03}">
      <dgm:prSet/>
      <dgm:spPr/>
      <dgm:t>
        <a:bodyPr/>
        <a:lstStyle/>
        <a:p>
          <a:endParaRPr lang="en-US"/>
        </a:p>
      </dgm:t>
    </dgm:pt>
    <dgm:pt modelId="{6184B14B-1693-4D63-9556-24D8F5194079}">
      <dgm:prSet phldrT="[Text]"/>
      <dgm:spPr/>
      <dgm:t>
        <a:bodyPr/>
        <a:lstStyle/>
        <a:p>
          <a:r>
            <a:rPr lang="en-US" dirty="0" smtClean="0"/>
            <a:t>Integrity</a:t>
          </a:r>
          <a:endParaRPr lang="en-US" dirty="0"/>
        </a:p>
      </dgm:t>
    </dgm:pt>
    <dgm:pt modelId="{5617B676-126D-4A67-A7C2-17D66E61C9D3}" type="parTrans" cxnId="{1DB84E2C-BD91-48A5-9DD1-BA96D337777A}">
      <dgm:prSet/>
      <dgm:spPr/>
      <dgm:t>
        <a:bodyPr/>
        <a:lstStyle/>
        <a:p>
          <a:endParaRPr lang="en-US"/>
        </a:p>
      </dgm:t>
    </dgm:pt>
    <dgm:pt modelId="{2CBE32E1-638C-495C-AE96-E091CEEACAB9}" type="sibTrans" cxnId="{1DB84E2C-BD91-48A5-9DD1-BA96D337777A}">
      <dgm:prSet/>
      <dgm:spPr/>
      <dgm:t>
        <a:bodyPr/>
        <a:lstStyle/>
        <a:p>
          <a:endParaRPr lang="en-US"/>
        </a:p>
      </dgm:t>
    </dgm:pt>
    <dgm:pt modelId="{5041C645-C3F0-48C0-A2E7-C6198A9E42E9}" type="pres">
      <dgm:prSet presAssocID="{3A0AFF3C-0819-4B88-80EB-95C3C7E73D08}" presName="compositeShape" presStyleCnt="0">
        <dgm:presLayoutVars>
          <dgm:chMax val="7"/>
          <dgm:dir/>
          <dgm:resizeHandles val="exact"/>
        </dgm:presLayoutVars>
      </dgm:prSet>
      <dgm:spPr/>
    </dgm:pt>
    <dgm:pt modelId="{F2EBD676-67B7-4CC6-BC93-9EBDA746293B}" type="pres">
      <dgm:prSet presAssocID="{3A0AFF3C-0819-4B88-80EB-95C3C7E73D08}" presName="wedge1" presStyleLbl="node1" presStyleIdx="0" presStyleCnt="3"/>
      <dgm:spPr/>
    </dgm:pt>
    <dgm:pt modelId="{832A4F8B-5DF6-4B7D-9ACA-B0297453BFA2}" type="pres">
      <dgm:prSet presAssocID="{3A0AFF3C-0819-4B88-80EB-95C3C7E73D08}" presName="dummy1a" presStyleCnt="0"/>
      <dgm:spPr/>
    </dgm:pt>
    <dgm:pt modelId="{962576C0-DE66-4151-83CB-6D371A55DA1B}" type="pres">
      <dgm:prSet presAssocID="{3A0AFF3C-0819-4B88-80EB-95C3C7E73D08}" presName="dummy1b" presStyleCnt="0"/>
      <dgm:spPr/>
    </dgm:pt>
    <dgm:pt modelId="{34D7DA11-9E90-4931-88A2-360B8D71B7AA}" type="pres">
      <dgm:prSet presAssocID="{3A0AFF3C-0819-4B88-80EB-95C3C7E73D08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A10EED3-7D83-420F-B082-3C1F9DD851CD}" type="pres">
      <dgm:prSet presAssocID="{3A0AFF3C-0819-4B88-80EB-95C3C7E73D08}" presName="wedge2" presStyleLbl="node1" presStyleIdx="1" presStyleCnt="3"/>
      <dgm:spPr/>
    </dgm:pt>
    <dgm:pt modelId="{302D4013-290F-4E7D-A08B-28CAA3305376}" type="pres">
      <dgm:prSet presAssocID="{3A0AFF3C-0819-4B88-80EB-95C3C7E73D08}" presName="dummy2a" presStyleCnt="0"/>
      <dgm:spPr/>
    </dgm:pt>
    <dgm:pt modelId="{8BC30D6F-6199-4E7D-9B43-D92FDE5D1675}" type="pres">
      <dgm:prSet presAssocID="{3A0AFF3C-0819-4B88-80EB-95C3C7E73D08}" presName="dummy2b" presStyleCnt="0"/>
      <dgm:spPr/>
    </dgm:pt>
    <dgm:pt modelId="{A47F6DEF-86CD-4E25-9AC8-8D84C940117B}" type="pres">
      <dgm:prSet presAssocID="{3A0AFF3C-0819-4B88-80EB-95C3C7E73D08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C721613-59A0-459B-BDC8-96E56B6146CA}" type="pres">
      <dgm:prSet presAssocID="{3A0AFF3C-0819-4B88-80EB-95C3C7E73D08}" presName="wedge3" presStyleLbl="node1" presStyleIdx="2" presStyleCnt="3"/>
      <dgm:spPr/>
    </dgm:pt>
    <dgm:pt modelId="{F167DCF5-8454-4A75-AA24-BF8A6AD7F79D}" type="pres">
      <dgm:prSet presAssocID="{3A0AFF3C-0819-4B88-80EB-95C3C7E73D08}" presName="dummy3a" presStyleCnt="0"/>
      <dgm:spPr/>
    </dgm:pt>
    <dgm:pt modelId="{75B99135-114F-478A-854E-C1AA4186FCE3}" type="pres">
      <dgm:prSet presAssocID="{3A0AFF3C-0819-4B88-80EB-95C3C7E73D08}" presName="dummy3b" presStyleCnt="0"/>
      <dgm:spPr/>
    </dgm:pt>
    <dgm:pt modelId="{C9E8136B-1B0B-4573-A7C1-3CC2F7208AEC}" type="pres">
      <dgm:prSet presAssocID="{3A0AFF3C-0819-4B88-80EB-95C3C7E73D08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1BCF7DE3-0EB9-4C97-A878-730CFBF7FE1F}" type="pres">
      <dgm:prSet presAssocID="{4A24CD4B-E3A0-4BD2-8362-0BFAD1B3D0DD}" presName="arrowWedge1" presStyleLbl="fgSibTrans2D1" presStyleIdx="0" presStyleCnt="3"/>
      <dgm:spPr/>
    </dgm:pt>
    <dgm:pt modelId="{8D348F22-2046-4198-BA32-4389E308A279}" type="pres">
      <dgm:prSet presAssocID="{5F6020A9-0B5B-4C1F-ADF1-2B8501579EE5}" presName="arrowWedge2" presStyleLbl="fgSibTrans2D1" presStyleIdx="1" presStyleCnt="3"/>
      <dgm:spPr/>
    </dgm:pt>
    <dgm:pt modelId="{9ABC15B4-18AE-4A80-9E4A-7BBE5D1AE005}" type="pres">
      <dgm:prSet presAssocID="{2CBE32E1-638C-495C-AE96-E091CEEACAB9}" presName="arrowWedge3" presStyleLbl="fgSibTrans2D1" presStyleIdx="2" presStyleCnt="3"/>
      <dgm:spPr/>
    </dgm:pt>
  </dgm:ptLst>
  <dgm:cxnLst>
    <dgm:cxn modelId="{B1F1625E-1C05-4BFE-B1BC-7B4957D1EF03}" srcId="{3A0AFF3C-0819-4B88-80EB-95C3C7E73D08}" destId="{1A00D462-18B1-408A-9753-27D2D7FCA95E}" srcOrd="1" destOrd="0" parTransId="{0B33DD2C-9FF8-4F9E-9D3E-0C46228E862F}" sibTransId="{5F6020A9-0B5B-4C1F-ADF1-2B8501579EE5}"/>
    <dgm:cxn modelId="{1DB84E2C-BD91-48A5-9DD1-BA96D337777A}" srcId="{3A0AFF3C-0819-4B88-80EB-95C3C7E73D08}" destId="{6184B14B-1693-4D63-9556-24D8F5194079}" srcOrd="2" destOrd="0" parTransId="{5617B676-126D-4A67-A7C2-17D66E61C9D3}" sibTransId="{2CBE32E1-638C-495C-AE96-E091CEEACAB9}"/>
    <dgm:cxn modelId="{63CF7DB6-6502-408A-8FB3-56DF127DE091}" type="presOf" srcId="{B1DDD58F-4412-4337-8FD6-6DA78DDC8B78}" destId="{F2EBD676-67B7-4CC6-BC93-9EBDA746293B}" srcOrd="0" destOrd="0" presId="urn:microsoft.com/office/officeart/2005/8/layout/cycle8"/>
    <dgm:cxn modelId="{B84B4833-F8F0-4969-84A2-49DF374A8233}" type="presOf" srcId="{6184B14B-1693-4D63-9556-24D8F5194079}" destId="{C9E8136B-1B0B-4573-A7C1-3CC2F7208AEC}" srcOrd="1" destOrd="0" presId="urn:microsoft.com/office/officeart/2005/8/layout/cycle8"/>
    <dgm:cxn modelId="{DB13260F-DEE2-48EB-A7D7-D8452B556608}" type="presOf" srcId="{1A00D462-18B1-408A-9753-27D2D7FCA95E}" destId="{0A10EED3-7D83-420F-B082-3C1F9DD851CD}" srcOrd="0" destOrd="0" presId="urn:microsoft.com/office/officeart/2005/8/layout/cycle8"/>
    <dgm:cxn modelId="{8B99F59F-A2CC-4E17-A303-1484243D3503}" type="presOf" srcId="{3A0AFF3C-0819-4B88-80EB-95C3C7E73D08}" destId="{5041C645-C3F0-48C0-A2E7-C6198A9E42E9}" srcOrd="0" destOrd="0" presId="urn:microsoft.com/office/officeart/2005/8/layout/cycle8"/>
    <dgm:cxn modelId="{636629EE-6433-4FC7-8999-6482BF7EC193}" type="presOf" srcId="{B1DDD58F-4412-4337-8FD6-6DA78DDC8B78}" destId="{34D7DA11-9E90-4931-88A2-360B8D71B7AA}" srcOrd="1" destOrd="0" presId="urn:microsoft.com/office/officeart/2005/8/layout/cycle8"/>
    <dgm:cxn modelId="{F54764E7-7720-4798-ABB6-C4DBC2A6FB2D}" type="presOf" srcId="{1A00D462-18B1-408A-9753-27D2D7FCA95E}" destId="{A47F6DEF-86CD-4E25-9AC8-8D84C940117B}" srcOrd="1" destOrd="0" presId="urn:microsoft.com/office/officeart/2005/8/layout/cycle8"/>
    <dgm:cxn modelId="{005FEAD3-C4B5-42DF-BA24-75B5E0843A1B}" type="presOf" srcId="{6184B14B-1693-4D63-9556-24D8F5194079}" destId="{2C721613-59A0-459B-BDC8-96E56B6146CA}" srcOrd="0" destOrd="0" presId="urn:microsoft.com/office/officeart/2005/8/layout/cycle8"/>
    <dgm:cxn modelId="{B355A682-E2BC-4104-B6C0-0BAA8EFD315A}" srcId="{3A0AFF3C-0819-4B88-80EB-95C3C7E73D08}" destId="{B1DDD58F-4412-4337-8FD6-6DA78DDC8B78}" srcOrd="0" destOrd="0" parTransId="{060B7229-935C-4F41-859B-D085B048B6AE}" sibTransId="{4A24CD4B-E3A0-4BD2-8362-0BFAD1B3D0DD}"/>
    <dgm:cxn modelId="{69AC5D12-EAC7-4908-8412-3EA4103A2EBC}" type="presParOf" srcId="{5041C645-C3F0-48C0-A2E7-C6198A9E42E9}" destId="{F2EBD676-67B7-4CC6-BC93-9EBDA746293B}" srcOrd="0" destOrd="0" presId="urn:microsoft.com/office/officeart/2005/8/layout/cycle8"/>
    <dgm:cxn modelId="{96E4B785-7A2F-4559-AD1E-CAED5832164E}" type="presParOf" srcId="{5041C645-C3F0-48C0-A2E7-C6198A9E42E9}" destId="{832A4F8B-5DF6-4B7D-9ACA-B0297453BFA2}" srcOrd="1" destOrd="0" presId="urn:microsoft.com/office/officeart/2005/8/layout/cycle8"/>
    <dgm:cxn modelId="{21A2AAEE-B450-416A-BCA8-499FF2CE3CF4}" type="presParOf" srcId="{5041C645-C3F0-48C0-A2E7-C6198A9E42E9}" destId="{962576C0-DE66-4151-83CB-6D371A55DA1B}" srcOrd="2" destOrd="0" presId="urn:microsoft.com/office/officeart/2005/8/layout/cycle8"/>
    <dgm:cxn modelId="{254BE6A1-3CF6-47F7-A7BE-0485A65EEFCF}" type="presParOf" srcId="{5041C645-C3F0-48C0-A2E7-C6198A9E42E9}" destId="{34D7DA11-9E90-4931-88A2-360B8D71B7AA}" srcOrd="3" destOrd="0" presId="urn:microsoft.com/office/officeart/2005/8/layout/cycle8"/>
    <dgm:cxn modelId="{37368C94-4DE4-423A-B918-36F18991F24B}" type="presParOf" srcId="{5041C645-C3F0-48C0-A2E7-C6198A9E42E9}" destId="{0A10EED3-7D83-420F-B082-3C1F9DD851CD}" srcOrd="4" destOrd="0" presId="urn:microsoft.com/office/officeart/2005/8/layout/cycle8"/>
    <dgm:cxn modelId="{682B745C-62CD-4B43-9B67-68EAF64A36D1}" type="presParOf" srcId="{5041C645-C3F0-48C0-A2E7-C6198A9E42E9}" destId="{302D4013-290F-4E7D-A08B-28CAA3305376}" srcOrd="5" destOrd="0" presId="urn:microsoft.com/office/officeart/2005/8/layout/cycle8"/>
    <dgm:cxn modelId="{5A125376-71D2-4E60-8C8D-9AFFA0095F21}" type="presParOf" srcId="{5041C645-C3F0-48C0-A2E7-C6198A9E42E9}" destId="{8BC30D6F-6199-4E7D-9B43-D92FDE5D1675}" srcOrd="6" destOrd="0" presId="urn:microsoft.com/office/officeart/2005/8/layout/cycle8"/>
    <dgm:cxn modelId="{0EC6BFD0-E403-42FD-8054-2E3E2877088C}" type="presParOf" srcId="{5041C645-C3F0-48C0-A2E7-C6198A9E42E9}" destId="{A47F6DEF-86CD-4E25-9AC8-8D84C940117B}" srcOrd="7" destOrd="0" presId="urn:microsoft.com/office/officeart/2005/8/layout/cycle8"/>
    <dgm:cxn modelId="{E5DE727A-C874-4200-9A5F-E9A8279FD5C7}" type="presParOf" srcId="{5041C645-C3F0-48C0-A2E7-C6198A9E42E9}" destId="{2C721613-59A0-459B-BDC8-96E56B6146CA}" srcOrd="8" destOrd="0" presId="urn:microsoft.com/office/officeart/2005/8/layout/cycle8"/>
    <dgm:cxn modelId="{589D7B32-734A-49C8-A603-7CB6A64717D3}" type="presParOf" srcId="{5041C645-C3F0-48C0-A2E7-C6198A9E42E9}" destId="{F167DCF5-8454-4A75-AA24-BF8A6AD7F79D}" srcOrd="9" destOrd="0" presId="urn:microsoft.com/office/officeart/2005/8/layout/cycle8"/>
    <dgm:cxn modelId="{E1C3441A-48B7-4DBC-A8BF-1C903905161C}" type="presParOf" srcId="{5041C645-C3F0-48C0-A2E7-C6198A9E42E9}" destId="{75B99135-114F-478A-854E-C1AA4186FCE3}" srcOrd="10" destOrd="0" presId="urn:microsoft.com/office/officeart/2005/8/layout/cycle8"/>
    <dgm:cxn modelId="{CDE49332-D0FE-47B3-AD72-26E0C2CE1AAB}" type="presParOf" srcId="{5041C645-C3F0-48C0-A2E7-C6198A9E42E9}" destId="{C9E8136B-1B0B-4573-A7C1-3CC2F7208AEC}" srcOrd="11" destOrd="0" presId="urn:microsoft.com/office/officeart/2005/8/layout/cycle8"/>
    <dgm:cxn modelId="{F3823401-4E6F-448A-9926-7C1DD8462F6F}" type="presParOf" srcId="{5041C645-C3F0-48C0-A2E7-C6198A9E42E9}" destId="{1BCF7DE3-0EB9-4C97-A878-730CFBF7FE1F}" srcOrd="12" destOrd="0" presId="urn:microsoft.com/office/officeart/2005/8/layout/cycle8"/>
    <dgm:cxn modelId="{2CE4889E-0B50-44B0-984F-74C8B0673CED}" type="presParOf" srcId="{5041C645-C3F0-48C0-A2E7-C6198A9E42E9}" destId="{8D348F22-2046-4198-BA32-4389E308A279}" srcOrd="13" destOrd="0" presId="urn:microsoft.com/office/officeart/2005/8/layout/cycle8"/>
    <dgm:cxn modelId="{D215D8C7-DD03-495F-AAE7-E13F1077A5CC}" type="presParOf" srcId="{5041C645-C3F0-48C0-A2E7-C6198A9E42E9}" destId="{9ABC15B4-18AE-4A80-9E4A-7BBE5D1AE005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BD676-67B7-4CC6-BC93-9EBDA746293B}">
      <dsp:nvSpPr>
        <dsp:cNvPr id="0" name=""/>
        <dsp:cNvSpPr/>
      </dsp:nvSpPr>
      <dsp:spPr>
        <a:xfrm>
          <a:off x="1881902" y="352213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Customer Focus</a:t>
          </a:r>
          <a:endParaRPr lang="en-US" sz="2600" kern="1200" dirty="0"/>
        </a:p>
      </dsp:txBody>
      <dsp:txXfrm>
        <a:off x="4280746" y="1316736"/>
        <a:ext cx="1625600" cy="1354666"/>
      </dsp:txXfrm>
    </dsp:sp>
    <dsp:sp modelId="{0A10EED3-7D83-420F-B082-3C1F9DD851CD}">
      <dsp:nvSpPr>
        <dsp:cNvPr id="0" name=""/>
        <dsp:cNvSpPr/>
      </dsp:nvSpPr>
      <dsp:spPr>
        <a:xfrm>
          <a:off x="1788159" y="514773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Respect</a:t>
          </a:r>
          <a:endParaRPr lang="en-US" sz="2600" kern="1200" dirty="0"/>
        </a:p>
      </dsp:txBody>
      <dsp:txXfrm>
        <a:off x="2871893" y="3467946"/>
        <a:ext cx="2438400" cy="1192106"/>
      </dsp:txXfrm>
    </dsp:sp>
    <dsp:sp modelId="{2C721613-59A0-459B-BDC8-96E56B6146CA}">
      <dsp:nvSpPr>
        <dsp:cNvPr id="0" name=""/>
        <dsp:cNvSpPr/>
      </dsp:nvSpPr>
      <dsp:spPr>
        <a:xfrm>
          <a:off x="1694416" y="352213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Integrity</a:t>
          </a:r>
          <a:endParaRPr lang="en-US" sz="2600" kern="1200" dirty="0"/>
        </a:p>
      </dsp:txBody>
      <dsp:txXfrm>
        <a:off x="2221653" y="1316736"/>
        <a:ext cx="1625600" cy="1354666"/>
      </dsp:txXfrm>
    </dsp:sp>
    <dsp:sp modelId="{1BCF7DE3-0EB9-4C97-A878-730CFBF7FE1F}">
      <dsp:nvSpPr>
        <dsp:cNvPr id="0" name=""/>
        <dsp:cNvSpPr/>
      </dsp:nvSpPr>
      <dsp:spPr>
        <a:xfrm>
          <a:off x="1600507" y="70442"/>
          <a:ext cx="5115221" cy="511522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48F22-2046-4198-BA32-4389E308A279}">
      <dsp:nvSpPr>
        <dsp:cNvPr id="0" name=""/>
        <dsp:cNvSpPr/>
      </dsp:nvSpPr>
      <dsp:spPr>
        <a:xfrm>
          <a:off x="1506389" y="232714"/>
          <a:ext cx="5115221" cy="511522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C15B4-18AE-4A80-9E4A-7BBE5D1AE005}">
      <dsp:nvSpPr>
        <dsp:cNvPr id="0" name=""/>
        <dsp:cNvSpPr/>
      </dsp:nvSpPr>
      <dsp:spPr>
        <a:xfrm>
          <a:off x="1412270" y="70442"/>
          <a:ext cx="5115221" cy="511522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C1E9E-1196-47B2-A72C-07887C893F4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1EAEF-AF0D-4513-BC18-805B350AA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56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1EAEF-AF0D-4513-BC18-805B350AA8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3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B4178-97A8-44D3-A0A6-58EFC069CB9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96D4-012B-41D7-AC6A-025F4DB32A2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DA4A-8868-4B5E-8DDA-44C9817BE0A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20507-3E10-484D-8036-8F2E76EAAC8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F30D1-3596-428F-8186-1BF4A1C98F2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4134B-130C-4533-856F-3ACA94560C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3AD8-83C8-4C92-8FE0-572DE6C1DA26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BD69-194C-4833-86D6-44DA4146E59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C771-AD9E-4DB7-906A-4858146733B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35A2-CA01-4D69-AFE0-0514405796A6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91C31-DB03-43D2-A67C-6E1244D2F61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1C4-F98A-4AFA-9F08-A974284D432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35B27-61D1-49B6-865D-B052B506243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829D-3F04-4E9F-927D-C49E0834043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BFCE1-3533-410C-AEE4-74A3100567D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2D3C-A970-4EDA-A60E-EA8A2DCBE43A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E866-9074-4F03-A0B7-2BD21A51740F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EAE718-C4C7-444E-86D0-D6545957B63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us/en/insights/topics/technology-management/tech-trends/2026/ai-future-it-function.html#endnote-10" TargetMode="External"/><Relationship Id="rId2" Type="http://schemas.openxmlformats.org/officeDocument/2006/relationships/hyperlink" Target="https://www.deloitte.com/us/en/insights/topics/technology-management/tech-trends/2026/ai-future-it-function.html#endnote-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IT Trends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-KRISH PATEL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075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55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goes physical: Navigating the convergence of AI and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Computer vision</a:t>
            </a:r>
            <a:r>
              <a:rPr lang="en-US" dirty="0"/>
              <a:t> for “seeing” and understanding surroundings</a:t>
            </a:r>
          </a:p>
          <a:p>
            <a:pPr lvl="1"/>
            <a:r>
              <a:rPr lang="en-US" b="1" dirty="0"/>
              <a:t>Sensors </a:t>
            </a:r>
            <a:r>
              <a:rPr lang="en-US" dirty="0"/>
              <a:t>for capturing information such as sound, light, temperature, and touch</a:t>
            </a:r>
          </a:p>
          <a:p>
            <a:pPr lvl="1"/>
            <a:r>
              <a:rPr lang="en-US" b="1" dirty="0"/>
              <a:t>Actuators </a:t>
            </a:r>
            <a:r>
              <a:rPr lang="en-US" dirty="0"/>
              <a:t>for movement, inspired by human muscles</a:t>
            </a:r>
          </a:p>
          <a:p>
            <a:pPr lvl="1"/>
            <a:r>
              <a:rPr lang="en-US" b="1" dirty="0"/>
              <a:t>Spatial computing </a:t>
            </a:r>
            <a:r>
              <a:rPr lang="en-US" dirty="0"/>
              <a:t>for navigating 3D environments</a:t>
            </a:r>
          </a:p>
          <a:p>
            <a:pPr lvl="1"/>
            <a:r>
              <a:rPr lang="en-US" b="1" dirty="0"/>
              <a:t>Improved batteries </a:t>
            </a:r>
            <a:r>
              <a:rPr lang="en-US" dirty="0"/>
              <a:t>that enable longer</a:t>
            </a:r>
            <a:r>
              <a:rPr lang="en-US" b="1" dirty="0"/>
              <a:t> </a:t>
            </a:r>
            <a:r>
              <a:rPr lang="en-US" dirty="0"/>
              <a:t>operation without frequent </a:t>
            </a:r>
            <a:r>
              <a:rPr lang="en-US" dirty="0" smtClean="0"/>
              <a:t>recharging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53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agentic</a:t>
            </a:r>
            <a:r>
              <a:rPr lang="en-US" b="1" dirty="0"/>
              <a:t> reality check: Preparing for a silicon-based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Three fundamental infrastructure obstacles may prevent organizations from realizing the full potential of </a:t>
            </a:r>
            <a:r>
              <a:rPr lang="en-US" dirty="0" err="1"/>
              <a:t>agentic</a:t>
            </a:r>
            <a:r>
              <a:rPr lang="en-US" dirty="0"/>
              <a:t> AI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Sensors</a:t>
            </a:r>
            <a:r>
              <a:rPr lang="en-US" b="1" dirty="0"/>
              <a:t> </a:t>
            </a:r>
            <a:r>
              <a:rPr lang="en-US" dirty="0"/>
              <a:t>for capturing information such as sound, light, temperature, and </a:t>
            </a:r>
            <a:r>
              <a:rPr lang="en-US" dirty="0" smtClean="0"/>
              <a:t>touch</a:t>
            </a:r>
          </a:p>
          <a:p>
            <a:pPr lvl="1"/>
            <a:r>
              <a:rPr lang="en-US" b="1" dirty="0"/>
              <a:t>Legacy system integration:</a:t>
            </a:r>
            <a:r>
              <a:rPr lang="en-US" dirty="0"/>
              <a:t> Traditional enterprise systems weren’t designed for </a:t>
            </a:r>
            <a:r>
              <a:rPr lang="en-US" dirty="0" err="1"/>
              <a:t>agentic</a:t>
            </a:r>
            <a:r>
              <a:rPr lang="en-US" dirty="0"/>
              <a:t> </a:t>
            </a:r>
            <a:r>
              <a:rPr lang="en-US" dirty="0" smtClean="0"/>
              <a:t>interactions.</a:t>
            </a:r>
          </a:p>
          <a:p>
            <a:pPr lvl="1"/>
            <a:r>
              <a:rPr lang="en-US" dirty="0"/>
              <a:t>Most agents still rely on application programming interfaces (APIs) and conventional data pipelines to access enterprise systems, which creates bottlenecks and limits their autonomous capabilities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Data architecture constraints: </a:t>
            </a:r>
            <a:r>
              <a:rPr lang="en-US" dirty="0"/>
              <a:t>Current enterprise data architectures, built around extract, transform, load (ETL) processes and data warehouses, create friction for agent deployment.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896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AI infrastructure reckoning: Optimizing compute strategy in the age of inference economics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b="1" dirty="0"/>
              <a:t>Cost management</a:t>
            </a:r>
            <a:r>
              <a:rPr lang="en-US" dirty="0"/>
              <a:t>: Organizations are hitting a tipping point where on-premises deployment may become more economical than cloud services for consistent, high-volume workloads. </a:t>
            </a:r>
            <a:endParaRPr lang="en-US" dirty="0" smtClean="0"/>
          </a:p>
          <a:p>
            <a:pPr lvl="1"/>
            <a:r>
              <a:rPr lang="en-US" b="1" dirty="0"/>
              <a:t>Data sovereignty</a:t>
            </a:r>
            <a:r>
              <a:rPr lang="en-US" dirty="0"/>
              <a:t>: Regulatory requirements and geopolitical concerns are driving some enterprises to repatriate computing </a:t>
            </a:r>
            <a:r>
              <a:rPr lang="en-US" dirty="0" smtClean="0"/>
              <a:t>services</a:t>
            </a:r>
          </a:p>
          <a:p>
            <a:pPr lvl="1"/>
            <a:r>
              <a:rPr lang="en-US" b="1" dirty="0"/>
              <a:t>Latency sensitivity</a:t>
            </a:r>
            <a:r>
              <a:rPr lang="en-US" dirty="0"/>
              <a:t>: Real-time AI workloads demand proximity to data sources, especially in manufacturing </a:t>
            </a:r>
            <a:r>
              <a:rPr lang="en-US" dirty="0" smtClean="0"/>
              <a:t>environments</a:t>
            </a:r>
          </a:p>
          <a:p>
            <a:pPr lvl="1"/>
            <a:r>
              <a:rPr lang="en-US" b="1" dirty="0"/>
              <a:t>Resilience requirements</a:t>
            </a:r>
            <a:r>
              <a:rPr lang="en-US" dirty="0"/>
              <a:t>: Mission-critical tasks that cannot be interrupted require on-premises </a:t>
            </a:r>
            <a:endParaRPr lang="en-US" dirty="0" smtClean="0"/>
          </a:p>
          <a:p>
            <a:pPr lvl="1"/>
            <a:r>
              <a:rPr lang="en-US" b="1" dirty="0"/>
              <a:t>Intellectual property protection</a:t>
            </a:r>
            <a:r>
              <a:rPr lang="en-US" dirty="0"/>
              <a:t>: Because the majority of enterprises’ data still resides on premises, organizations increasingly prefer bringing AI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16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great rebuild: Architecting an AI-native tech organization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04538"/>
            <a:ext cx="8534400" cy="4096530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Priorities</a:t>
            </a:r>
            <a:r>
              <a:rPr lang="en-US" dirty="0"/>
              <a:t>. Chief information officers (CIOs) in Deloitte’s 2025 Tech Executive Survey singled </a:t>
            </a:r>
            <a:r>
              <a:rPr lang="en-US" dirty="0" smtClean="0"/>
              <a:t>out</a:t>
            </a:r>
          </a:p>
          <a:p>
            <a:pPr lvl="1"/>
            <a:r>
              <a:rPr lang="en-US" b="1" dirty="0"/>
              <a:t>People</a:t>
            </a:r>
            <a:r>
              <a:rPr lang="en-US" dirty="0"/>
              <a:t>. Nearly 70% of tech leaders from the same survey plan to grow their teams in direct response to gen AI</a:t>
            </a:r>
            <a:r>
              <a:rPr lang="en-US" b="1" baseline="30000" dirty="0">
                <a:hlinkClick r:id="rId2"/>
              </a:rPr>
              <a:t>7</a:t>
            </a:r>
            <a:r>
              <a:rPr lang="en-US" dirty="0"/>
              <a:t>—a clear shift from fears of job loss to a strategy of augmentation and specialization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Purpose</a:t>
            </a:r>
            <a:r>
              <a:rPr lang="en-US" dirty="0"/>
              <a:t>. As AI plays a key role in CEOs’ current and future strategies,</a:t>
            </a:r>
            <a:r>
              <a:rPr lang="en-US" b="1" baseline="30000" dirty="0">
                <a:hlinkClick r:id="rId3"/>
              </a:rPr>
              <a:t>10</a:t>
            </a:r>
            <a:r>
              <a:rPr lang="en-US" dirty="0"/>
              <a:t> the mandate of the tech organization is changing. </a:t>
            </a:r>
            <a:endParaRPr lang="en-US" dirty="0" smtClean="0"/>
          </a:p>
          <a:p>
            <a:pPr lvl="1"/>
            <a:r>
              <a:rPr lang="en-US" dirty="0"/>
              <a:t>Human-AI collaboration designers, responsible for crafting seamless interactions between people and intelligent </a:t>
            </a:r>
            <a:r>
              <a:rPr lang="en-US" dirty="0" smtClean="0"/>
              <a:t>systems</a:t>
            </a:r>
          </a:p>
          <a:p>
            <a:pPr lvl="1"/>
            <a:r>
              <a:rPr lang="en-US" dirty="0"/>
              <a:t>Edge AI and embedded systems engineers, who bring AI capabilities directly to devices and connected infrastructure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49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AI dilemma: Securing and leveraging AI for cyber defense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76726"/>
            <a:ext cx="8534400" cy="402434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AI model security risks</a:t>
            </a:r>
            <a:r>
              <a:rPr lang="en-US" dirty="0"/>
              <a:t>: Model security encompasses the model’s architecture and unique training parameters and training, testing, and validation processes (figure 2</a:t>
            </a:r>
            <a:r>
              <a:rPr lang="en-US" dirty="0" smtClean="0"/>
              <a:t>).</a:t>
            </a:r>
          </a:p>
          <a:p>
            <a:r>
              <a:rPr lang="en-US" b="1" dirty="0"/>
              <a:t>Application security risks</a:t>
            </a:r>
            <a:r>
              <a:rPr lang="en-US" dirty="0"/>
              <a:t>: These risks are related to the external layer hosting the model and sitting on infrastructure, acting as the </a:t>
            </a:r>
            <a:r>
              <a:rPr lang="en-US" dirty="0" smtClean="0"/>
              <a:t>user</a:t>
            </a:r>
          </a:p>
          <a:p>
            <a:r>
              <a:rPr lang="en-US" b="1" dirty="0"/>
              <a:t>Infrastructure security risks</a:t>
            </a:r>
            <a:r>
              <a:rPr lang="en-US" dirty="0"/>
              <a:t>: Infrastructure security encompasses the hardware and networking components used for developing and hosting AI </a:t>
            </a:r>
            <a:endParaRPr lang="en-US" dirty="0" smtClean="0"/>
          </a:p>
          <a:p>
            <a:r>
              <a:rPr lang="en-US" dirty="0"/>
              <a:t> In particular, he focuses on enforcing strong software development life cycle approaches</a:t>
            </a:r>
            <a:r>
              <a:rPr lang="en-US" dirty="0" smtClean="0"/>
              <a:t>.</a:t>
            </a:r>
          </a:p>
          <a:p>
            <a:r>
              <a:rPr lang="en-US" dirty="0"/>
              <a:t>“What we’re experiencing today is not much different than what we’ve experienced in the past,” </a:t>
            </a:r>
            <a:r>
              <a:rPr lang="en-US" dirty="0" err="1"/>
              <a:t>Baich</a:t>
            </a:r>
            <a:r>
              <a:rPr lang="en-US" dirty="0"/>
              <a:t> says. “The only difference with AI is speed and impact.”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936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Cutting through the noise: Tech signals worth tracking as AI advances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8442"/>
            <a:ext cx="8534400" cy="4132625"/>
          </a:xfrm>
        </p:spPr>
        <p:txBody>
          <a:bodyPr>
            <a:normAutofit fontScale="92500"/>
          </a:bodyPr>
          <a:lstStyle/>
          <a:p>
            <a:r>
              <a:rPr lang="en-US" b="1" dirty="0" err="1"/>
              <a:t>Neuromorphic</a:t>
            </a:r>
            <a:r>
              <a:rPr lang="en-US" b="1" dirty="0"/>
              <a:t> chips supercharge computing.</a:t>
            </a:r>
            <a:r>
              <a:rPr lang="en-US" dirty="0"/>
              <a:t> </a:t>
            </a:r>
            <a:r>
              <a:rPr lang="en-US" dirty="0" err="1"/>
              <a:t>Neuromorphic</a:t>
            </a:r>
            <a:r>
              <a:rPr lang="en-US" dirty="0"/>
              <a:t> chips are brain-inspired processors that are more energy-efficient than traditional graphics processing units (GPUs) for certain AI tasks</a:t>
            </a:r>
            <a:r>
              <a:rPr lang="en-US" dirty="0" smtClean="0"/>
              <a:t>.</a:t>
            </a:r>
          </a:p>
          <a:p>
            <a:r>
              <a:rPr lang="en-US" b="1" dirty="0"/>
              <a:t>The rise of edge AI and on-device processing.</a:t>
            </a:r>
            <a:r>
              <a:rPr lang="en-US" dirty="0"/>
              <a:t> Instead of sending data to distant cloud servers, edge </a:t>
            </a:r>
            <a:r>
              <a:rPr lang="en-US" dirty="0" smtClean="0"/>
              <a:t>AI</a:t>
            </a:r>
          </a:p>
          <a:p>
            <a:r>
              <a:rPr lang="en-US" b="1" dirty="0"/>
              <a:t>Will AI-native personal devices and </a:t>
            </a:r>
            <a:r>
              <a:rPr lang="en-US" b="1" dirty="0" err="1"/>
              <a:t>wearables</a:t>
            </a:r>
            <a:r>
              <a:rPr lang="en-US" b="1" dirty="0"/>
              <a:t> become mainstream?</a:t>
            </a:r>
            <a:r>
              <a:rPr lang="en-US" dirty="0"/>
              <a:t> Companies are experimenting with </a:t>
            </a:r>
            <a:r>
              <a:rPr lang="en-US" dirty="0" smtClean="0"/>
              <a:t>AI</a:t>
            </a:r>
          </a:p>
          <a:p>
            <a:r>
              <a:rPr lang="en-US" b="1" dirty="0"/>
              <a:t>Biometric authentication as next-level cybersecurity.</a:t>
            </a:r>
            <a:r>
              <a:rPr lang="en-US" dirty="0"/>
              <a:t> Because AI can replicate voices, forge documents, and mimic behavioral </a:t>
            </a:r>
            <a:r>
              <a:rPr lang="en-US" dirty="0" smtClean="0"/>
              <a:t>patterns</a:t>
            </a:r>
          </a:p>
          <a:p>
            <a:r>
              <a:rPr lang="en-US" b="1" dirty="0"/>
              <a:t>The AI agent privacy trade-off.</a:t>
            </a:r>
            <a:r>
              <a:rPr lang="en-US" dirty="0"/>
              <a:t> Truly capable personal AI assistants require unprecedented access to personal data—and that access is already being granted. 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90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Differences: Old vs. New IT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Old IT (Legacy)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On-premise/Data </a:t>
            </a:r>
            <a:r>
              <a:rPr lang="en-US" dirty="0" smtClean="0"/>
              <a:t>Center</a:t>
            </a:r>
          </a:p>
          <a:p>
            <a:r>
              <a:rPr lang="en-US" dirty="0"/>
              <a:t>Stability, </a:t>
            </a:r>
            <a:r>
              <a:rPr lang="en-US" dirty="0" smtClean="0"/>
              <a:t>Maintenance</a:t>
            </a:r>
          </a:p>
          <a:p>
            <a:r>
              <a:rPr lang="en-US" dirty="0"/>
              <a:t>Local, </a:t>
            </a:r>
            <a:r>
              <a:rPr lang="en-US" dirty="0" err="1" smtClean="0"/>
              <a:t>Siloed</a:t>
            </a:r>
            <a:endParaRPr lang="en-US" dirty="0" smtClean="0"/>
          </a:p>
          <a:p>
            <a:r>
              <a:rPr lang="en-US" dirty="0" smtClean="0"/>
              <a:t>Traditional/Deterministic</a:t>
            </a:r>
          </a:p>
          <a:p>
            <a:r>
              <a:rPr lang="en-US" dirty="0"/>
              <a:t>Command Line/Manual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New IT (Modern)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Cloud/Hybrid/Edge</a:t>
            </a:r>
          </a:p>
          <a:p>
            <a:r>
              <a:rPr lang="en-US" dirty="0"/>
              <a:t>Agility, </a:t>
            </a:r>
            <a:r>
              <a:rPr lang="en-US" dirty="0" smtClean="0"/>
              <a:t>Scalability</a:t>
            </a:r>
          </a:p>
          <a:p>
            <a:r>
              <a:rPr lang="en-US" dirty="0"/>
              <a:t>Real-time, Big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Generative/Autonomous</a:t>
            </a:r>
          </a:p>
          <a:p>
            <a:r>
              <a:rPr lang="en-US" dirty="0"/>
              <a:t>Voice/</a:t>
            </a:r>
            <a:r>
              <a:rPr lang="en-US" dirty="0" err="1"/>
              <a:t>Intuituve</a:t>
            </a:r>
            <a:r>
              <a:rPr lang="en-US" dirty="0"/>
              <a:t>/GUI</a:t>
            </a:r>
            <a:endParaRPr lang="en-US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0608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78763756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2870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Agentic</a:t>
            </a:r>
            <a:r>
              <a:rPr lang="en-US" b="1" dirty="0"/>
              <a:t> AI and Autonomous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Action-Oriented:</a:t>
            </a:r>
            <a:r>
              <a:rPr lang="en-US" dirty="0"/>
              <a:t> Agents will autonomously handle complex workflows, from supply chain optimization to customer service </a:t>
            </a:r>
            <a:r>
              <a:rPr lang="en-US" dirty="0" smtClean="0"/>
              <a:t>transactions</a:t>
            </a:r>
          </a:p>
          <a:p>
            <a:r>
              <a:rPr lang="en-US" b="1" dirty="0"/>
              <a:t>Shift to Production:</a:t>
            </a:r>
            <a:r>
              <a:rPr lang="en-US" dirty="0"/>
              <a:t> Companies are moving from piloting to integrating AI into core business functions, aiming to automate broken processes.</a:t>
            </a:r>
          </a:p>
          <a:p>
            <a:r>
              <a:rPr lang="en-US" b="1" dirty="0"/>
              <a:t>Specialized Agents:</a:t>
            </a:r>
            <a:r>
              <a:rPr lang="en-US" dirty="0"/>
              <a:t> Specialized AI agents will work in teams, orchestrated by a central model to increase </a:t>
            </a:r>
            <a:r>
              <a:rPr lang="en-US" dirty="0" smtClean="0"/>
              <a:t>productivity</a:t>
            </a:r>
          </a:p>
          <a:p>
            <a:r>
              <a:rPr lang="en-US" dirty="0"/>
              <a:t>Moving beyond conversational </a:t>
            </a:r>
            <a:r>
              <a:rPr lang="en-US" dirty="0" err="1"/>
              <a:t>chatbots</a:t>
            </a:r>
            <a:r>
              <a:rPr lang="en-US" dirty="0"/>
              <a:t>, the focus is shifting to </a:t>
            </a:r>
            <a:r>
              <a:rPr lang="en-US" b="1" dirty="0" err="1"/>
              <a:t>agentic</a:t>
            </a:r>
            <a:r>
              <a:rPr lang="en-US" b="1" dirty="0"/>
              <a:t> </a:t>
            </a:r>
            <a:r>
              <a:rPr lang="en-US" b="1" dirty="0" smtClean="0"/>
              <a:t>AI</a:t>
            </a:r>
          </a:p>
          <a:p>
            <a:r>
              <a:rPr lang="en-US" dirty="0"/>
              <a:t>AI agents that can plan, reason, and take actions to achieve multi-step goals with minimal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73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AI-Powered </a:t>
            </a:r>
            <a:r>
              <a:rPr lang="en-US" b="1" dirty="0"/>
              <a:t>Cybersecurity (Preemptive Defense)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Adaptive Learning:</a:t>
            </a:r>
            <a:r>
              <a:rPr lang="en-US" dirty="0"/>
              <a:t> Security models will continuously learn from new threat data to identify patterns in real-time.</a:t>
            </a:r>
          </a:p>
          <a:p>
            <a:r>
              <a:rPr lang="en-US" b="1" dirty="0"/>
              <a:t>Preemptive Action:</a:t>
            </a:r>
            <a:r>
              <a:rPr lang="en-US" dirty="0"/>
              <a:t> The focus is shifting from reactive to proactive, with AI identifying vulnerabilities before they are exploited.</a:t>
            </a:r>
          </a:p>
          <a:p>
            <a:r>
              <a:rPr lang="en-US" b="1" dirty="0"/>
              <a:t>AI-</a:t>
            </a:r>
            <a:r>
              <a:rPr lang="en-US" b="1" dirty="0" err="1"/>
              <a:t>TRiSM</a:t>
            </a:r>
            <a:r>
              <a:rPr lang="en-US" b="1" dirty="0"/>
              <a:t>:</a:t>
            </a:r>
            <a:r>
              <a:rPr lang="en-US" dirty="0"/>
              <a:t> Increased focus on AI Trust, Risk, and Security Management to ensure AI models are secure, ethical, and </a:t>
            </a:r>
            <a:r>
              <a:rPr lang="en-US" dirty="0" smtClean="0"/>
              <a:t>reliable</a:t>
            </a:r>
          </a:p>
          <a:p>
            <a:r>
              <a:rPr lang="en-US" dirty="0"/>
              <a:t>As AI helps cybercriminals create more sophisticated phishing and malware, AI is also becoming essential to defend against them. </a:t>
            </a:r>
            <a:endParaRPr lang="en-US" dirty="0" smtClean="0"/>
          </a:p>
          <a:p>
            <a:r>
              <a:rPr lang="en-US" dirty="0"/>
              <a:t> Specialized AI agents will work in teams, orchestrated by a central model to increase productivity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8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Krish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7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</TotalTime>
  <Words>349</Words>
  <Application>Microsoft Office PowerPoint</Application>
  <PresentationFormat>Widescreen</PresentationFormat>
  <Paragraphs>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Slice</vt:lpstr>
      <vt:lpstr>IT Trends analysis</vt:lpstr>
      <vt:lpstr>Introduction</vt:lpstr>
      <vt:lpstr>AI goes physical: Navigating the convergence of AI and robotics</vt:lpstr>
      <vt:lpstr>The agentic reality check: Preparing for a silicon-based workforce</vt:lpstr>
      <vt:lpstr>The AI infrastructure reckoning: Optimizing compute strategy in the age of inference economics </vt:lpstr>
      <vt:lpstr>The great rebuild: Architecting an AI-native tech organization </vt:lpstr>
      <vt:lpstr>The AI dilemma: Securing and leveraging AI for cyber defense </vt:lpstr>
      <vt:lpstr>Cutting through the noise: Tech signals worth tracking as AI advances </vt:lpstr>
      <vt:lpstr>Key Differences: Old vs. New IT</vt:lpstr>
      <vt:lpstr>PowerPoint Presentation</vt:lpstr>
      <vt:lpstr>Agentic AI and Autonomous Systems </vt:lpstr>
      <vt:lpstr>AI-Powered Cybersecurity (Preemptive Defense) 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Latest Iot Trends</dc:title>
  <dc:creator>student</dc:creator>
  <cp:lastModifiedBy>student</cp:lastModifiedBy>
  <cp:revision>27</cp:revision>
  <dcterms:created xsi:type="dcterms:W3CDTF">2026-03-03T08:54:19Z</dcterms:created>
  <dcterms:modified xsi:type="dcterms:W3CDTF">2026-03-03T09:28:42Z</dcterms:modified>
</cp:coreProperties>
</file>