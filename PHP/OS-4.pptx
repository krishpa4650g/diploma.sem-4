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3.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theme/theme4.xml" ContentType="application/vnd.openxmlformats-officedocument.theme+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5.xml" ContentType="application/vnd.openxmlformats-officedocument.theme+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4.xml" ContentType="application/vnd.openxmlformats-officedocument.themeOverride+xml"/>
  <Override PartName="/ppt/theme/themeOverride5.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heme/themeOverride6.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heme/themeOverride7.xml" ContentType="application/vnd.openxmlformats-officedocument.themeOverride+xml"/>
  <Override PartName="/ppt/notesSlides/notesSlide7.xml" ContentType="application/vnd.openxmlformats-officedocument.presentationml.notesSl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94" r:id="rId2"/>
    <p:sldMasterId id="2147483717" r:id="rId3"/>
    <p:sldMasterId id="2147483740" r:id="rId4"/>
    <p:sldMasterId id="2147483762" r:id="rId5"/>
    <p:sldMasterId id="2147483785" r:id="rId6"/>
  </p:sldMasterIdLst>
  <p:notesMasterIdLst>
    <p:notesMasterId r:id="rId73"/>
  </p:notesMasterIdLst>
  <p:handoutMasterIdLst>
    <p:handoutMasterId r:id="rId74"/>
  </p:handoutMasterIdLst>
  <p:sldIdLst>
    <p:sldId id="283" r:id="rId7"/>
    <p:sldId id="512" r:id="rId8"/>
    <p:sldId id="787" r:id="rId9"/>
    <p:sldId id="714" r:id="rId10"/>
    <p:sldId id="786" r:id="rId11"/>
    <p:sldId id="715" r:id="rId12"/>
    <p:sldId id="716" r:id="rId13"/>
    <p:sldId id="717" r:id="rId14"/>
    <p:sldId id="784" r:id="rId15"/>
    <p:sldId id="788" r:id="rId16"/>
    <p:sldId id="721" r:id="rId17"/>
    <p:sldId id="722" r:id="rId18"/>
    <p:sldId id="723" r:id="rId19"/>
    <p:sldId id="724" r:id="rId20"/>
    <p:sldId id="725" r:id="rId21"/>
    <p:sldId id="726" r:id="rId22"/>
    <p:sldId id="727" r:id="rId23"/>
    <p:sldId id="728" r:id="rId24"/>
    <p:sldId id="729" r:id="rId25"/>
    <p:sldId id="730" r:id="rId26"/>
    <p:sldId id="731" r:id="rId27"/>
    <p:sldId id="733" r:id="rId28"/>
    <p:sldId id="734" r:id="rId29"/>
    <p:sldId id="732" r:id="rId30"/>
    <p:sldId id="735" r:id="rId31"/>
    <p:sldId id="736" r:id="rId32"/>
    <p:sldId id="737" r:id="rId33"/>
    <p:sldId id="738" r:id="rId34"/>
    <p:sldId id="739" r:id="rId35"/>
    <p:sldId id="740" r:id="rId36"/>
    <p:sldId id="741" r:id="rId37"/>
    <p:sldId id="742" r:id="rId38"/>
    <p:sldId id="744" r:id="rId39"/>
    <p:sldId id="745" r:id="rId40"/>
    <p:sldId id="746" r:id="rId41"/>
    <p:sldId id="747" r:id="rId42"/>
    <p:sldId id="748" r:id="rId43"/>
    <p:sldId id="749" r:id="rId44"/>
    <p:sldId id="750" r:id="rId45"/>
    <p:sldId id="751" r:id="rId46"/>
    <p:sldId id="752" r:id="rId47"/>
    <p:sldId id="753" r:id="rId48"/>
    <p:sldId id="754" r:id="rId49"/>
    <p:sldId id="755" r:id="rId50"/>
    <p:sldId id="775" r:id="rId51"/>
    <p:sldId id="772" r:id="rId52"/>
    <p:sldId id="773" r:id="rId53"/>
    <p:sldId id="774" r:id="rId54"/>
    <p:sldId id="756" r:id="rId55"/>
    <p:sldId id="780" r:id="rId56"/>
    <p:sldId id="781" r:id="rId57"/>
    <p:sldId id="782" r:id="rId58"/>
    <p:sldId id="783" r:id="rId59"/>
    <p:sldId id="761" r:id="rId60"/>
    <p:sldId id="762" r:id="rId61"/>
    <p:sldId id="789" r:id="rId62"/>
    <p:sldId id="763" r:id="rId63"/>
    <p:sldId id="765" r:id="rId64"/>
    <p:sldId id="790" r:id="rId65"/>
    <p:sldId id="766" r:id="rId66"/>
    <p:sldId id="779" r:id="rId67"/>
    <p:sldId id="785" r:id="rId68"/>
    <p:sldId id="791" r:id="rId69"/>
    <p:sldId id="769" r:id="rId70"/>
    <p:sldId id="778" r:id="rId71"/>
    <p:sldId id="713" r:id="rId7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8lHgwvjdUMnBoAEmp2WgnQ==" hashData="j2pw7Le2F+qIYwt9E8T9knTDJJRKsHk2x1KndWJ24F7P0xfQByCmNOI5KD13YFWDULHIp9dUeuhpaNyjKBhqqA=="/>
  <p:extLst>
    <p:ext uri="{521415D9-36F7-43E2-AB2F-B90AF26B5E84}">
      <p14:sectionLst xmlns:p14="http://schemas.microsoft.com/office/powerpoint/2010/main">
        <p14:section name="Default Section" id="{1390711D-F853-48E3-A520-8D024CB230CB}">
          <p14:sldIdLst>
            <p14:sldId id="283"/>
            <p14:sldId id="512"/>
            <p14:sldId id="787"/>
          </p14:sldIdLst>
        </p14:section>
        <p14:section name="Memory Management: Concept" id="{3856226B-FEC4-4B58-A157-558EF7E1510F}">
          <p14:sldIdLst>
            <p14:sldId id="714"/>
            <p14:sldId id="786"/>
            <p14:sldId id="715"/>
            <p14:sldId id="716"/>
          </p14:sldIdLst>
        </p14:section>
        <p14:section name="Logical and Physical address" id="{03087F52-0917-475C-BEED-BFDE2ABE63DC}">
          <p14:sldIdLst>
            <p14:sldId id="717"/>
            <p14:sldId id="784"/>
            <p14:sldId id="788"/>
          </p14:sldIdLst>
        </p14:section>
        <p14:section name="Memory Allocation" id="{5E9E53DF-73AA-43DE-BF9A-6A7DA260B1AF}">
          <p14:sldIdLst>
            <p14:sldId id="721"/>
            <p14:sldId id="722"/>
            <p14:sldId id="723"/>
          </p14:sldIdLst>
        </p14:section>
        <p14:section name="Contiguous Memory Allocation- Partitioned of memory" id="{414F0DDA-70E4-4E5F-AE27-6F8B0916C160}">
          <p14:sldIdLst>
            <p14:sldId id="724"/>
            <p14:sldId id="725"/>
            <p14:sldId id="726"/>
          </p14:sldIdLst>
        </p14:section>
        <p14:section name="Fixed &amp; variable partitioning" id="{C16ADB1F-B2C4-4378-86BE-09B7FB1318C2}">
          <p14:sldIdLst>
            <p14:sldId id="727"/>
            <p14:sldId id="728"/>
            <p14:sldId id="729"/>
            <p14:sldId id="730"/>
          </p14:sldIdLst>
        </p14:section>
        <p14:section name="Dynamic &amp; Variable Partition" id="{1DEE0175-9429-457B-8AD6-C915EA1B2821}">
          <p14:sldIdLst>
            <p14:sldId id="731"/>
            <p14:sldId id="733"/>
            <p14:sldId id="734"/>
            <p14:sldId id="732"/>
          </p14:sldIdLst>
        </p14:section>
        <p14:section name="Swapping" id="{0FED8F31-3682-49EB-9B4C-39F76C89C2EE}">
          <p14:sldIdLst>
            <p14:sldId id="735"/>
            <p14:sldId id="736"/>
            <p14:sldId id="737"/>
          </p14:sldIdLst>
        </p14:section>
        <p14:section name="Non-Contiguous Memory Allocation" id="{0C526F8E-9FA5-4A25-8C79-6E2A1D9D0A63}">
          <p14:sldIdLst>
            <p14:sldId id="738"/>
            <p14:sldId id="739"/>
            <p14:sldId id="740"/>
          </p14:sldIdLst>
        </p14:section>
        <p14:section name="Paging" id="{27083AB6-9813-4861-A703-904801A40052}">
          <p14:sldIdLst>
            <p14:sldId id="741"/>
            <p14:sldId id="742"/>
            <p14:sldId id="744"/>
            <p14:sldId id="745"/>
          </p14:sldIdLst>
        </p14:section>
        <p14:section name="Segmentation" id="{FFC1F0DE-CC87-4CB6-A929-E633C743AAF8}">
          <p14:sldIdLst>
            <p14:sldId id="746"/>
            <p14:sldId id="747"/>
            <p14:sldId id="748"/>
            <p14:sldId id="749"/>
            <p14:sldId id="750"/>
          </p14:sldIdLst>
        </p14:section>
        <p14:section name="The concept of virtual memory" id="{6B11DC7F-6731-41C0-B623-1EA15C6D2E63}">
          <p14:sldIdLst>
            <p14:sldId id="751"/>
            <p14:sldId id="752"/>
            <p14:sldId id="753"/>
            <p14:sldId id="754"/>
            <p14:sldId id="755"/>
          </p14:sldIdLst>
        </p14:section>
        <p14:section name="Concept of a Page Fault" id="{0F5F4DEF-EF71-43F7-B977-A13040CF13E9}">
          <p14:sldIdLst>
            <p14:sldId id="775"/>
            <p14:sldId id="772"/>
            <p14:sldId id="773"/>
            <p14:sldId id="774"/>
          </p14:sldIdLst>
        </p14:section>
        <p14:section name="Memory Allocation Strategies" id="{D590B6E1-C723-4F17-8639-DCA70539E51C}">
          <p14:sldIdLst>
            <p14:sldId id="756"/>
            <p14:sldId id="780"/>
            <p14:sldId id="781"/>
            <p14:sldId id="782"/>
            <p14:sldId id="783"/>
          </p14:sldIdLst>
        </p14:section>
        <p14:section name="Page Replacement Algorithmes: FIFO, LRU, OPT" id="{CD8AA5AD-3B14-4CCC-AAA5-BF62692582D3}">
          <p14:sldIdLst>
            <p14:sldId id="761"/>
            <p14:sldId id="762"/>
            <p14:sldId id="789"/>
            <p14:sldId id="763"/>
            <p14:sldId id="765"/>
            <p14:sldId id="790"/>
            <p14:sldId id="766"/>
            <p14:sldId id="779"/>
            <p14:sldId id="785"/>
            <p14:sldId id="791"/>
            <p14:sldId id="769"/>
            <p14:sldId id="778"/>
            <p14:sldId id="71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1A60"/>
    <a:srgbClr val="D71E3F"/>
    <a:srgbClr val="607D8B"/>
    <a:srgbClr val="1D6BA5"/>
    <a:srgbClr val="ED524F"/>
    <a:srgbClr val="1D3064"/>
    <a:srgbClr val="301B92"/>
    <a:srgbClr val="673BB7"/>
    <a:srgbClr val="B71B1C"/>
    <a:srgbClr val="F543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103" autoAdjust="0"/>
    <p:restoredTop sz="91863" autoAdjust="0"/>
  </p:normalViewPr>
  <p:slideViewPr>
    <p:cSldViewPr snapToGrid="0">
      <p:cViewPr varScale="1">
        <p:scale>
          <a:sx n="79" d="100"/>
          <a:sy n="79" d="100"/>
        </p:scale>
        <p:origin x="394" y="96"/>
      </p:cViewPr>
      <p:guideLst/>
    </p:cSldViewPr>
  </p:slideViewPr>
  <p:notesTextViewPr>
    <p:cViewPr>
      <p:scale>
        <a:sx n="1" d="1"/>
        <a:sy n="1" d="1"/>
      </p:scale>
      <p:origin x="0" y="0"/>
    </p:cViewPr>
  </p:notesTextViewPr>
  <p:sorterViewPr>
    <p:cViewPr varScale="1">
      <p:scale>
        <a:sx n="100" d="100"/>
        <a:sy n="100" d="100"/>
      </p:scale>
      <p:origin x="0" y="-653"/>
    </p:cViewPr>
  </p:sorterViewPr>
  <p:notesViewPr>
    <p:cSldViewPr snapToGrid="0">
      <p:cViewPr varScale="1">
        <p:scale>
          <a:sx n="55" d="100"/>
          <a:sy n="55" d="100"/>
        </p:scale>
        <p:origin x="2796" y="7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16" Type="http://schemas.openxmlformats.org/officeDocument/2006/relationships/slide" Target="slides/slide10.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slide" Target="slides/slide60.xml"/><Relationship Id="rId74" Type="http://schemas.openxmlformats.org/officeDocument/2006/relationships/handoutMaster" Target="handoutMasters/handoutMaster1.xml"/><Relationship Id="rId5" Type="http://schemas.openxmlformats.org/officeDocument/2006/relationships/slideMaster" Target="slideMasters/slideMaster5.xml"/><Relationship Id="rId61" Type="http://schemas.openxmlformats.org/officeDocument/2006/relationships/slide" Target="slides/slide5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slide" Target="slides/slide63.xml"/><Relationship Id="rId77" Type="http://schemas.openxmlformats.org/officeDocument/2006/relationships/theme" Target="theme/theme1.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notesMaster" Target="notesMasters/notesMaster1.xml"/><Relationship Id="rId78"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viewProps" Target="viewProps.xml"/><Relationship Id="rId7" Type="http://schemas.openxmlformats.org/officeDocument/2006/relationships/slide" Target="slides/slide1.xml"/><Relationship Id="rId71" Type="http://schemas.openxmlformats.org/officeDocument/2006/relationships/slide" Target="slides/slide65.xml"/><Relationship Id="rId2" Type="http://schemas.openxmlformats.org/officeDocument/2006/relationships/slideMaster" Target="slideMasters/slideMaster2.xml"/><Relationship Id="rId29" Type="http://schemas.openxmlformats.org/officeDocument/2006/relationships/slide" Target="slides/slide2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C218C1C-969C-4E59-8027-1BA3F0D38C8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76ADB10-FD95-4CEB-98E7-4FA837CE417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41F8433-EE2A-41B9-BA56-D2396856AE90}" type="datetimeFigureOut">
              <a:rPr lang="en-US" smtClean="0"/>
              <a:t>1/27/2026</a:t>
            </a:fld>
            <a:endParaRPr lang="en-US" dirty="0"/>
          </a:p>
        </p:txBody>
      </p:sp>
      <p:sp>
        <p:nvSpPr>
          <p:cNvPr id="4" name="Footer Placeholder 3">
            <a:extLst>
              <a:ext uri="{FF2B5EF4-FFF2-40B4-BE49-F238E27FC236}">
                <a16:creationId xmlns:a16="http://schemas.microsoft.com/office/drawing/2014/main" id="{A96D3071-CA2D-4040-8804-09E92AEBFB5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E5E4A6F-F650-4C9C-829F-3B9F190B180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FE52D4-162F-44F0-919A-0F008E609608}" type="slidenum">
              <a:rPr lang="en-US" smtClean="0"/>
              <a:t>‹#›</a:t>
            </a:fld>
            <a:endParaRPr lang="en-US" dirty="0"/>
          </a:p>
        </p:txBody>
      </p:sp>
    </p:spTree>
    <p:extLst>
      <p:ext uri="{BB962C8B-B14F-4D97-AF65-F5344CB8AC3E}">
        <p14:creationId xmlns:p14="http://schemas.microsoft.com/office/powerpoint/2010/main" val="12519726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1/27/2026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dirty="0"/>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79BDEF-6165-4E72-B1A6-6E8034CEC248}" type="slidenum">
              <a:rPr lang="en-US" smtClean="0"/>
              <a:t>9</a:t>
            </a:fld>
            <a:endParaRPr lang="en-US"/>
          </a:p>
        </p:txBody>
      </p:sp>
    </p:spTree>
    <p:extLst>
      <p:ext uri="{BB962C8B-B14F-4D97-AF65-F5344CB8AC3E}">
        <p14:creationId xmlns:p14="http://schemas.microsoft.com/office/powerpoint/2010/main" val="31976258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79BDEF-6165-4E72-B1A6-6E8034CEC248}" type="slidenum">
              <a:rPr lang="en-US" smtClean="0">
                <a:solidFill>
                  <a:prstClr val="black"/>
                </a:solidFill>
              </a:rPr>
              <a:pPr/>
              <a:t>13</a:t>
            </a:fld>
            <a:endParaRPr lang="en-US" dirty="0">
              <a:solidFill>
                <a:prstClr val="black"/>
              </a:solidFill>
            </a:endParaRPr>
          </a:p>
        </p:txBody>
      </p:sp>
    </p:spTree>
    <p:extLst>
      <p:ext uri="{BB962C8B-B14F-4D97-AF65-F5344CB8AC3E}">
        <p14:creationId xmlns:p14="http://schemas.microsoft.com/office/powerpoint/2010/main" val="19787247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79BDEF-6165-4E72-B1A6-6E8034CEC248}" type="slidenum">
              <a:rPr lang="en-US" smtClean="0">
                <a:solidFill>
                  <a:prstClr val="black"/>
                </a:solidFill>
              </a:rPr>
              <a:pPr/>
              <a:t>32</a:t>
            </a:fld>
            <a:endParaRPr lang="en-US">
              <a:solidFill>
                <a:prstClr val="black"/>
              </a:solidFill>
            </a:endParaRPr>
          </a:p>
        </p:txBody>
      </p:sp>
    </p:spTree>
    <p:extLst>
      <p:ext uri="{BB962C8B-B14F-4D97-AF65-F5344CB8AC3E}">
        <p14:creationId xmlns:p14="http://schemas.microsoft.com/office/powerpoint/2010/main" val="9756421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79BDEF-6165-4E72-B1A6-6E8034CEC248}" type="slidenum">
              <a:rPr lang="en-US" smtClean="0">
                <a:solidFill>
                  <a:prstClr val="black"/>
                </a:solidFill>
              </a:rPr>
              <a:pPr/>
              <a:t>34</a:t>
            </a:fld>
            <a:endParaRPr lang="en-US">
              <a:solidFill>
                <a:prstClr val="black"/>
              </a:solidFill>
            </a:endParaRPr>
          </a:p>
        </p:txBody>
      </p:sp>
    </p:spTree>
    <p:extLst>
      <p:ext uri="{BB962C8B-B14F-4D97-AF65-F5344CB8AC3E}">
        <p14:creationId xmlns:p14="http://schemas.microsoft.com/office/powerpoint/2010/main" val="5082760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79BDEF-6165-4E72-B1A6-6E8034CEC248}" type="slidenum">
              <a:rPr lang="en-US" smtClean="0">
                <a:solidFill>
                  <a:prstClr val="black"/>
                </a:solidFill>
              </a:rPr>
              <a:pPr/>
              <a:t>37</a:t>
            </a:fld>
            <a:endParaRPr lang="en-US">
              <a:solidFill>
                <a:prstClr val="black"/>
              </a:solidFill>
            </a:endParaRPr>
          </a:p>
        </p:txBody>
      </p:sp>
    </p:spTree>
    <p:extLst>
      <p:ext uri="{BB962C8B-B14F-4D97-AF65-F5344CB8AC3E}">
        <p14:creationId xmlns:p14="http://schemas.microsoft.com/office/powerpoint/2010/main" val="37686085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79BDEF-6165-4E72-B1A6-6E8034CEC248}" type="slidenum">
              <a:rPr lang="en-US" smtClean="0">
                <a:solidFill>
                  <a:prstClr val="black"/>
                </a:solidFill>
              </a:rPr>
              <a:pPr/>
              <a:t>39</a:t>
            </a:fld>
            <a:endParaRPr lang="en-US">
              <a:solidFill>
                <a:prstClr val="black"/>
              </a:solidFill>
            </a:endParaRPr>
          </a:p>
        </p:txBody>
      </p:sp>
    </p:spTree>
    <p:extLst>
      <p:ext uri="{BB962C8B-B14F-4D97-AF65-F5344CB8AC3E}">
        <p14:creationId xmlns:p14="http://schemas.microsoft.com/office/powerpoint/2010/main" val="27110704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79BDEF-6165-4E72-B1A6-6E8034CEC248}" type="slidenum">
              <a:rPr lang="en-US" smtClean="0">
                <a:solidFill>
                  <a:prstClr val="black"/>
                </a:solidFill>
              </a:rPr>
              <a:pPr/>
              <a:t>44</a:t>
            </a:fld>
            <a:endParaRPr lang="en-US">
              <a:solidFill>
                <a:prstClr val="black"/>
              </a:solidFill>
            </a:endParaRPr>
          </a:p>
        </p:txBody>
      </p:sp>
    </p:spTree>
    <p:extLst>
      <p:ext uri="{BB962C8B-B14F-4D97-AF65-F5344CB8AC3E}">
        <p14:creationId xmlns:p14="http://schemas.microsoft.com/office/powerpoint/2010/main" val="1043678809"/>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12.png"/><Relationship Id="rId4" Type="http://schemas.microsoft.com/office/2007/relationships/hdphoto" Target="../media/hdphoto2.wdp"/></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12.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13.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14.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15.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4.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18.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19.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image" Target="../media/image7.png"/><Relationship Id="rId5" Type="http://schemas.openxmlformats.org/officeDocument/2006/relationships/image" Target="../media/image3.png"/><Relationship Id="rId10" Type="http://schemas.openxmlformats.org/officeDocument/2006/relationships/image" Target="../media/image6.jpeg"/><Relationship Id="rId4" Type="http://schemas.openxmlformats.org/officeDocument/2006/relationships/image" Target="../media/image13.png"/><Relationship Id="rId9" Type="http://schemas.openxmlformats.org/officeDocument/2006/relationships/image" Target="../media/image15.jpeg"/></Relationships>
</file>

<file path=ppt/slideLayouts/_rels/slideLayout20.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4.png"/><Relationship Id="rId4" Type="http://schemas.openxmlformats.org/officeDocument/2006/relationships/image" Target="../media/image3.png"/><Relationship Id="rId9" Type="http://schemas.openxmlformats.org/officeDocument/2006/relationships/image" Target="../media/image6.jpeg"/></Relationships>
</file>

<file path=ppt/slideLayouts/_rels/slideLayout22.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4.png"/><Relationship Id="rId11" Type="http://schemas.openxmlformats.org/officeDocument/2006/relationships/image" Target="../media/image18.png"/><Relationship Id="rId5" Type="http://schemas.openxmlformats.org/officeDocument/2006/relationships/image" Target="../media/image3.png"/><Relationship Id="rId10" Type="http://schemas.openxmlformats.org/officeDocument/2006/relationships/image" Target="../media/image6.jpeg"/><Relationship Id="rId4" Type="http://schemas.openxmlformats.org/officeDocument/2006/relationships/image" Target="../media/image13.png"/><Relationship Id="rId9" Type="http://schemas.openxmlformats.org/officeDocument/2006/relationships/image" Target="../media/image16.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Master" Target="../slideMasters/slideMaster2.xml"/><Relationship Id="rId5" Type="http://schemas.openxmlformats.org/officeDocument/2006/relationships/image" Target="../media/image20.png"/><Relationship Id="rId4" Type="http://schemas.microsoft.com/office/2007/relationships/hdphoto" Target="../media/hdphoto4.wdp"/></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33.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34.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35.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36.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37.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38.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png"/><Relationship Id="rId7" Type="http://schemas.microsoft.com/office/2007/relationships/hdphoto" Target="../media/hdphoto3.wdp"/><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7.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18.png"/></Relationships>
</file>

<file path=ppt/slideLayouts/_rels/slideLayout39.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40.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41.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4.png"/><Relationship Id="rId11" Type="http://schemas.openxmlformats.org/officeDocument/2006/relationships/image" Target="../media/image18.png"/><Relationship Id="rId5" Type="http://schemas.openxmlformats.org/officeDocument/2006/relationships/image" Target="../media/image3.png"/><Relationship Id="rId10" Type="http://schemas.openxmlformats.org/officeDocument/2006/relationships/image" Target="../media/image6.jpeg"/><Relationship Id="rId4" Type="http://schemas.openxmlformats.org/officeDocument/2006/relationships/image" Target="../media/image13.png"/><Relationship Id="rId9" Type="http://schemas.openxmlformats.org/officeDocument/2006/relationships/image" Target="../media/image15.jpeg"/></Relationships>
</file>

<file path=ppt/slideLayouts/_rels/slideLayout42.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4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7.png"/><Relationship Id="rId4" Type="http://schemas.openxmlformats.org/officeDocument/2006/relationships/image" Target="../media/image3.png"/><Relationship Id="rId9" Type="http://schemas.openxmlformats.org/officeDocument/2006/relationships/image" Target="../media/image6.jpeg"/></Relationships>
</file>

<file path=ppt/slideLayouts/_rels/slideLayout44.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4.png"/><Relationship Id="rId11" Type="http://schemas.openxmlformats.org/officeDocument/2006/relationships/image" Target="../media/image18.png"/><Relationship Id="rId5" Type="http://schemas.openxmlformats.org/officeDocument/2006/relationships/image" Target="../media/image3.png"/><Relationship Id="rId10" Type="http://schemas.openxmlformats.org/officeDocument/2006/relationships/image" Target="../media/image6.jpeg"/><Relationship Id="rId4" Type="http://schemas.openxmlformats.org/officeDocument/2006/relationships/image" Target="../media/image13.png"/><Relationship Id="rId9" Type="http://schemas.openxmlformats.org/officeDocument/2006/relationships/image" Target="../media/image16.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Master" Target="../slideMasters/slideMaster3.xml"/><Relationship Id="rId5" Type="http://schemas.openxmlformats.org/officeDocument/2006/relationships/image" Target="../media/image10.png"/><Relationship Id="rId4" Type="http://schemas.microsoft.com/office/2007/relationships/hdphoto" Target="../media/hdphoto4.wdp"/></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55.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56.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57.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58.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59.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60.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png"/><Relationship Id="rId7" Type="http://schemas.microsoft.com/office/2007/relationships/hdphoto" Target="../media/hdphoto3.wdp"/><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17.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18.png"/></Relationships>
</file>

<file path=ppt/slideLayouts/_rels/slideLayout61.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62.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63.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4.png"/><Relationship Id="rId11" Type="http://schemas.openxmlformats.org/officeDocument/2006/relationships/image" Target="../media/image18.png"/><Relationship Id="rId5" Type="http://schemas.openxmlformats.org/officeDocument/2006/relationships/image" Target="../media/image3.png"/><Relationship Id="rId10" Type="http://schemas.openxmlformats.org/officeDocument/2006/relationships/image" Target="../media/image6.jpeg"/><Relationship Id="rId4" Type="http://schemas.openxmlformats.org/officeDocument/2006/relationships/image" Target="../media/image13.png"/><Relationship Id="rId9" Type="http://schemas.openxmlformats.org/officeDocument/2006/relationships/image" Target="../media/image15.jpeg"/></Relationships>
</file>

<file path=ppt/slideLayouts/_rels/slideLayout64.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6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7.png"/><Relationship Id="rId4" Type="http://schemas.openxmlformats.org/officeDocument/2006/relationships/image" Target="../media/image3.png"/><Relationship Id="rId9" Type="http://schemas.openxmlformats.org/officeDocument/2006/relationships/image" Target="../media/image6.jpeg"/></Relationships>
</file>

<file path=ppt/slideLayouts/_rels/slideLayout6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4.png"/><Relationship Id="rId4" Type="http://schemas.openxmlformats.org/officeDocument/2006/relationships/image" Target="../media/image3.png"/><Relationship Id="rId9" Type="http://schemas.openxmlformats.org/officeDocument/2006/relationships/image" Target="../media/image6.jpeg"/></Relationships>
</file>

<file path=ppt/slideLayouts/_rels/slideLayout67.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4.png"/><Relationship Id="rId11" Type="http://schemas.openxmlformats.org/officeDocument/2006/relationships/image" Target="../media/image18.png"/><Relationship Id="rId5" Type="http://schemas.openxmlformats.org/officeDocument/2006/relationships/image" Target="../media/image3.png"/><Relationship Id="rId10" Type="http://schemas.openxmlformats.org/officeDocument/2006/relationships/image" Target="../media/image6.jpeg"/><Relationship Id="rId4" Type="http://schemas.openxmlformats.org/officeDocument/2006/relationships/image" Target="../media/image13.png"/><Relationship Id="rId9" Type="http://schemas.openxmlformats.org/officeDocument/2006/relationships/image" Target="../media/image16.pn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Master" Target="../slideMasters/slideMaster4.xml"/><Relationship Id="rId5" Type="http://schemas.openxmlformats.org/officeDocument/2006/relationships/image" Target="../media/image12.png"/><Relationship Id="rId4" Type="http://schemas.microsoft.com/office/2007/relationships/hdphoto" Target="../media/hdphoto4.wdp"/></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78.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79.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80.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81.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82.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83.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png"/><Relationship Id="rId7" Type="http://schemas.microsoft.com/office/2007/relationships/hdphoto" Target="../media/hdphoto3.wdp"/><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17.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18.png"/></Relationships>
</file>

<file path=ppt/slideLayouts/_rels/slideLayout84.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85.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86.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4.png"/><Relationship Id="rId11" Type="http://schemas.openxmlformats.org/officeDocument/2006/relationships/image" Target="../media/image18.png"/><Relationship Id="rId5" Type="http://schemas.openxmlformats.org/officeDocument/2006/relationships/image" Target="../media/image3.png"/><Relationship Id="rId10" Type="http://schemas.openxmlformats.org/officeDocument/2006/relationships/image" Target="../media/image6.jpeg"/><Relationship Id="rId4" Type="http://schemas.openxmlformats.org/officeDocument/2006/relationships/image" Target="../media/image13.png"/><Relationship Id="rId9" Type="http://schemas.openxmlformats.org/officeDocument/2006/relationships/image" Target="../media/image15.jpeg"/></Relationships>
</file>

<file path=ppt/slideLayouts/_rels/slideLayout87.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88.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4.png"/><Relationship Id="rId11" Type="http://schemas.openxmlformats.org/officeDocument/2006/relationships/image" Target="../media/image18.png"/><Relationship Id="rId5" Type="http://schemas.openxmlformats.org/officeDocument/2006/relationships/image" Target="../media/image3.png"/><Relationship Id="rId10" Type="http://schemas.openxmlformats.org/officeDocument/2006/relationships/image" Target="../media/image6.jpeg"/><Relationship Id="rId4" Type="http://schemas.openxmlformats.org/officeDocument/2006/relationships/image" Target="../media/image13.png"/><Relationship Id="rId9" Type="http://schemas.openxmlformats.org/officeDocument/2006/relationships/image" Target="../media/image16.png"/></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Master" Target="../slideMasters/slideMaster5.xml"/><Relationship Id="rId5" Type="http://schemas.openxmlformats.org/officeDocument/2006/relationships/image" Target="../media/image12.png"/><Relationship Id="rId4" Type="http://schemas.microsoft.com/office/2007/relationships/hdphoto" Target="../media/hdphoto4.wdp"/></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99.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100.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101.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102.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103.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104.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png"/><Relationship Id="rId7" Type="http://schemas.microsoft.com/office/2007/relationships/hdphoto" Target="../media/hdphoto3.wdp"/><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17.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18.png"/></Relationships>
</file>

<file path=ppt/slideLayouts/_rels/slideLayout105.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106.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107.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4.png"/><Relationship Id="rId11" Type="http://schemas.openxmlformats.org/officeDocument/2006/relationships/image" Target="../media/image18.png"/><Relationship Id="rId5" Type="http://schemas.openxmlformats.org/officeDocument/2006/relationships/image" Target="../media/image3.png"/><Relationship Id="rId10" Type="http://schemas.openxmlformats.org/officeDocument/2006/relationships/image" Target="../media/image6.jpeg"/><Relationship Id="rId4" Type="http://schemas.openxmlformats.org/officeDocument/2006/relationships/image" Target="../media/image13.png"/><Relationship Id="rId9" Type="http://schemas.openxmlformats.org/officeDocument/2006/relationships/image" Target="../media/image15.jpeg"/></Relationships>
</file>

<file path=ppt/slideLayouts/_rels/slideLayout108.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10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7.png"/><Relationship Id="rId4" Type="http://schemas.openxmlformats.org/officeDocument/2006/relationships/image" Target="../media/image3.png"/><Relationship Id="rId9" Type="http://schemas.openxmlformats.org/officeDocument/2006/relationships/image" Target="../media/image6.jpeg"/></Relationships>
</file>

<file path=ppt/slideLayouts/_rels/slideLayout110.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6.xml"/><Relationship Id="rId6" Type="http://schemas.openxmlformats.org/officeDocument/2006/relationships/image" Target="../media/image4.png"/><Relationship Id="rId11" Type="http://schemas.openxmlformats.org/officeDocument/2006/relationships/image" Target="../media/image23.png"/><Relationship Id="rId5" Type="http://schemas.openxmlformats.org/officeDocument/2006/relationships/image" Target="../media/image3.png"/><Relationship Id="rId10" Type="http://schemas.openxmlformats.org/officeDocument/2006/relationships/image" Target="../media/image20.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9.png"/><Relationship Id="rId1" Type="http://schemas.openxmlformats.org/officeDocument/2006/relationships/slideMaster" Target="../slideMasters/slideMaster6.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9.png"/><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9.png"/><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2.png"/><Relationship Id="rId1" Type="http://schemas.openxmlformats.org/officeDocument/2006/relationships/slideMaster" Target="../slideMasters/slideMaster6.xml"/><Relationship Id="rId5" Type="http://schemas.openxmlformats.org/officeDocument/2006/relationships/image" Target="../media/image20.png"/><Relationship Id="rId4" Type="http://schemas.microsoft.com/office/2007/relationships/hdphoto" Target="../media/hdphoto2.wdp"/></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6.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20.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12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6.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20.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122.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6.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20.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123.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6.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20.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124.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6.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20.png"/><Relationship Id="rId4" Type="http://schemas.openxmlformats.org/officeDocument/2006/relationships/image" Target="../media/image13.png"/><Relationship Id="rId9" Type="http://schemas.openxmlformats.org/officeDocument/2006/relationships/image" Target="../media/image25.png"/></Relationships>
</file>

<file path=ppt/slideLayouts/_rels/slideLayout125.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6.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20.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126.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6.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20.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127.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6.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20.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128.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6.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20.png"/><Relationship Id="rId4" Type="http://schemas.openxmlformats.org/officeDocument/2006/relationships/image" Target="../media/image13.png"/><Relationship Id="rId9" Type="http://schemas.openxmlformats.org/officeDocument/2006/relationships/image" Target="../media/image6.jpeg"/></Relationships>
</file>

<file path=ppt/slideLayouts/_rels/slideLayout129.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6.xml"/><Relationship Id="rId6" Type="http://schemas.openxmlformats.org/officeDocument/2006/relationships/image" Target="../media/image4.png"/><Relationship Id="rId11" Type="http://schemas.openxmlformats.org/officeDocument/2006/relationships/image" Target="../media/image20.png"/><Relationship Id="rId5" Type="http://schemas.openxmlformats.org/officeDocument/2006/relationships/image" Target="../media/image3.png"/><Relationship Id="rId10" Type="http://schemas.openxmlformats.org/officeDocument/2006/relationships/image" Target="../media/image6.jpeg"/><Relationship Id="rId4" Type="http://schemas.openxmlformats.org/officeDocument/2006/relationships/image" Target="../media/image13.png"/><Relationship Id="rId9" Type="http://schemas.openxmlformats.org/officeDocument/2006/relationships/image" Target="../media/image15.jpeg"/></Relationships>
</file>

<file path=ppt/slideLayouts/_rels/slideLayout130.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6.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20.png"/><Relationship Id="rId4" Type="http://schemas.openxmlformats.org/officeDocument/2006/relationships/image" Target="../media/image13.png"/><Relationship Id="rId9" Type="http://schemas.openxmlformats.org/officeDocument/2006/relationships/image" Target="../media/image6.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5745484" cy="338554"/>
          </a:xfrm>
          <a:prstGeom prst="rect">
            <a:avLst/>
          </a:prstGeom>
          <a:noFill/>
        </p:spPr>
        <p:txBody>
          <a:bodyPr wrap="none" rtlCol="0">
            <a:spAutoFit/>
          </a:bodyPr>
          <a:lstStyle/>
          <a:p>
            <a:r>
              <a:rPr lang="en-US" sz="1600" dirty="0"/>
              <a:t>Darshan Institute of Engineering and Technology for Diploma Studies</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flip="none" rotWithShape="1">
            <a:gsLst>
              <a:gs pos="0">
                <a:srgbClr val="D71E3F">
                  <a:shade val="30000"/>
                  <a:satMod val="115000"/>
                </a:srgbClr>
              </a:gs>
              <a:gs pos="50000">
                <a:srgbClr val="D71E3F">
                  <a:shade val="67500"/>
                  <a:satMod val="115000"/>
                </a:srgbClr>
              </a:gs>
              <a:gs pos="100000">
                <a:srgbClr val="D71E3F">
                  <a:shade val="100000"/>
                  <a:satMod val="115000"/>
                </a:srgbClr>
              </a:gs>
            </a:gsLst>
            <a:lin ang="10800000" scaled="1"/>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flip="none" rotWithShape="1">
            <a:gsLst>
              <a:gs pos="0">
                <a:srgbClr val="D71E3F">
                  <a:shade val="30000"/>
                  <a:satMod val="115000"/>
                </a:srgbClr>
              </a:gs>
              <a:gs pos="50000">
                <a:srgbClr val="D71E3F">
                  <a:shade val="67500"/>
                  <a:satMod val="115000"/>
                </a:srgbClr>
              </a:gs>
              <a:gs pos="100000">
                <a:srgbClr val="D71E3F">
                  <a:shade val="100000"/>
                  <a:satMod val="115000"/>
                </a:srgbClr>
              </a:gs>
            </a:gsLst>
            <a:lin ang="10800000" scaled="1"/>
            <a:tileRect/>
          </a:gradFill>
          <a:ln>
            <a:noFill/>
          </a:ln>
        </p:spPr>
        <p:txBody>
          <a:bodyPr vert="horz" wrap="square" lIns="91440" tIns="45720" rIns="91440" bIns="45720" numCol="1" anchor="t" anchorCtr="0" compatLnSpc="1">
            <a:prstTxWarp prst="textNoShape">
              <a:avLst/>
            </a:prstTxWarp>
          </a:bodyPr>
          <a:lstStyle/>
          <a:p>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DU # Subject Code</a:t>
            </a:r>
          </a:p>
        </p:txBody>
      </p:sp>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pic>
        <p:nvPicPr>
          <p:cNvPr id="7" name="Picture 6">
            <a:extLst>
              <a:ext uri="{FF2B5EF4-FFF2-40B4-BE49-F238E27FC236}">
                <a16:creationId xmlns:a16="http://schemas.microsoft.com/office/drawing/2014/main" id="{B85713ED-4ABD-47B6-858A-1D4B5CF56E0E}"/>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184127" y="365143"/>
            <a:ext cx="2091771" cy="945147"/>
          </a:xfrm>
          <a:prstGeom prst="rect">
            <a:avLst/>
          </a:prstGeom>
        </p:spPr>
      </p:pic>
      <p:sp>
        <p:nvSpPr>
          <p:cNvPr id="30" name="TextBox 29">
            <a:extLst>
              <a:ext uri="{FF2B5EF4-FFF2-40B4-BE49-F238E27FC236}">
                <a16:creationId xmlns:a16="http://schemas.microsoft.com/office/drawing/2014/main" id="{7F738263-46D4-4D28-9615-BF958908128D}"/>
              </a:ext>
            </a:extLst>
          </p:cNvPr>
          <p:cNvSpPr txBox="1"/>
          <p:nvPr userDrawn="1"/>
        </p:nvSpPr>
        <p:spPr>
          <a:xfrm>
            <a:off x="1837677" y="5521352"/>
            <a:ext cx="2967479" cy="338554"/>
          </a:xfrm>
          <a:prstGeom prst="rect">
            <a:avLst/>
          </a:prstGeom>
          <a:noFill/>
        </p:spPr>
        <p:txBody>
          <a:bodyPr wrap="none" rtlCol="0">
            <a:spAutoFit/>
          </a:bodyPr>
          <a:lstStyle/>
          <a:p>
            <a:r>
              <a:rPr lang="en-US" sz="1600" dirty="0"/>
              <a:t>Computer Engineering Department</a:t>
            </a:r>
          </a:p>
        </p:txBody>
      </p:sp>
      <p:sp>
        <p:nvSpPr>
          <p:cNvPr id="31" name="Text Placeholder 2">
            <a:extLst>
              <a:ext uri="{FF2B5EF4-FFF2-40B4-BE49-F238E27FC236}">
                <a16:creationId xmlns:a16="http://schemas.microsoft.com/office/drawing/2014/main" id="{6834F009-928D-4C38-9AD3-82B36C1093F4}"/>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D71E3F">
                        <a:shade val="30000"/>
                        <a:satMod val="115000"/>
                      </a:srgbClr>
                    </a:gs>
                    <a:gs pos="50000">
                      <a:srgbClr val="D71E3F">
                        <a:shade val="67500"/>
                        <a:satMod val="115000"/>
                      </a:srgbClr>
                    </a:gs>
                    <a:gs pos="100000">
                      <a:srgbClr val="D71E3F">
                        <a:shade val="100000"/>
                        <a:satMod val="115000"/>
                      </a:srgbClr>
                    </a:gs>
                  </a:gsLst>
                  <a:lin ang="10800000" scaled="1"/>
                  <a:tileRect/>
                </a:gradFill>
                <a:effectLst/>
                <a:latin typeface="+mn-lt"/>
                <a:ea typeface="+mn-ea"/>
                <a:cs typeface="+mn-cs"/>
              </a:defRPr>
            </a:lvl1pPr>
          </a:lstStyle>
          <a:p>
            <a:pPr lvl="0"/>
            <a:r>
              <a:rPr lang="en-US" dirty="0"/>
              <a:t>Prof. Akash N Siddhpura</a:t>
            </a:r>
          </a:p>
        </p:txBody>
      </p:sp>
      <p:pic>
        <p:nvPicPr>
          <p:cNvPr id="4" name="Picture 3">
            <a:extLst>
              <a:ext uri="{FF2B5EF4-FFF2-40B4-BE49-F238E27FC236}">
                <a16:creationId xmlns:a16="http://schemas.microsoft.com/office/drawing/2014/main" id="{1C7798C9-BEEC-9104-639E-16E749398F0D}"/>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8740009" y="1435823"/>
            <a:ext cx="3080554" cy="2831620"/>
          </a:xfrm>
          <a:prstGeom prst="rect">
            <a:avLst/>
          </a:prstGeom>
        </p:spPr>
      </p:pic>
    </p:spTree>
    <p:extLst>
      <p:ext uri="{BB962C8B-B14F-4D97-AF65-F5344CB8AC3E}">
        <p14:creationId xmlns:p14="http://schemas.microsoft.com/office/powerpoint/2010/main" val="357059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1" y="0"/>
            <a:ext cx="12192000" cy="6858000"/>
          </a:xfrm>
          <a:prstGeom prst="rect">
            <a:avLst/>
          </a:prstGeom>
        </p:spPr>
      </p:pic>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flip="none" rotWithShape="1">
            <a:gsLst>
              <a:gs pos="0">
                <a:srgbClr val="D71E3F">
                  <a:shade val="30000"/>
                  <a:satMod val="115000"/>
                </a:srgbClr>
              </a:gs>
              <a:gs pos="50000">
                <a:srgbClr val="D71E3F">
                  <a:shade val="67500"/>
                  <a:satMod val="115000"/>
                </a:srgbClr>
              </a:gs>
              <a:gs pos="100000">
                <a:srgbClr val="D71E3F">
                  <a:shade val="100000"/>
                  <a:satMod val="115000"/>
                </a:srgbClr>
              </a:gs>
            </a:gsLst>
            <a:lin ang="10800000" scaled="1"/>
            <a:tileRect/>
          </a:gradFill>
          <a:ln>
            <a:noFill/>
          </a:ln>
        </p:spPr>
        <p:txBody>
          <a:bodyPr vert="horz" wrap="square" lIns="91440" tIns="45720" rIns="91440" bIns="45720" numCol="1" anchor="t" anchorCtr="0" compatLnSpc="1">
            <a:prstTxWarp prst="textNoShape">
              <a:avLst/>
            </a:prstTxWarp>
          </a:bodyPr>
          <a:lstStyle/>
          <a:p>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
        <p:nvSpPr>
          <p:cNvPr id="30" name="Hexagon 29">
            <a:extLst>
              <a:ext uri="{FF2B5EF4-FFF2-40B4-BE49-F238E27FC236}">
                <a16:creationId xmlns:a16="http://schemas.microsoft.com/office/drawing/2014/main" id="{1BB32699-4C62-4BBF-9A17-90008E297198}"/>
              </a:ext>
            </a:extLst>
          </p:cNvPr>
          <p:cNvSpPr/>
          <p:nvPr userDrawn="1"/>
        </p:nvSpPr>
        <p:spPr>
          <a:xfrm rot="5400000">
            <a:off x="4309397" y="1708494"/>
            <a:ext cx="3461658" cy="2984188"/>
          </a:xfrm>
          <a:prstGeom prst="hexagon">
            <a:avLst/>
          </a:prstGeom>
          <a:solidFill>
            <a:schemeClr val="bg1">
              <a:lumMod val="95000"/>
            </a:schemeClr>
          </a:solidFill>
          <a:ln w="57150">
            <a:solidFill>
              <a:srgbClr val="D71E3F"/>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02C58FA9-71EA-487D-8A75-915EC6877722}"/>
              </a:ext>
            </a:extLst>
          </p:cNvPr>
          <p:cNvSpPr/>
          <p:nvPr userDrawn="1"/>
        </p:nvSpPr>
        <p:spPr>
          <a:xfrm>
            <a:off x="0" y="2221532"/>
            <a:ext cx="4402106" cy="1951692"/>
          </a:xfrm>
          <a:prstGeom prst="rect">
            <a:avLst/>
          </a:prstGeom>
          <a:gradFill flip="none" rotWithShape="1">
            <a:gsLst>
              <a:gs pos="0">
                <a:srgbClr val="D71E3F">
                  <a:shade val="30000"/>
                  <a:satMod val="115000"/>
                </a:srgbClr>
              </a:gs>
              <a:gs pos="50000">
                <a:srgbClr val="D71E3F">
                  <a:shade val="67500"/>
                  <a:satMod val="115000"/>
                </a:srgbClr>
              </a:gs>
              <a:gs pos="100000">
                <a:srgbClr val="D71E3F">
                  <a:shade val="100000"/>
                  <a:satMod val="115000"/>
                </a:srgbClr>
              </a:gs>
            </a:gsLst>
            <a:path path="circle">
              <a:fillToRect l="100000" t="100000"/>
            </a:path>
            <a:tileRect r="-100000" b="-100000"/>
          </a:gradFill>
          <a:ln>
            <a:noFill/>
          </a:ln>
        </p:spPr>
        <p:txBody>
          <a:bodyPr vert="horz" wrap="square" lIns="91440" tIns="45720" rIns="91440" bIns="45720" numCol="1" anchor="t" anchorCtr="0" compatLnSpc="1">
            <a:prstTxWarp prst="textNoShape">
              <a:avLst/>
            </a:prstTxWarp>
          </a:bodyPr>
          <a:lstStyle/>
          <a:p>
            <a:pPr lvl="0"/>
            <a:endParaRPr lang="en-US" dirty="0">
              <a:solidFill>
                <a:schemeClr val="tx1"/>
              </a:solidFill>
            </a:endParaRPr>
          </a:p>
        </p:txBody>
      </p:sp>
      <p:sp>
        <p:nvSpPr>
          <p:cNvPr id="33" name="Rectangle 32">
            <a:extLst>
              <a:ext uri="{FF2B5EF4-FFF2-40B4-BE49-F238E27FC236}">
                <a16:creationId xmlns:a16="http://schemas.microsoft.com/office/drawing/2014/main" id="{97A77512-C96D-4B1D-861C-3369397D6121}"/>
              </a:ext>
            </a:extLst>
          </p:cNvPr>
          <p:cNvSpPr/>
          <p:nvPr userDrawn="1"/>
        </p:nvSpPr>
        <p:spPr>
          <a:xfrm flipH="1">
            <a:off x="7678346" y="2221532"/>
            <a:ext cx="4513654" cy="1951692"/>
          </a:xfrm>
          <a:prstGeom prst="rect">
            <a:avLst/>
          </a:prstGeom>
          <a:gradFill flip="none" rotWithShape="1">
            <a:gsLst>
              <a:gs pos="0">
                <a:srgbClr val="D71E3F">
                  <a:shade val="30000"/>
                  <a:satMod val="115000"/>
                </a:srgbClr>
              </a:gs>
              <a:gs pos="50000">
                <a:srgbClr val="D71E3F">
                  <a:shade val="67500"/>
                  <a:satMod val="115000"/>
                </a:srgbClr>
              </a:gs>
              <a:gs pos="100000">
                <a:srgbClr val="D71E3F">
                  <a:shade val="100000"/>
                  <a:satMod val="115000"/>
                </a:srgbClr>
              </a:gs>
            </a:gsLst>
            <a:lin ang="13500000" scaled="1"/>
            <a:tileRect/>
          </a:gradFill>
          <a:ln>
            <a:noFill/>
          </a:ln>
        </p:spPr>
        <p:txBody>
          <a:bodyPr vert="horz" wrap="square" lIns="91440" tIns="45720" rIns="91440" bIns="45720" numCol="1" anchor="t" anchorCtr="0" compatLnSpc="1">
            <a:prstTxWarp prst="textNoShape">
              <a:avLst/>
            </a:prstTxWarp>
          </a:bodyPr>
          <a:lstStyle/>
          <a:p>
            <a:pPr lvl="0"/>
            <a:endParaRPr lang="en-US" dirty="0">
              <a:solidFill>
                <a:schemeClr val="tx1"/>
              </a:solidFill>
            </a:endParaRPr>
          </a:p>
        </p:txBody>
      </p:sp>
      <p:sp>
        <p:nvSpPr>
          <p:cNvPr id="34" name="TextBox 33">
            <a:extLst>
              <a:ext uri="{FF2B5EF4-FFF2-40B4-BE49-F238E27FC236}">
                <a16:creationId xmlns:a16="http://schemas.microsoft.com/office/drawing/2014/main" id="{88342F5D-5C3A-4D09-B74D-32BF20197BBC}"/>
              </a:ext>
            </a:extLst>
          </p:cNvPr>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
        <p:nvSpPr>
          <p:cNvPr id="41" name="Freeform 13">
            <a:extLst>
              <a:ext uri="{FF2B5EF4-FFF2-40B4-BE49-F238E27FC236}">
                <a16:creationId xmlns:a16="http://schemas.microsoft.com/office/drawing/2014/main" id="{7DBD9FF3-DB58-439A-9C3F-981DC0699B89}"/>
              </a:ext>
            </a:extLst>
          </p:cNvPr>
          <p:cNvSpPr>
            <a:spLocks/>
          </p:cNvSpPr>
          <p:nvPr userDrawn="1"/>
        </p:nvSpPr>
        <p:spPr bwMode="auto">
          <a:xfrm>
            <a:off x="2736224" y="-2949"/>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flip="none" rotWithShape="1">
            <a:gsLst>
              <a:gs pos="0">
                <a:srgbClr val="D71E3F">
                  <a:shade val="30000"/>
                  <a:satMod val="115000"/>
                </a:srgbClr>
              </a:gs>
              <a:gs pos="50000">
                <a:srgbClr val="D71E3F">
                  <a:shade val="67500"/>
                  <a:satMod val="115000"/>
                </a:srgbClr>
              </a:gs>
              <a:gs pos="100000">
                <a:srgbClr val="D71E3F">
                  <a:shade val="100000"/>
                  <a:satMod val="115000"/>
                </a:srgbClr>
              </a:gs>
            </a:gsLst>
            <a:lin ang="10800000" scaled="1"/>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42" name="Text Placeholder 2">
            <a:extLst>
              <a:ext uri="{FF2B5EF4-FFF2-40B4-BE49-F238E27FC236}">
                <a16:creationId xmlns:a16="http://schemas.microsoft.com/office/drawing/2014/main" id="{655B1926-C5B6-4865-B639-303A5A9FEE4F}"/>
              </a:ext>
            </a:extLst>
          </p:cNvPr>
          <p:cNvSpPr>
            <a:spLocks noGrp="1"/>
          </p:cNvSpPr>
          <p:nvPr>
            <p:ph type="body" sz="quarter" idx="17" hasCustomPrompt="1"/>
          </p:nvPr>
        </p:nvSpPr>
        <p:spPr>
          <a:xfrm>
            <a:off x="2763466" y="1743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DU # Subject Code</a:t>
            </a:r>
          </a:p>
        </p:txBody>
      </p:sp>
      <p:pic>
        <p:nvPicPr>
          <p:cNvPr id="35" name="Picture 34">
            <a:extLst>
              <a:ext uri="{FF2B5EF4-FFF2-40B4-BE49-F238E27FC236}">
                <a16:creationId xmlns:a16="http://schemas.microsoft.com/office/drawing/2014/main" id="{8328D511-799B-45C6-81F9-46EF7B7F612B}"/>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184127" y="365143"/>
            <a:ext cx="2091771" cy="945147"/>
          </a:xfrm>
          <a:prstGeom prst="rect">
            <a:avLst/>
          </a:prstGeom>
        </p:spPr>
      </p:pic>
      <p:sp>
        <p:nvSpPr>
          <p:cNvPr id="43" name="TextBox 42">
            <a:extLst>
              <a:ext uri="{FF2B5EF4-FFF2-40B4-BE49-F238E27FC236}">
                <a16:creationId xmlns:a16="http://schemas.microsoft.com/office/drawing/2014/main" id="{5E7C639A-5CC9-4FBB-A197-82D7D8F34BCB}"/>
              </a:ext>
            </a:extLst>
          </p:cNvPr>
          <p:cNvSpPr txBox="1"/>
          <p:nvPr userDrawn="1"/>
        </p:nvSpPr>
        <p:spPr>
          <a:xfrm>
            <a:off x="1837677" y="5802204"/>
            <a:ext cx="5745484" cy="338554"/>
          </a:xfrm>
          <a:prstGeom prst="rect">
            <a:avLst/>
          </a:prstGeom>
          <a:noFill/>
        </p:spPr>
        <p:txBody>
          <a:bodyPr wrap="none" rtlCol="0">
            <a:spAutoFit/>
          </a:bodyPr>
          <a:lstStyle/>
          <a:p>
            <a:r>
              <a:rPr lang="en-US" sz="1600" dirty="0"/>
              <a:t>Darshan Institute of Engineering and Technology for Diploma Studies</a:t>
            </a:r>
          </a:p>
        </p:txBody>
      </p:sp>
      <p:sp>
        <p:nvSpPr>
          <p:cNvPr id="46" name="TextBox 45">
            <a:extLst>
              <a:ext uri="{FF2B5EF4-FFF2-40B4-BE49-F238E27FC236}">
                <a16:creationId xmlns:a16="http://schemas.microsoft.com/office/drawing/2014/main" id="{F8DCC7DC-434D-4ADE-9AA5-73DBFABF63FB}"/>
              </a:ext>
            </a:extLst>
          </p:cNvPr>
          <p:cNvSpPr txBox="1"/>
          <p:nvPr userDrawn="1"/>
        </p:nvSpPr>
        <p:spPr>
          <a:xfrm>
            <a:off x="1837677" y="5521352"/>
            <a:ext cx="2967479" cy="338554"/>
          </a:xfrm>
          <a:prstGeom prst="rect">
            <a:avLst/>
          </a:prstGeom>
          <a:noFill/>
        </p:spPr>
        <p:txBody>
          <a:bodyPr wrap="none" rtlCol="0">
            <a:spAutoFit/>
          </a:bodyPr>
          <a:lstStyle/>
          <a:p>
            <a:r>
              <a:rPr lang="en-US" sz="1600" dirty="0"/>
              <a:t>Computer Engineering Department</a:t>
            </a:r>
          </a:p>
        </p:txBody>
      </p:sp>
      <p:sp>
        <p:nvSpPr>
          <p:cNvPr id="38" name="Text Placeholder 2">
            <a:extLst>
              <a:ext uri="{FF2B5EF4-FFF2-40B4-BE49-F238E27FC236}">
                <a16:creationId xmlns:a16="http://schemas.microsoft.com/office/drawing/2014/main" id="{FF1B25E3-830F-4191-9F6A-E15558F3AD9B}"/>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D71E3F">
                        <a:shade val="30000"/>
                        <a:satMod val="115000"/>
                      </a:srgbClr>
                    </a:gs>
                    <a:gs pos="50000">
                      <a:srgbClr val="D71E3F">
                        <a:shade val="67500"/>
                        <a:satMod val="115000"/>
                      </a:srgbClr>
                    </a:gs>
                    <a:gs pos="100000">
                      <a:srgbClr val="D71E3F">
                        <a:shade val="100000"/>
                        <a:satMod val="115000"/>
                      </a:srgbClr>
                    </a:gs>
                  </a:gsLst>
                  <a:lin ang="10800000" scaled="1"/>
                  <a:tileRect/>
                </a:gradFill>
                <a:effectLst/>
                <a:latin typeface="+mn-lt"/>
                <a:ea typeface="+mn-ea"/>
                <a:cs typeface="+mn-cs"/>
              </a:defRPr>
            </a:lvl1pPr>
          </a:lstStyle>
          <a:p>
            <a:pPr lvl="0"/>
            <a:r>
              <a:rPr lang="en-US" dirty="0"/>
              <a:t>Prof. Akash N Siddhpura</a:t>
            </a:r>
          </a:p>
        </p:txBody>
      </p:sp>
    </p:spTree>
    <p:extLst>
      <p:ext uri="{BB962C8B-B14F-4D97-AF65-F5344CB8AC3E}">
        <p14:creationId xmlns:p14="http://schemas.microsoft.com/office/powerpoint/2010/main" val="1878451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Asha</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A</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Gondaliya</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0066"/>
            <a:ext cx="11929641" cy="5593943"/>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12" name="Picture 11"/>
          <p:cNvPicPr>
            <a:picLocks/>
          </p:cNvPicPr>
          <p:nvPr userDrawn="1"/>
        </p:nvPicPr>
        <p:blipFill>
          <a:blip r:embed="rId3">
            <a:extLst>
              <a:ext uri="{28A0092B-C50C-407E-A947-70E740481C1C}">
                <a14:useLocalDpi xmlns:a14="http://schemas.microsoft.com/office/drawing/2010/main" val="0"/>
              </a:ext>
            </a:extLst>
          </a:blip>
          <a:srcRect/>
          <a:stretch/>
        </p:blipFill>
        <p:spPr>
          <a:xfrm>
            <a:off x="10299701" y="883612"/>
            <a:ext cx="1761119" cy="538789"/>
          </a:xfrm>
          <a:prstGeom prst="rect">
            <a:avLst/>
          </a:prstGeom>
          <a:effectLst>
            <a:reflection endPos="0" dist="50800" dir="5400000" sy="-100000" algn="bl" rotWithShape="0"/>
          </a:effectLst>
        </p:spPr>
      </p:pic>
      <p:sp>
        <p:nvSpPr>
          <p:cNvPr id="13"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#2302CS401 (OS)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Unit 4 – Memory Management</a:t>
            </a:r>
          </a:p>
        </p:txBody>
      </p:sp>
    </p:spTree>
    <p:extLst>
      <p:ext uri="{BB962C8B-B14F-4D97-AF65-F5344CB8AC3E}">
        <p14:creationId xmlns:p14="http://schemas.microsoft.com/office/powerpoint/2010/main" val="3466633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5"/>
            <a:ext cx="11929641" cy="5649046"/>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Asha A. Gondaliya</a:t>
            </a:r>
          </a:p>
        </p:txBody>
      </p:sp>
      <p:pic>
        <p:nvPicPr>
          <p:cNvPr id="15" name="Picture 14">
            <a:extLst>
              <a:ext uri="{FF2B5EF4-FFF2-40B4-BE49-F238E27FC236}">
                <a16:creationId xmlns:a16="http://schemas.microsoft.com/office/drawing/2014/main" id="{3FAF378B-2717-4CC6-8D60-EB80E7F49B96}"/>
              </a:ext>
            </a:extLst>
          </p:cNvPr>
          <p:cNvPicPr>
            <a:picLocks/>
          </p:cNvPicPr>
          <p:nvPr userDrawn="1"/>
        </p:nvPicPr>
        <p:blipFill>
          <a:blip r:embed="rId3">
            <a:extLst>
              <a:ext uri="{28A0092B-C50C-407E-A947-70E740481C1C}">
                <a14:useLocalDpi xmlns:a14="http://schemas.microsoft.com/office/drawing/2010/main" val="0"/>
              </a:ext>
            </a:extLst>
          </a:blip>
          <a:srcRect/>
          <a:stretch/>
        </p:blipFill>
        <p:spPr>
          <a:xfrm>
            <a:off x="10296409" y="5923230"/>
            <a:ext cx="1761119" cy="538789"/>
          </a:xfrm>
          <a:prstGeom prst="rect">
            <a:avLst/>
          </a:prstGeom>
          <a:effectLst>
            <a:reflection endPos="0" dist="50800" dir="5400000" sy="-100000" algn="bl" rotWithShape="0"/>
          </a:effectLst>
        </p:spPr>
      </p:pic>
      <p:sp>
        <p:nvSpPr>
          <p:cNvPr id="1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#2302CS401 (OS)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Unit 4 – Memory Management</a:t>
            </a:r>
          </a:p>
        </p:txBody>
      </p:sp>
    </p:spTree>
    <p:extLst>
      <p:ext uri="{BB962C8B-B14F-4D97-AF65-F5344CB8AC3E}">
        <p14:creationId xmlns:p14="http://schemas.microsoft.com/office/powerpoint/2010/main" val="4202761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Asha A. Gondaliya</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5"/>
            <a:ext cx="11929641" cy="5656790"/>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18E06D2F-EE6F-49DE-8EB6-A96F88CA5713}"/>
              </a:ext>
            </a:extLst>
          </p:cNvPr>
          <p:cNvPicPr>
            <a:picLocks/>
          </p:cNvPicPr>
          <p:nvPr userDrawn="1"/>
        </p:nvPicPr>
        <p:blipFill>
          <a:blip r:embed="rId3">
            <a:extLst>
              <a:ext uri="{28A0092B-C50C-407E-A947-70E740481C1C}">
                <a14:useLocalDpi xmlns:a14="http://schemas.microsoft.com/office/drawing/2010/main" val="0"/>
              </a:ext>
            </a:extLst>
          </a:blip>
          <a:srcRect/>
          <a:stretch/>
        </p:blipFill>
        <p:spPr>
          <a:xfrm>
            <a:off x="131179" y="5923943"/>
            <a:ext cx="1761119" cy="538789"/>
          </a:xfrm>
          <a:prstGeom prst="rect">
            <a:avLst/>
          </a:prstGeom>
          <a:effectLst>
            <a:reflection endPos="0" dist="50800" dir="5400000" sy="-100000" algn="bl" rotWithShape="0"/>
          </a:effectLst>
        </p:spPr>
      </p:pic>
      <p:sp>
        <p:nvSpPr>
          <p:cNvPr id="1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#2302CS401 (OS)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Unit 4 – Memory Management</a:t>
            </a:r>
          </a:p>
        </p:txBody>
      </p:sp>
    </p:spTree>
    <p:extLst>
      <p:ext uri="{BB962C8B-B14F-4D97-AF65-F5344CB8AC3E}">
        <p14:creationId xmlns:p14="http://schemas.microsoft.com/office/powerpoint/2010/main" val="3468628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D71E3F">
                        <a:shade val="30000"/>
                        <a:satMod val="115000"/>
                      </a:srgbClr>
                    </a:gs>
                    <a:gs pos="50000">
                      <a:srgbClr val="D71E3F">
                        <a:shade val="67500"/>
                        <a:satMod val="115000"/>
                      </a:srgbClr>
                    </a:gs>
                    <a:gs pos="100000">
                      <a:srgbClr val="D71E3F">
                        <a:shade val="100000"/>
                        <a:satMod val="115000"/>
                      </a:srgbClr>
                    </a:gs>
                  </a:gsLst>
                  <a:lin ang="1080000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pic>
        <p:nvPicPr>
          <p:cNvPr id="10" name="Picture 9">
            <a:extLst>
              <a:ext uri="{FF2B5EF4-FFF2-40B4-BE49-F238E27FC236}">
                <a16:creationId xmlns:a16="http://schemas.microsoft.com/office/drawing/2014/main" id="{97C127DF-19C1-4A8F-B876-99D5A90C0F01}"/>
              </a:ext>
            </a:extLst>
          </p:cNvPr>
          <p:cNvPicPr>
            <a:picLocks/>
          </p:cNvPicPr>
          <p:nvPr userDrawn="1"/>
        </p:nvPicPr>
        <p:blipFill>
          <a:blip r:embed="rId5" cstate="print">
            <a:extLst>
              <a:ext uri="{28A0092B-C50C-407E-A947-70E740481C1C}">
                <a14:useLocalDpi xmlns:a14="http://schemas.microsoft.com/office/drawing/2010/main" val="0"/>
              </a:ext>
            </a:extLst>
          </a:blip>
          <a:srcRect/>
          <a:stretch/>
        </p:blipFill>
        <p:spPr>
          <a:xfrm>
            <a:off x="10430881" y="6037501"/>
            <a:ext cx="1761119" cy="820499"/>
          </a:xfrm>
          <a:prstGeom prst="rect">
            <a:avLst/>
          </a:prstGeom>
          <a:effectLst>
            <a:reflection endPos="0" dist="50800" dir="5400000" sy="-100000" algn="bl" rotWithShape="0"/>
          </a:effectLst>
        </p:spPr>
      </p:pic>
      <p:sp>
        <p:nvSpPr>
          <p:cNvPr id="8"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Tree>
    <p:extLst>
      <p:ext uri="{BB962C8B-B14F-4D97-AF65-F5344CB8AC3E}">
        <p14:creationId xmlns:p14="http://schemas.microsoft.com/office/powerpoint/2010/main" val="2001692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Asha A. Gondaliya</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876EFF2C-1636-48DB-9A77-5FC33CF265D5}"/>
              </a:ext>
            </a:extLst>
          </p:cNvPr>
          <p:cNvPicPr>
            <a:picLocks/>
          </p:cNvPicPr>
          <p:nvPr userDrawn="1"/>
        </p:nvPicPr>
        <p:blipFill>
          <a:blip r:embed="rId2">
            <a:extLst>
              <a:ext uri="{28A0092B-C50C-407E-A947-70E740481C1C}">
                <a14:useLocalDpi xmlns:a14="http://schemas.microsoft.com/office/drawing/2010/main" val="0"/>
              </a:ext>
            </a:extLst>
          </a:blip>
          <a:srcRect/>
          <a:stretch/>
        </p:blipFill>
        <p:spPr>
          <a:xfrm>
            <a:off x="10282962" y="180767"/>
            <a:ext cx="1761119" cy="538789"/>
          </a:xfrm>
          <a:prstGeom prst="rect">
            <a:avLst/>
          </a:prstGeom>
          <a:effectLst>
            <a:reflection endPos="0" dist="50800" dir="5400000" sy="-100000" algn="bl" rotWithShape="0"/>
          </a:effectLst>
        </p:spPr>
      </p:pic>
      <p:sp>
        <p:nvSpPr>
          <p:cNvPr id="10"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#2302CS401 (OS)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Unit 4 – Memory Management</a:t>
            </a:r>
          </a:p>
        </p:txBody>
      </p:sp>
    </p:spTree>
    <p:extLst>
      <p:ext uri="{BB962C8B-B14F-4D97-AF65-F5344CB8AC3E}">
        <p14:creationId xmlns:p14="http://schemas.microsoft.com/office/powerpoint/2010/main" val="2971972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Asha</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A. Gondaliya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pic>
        <p:nvPicPr>
          <p:cNvPr id="9" name="Picture 8">
            <a:extLst>
              <a:ext uri="{FF2B5EF4-FFF2-40B4-BE49-F238E27FC236}">
                <a16:creationId xmlns:a16="http://schemas.microsoft.com/office/drawing/2014/main" id="{A44C3A39-E5FB-4C14-8A43-2D8FDDB0AEDD}"/>
              </a:ext>
            </a:extLst>
          </p:cNvPr>
          <p:cNvPicPr>
            <a:picLocks/>
          </p:cNvPicPr>
          <p:nvPr userDrawn="1"/>
        </p:nvPicPr>
        <p:blipFill>
          <a:blip r:embed="rId2">
            <a:extLst>
              <a:ext uri="{28A0092B-C50C-407E-A947-70E740481C1C}">
                <a14:useLocalDpi xmlns:a14="http://schemas.microsoft.com/office/drawing/2010/main" val="0"/>
              </a:ext>
            </a:extLst>
          </a:blip>
          <a:srcRect/>
          <a:stretch/>
        </p:blipFill>
        <p:spPr>
          <a:xfrm>
            <a:off x="10233212" y="5923943"/>
            <a:ext cx="1824315" cy="538789"/>
          </a:xfrm>
          <a:prstGeom prst="rect">
            <a:avLst/>
          </a:prstGeom>
          <a:effectLst>
            <a:reflection endPos="0" dist="50800" dir="5400000" sy="-100000" algn="bl" rotWithShape="0"/>
          </a:effectLst>
        </p:spPr>
      </p:pic>
      <p:sp>
        <p:nvSpPr>
          <p:cNvPr id="10"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#2302CS401 (OS)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Unit 4 – Memory Management</a:t>
            </a:r>
          </a:p>
        </p:txBody>
      </p:sp>
    </p:spTree>
    <p:extLst>
      <p:ext uri="{BB962C8B-B14F-4D97-AF65-F5344CB8AC3E}">
        <p14:creationId xmlns:p14="http://schemas.microsoft.com/office/powerpoint/2010/main" val="3206247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Asha</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A.Gondaliya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pic>
        <p:nvPicPr>
          <p:cNvPr id="9" name="Picture 8">
            <a:extLst>
              <a:ext uri="{FF2B5EF4-FFF2-40B4-BE49-F238E27FC236}">
                <a16:creationId xmlns:a16="http://schemas.microsoft.com/office/drawing/2014/main" id="{A582A07D-EEE5-4EBD-8B95-4427C001AFD6}"/>
              </a:ext>
            </a:extLst>
          </p:cNvPr>
          <p:cNvPicPr>
            <a:picLocks/>
          </p:cNvPicPr>
          <p:nvPr userDrawn="1"/>
        </p:nvPicPr>
        <p:blipFill>
          <a:blip r:embed="rId2">
            <a:extLst>
              <a:ext uri="{28A0092B-C50C-407E-A947-70E740481C1C}">
                <a14:useLocalDpi xmlns:a14="http://schemas.microsoft.com/office/drawing/2010/main" val="0"/>
              </a:ext>
            </a:extLst>
          </a:blip>
          <a:srcRect/>
          <a:stretch/>
        </p:blipFill>
        <p:spPr>
          <a:xfrm>
            <a:off x="174810" y="5923943"/>
            <a:ext cx="1761119" cy="538789"/>
          </a:xfrm>
          <a:prstGeom prst="rect">
            <a:avLst/>
          </a:prstGeom>
          <a:effectLst>
            <a:reflection endPos="0" dist="50800" dir="5400000" sy="-100000" algn="bl" rotWithShape="0"/>
          </a:effectLst>
        </p:spPr>
      </p:pic>
      <p:sp>
        <p:nvSpPr>
          <p:cNvPr id="10"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#2302CS401 (OS)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Unit 4 – Memory Management</a:t>
            </a:r>
          </a:p>
        </p:txBody>
      </p:sp>
    </p:spTree>
    <p:extLst>
      <p:ext uri="{BB962C8B-B14F-4D97-AF65-F5344CB8AC3E}">
        <p14:creationId xmlns:p14="http://schemas.microsoft.com/office/powerpoint/2010/main" val="4243314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7" y="5537768"/>
            <a:ext cx="4079263" cy="316723"/>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Computer Science and Engineering Department</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DU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cxnSp>
        <p:nvCxnSpPr>
          <p:cNvPr id="31" name="Straight Connector 30">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650C19C1-CCA6-41F8-A349-518437B526D1}"/>
              </a:ext>
            </a:extLst>
          </p:cNvPr>
          <p:cNvSpPr txBox="1"/>
          <p:nvPr userDrawn="1"/>
        </p:nvSpPr>
        <p:spPr>
          <a:xfrm>
            <a:off x="1837677" y="5802204"/>
            <a:ext cx="4219425" cy="338554"/>
          </a:xfrm>
          <a:prstGeom prst="rect">
            <a:avLst/>
          </a:prstGeom>
          <a:noFill/>
        </p:spPr>
        <p:txBody>
          <a:bodyPr wrap="none" rtlCol="0">
            <a:spAutoFit/>
          </a:bodyPr>
          <a:lstStyle/>
          <a:p>
            <a:r>
              <a:rPr lang="en-US" sz="1600" dirty="0"/>
              <a:t>School of Computer Science, Diploma Engineering</a:t>
            </a:r>
          </a:p>
        </p:txBody>
      </p:sp>
      <p:pic>
        <p:nvPicPr>
          <p:cNvPr id="30" name="Picture 29">
            <a:extLst>
              <a:ext uri="{FF2B5EF4-FFF2-40B4-BE49-F238E27FC236}">
                <a16:creationId xmlns:a16="http://schemas.microsoft.com/office/drawing/2014/main" id="{170BA9B2-A383-4E11-A930-79C7DB84C0FD}"/>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10184127" y="365143"/>
            <a:ext cx="2091771" cy="945147"/>
          </a:xfrm>
          <a:prstGeom prst="rect">
            <a:avLst/>
          </a:prstGeom>
        </p:spPr>
      </p:pic>
    </p:spTree>
    <p:extLst>
      <p:ext uri="{BB962C8B-B14F-4D97-AF65-F5344CB8AC3E}">
        <p14:creationId xmlns:p14="http://schemas.microsoft.com/office/powerpoint/2010/main" val="27088808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7" y="5537768"/>
            <a:ext cx="4079263" cy="367562"/>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Computer Science and Engineering Department</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DU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138632C7-07EE-4F9C-8233-02B02E8C89FC}"/>
              </a:ext>
            </a:extLst>
          </p:cNvPr>
          <p:cNvSpPr txBox="1"/>
          <p:nvPr userDrawn="1"/>
        </p:nvSpPr>
        <p:spPr>
          <a:xfrm>
            <a:off x="1837677" y="5802204"/>
            <a:ext cx="4219425" cy="338554"/>
          </a:xfrm>
          <a:prstGeom prst="rect">
            <a:avLst/>
          </a:prstGeom>
          <a:noFill/>
        </p:spPr>
        <p:txBody>
          <a:bodyPr wrap="none" rtlCol="0">
            <a:spAutoFit/>
          </a:bodyPr>
          <a:lstStyle/>
          <a:p>
            <a:r>
              <a:rPr lang="en-US" sz="1600" dirty="0"/>
              <a:t>School of Computer Science, Diploma Engineering</a:t>
            </a:r>
          </a:p>
        </p:txBody>
      </p:sp>
      <p:pic>
        <p:nvPicPr>
          <p:cNvPr id="31" name="Picture 30">
            <a:extLst>
              <a:ext uri="{FF2B5EF4-FFF2-40B4-BE49-F238E27FC236}">
                <a16:creationId xmlns:a16="http://schemas.microsoft.com/office/drawing/2014/main" id="{B954D06A-C8AF-409A-8F19-BD778E4BEE51}"/>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10184127" y="365143"/>
            <a:ext cx="2091771" cy="945147"/>
          </a:xfrm>
          <a:prstGeom prst="rect">
            <a:avLst/>
          </a:prstGeom>
        </p:spPr>
      </p:pic>
    </p:spTree>
    <p:extLst>
      <p:ext uri="{BB962C8B-B14F-4D97-AF65-F5344CB8AC3E}">
        <p14:creationId xmlns:p14="http://schemas.microsoft.com/office/powerpoint/2010/main" val="7850339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7" y="5537768"/>
            <a:ext cx="4079263" cy="328259"/>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Computer Science and Engineering Department</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DU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77B3427B-188B-4900-B48F-E5B9881624A5}"/>
              </a:ext>
            </a:extLst>
          </p:cNvPr>
          <p:cNvSpPr txBox="1"/>
          <p:nvPr userDrawn="1"/>
        </p:nvSpPr>
        <p:spPr>
          <a:xfrm>
            <a:off x="1837677" y="5802204"/>
            <a:ext cx="4219425" cy="338554"/>
          </a:xfrm>
          <a:prstGeom prst="rect">
            <a:avLst/>
          </a:prstGeom>
          <a:noFill/>
        </p:spPr>
        <p:txBody>
          <a:bodyPr wrap="none" rtlCol="0">
            <a:spAutoFit/>
          </a:bodyPr>
          <a:lstStyle/>
          <a:p>
            <a:r>
              <a:rPr lang="en-US" sz="1600" dirty="0"/>
              <a:t>School of Computer Science, Diploma Engineering</a:t>
            </a:r>
          </a:p>
        </p:txBody>
      </p:sp>
      <p:pic>
        <p:nvPicPr>
          <p:cNvPr id="31" name="Picture 30">
            <a:extLst>
              <a:ext uri="{FF2B5EF4-FFF2-40B4-BE49-F238E27FC236}">
                <a16:creationId xmlns:a16="http://schemas.microsoft.com/office/drawing/2014/main" id="{EF93E28D-CBE0-4383-909A-4B382FCB3BBC}"/>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10184127" y="365143"/>
            <a:ext cx="2091771" cy="945147"/>
          </a:xfrm>
          <a:prstGeom prst="rect">
            <a:avLst/>
          </a:prstGeom>
        </p:spPr>
      </p:pic>
    </p:spTree>
    <p:extLst>
      <p:ext uri="{BB962C8B-B14F-4D97-AF65-F5344CB8AC3E}">
        <p14:creationId xmlns:p14="http://schemas.microsoft.com/office/powerpoint/2010/main" val="6158597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7" y="5537768"/>
            <a:ext cx="4079263" cy="266869"/>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Computer Science and Engineering Department</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DU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63230D6A-1241-4E5B-AD95-3F0026D5E34F}"/>
              </a:ext>
            </a:extLst>
          </p:cNvPr>
          <p:cNvSpPr txBox="1"/>
          <p:nvPr userDrawn="1"/>
        </p:nvSpPr>
        <p:spPr>
          <a:xfrm>
            <a:off x="1837677" y="5802204"/>
            <a:ext cx="4219425" cy="338554"/>
          </a:xfrm>
          <a:prstGeom prst="rect">
            <a:avLst/>
          </a:prstGeom>
          <a:noFill/>
        </p:spPr>
        <p:txBody>
          <a:bodyPr wrap="none" rtlCol="0">
            <a:spAutoFit/>
          </a:bodyPr>
          <a:lstStyle/>
          <a:p>
            <a:r>
              <a:rPr lang="en-US" sz="1600" dirty="0"/>
              <a:t>School of Computer Science, Diploma Engineering</a:t>
            </a:r>
          </a:p>
        </p:txBody>
      </p:sp>
      <p:pic>
        <p:nvPicPr>
          <p:cNvPr id="31" name="Picture 30">
            <a:extLst>
              <a:ext uri="{FF2B5EF4-FFF2-40B4-BE49-F238E27FC236}">
                <a16:creationId xmlns:a16="http://schemas.microsoft.com/office/drawing/2014/main" id="{261CFAB5-CC50-4C38-A8CE-5AC7B6E8E1C1}"/>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10184127" y="365143"/>
            <a:ext cx="2091771" cy="945147"/>
          </a:xfrm>
          <a:prstGeom prst="rect">
            <a:avLst/>
          </a:prstGeom>
        </p:spPr>
      </p:pic>
    </p:spTree>
    <p:extLst>
      <p:ext uri="{BB962C8B-B14F-4D97-AF65-F5344CB8AC3E}">
        <p14:creationId xmlns:p14="http://schemas.microsoft.com/office/powerpoint/2010/main" val="27316259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978922" cy="316724"/>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Computer Science and Engineering Department</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DU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27191BDD-BF92-4D48-981F-D834B1E00380}"/>
              </a:ext>
            </a:extLst>
          </p:cNvPr>
          <p:cNvSpPr txBox="1"/>
          <p:nvPr userDrawn="1"/>
        </p:nvSpPr>
        <p:spPr>
          <a:xfrm>
            <a:off x="1837677" y="5802204"/>
            <a:ext cx="4219425" cy="338554"/>
          </a:xfrm>
          <a:prstGeom prst="rect">
            <a:avLst/>
          </a:prstGeom>
          <a:noFill/>
        </p:spPr>
        <p:txBody>
          <a:bodyPr wrap="none" rtlCol="0">
            <a:spAutoFit/>
          </a:bodyPr>
          <a:lstStyle/>
          <a:p>
            <a:r>
              <a:rPr lang="en-US" sz="1600" dirty="0"/>
              <a:t>School of Computer Science, Diploma Engineering</a:t>
            </a:r>
          </a:p>
        </p:txBody>
      </p:sp>
      <p:pic>
        <p:nvPicPr>
          <p:cNvPr id="31" name="Picture 30">
            <a:extLst>
              <a:ext uri="{FF2B5EF4-FFF2-40B4-BE49-F238E27FC236}">
                <a16:creationId xmlns:a16="http://schemas.microsoft.com/office/drawing/2014/main" id="{4E74553B-F83C-4887-85F5-95F2B31139EA}"/>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10184127" y="365143"/>
            <a:ext cx="2091771" cy="945147"/>
          </a:xfrm>
          <a:prstGeom prst="rect">
            <a:avLst/>
          </a:prstGeom>
        </p:spPr>
      </p:pic>
    </p:spTree>
    <p:extLst>
      <p:ext uri="{BB962C8B-B14F-4D97-AF65-F5344CB8AC3E}">
        <p14:creationId xmlns:p14="http://schemas.microsoft.com/office/powerpoint/2010/main" val="37518816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9"/>
            <a:ext cx="3978922" cy="276024"/>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Computer Science and Engineering Department</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DU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7FA71190-A77B-4209-A80E-DB5A272B6800}"/>
              </a:ext>
            </a:extLst>
          </p:cNvPr>
          <p:cNvSpPr txBox="1"/>
          <p:nvPr userDrawn="1"/>
        </p:nvSpPr>
        <p:spPr>
          <a:xfrm>
            <a:off x="1837677" y="5802204"/>
            <a:ext cx="7747634" cy="338554"/>
          </a:xfrm>
          <a:prstGeom prst="rect">
            <a:avLst/>
          </a:prstGeom>
          <a:noFill/>
        </p:spPr>
        <p:txBody>
          <a:bodyPr wrap="none" rtlCol="0">
            <a:spAutoFit/>
          </a:bodyPr>
          <a:lstStyle/>
          <a:p>
            <a:r>
              <a:rPr lang="en-US" sz="1600" dirty="0"/>
              <a:t>Darshan Institute of Engineering &amp; Technology for Diploma Studies, Darshan University, Rajkot</a:t>
            </a:r>
          </a:p>
        </p:txBody>
      </p:sp>
      <p:pic>
        <p:nvPicPr>
          <p:cNvPr id="3" name="Picture 2">
            <a:extLst>
              <a:ext uri="{FF2B5EF4-FFF2-40B4-BE49-F238E27FC236}">
                <a16:creationId xmlns:a16="http://schemas.microsoft.com/office/drawing/2014/main" id="{01834998-D1C2-DF2A-17B8-4505288C58A0}"/>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7678882" y="1565161"/>
            <a:ext cx="3080554" cy="2831620"/>
          </a:xfrm>
          <a:prstGeom prst="rect">
            <a:avLst/>
          </a:prstGeom>
        </p:spPr>
      </p:pic>
      <p:pic>
        <p:nvPicPr>
          <p:cNvPr id="31" name="Picture 30">
            <a:extLst>
              <a:ext uri="{FF2B5EF4-FFF2-40B4-BE49-F238E27FC236}">
                <a16:creationId xmlns:a16="http://schemas.microsoft.com/office/drawing/2014/main" id="{693477C7-FE49-4FB9-9AE0-0169DC1D0A63}"/>
              </a:ext>
            </a:extLst>
          </p:cNvPr>
          <p:cNvPicPr>
            <a:picLocks noChangeAspect="1"/>
          </p:cNvPicPr>
          <p:nvPr userDrawn="1"/>
        </p:nvPicPr>
        <p:blipFill>
          <a:blip r:embed="rId10" cstate="print">
            <a:extLst>
              <a:ext uri="{28A0092B-C50C-407E-A947-70E740481C1C}">
                <a14:useLocalDpi xmlns:a14="http://schemas.microsoft.com/office/drawing/2010/main" val="0"/>
              </a:ext>
            </a:extLst>
          </a:blip>
          <a:srcRect/>
          <a:stretch/>
        </p:blipFill>
        <p:spPr>
          <a:xfrm>
            <a:off x="9326880" y="58321"/>
            <a:ext cx="2801872" cy="1192189"/>
          </a:xfrm>
          <a:prstGeom prst="rect">
            <a:avLst/>
          </a:prstGeom>
        </p:spPr>
      </p:pic>
    </p:spTree>
    <p:extLst>
      <p:ext uri="{BB962C8B-B14F-4D97-AF65-F5344CB8AC3E}">
        <p14:creationId xmlns:p14="http://schemas.microsoft.com/office/powerpoint/2010/main" val="18065262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7" y="5537768"/>
            <a:ext cx="4079263" cy="367562"/>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Computer Science and Engineering Department</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DU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B5D1D986-F272-40AD-8E4B-CBC6109210A2}"/>
              </a:ext>
            </a:extLst>
          </p:cNvPr>
          <p:cNvSpPr txBox="1"/>
          <p:nvPr userDrawn="1"/>
        </p:nvSpPr>
        <p:spPr>
          <a:xfrm>
            <a:off x="1837677" y="5802204"/>
            <a:ext cx="4219425" cy="338554"/>
          </a:xfrm>
          <a:prstGeom prst="rect">
            <a:avLst/>
          </a:prstGeom>
          <a:noFill/>
        </p:spPr>
        <p:txBody>
          <a:bodyPr wrap="none" rtlCol="0">
            <a:spAutoFit/>
          </a:bodyPr>
          <a:lstStyle/>
          <a:p>
            <a:r>
              <a:rPr lang="en-US" sz="1600" dirty="0"/>
              <a:t>School of Computer Science, Diploma Engineering</a:t>
            </a:r>
          </a:p>
        </p:txBody>
      </p:sp>
      <p:pic>
        <p:nvPicPr>
          <p:cNvPr id="31" name="Picture 30">
            <a:extLst>
              <a:ext uri="{FF2B5EF4-FFF2-40B4-BE49-F238E27FC236}">
                <a16:creationId xmlns:a16="http://schemas.microsoft.com/office/drawing/2014/main" id="{5945C481-A049-4E89-826C-ECC2C2D424F8}"/>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10184127" y="365143"/>
            <a:ext cx="2091771" cy="945147"/>
          </a:xfrm>
          <a:prstGeom prst="rect">
            <a:avLst/>
          </a:prstGeom>
        </p:spPr>
      </p:pic>
    </p:spTree>
    <p:extLst>
      <p:ext uri="{BB962C8B-B14F-4D97-AF65-F5344CB8AC3E}">
        <p14:creationId xmlns:p14="http://schemas.microsoft.com/office/powerpoint/2010/main" val="40122809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7" y="5537768"/>
            <a:ext cx="4079263" cy="353884"/>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Computer Science and Engineering Department</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DU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8054B27E-47BE-45D8-88E7-9B920FD79C18}"/>
              </a:ext>
            </a:extLst>
          </p:cNvPr>
          <p:cNvSpPr txBox="1"/>
          <p:nvPr userDrawn="1"/>
        </p:nvSpPr>
        <p:spPr>
          <a:xfrm>
            <a:off x="1837677" y="5802204"/>
            <a:ext cx="4219425" cy="338554"/>
          </a:xfrm>
          <a:prstGeom prst="rect">
            <a:avLst/>
          </a:prstGeom>
          <a:noFill/>
        </p:spPr>
        <p:txBody>
          <a:bodyPr wrap="none" rtlCol="0">
            <a:spAutoFit/>
          </a:bodyPr>
          <a:lstStyle/>
          <a:p>
            <a:r>
              <a:rPr lang="en-US" sz="1600" dirty="0"/>
              <a:t>School of Computer Science, Diploma Engineering</a:t>
            </a:r>
          </a:p>
        </p:txBody>
      </p:sp>
      <p:pic>
        <p:nvPicPr>
          <p:cNvPr id="31" name="Picture 30">
            <a:extLst>
              <a:ext uri="{FF2B5EF4-FFF2-40B4-BE49-F238E27FC236}">
                <a16:creationId xmlns:a16="http://schemas.microsoft.com/office/drawing/2014/main" id="{665063E3-29C7-4F1C-940C-E84E1B1B8D9C}"/>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10184127" y="365143"/>
            <a:ext cx="2091771" cy="945147"/>
          </a:xfrm>
          <a:prstGeom prst="rect">
            <a:avLst/>
          </a:prstGeom>
        </p:spPr>
      </p:pic>
    </p:spTree>
    <p:extLst>
      <p:ext uri="{BB962C8B-B14F-4D97-AF65-F5344CB8AC3E}">
        <p14:creationId xmlns:p14="http://schemas.microsoft.com/office/powerpoint/2010/main" val="25328075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966222" cy="266869"/>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Computer Science and Engineering Department</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DU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9"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cxnSp>
        <p:nvCxnSpPr>
          <p:cNvPr id="35" name="Straight Connector 34">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594F4DA2-7990-4DAE-B9F6-ADB27BC53AD4}"/>
              </a:ext>
            </a:extLst>
          </p:cNvPr>
          <p:cNvSpPr txBox="1"/>
          <p:nvPr userDrawn="1"/>
        </p:nvSpPr>
        <p:spPr>
          <a:xfrm>
            <a:off x="1837677" y="5802204"/>
            <a:ext cx="4219425" cy="338554"/>
          </a:xfrm>
          <a:prstGeom prst="rect">
            <a:avLst/>
          </a:prstGeom>
          <a:noFill/>
        </p:spPr>
        <p:txBody>
          <a:bodyPr wrap="none" rtlCol="0">
            <a:spAutoFit/>
          </a:bodyPr>
          <a:lstStyle/>
          <a:p>
            <a:r>
              <a:rPr lang="en-US" sz="1600" dirty="0"/>
              <a:t>School of Computer Science, Diploma Engineering</a:t>
            </a:r>
          </a:p>
        </p:txBody>
      </p:sp>
      <p:pic>
        <p:nvPicPr>
          <p:cNvPr id="34" name="Picture 33">
            <a:extLst>
              <a:ext uri="{FF2B5EF4-FFF2-40B4-BE49-F238E27FC236}">
                <a16:creationId xmlns:a16="http://schemas.microsoft.com/office/drawing/2014/main" id="{5799D394-A04E-49DA-BC5A-159DB5374EAF}"/>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10184127" y="365143"/>
            <a:ext cx="2091771" cy="945147"/>
          </a:xfrm>
          <a:prstGeom prst="rect">
            <a:avLst/>
          </a:prstGeom>
        </p:spPr>
      </p:pic>
    </p:spTree>
    <p:extLst>
      <p:ext uri="{BB962C8B-B14F-4D97-AF65-F5344CB8AC3E}">
        <p14:creationId xmlns:p14="http://schemas.microsoft.com/office/powerpoint/2010/main" val="37651319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7" y="5537768"/>
            <a:ext cx="4079263" cy="353884"/>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Computer Science and Engineering Department</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DU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12CA93B0-CE72-48B1-821C-85BCEA5255C5}"/>
              </a:ext>
            </a:extLst>
          </p:cNvPr>
          <p:cNvSpPr txBox="1"/>
          <p:nvPr userDrawn="1"/>
        </p:nvSpPr>
        <p:spPr>
          <a:xfrm>
            <a:off x="1837677" y="5802204"/>
            <a:ext cx="4219425" cy="338554"/>
          </a:xfrm>
          <a:prstGeom prst="rect">
            <a:avLst/>
          </a:prstGeom>
          <a:noFill/>
        </p:spPr>
        <p:txBody>
          <a:bodyPr wrap="none" rtlCol="0">
            <a:spAutoFit/>
          </a:bodyPr>
          <a:lstStyle/>
          <a:p>
            <a:r>
              <a:rPr lang="en-US" sz="1600" dirty="0"/>
              <a:t>School of Computer Science, Diploma Engineering</a:t>
            </a:r>
          </a:p>
        </p:txBody>
      </p:sp>
      <p:pic>
        <p:nvPicPr>
          <p:cNvPr id="31" name="Picture 30">
            <a:extLst>
              <a:ext uri="{FF2B5EF4-FFF2-40B4-BE49-F238E27FC236}">
                <a16:creationId xmlns:a16="http://schemas.microsoft.com/office/drawing/2014/main" id="{984C881B-3C61-4232-9E01-4D5A64534474}"/>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10184127" y="365143"/>
            <a:ext cx="2091771" cy="945147"/>
          </a:xfrm>
          <a:prstGeom prst="rect">
            <a:avLst/>
          </a:prstGeom>
        </p:spPr>
      </p:pic>
    </p:spTree>
    <p:extLst>
      <p:ext uri="{BB962C8B-B14F-4D97-AF65-F5344CB8AC3E}">
        <p14:creationId xmlns:p14="http://schemas.microsoft.com/office/powerpoint/2010/main" val="117050250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_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7747634" cy="338554"/>
          </a:xfrm>
          <a:prstGeom prst="rect">
            <a:avLst/>
          </a:prstGeom>
          <a:noFill/>
        </p:spPr>
        <p:txBody>
          <a:bodyPr wrap="none" rtlCol="0">
            <a:spAutoFit/>
          </a:bodyPr>
          <a:lstStyle/>
          <a:p>
            <a:r>
              <a:rPr lang="en-US" sz="1600" dirty="0"/>
              <a:t>Darshan Institute of Engineering &amp; Technology for Diploma Studies, Darshan University, Rajkot</a:t>
            </a: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solidFill>
            <a:srgbClr val="4B302A"/>
          </a:soli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endParaRPr lang="en-US" dirty="0"/>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8">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
        <p:nvSpPr>
          <p:cNvPr id="30" name="Hexagon 29">
            <a:extLst>
              <a:ext uri="{FF2B5EF4-FFF2-40B4-BE49-F238E27FC236}">
                <a16:creationId xmlns:a16="http://schemas.microsoft.com/office/drawing/2014/main" id="{1BB32699-4C62-4BBF-9A17-90008E297198}"/>
              </a:ext>
            </a:extLst>
          </p:cNvPr>
          <p:cNvSpPr/>
          <p:nvPr userDrawn="1"/>
        </p:nvSpPr>
        <p:spPr>
          <a:xfrm rot="5400000">
            <a:off x="4309292" y="1717040"/>
            <a:ext cx="3461658" cy="2984188"/>
          </a:xfrm>
          <a:prstGeom prst="hexagon">
            <a:avLst/>
          </a:prstGeom>
          <a:solidFill>
            <a:schemeClr val="bg1">
              <a:lumMod val="95000"/>
            </a:schemeClr>
          </a:solidFill>
          <a:ln w="57150">
            <a:solidFill>
              <a:srgbClr val="4B302A"/>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02C58FA9-71EA-487D-8A75-915EC6877722}"/>
              </a:ext>
            </a:extLst>
          </p:cNvPr>
          <p:cNvSpPr/>
          <p:nvPr userDrawn="1"/>
        </p:nvSpPr>
        <p:spPr>
          <a:xfrm>
            <a:off x="0" y="2221532"/>
            <a:ext cx="4402106" cy="1951692"/>
          </a:xfrm>
          <a:prstGeom prst="rect">
            <a:avLst/>
          </a:prstGeom>
          <a:solidFill>
            <a:srgbClr val="4B302A"/>
          </a:soli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sp>
        <p:nvSpPr>
          <p:cNvPr id="33" name="Rectangle 32">
            <a:extLst>
              <a:ext uri="{FF2B5EF4-FFF2-40B4-BE49-F238E27FC236}">
                <a16:creationId xmlns:a16="http://schemas.microsoft.com/office/drawing/2014/main" id="{97A77512-C96D-4B1D-861C-3369397D6121}"/>
              </a:ext>
            </a:extLst>
          </p:cNvPr>
          <p:cNvSpPr/>
          <p:nvPr userDrawn="1"/>
        </p:nvSpPr>
        <p:spPr>
          <a:xfrm flipH="1">
            <a:off x="7678346" y="2221532"/>
            <a:ext cx="4513654" cy="1951692"/>
          </a:xfrm>
          <a:prstGeom prst="rect">
            <a:avLst/>
          </a:prstGeom>
          <a:solidFill>
            <a:srgbClr val="4B302A"/>
          </a:soli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sp>
        <p:nvSpPr>
          <p:cNvPr id="34" name="TextBox 33">
            <a:extLst>
              <a:ext uri="{FF2B5EF4-FFF2-40B4-BE49-F238E27FC236}">
                <a16:creationId xmlns:a16="http://schemas.microsoft.com/office/drawing/2014/main" id="{88342F5D-5C3A-4D09-B74D-32BF20197BBC}"/>
              </a:ext>
            </a:extLst>
          </p:cNvPr>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
        <p:nvSpPr>
          <p:cNvPr id="41" name="Freeform 13">
            <a:extLst>
              <a:ext uri="{FF2B5EF4-FFF2-40B4-BE49-F238E27FC236}">
                <a16:creationId xmlns:a16="http://schemas.microsoft.com/office/drawing/2014/main" id="{7DBD9FF3-DB58-439A-9C3F-981DC0699B89}"/>
              </a:ext>
            </a:extLst>
          </p:cNvPr>
          <p:cNvSpPr>
            <a:spLocks/>
          </p:cNvSpPr>
          <p:nvPr userDrawn="1"/>
        </p:nvSpPr>
        <p:spPr bwMode="auto">
          <a:xfrm>
            <a:off x="2736224" y="-2949"/>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solidFill>
            <a:srgbClr val="4B302A"/>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Text Placeholder 2">
            <a:extLst>
              <a:ext uri="{FF2B5EF4-FFF2-40B4-BE49-F238E27FC236}">
                <a16:creationId xmlns:a16="http://schemas.microsoft.com/office/drawing/2014/main" id="{655B1926-C5B6-4865-B639-303A5A9FEE4F}"/>
              </a:ext>
            </a:extLst>
          </p:cNvPr>
          <p:cNvSpPr>
            <a:spLocks noGrp="1"/>
          </p:cNvSpPr>
          <p:nvPr>
            <p:ph type="body" sz="quarter" idx="17" hasCustomPrompt="1"/>
          </p:nvPr>
        </p:nvSpPr>
        <p:spPr>
          <a:xfrm>
            <a:off x="2763466" y="1743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5" name="Picture 34">
            <a:extLst>
              <a:ext uri="{FF2B5EF4-FFF2-40B4-BE49-F238E27FC236}">
                <a16:creationId xmlns:a16="http://schemas.microsoft.com/office/drawing/2014/main" id="{693477C7-FE49-4FB9-9AE0-0169DC1D0A63}"/>
              </a:ext>
            </a:extLst>
          </p:cNvPr>
          <p:cNvPicPr>
            <a:picLocks noChangeAspect="1"/>
          </p:cNvPicPr>
          <p:nvPr userDrawn="1"/>
        </p:nvPicPr>
        <p:blipFill>
          <a:blip r:embed="rId10" cstate="print">
            <a:extLst>
              <a:ext uri="{28A0092B-C50C-407E-A947-70E740481C1C}">
                <a14:useLocalDpi xmlns:a14="http://schemas.microsoft.com/office/drawing/2010/main" val="0"/>
              </a:ext>
            </a:extLst>
          </a:blip>
          <a:srcRect/>
          <a:stretch/>
        </p:blipFill>
        <p:spPr>
          <a:xfrm>
            <a:off x="9326880" y="58321"/>
            <a:ext cx="2801872" cy="1192189"/>
          </a:xfrm>
          <a:prstGeom prst="rect">
            <a:avLst/>
          </a:prstGeom>
        </p:spPr>
      </p:pic>
    </p:spTree>
    <p:extLst>
      <p:ext uri="{BB962C8B-B14F-4D97-AF65-F5344CB8AC3E}">
        <p14:creationId xmlns:p14="http://schemas.microsoft.com/office/powerpoint/2010/main" val="36906685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9">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pic>
        <p:nvPicPr>
          <p:cNvPr id="4" name="Picture 3"/>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spTree>
    <p:extLst>
      <p:ext uri="{BB962C8B-B14F-4D97-AF65-F5344CB8AC3E}">
        <p14:creationId xmlns:p14="http://schemas.microsoft.com/office/powerpoint/2010/main" val="7429965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0066"/>
            <a:ext cx="11929641" cy="5593943"/>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3" name="Date Placeholder 1">
            <a:extLst>
              <a:ext uri="{FF2B5EF4-FFF2-40B4-BE49-F238E27FC236}">
                <a16:creationId xmlns:a16="http://schemas.microsoft.com/office/drawing/2014/main" id="{C734A936-E617-45E1-9308-3E977E5F30CE}"/>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Asha A. Gondaliya</a:t>
            </a:r>
          </a:p>
        </p:txBody>
      </p:sp>
      <p:sp>
        <p:nvSpPr>
          <p:cNvPr id="15"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#2302CS401 (OS)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Unit 4 – Memory Management</a:t>
            </a:r>
          </a:p>
        </p:txBody>
      </p:sp>
      <p:pic>
        <p:nvPicPr>
          <p:cNvPr id="14" name="Picture 13"/>
          <p:cNvPicPr>
            <a:picLocks/>
          </p:cNvPicPr>
          <p:nvPr userDrawn="1"/>
        </p:nvPicPr>
        <p:blipFill>
          <a:blip r:embed="rId3">
            <a:extLst>
              <a:ext uri="{28A0092B-C50C-407E-A947-70E740481C1C}">
                <a14:useLocalDpi xmlns:a14="http://schemas.microsoft.com/office/drawing/2010/main" val="0"/>
              </a:ext>
            </a:extLst>
          </a:blip>
          <a:srcRect/>
          <a:stretch/>
        </p:blipFill>
        <p:spPr>
          <a:xfrm>
            <a:off x="10299702" y="883612"/>
            <a:ext cx="1761119" cy="538789"/>
          </a:xfrm>
          <a:prstGeom prst="rect">
            <a:avLst/>
          </a:prstGeom>
          <a:effectLst>
            <a:reflection endPos="0" dist="50800" dir="5400000" sy="-100000" algn="bl" rotWithShape="0"/>
          </a:effectLst>
        </p:spPr>
      </p:pic>
    </p:spTree>
    <p:extLst>
      <p:ext uri="{BB962C8B-B14F-4D97-AF65-F5344CB8AC3E}">
        <p14:creationId xmlns:p14="http://schemas.microsoft.com/office/powerpoint/2010/main" val="28955862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78" y="878583"/>
            <a:ext cx="11929641" cy="5649046"/>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3" name="Date Placeholder 1">
            <a:extLst>
              <a:ext uri="{FF2B5EF4-FFF2-40B4-BE49-F238E27FC236}">
                <a16:creationId xmlns:a16="http://schemas.microsoft.com/office/drawing/2014/main" id="{EC126513-3594-4756-92A0-736585E8B3CE}"/>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Asha A. Gondaliya</a:t>
            </a:r>
          </a:p>
        </p:txBody>
      </p:sp>
      <p:sp>
        <p:nvSpPr>
          <p:cNvPr id="14"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#2302CS401 (OS)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Unit 4 – Memory Management</a:t>
            </a:r>
          </a:p>
        </p:txBody>
      </p:sp>
      <p:pic>
        <p:nvPicPr>
          <p:cNvPr id="15" name="Picture 14"/>
          <p:cNvPicPr>
            <a:picLocks/>
          </p:cNvPicPr>
          <p:nvPr userDrawn="1"/>
        </p:nvPicPr>
        <p:blipFill>
          <a:blip r:embed="rId3">
            <a:extLst>
              <a:ext uri="{28A0092B-C50C-407E-A947-70E740481C1C}">
                <a14:useLocalDpi xmlns:a14="http://schemas.microsoft.com/office/drawing/2010/main" val="0"/>
              </a:ext>
            </a:extLst>
          </a:blip>
          <a:srcRect/>
          <a:stretch/>
        </p:blipFill>
        <p:spPr>
          <a:xfrm>
            <a:off x="10299700" y="5923943"/>
            <a:ext cx="1761119" cy="538789"/>
          </a:xfrm>
          <a:prstGeom prst="rect">
            <a:avLst/>
          </a:prstGeom>
          <a:effectLst>
            <a:reflection endPos="0" dist="50800" dir="5400000" sy="-100000" algn="bl" rotWithShape="0"/>
          </a:effectLst>
        </p:spPr>
      </p:pic>
    </p:spTree>
    <p:extLst>
      <p:ext uri="{BB962C8B-B14F-4D97-AF65-F5344CB8AC3E}">
        <p14:creationId xmlns:p14="http://schemas.microsoft.com/office/powerpoint/2010/main" val="112494062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5"/>
            <a:ext cx="11929641" cy="5656790"/>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3" name="Date Placeholder 1">
            <a:extLst>
              <a:ext uri="{FF2B5EF4-FFF2-40B4-BE49-F238E27FC236}">
                <a16:creationId xmlns:a16="http://schemas.microsoft.com/office/drawing/2014/main" id="{408F28C3-EAB1-45FE-9A00-D25BEDA6E885}"/>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Asha A. Gondaliya</a:t>
            </a:r>
          </a:p>
        </p:txBody>
      </p:sp>
      <p:sp>
        <p:nvSpPr>
          <p:cNvPr id="14"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#2302CS401 (OS)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Unit 4 – Memory Management</a:t>
            </a:r>
          </a:p>
        </p:txBody>
      </p:sp>
      <p:pic>
        <p:nvPicPr>
          <p:cNvPr id="15" name="Picture 14"/>
          <p:cNvPicPr>
            <a:picLocks/>
          </p:cNvPicPr>
          <p:nvPr userDrawn="1"/>
        </p:nvPicPr>
        <p:blipFill>
          <a:blip r:embed="rId3">
            <a:extLst>
              <a:ext uri="{28A0092B-C50C-407E-A947-70E740481C1C}">
                <a14:useLocalDpi xmlns:a14="http://schemas.microsoft.com/office/drawing/2010/main" val="0"/>
              </a:ext>
            </a:extLst>
          </a:blip>
          <a:srcRect/>
          <a:stretch/>
        </p:blipFill>
        <p:spPr>
          <a:xfrm>
            <a:off x="283503" y="5923943"/>
            <a:ext cx="1761119" cy="538789"/>
          </a:xfrm>
          <a:prstGeom prst="rect">
            <a:avLst/>
          </a:prstGeom>
          <a:effectLst>
            <a:reflection endPos="0" dist="50800" dir="5400000" sy="-100000" algn="bl" rotWithShape="0"/>
          </a:effectLst>
        </p:spPr>
      </p:pic>
    </p:spTree>
    <p:extLst>
      <p:ext uri="{BB962C8B-B14F-4D97-AF65-F5344CB8AC3E}">
        <p14:creationId xmlns:p14="http://schemas.microsoft.com/office/powerpoint/2010/main" val="416719147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solidFill>
                  <a:srgbClr val="624238"/>
                </a:soli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8" name="Freeform 17">
            <a:extLst>
              <a:ext uri="{FF2B5EF4-FFF2-40B4-BE49-F238E27FC236}">
                <a16:creationId xmlns:a16="http://schemas.microsoft.com/office/drawing/2014/main"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9"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grpSp>
        <p:nvGrpSpPr>
          <p:cNvPr id="10" name="Group 9">
            <a:extLst>
              <a:ext uri="{FF2B5EF4-FFF2-40B4-BE49-F238E27FC236}">
                <a16:creationId xmlns:a16="http://schemas.microsoft.com/office/drawing/2014/main" id="{8FD38B6F-D549-4D28-B5DA-3AF636652084}"/>
              </a:ext>
            </a:extLst>
          </p:cNvPr>
          <p:cNvGrpSpPr/>
          <p:nvPr userDrawn="1"/>
        </p:nvGrpSpPr>
        <p:grpSpPr>
          <a:xfrm>
            <a:off x="10414003" y="6223181"/>
            <a:ext cx="1649043" cy="501287"/>
            <a:chOff x="10721798" y="852808"/>
            <a:chExt cx="1339023" cy="407045"/>
          </a:xfrm>
        </p:grpSpPr>
        <p:pic>
          <p:nvPicPr>
            <p:cNvPr id="13" name="Picture 12">
              <a:extLst>
                <a:ext uri="{FF2B5EF4-FFF2-40B4-BE49-F238E27FC236}">
                  <a16:creationId xmlns:a16="http://schemas.microsoft.com/office/drawing/2014/main" id="{538C9597-8AB6-41B2-8903-FB3D0B47ADD5}"/>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4" name="Rectangle 13">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Tree>
    <p:extLst>
      <p:ext uri="{BB962C8B-B14F-4D97-AF65-F5344CB8AC3E}">
        <p14:creationId xmlns:p14="http://schemas.microsoft.com/office/powerpoint/2010/main" val="103159695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14" name="Picture 13"/>
          <p:cNvPicPr>
            <a:picLocks/>
          </p:cNvPicPr>
          <p:nvPr userDrawn="1"/>
        </p:nvPicPr>
        <p:blipFill>
          <a:blip r:embed="rId2" cstate="print">
            <a:extLst>
              <a:ext uri="{28A0092B-C50C-407E-A947-70E740481C1C}">
                <a14:useLocalDpi xmlns:a14="http://schemas.microsoft.com/office/drawing/2010/main" val="0"/>
              </a:ext>
            </a:extLst>
          </a:blip>
          <a:stretch>
            <a:fillRect/>
          </a:stretch>
        </p:blipFill>
        <p:spPr>
          <a:xfrm>
            <a:off x="9565916" y="68080"/>
            <a:ext cx="2551177" cy="676656"/>
          </a:xfrm>
          <a:prstGeom prst="rect">
            <a:avLst/>
          </a:prstGeom>
        </p:spPr>
      </p:pic>
      <p:sp>
        <p:nvSpPr>
          <p:cNvPr id="8" name="Date Placeholder 1">
            <a:extLst>
              <a:ext uri="{FF2B5EF4-FFF2-40B4-BE49-F238E27FC236}">
                <a16:creationId xmlns:a16="http://schemas.microsoft.com/office/drawing/2014/main" id="{FC99111E-4059-4A94-9A5E-CCA414D98D2C}"/>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Asha A. Gondaliya</a:t>
            </a:r>
          </a:p>
        </p:txBody>
      </p:sp>
      <p:sp>
        <p:nvSpPr>
          <p:cNvPr id="9"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#2302CS401 (OS)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Unit 4 – Memory Management</a:t>
            </a:r>
          </a:p>
        </p:txBody>
      </p:sp>
    </p:spTree>
    <p:extLst>
      <p:ext uri="{BB962C8B-B14F-4D97-AF65-F5344CB8AC3E}">
        <p14:creationId xmlns:p14="http://schemas.microsoft.com/office/powerpoint/2010/main" val="145266060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16" name="Picture 15"/>
          <p:cNvPicPr>
            <a:picLocks/>
          </p:cNvPicPr>
          <p:nvPr userDrawn="1"/>
        </p:nvPicPr>
        <p:blipFill>
          <a:blip r:embed="rId2" cstate="print">
            <a:extLst>
              <a:ext uri="{28A0092B-C50C-407E-A947-70E740481C1C}">
                <a14:useLocalDpi xmlns:a14="http://schemas.microsoft.com/office/drawing/2010/main" val="0"/>
              </a:ext>
            </a:extLst>
          </a:blip>
          <a:stretch>
            <a:fillRect/>
          </a:stretch>
        </p:blipFill>
        <p:spPr>
          <a:xfrm>
            <a:off x="9608120" y="5906175"/>
            <a:ext cx="2551177" cy="676656"/>
          </a:xfrm>
          <a:prstGeom prst="rect">
            <a:avLst/>
          </a:prstGeom>
        </p:spPr>
      </p:pic>
      <p:sp>
        <p:nvSpPr>
          <p:cNvPr id="8" name="Date Placeholder 1">
            <a:extLst>
              <a:ext uri="{FF2B5EF4-FFF2-40B4-BE49-F238E27FC236}">
                <a16:creationId xmlns:a16="http://schemas.microsoft.com/office/drawing/2014/main" id="{6C880B5A-D2B3-42D8-A940-073E6CA12353}"/>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Asha A. Gondaliya</a:t>
            </a:r>
          </a:p>
        </p:txBody>
      </p:sp>
      <p:sp>
        <p:nvSpPr>
          <p:cNvPr id="9"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#2302CS401 (OS)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Unit 4 – Memory Management</a:t>
            </a:r>
          </a:p>
        </p:txBody>
      </p:sp>
    </p:spTree>
    <p:extLst>
      <p:ext uri="{BB962C8B-B14F-4D97-AF65-F5344CB8AC3E}">
        <p14:creationId xmlns:p14="http://schemas.microsoft.com/office/powerpoint/2010/main" val="91630512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16" name="Picture 15"/>
          <p:cNvPicPr>
            <a:picLocks/>
          </p:cNvPicPr>
          <p:nvPr userDrawn="1"/>
        </p:nvPicPr>
        <p:blipFill>
          <a:blip r:embed="rId2" cstate="print">
            <a:extLst>
              <a:ext uri="{28A0092B-C50C-407E-A947-70E740481C1C}">
                <a14:useLocalDpi xmlns:a14="http://schemas.microsoft.com/office/drawing/2010/main" val="0"/>
              </a:ext>
            </a:extLst>
          </a:blip>
          <a:stretch>
            <a:fillRect/>
          </a:stretch>
        </p:blipFill>
        <p:spPr>
          <a:xfrm>
            <a:off x="0" y="5843578"/>
            <a:ext cx="2551177" cy="759295"/>
          </a:xfrm>
          <a:prstGeom prst="rect">
            <a:avLst/>
          </a:prstGeom>
        </p:spPr>
      </p:pic>
      <p:sp>
        <p:nvSpPr>
          <p:cNvPr id="8" name="Date Placeholder 1">
            <a:extLst>
              <a:ext uri="{FF2B5EF4-FFF2-40B4-BE49-F238E27FC236}">
                <a16:creationId xmlns:a16="http://schemas.microsoft.com/office/drawing/2014/main" id="{FBD0B468-C77C-451B-89EC-DFC8A8B3ED6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Asha A. Gondaliya</a:t>
            </a:r>
          </a:p>
        </p:txBody>
      </p:sp>
      <p:sp>
        <p:nvSpPr>
          <p:cNvPr id="9"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#2302CS401 (OS)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Unit 4 – Memory Management</a:t>
            </a:r>
          </a:p>
        </p:txBody>
      </p:sp>
    </p:spTree>
    <p:extLst>
      <p:ext uri="{BB962C8B-B14F-4D97-AF65-F5344CB8AC3E}">
        <p14:creationId xmlns:p14="http://schemas.microsoft.com/office/powerpoint/2010/main" val="224890930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77341222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dirty="0"/>
          </a:p>
        </p:txBody>
      </p:sp>
    </p:spTree>
    <p:extLst>
      <p:ext uri="{BB962C8B-B14F-4D97-AF65-F5344CB8AC3E}">
        <p14:creationId xmlns:p14="http://schemas.microsoft.com/office/powerpoint/2010/main" val="309926978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0" name="Picture 29"/>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1" name="Straight Connector 30">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034566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21" name="Picture 2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1" name="Straight Connector 30">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199584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38988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04528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29985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endParaRPr lang="en-US" dirty="0">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675727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endParaRPr lang="en-US" dirty="0">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688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solidFill>
            <a:srgbClr val="6E4D40"/>
          </a:soli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075571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endParaRPr lang="en-US" dirty="0">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782798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endParaRPr lang="en-US" dirty="0">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278899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endParaRPr lang="en-US" dirty="0">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9"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4" name="Picture 33"/>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5" name="Straight Connector 34">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915456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endParaRPr lang="en-US" dirty="0">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324871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1_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7747634" cy="338554"/>
          </a:xfrm>
          <a:prstGeom prst="rect">
            <a:avLst/>
          </a:prstGeom>
          <a:noFill/>
        </p:spPr>
        <p:txBody>
          <a:bodyPr wrap="none" rtlCol="0">
            <a:spAutoFit/>
          </a:bodyPr>
          <a:lstStyle/>
          <a:p>
            <a:r>
              <a:rPr lang="en-US" sz="1600" dirty="0"/>
              <a:t>Darshan Institute of Engineering &amp; Technology for Diploma Studies, Darshan University, Rajkot</a:t>
            </a: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solidFill>
            <a:srgbClr val="4B302A"/>
          </a:soli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endParaRPr lang="en-US" dirty="0"/>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8">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
        <p:nvSpPr>
          <p:cNvPr id="30" name="Hexagon 29">
            <a:extLst>
              <a:ext uri="{FF2B5EF4-FFF2-40B4-BE49-F238E27FC236}">
                <a16:creationId xmlns:a16="http://schemas.microsoft.com/office/drawing/2014/main" id="{1BB32699-4C62-4BBF-9A17-90008E297198}"/>
              </a:ext>
            </a:extLst>
          </p:cNvPr>
          <p:cNvSpPr/>
          <p:nvPr userDrawn="1"/>
        </p:nvSpPr>
        <p:spPr>
          <a:xfrm rot="5400000">
            <a:off x="4309292" y="1717040"/>
            <a:ext cx="3461658" cy="2984188"/>
          </a:xfrm>
          <a:prstGeom prst="hexagon">
            <a:avLst/>
          </a:prstGeom>
          <a:solidFill>
            <a:schemeClr val="bg1">
              <a:lumMod val="95000"/>
            </a:schemeClr>
          </a:solidFill>
          <a:ln w="57150">
            <a:solidFill>
              <a:srgbClr val="4B302A"/>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solidFill>
                <a:srgbClr val="212121"/>
              </a:solidFill>
            </a:endParaRPr>
          </a:p>
        </p:txBody>
      </p:sp>
      <p:sp>
        <p:nvSpPr>
          <p:cNvPr id="31" name="Rectangle 30">
            <a:extLst>
              <a:ext uri="{FF2B5EF4-FFF2-40B4-BE49-F238E27FC236}">
                <a16:creationId xmlns:a16="http://schemas.microsoft.com/office/drawing/2014/main" id="{02C58FA9-71EA-487D-8A75-915EC6877722}"/>
              </a:ext>
            </a:extLst>
          </p:cNvPr>
          <p:cNvSpPr/>
          <p:nvPr userDrawn="1"/>
        </p:nvSpPr>
        <p:spPr>
          <a:xfrm>
            <a:off x="0" y="2221532"/>
            <a:ext cx="4402106" cy="1951692"/>
          </a:xfrm>
          <a:prstGeom prst="rect">
            <a:avLst/>
          </a:prstGeom>
          <a:solidFill>
            <a:srgbClr val="4B302A"/>
          </a:soli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33" name="Rectangle 32">
            <a:extLst>
              <a:ext uri="{FF2B5EF4-FFF2-40B4-BE49-F238E27FC236}">
                <a16:creationId xmlns:a16="http://schemas.microsoft.com/office/drawing/2014/main" id="{97A77512-C96D-4B1D-861C-3369397D6121}"/>
              </a:ext>
            </a:extLst>
          </p:cNvPr>
          <p:cNvSpPr/>
          <p:nvPr userDrawn="1"/>
        </p:nvSpPr>
        <p:spPr>
          <a:xfrm flipH="1">
            <a:off x="7678346" y="2221532"/>
            <a:ext cx="4513654" cy="1951692"/>
          </a:xfrm>
          <a:prstGeom prst="rect">
            <a:avLst/>
          </a:prstGeom>
          <a:solidFill>
            <a:srgbClr val="4B302A"/>
          </a:soli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34" name="TextBox 33">
            <a:extLst>
              <a:ext uri="{FF2B5EF4-FFF2-40B4-BE49-F238E27FC236}">
                <a16:creationId xmlns:a16="http://schemas.microsoft.com/office/drawing/2014/main" id="{88342F5D-5C3A-4D09-B74D-32BF20197BBC}"/>
              </a:ext>
            </a:extLst>
          </p:cNvPr>
          <p:cNvSpPr txBox="1"/>
          <p:nvPr userDrawn="1"/>
        </p:nvSpPr>
        <p:spPr>
          <a:xfrm>
            <a:off x="5014038" y="2239638"/>
            <a:ext cx="2052165" cy="1938992"/>
          </a:xfrm>
          <a:prstGeom prst="rect">
            <a:avLst/>
          </a:prstGeom>
          <a:noFill/>
        </p:spPr>
        <p:txBody>
          <a:bodyPr wrap="none" rtlCol="0">
            <a:spAutoFit/>
          </a:bodyPr>
          <a:lstStyle/>
          <a:p>
            <a:pPr algn="ctr"/>
            <a:r>
              <a:rPr lang="en-US" sz="6000" b="1" i="1" dirty="0">
                <a:solidFill>
                  <a:srgbClr val="212121"/>
                </a:solidFill>
              </a:rPr>
              <a:t>Thank</a:t>
            </a:r>
          </a:p>
          <a:p>
            <a:pPr algn="ctr"/>
            <a:r>
              <a:rPr lang="en-US" sz="6000" b="1" i="1" dirty="0">
                <a:solidFill>
                  <a:srgbClr val="212121"/>
                </a:solidFill>
              </a:rPr>
              <a:t>You</a:t>
            </a:r>
          </a:p>
        </p:txBody>
      </p:sp>
      <p:sp>
        <p:nvSpPr>
          <p:cNvPr id="41" name="Freeform 13">
            <a:extLst>
              <a:ext uri="{FF2B5EF4-FFF2-40B4-BE49-F238E27FC236}">
                <a16:creationId xmlns:a16="http://schemas.microsoft.com/office/drawing/2014/main" id="{7DBD9FF3-DB58-439A-9C3F-981DC0699B89}"/>
              </a:ext>
            </a:extLst>
          </p:cNvPr>
          <p:cNvSpPr>
            <a:spLocks/>
          </p:cNvSpPr>
          <p:nvPr userDrawn="1"/>
        </p:nvSpPr>
        <p:spPr bwMode="auto">
          <a:xfrm>
            <a:off x="2736224" y="-2949"/>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solidFill>
            <a:srgbClr val="4B302A"/>
          </a:soli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42" name="Text Placeholder 2">
            <a:extLst>
              <a:ext uri="{FF2B5EF4-FFF2-40B4-BE49-F238E27FC236}">
                <a16:creationId xmlns:a16="http://schemas.microsoft.com/office/drawing/2014/main" id="{655B1926-C5B6-4865-B639-303A5A9FEE4F}"/>
              </a:ext>
            </a:extLst>
          </p:cNvPr>
          <p:cNvSpPr>
            <a:spLocks noGrp="1"/>
          </p:cNvSpPr>
          <p:nvPr>
            <p:ph type="body" sz="quarter" idx="17" hasCustomPrompt="1"/>
          </p:nvPr>
        </p:nvSpPr>
        <p:spPr>
          <a:xfrm>
            <a:off x="2763466" y="1743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 name="Picture 1">
            <a:extLst>
              <a:ext uri="{FF2B5EF4-FFF2-40B4-BE49-F238E27FC236}">
                <a16:creationId xmlns:a16="http://schemas.microsoft.com/office/drawing/2014/main" id="{35E07E8F-D25F-EC6C-F9A8-5D9721EBD349}"/>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10099126" y="191979"/>
            <a:ext cx="2091771" cy="945147"/>
          </a:xfrm>
          <a:prstGeom prst="rect">
            <a:avLst/>
          </a:prstGeom>
        </p:spPr>
      </p:pic>
    </p:spTree>
    <p:extLst>
      <p:ext uri="{BB962C8B-B14F-4D97-AF65-F5344CB8AC3E}">
        <p14:creationId xmlns:p14="http://schemas.microsoft.com/office/powerpoint/2010/main" val="262406924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9">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pic>
        <p:nvPicPr>
          <p:cNvPr id="4" name="Picture 3"/>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spTree>
    <p:extLst>
      <p:ext uri="{BB962C8B-B14F-4D97-AF65-F5344CB8AC3E}">
        <p14:creationId xmlns:p14="http://schemas.microsoft.com/office/powerpoint/2010/main" val="198230519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0066"/>
            <a:ext cx="11929641" cy="5593943"/>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#2302CS401 (OS)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Unit 4 – Memory Management</a:t>
            </a:r>
          </a:p>
        </p:txBody>
      </p:sp>
      <p:sp>
        <p:nvSpPr>
          <p:cNvPr id="15" name="Date Placeholder 1">
            <a:extLst>
              <a:ext uri="{FF2B5EF4-FFF2-40B4-BE49-F238E27FC236}">
                <a16:creationId xmlns:a16="http://schemas.microsoft.com/office/drawing/2014/main" id="{FC99111E-4059-4A94-9A5E-CCA414D98D2C}"/>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Asha A. Gondaliya</a:t>
            </a:r>
          </a:p>
        </p:txBody>
      </p:sp>
      <p:pic>
        <p:nvPicPr>
          <p:cNvPr id="13" name="Picture 12"/>
          <p:cNvPicPr>
            <a:picLocks/>
          </p:cNvPicPr>
          <p:nvPr userDrawn="1"/>
        </p:nvPicPr>
        <p:blipFill>
          <a:blip r:embed="rId3">
            <a:extLst>
              <a:ext uri="{28A0092B-C50C-407E-A947-70E740481C1C}">
                <a14:useLocalDpi xmlns:a14="http://schemas.microsoft.com/office/drawing/2010/main" val="0"/>
              </a:ext>
            </a:extLst>
          </a:blip>
          <a:srcRect/>
          <a:stretch/>
        </p:blipFill>
        <p:spPr>
          <a:xfrm>
            <a:off x="10299702" y="883612"/>
            <a:ext cx="1761119" cy="538789"/>
          </a:xfrm>
          <a:prstGeom prst="rect">
            <a:avLst/>
          </a:prstGeom>
          <a:effectLst>
            <a:reflection endPos="0" dist="50800" dir="5400000" sy="-100000" algn="bl" rotWithShape="0"/>
          </a:effectLst>
        </p:spPr>
      </p:pic>
    </p:spTree>
    <p:extLst>
      <p:ext uri="{BB962C8B-B14F-4D97-AF65-F5344CB8AC3E}">
        <p14:creationId xmlns:p14="http://schemas.microsoft.com/office/powerpoint/2010/main" val="344003921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78" y="878583"/>
            <a:ext cx="11929641" cy="5649046"/>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#2302CS401 (OS)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Unit 4 – Memory Management</a:t>
            </a:r>
          </a:p>
        </p:txBody>
      </p:sp>
      <p:sp>
        <p:nvSpPr>
          <p:cNvPr id="16" name="Date Placeholder 1">
            <a:extLst>
              <a:ext uri="{FF2B5EF4-FFF2-40B4-BE49-F238E27FC236}">
                <a16:creationId xmlns:a16="http://schemas.microsoft.com/office/drawing/2014/main" id="{FC99111E-4059-4A94-9A5E-CCA414D98D2C}"/>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Asha A. Gondaliya</a:t>
            </a:r>
          </a:p>
        </p:txBody>
      </p:sp>
      <p:pic>
        <p:nvPicPr>
          <p:cNvPr id="13" name="Picture 12"/>
          <p:cNvPicPr>
            <a:picLocks/>
          </p:cNvPicPr>
          <p:nvPr userDrawn="1"/>
        </p:nvPicPr>
        <p:blipFill>
          <a:blip r:embed="rId3">
            <a:extLst>
              <a:ext uri="{28A0092B-C50C-407E-A947-70E740481C1C}">
                <a14:useLocalDpi xmlns:a14="http://schemas.microsoft.com/office/drawing/2010/main" val="0"/>
              </a:ext>
            </a:extLst>
          </a:blip>
          <a:srcRect/>
          <a:stretch/>
        </p:blipFill>
        <p:spPr>
          <a:xfrm>
            <a:off x="10299700" y="5923943"/>
            <a:ext cx="1761119" cy="538789"/>
          </a:xfrm>
          <a:prstGeom prst="rect">
            <a:avLst/>
          </a:prstGeom>
          <a:effectLst>
            <a:reflection endPos="0" dist="50800" dir="5400000" sy="-100000" algn="bl" rotWithShape="0"/>
          </a:effectLst>
        </p:spPr>
      </p:pic>
    </p:spTree>
    <p:extLst>
      <p:ext uri="{BB962C8B-B14F-4D97-AF65-F5344CB8AC3E}">
        <p14:creationId xmlns:p14="http://schemas.microsoft.com/office/powerpoint/2010/main" val="32648729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5"/>
            <a:ext cx="11929641" cy="5656790"/>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#2302CS401 (OS)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Unit 4</a:t>
            </a:r>
            <a:r>
              <a:rPr lang="en-US" baseline="0" dirty="0">
                <a:solidFill>
                  <a:srgbClr val="212121">
                    <a:lumMod val="90000"/>
                    <a:lumOff val="10000"/>
                  </a:srgbClr>
                </a:solidFill>
                <a:latin typeface="Roboto Condensed Light" panose="02000000000000000000" pitchFamily="2" charset="0"/>
                <a:ea typeface="Roboto Condensed Light" panose="02000000000000000000" pitchFamily="2" charset="0"/>
              </a:rPr>
              <a:t> </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Memory Management</a:t>
            </a:r>
          </a:p>
        </p:txBody>
      </p:sp>
      <p:sp>
        <p:nvSpPr>
          <p:cNvPr id="15" name="Date Placeholder 1">
            <a:extLst>
              <a:ext uri="{FF2B5EF4-FFF2-40B4-BE49-F238E27FC236}">
                <a16:creationId xmlns:a16="http://schemas.microsoft.com/office/drawing/2014/main" id="{FC99111E-4059-4A94-9A5E-CCA414D98D2C}"/>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Asha A. Gondaliya</a:t>
            </a:r>
          </a:p>
        </p:txBody>
      </p:sp>
      <p:pic>
        <p:nvPicPr>
          <p:cNvPr id="13" name="Picture 12"/>
          <p:cNvPicPr>
            <a:picLocks/>
          </p:cNvPicPr>
          <p:nvPr userDrawn="1"/>
        </p:nvPicPr>
        <p:blipFill>
          <a:blip r:embed="rId3">
            <a:extLst>
              <a:ext uri="{28A0092B-C50C-407E-A947-70E740481C1C}">
                <a14:useLocalDpi xmlns:a14="http://schemas.microsoft.com/office/drawing/2010/main" val="0"/>
              </a:ext>
            </a:extLst>
          </a:blip>
          <a:srcRect/>
          <a:stretch/>
        </p:blipFill>
        <p:spPr>
          <a:xfrm>
            <a:off x="255367" y="5923943"/>
            <a:ext cx="1761119" cy="538789"/>
          </a:xfrm>
          <a:prstGeom prst="rect">
            <a:avLst/>
          </a:prstGeom>
          <a:effectLst>
            <a:reflection endPos="0" dist="50800" dir="5400000" sy="-100000" algn="bl" rotWithShape="0"/>
          </a:effectLst>
        </p:spPr>
      </p:pic>
    </p:spTree>
    <p:extLst>
      <p:ext uri="{BB962C8B-B14F-4D97-AF65-F5344CB8AC3E}">
        <p14:creationId xmlns:p14="http://schemas.microsoft.com/office/powerpoint/2010/main" val="27622710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solidFill>
                  <a:srgbClr val="624238"/>
                </a:soli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8" name="Freeform 17">
            <a:extLst>
              <a:ext uri="{FF2B5EF4-FFF2-40B4-BE49-F238E27FC236}">
                <a16:creationId xmlns:a16="http://schemas.microsoft.com/office/drawing/2014/main"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9"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10" name="Picture 9"/>
          <p:cNvPicPr>
            <a:picLocks/>
          </p:cNvPicPr>
          <p:nvPr userDrawn="1"/>
        </p:nvPicPr>
        <p:blipFill>
          <a:blip r:embed="rId5">
            <a:extLst>
              <a:ext uri="{28A0092B-C50C-407E-A947-70E740481C1C}">
                <a14:useLocalDpi xmlns:a14="http://schemas.microsoft.com/office/drawing/2010/main" val="0"/>
              </a:ext>
            </a:extLst>
          </a:blip>
          <a:srcRect/>
          <a:stretch/>
        </p:blipFill>
        <p:spPr>
          <a:xfrm>
            <a:off x="10271565" y="6204430"/>
            <a:ext cx="1761119" cy="538789"/>
          </a:xfrm>
          <a:prstGeom prst="rect">
            <a:avLst/>
          </a:prstGeom>
          <a:effectLst>
            <a:reflection endPos="0" dist="50800" dir="5400000" sy="-100000" algn="bl" rotWithShape="0"/>
          </a:effectLst>
        </p:spPr>
      </p:pic>
    </p:spTree>
    <p:extLst>
      <p:ext uri="{BB962C8B-B14F-4D97-AF65-F5344CB8AC3E}">
        <p14:creationId xmlns:p14="http://schemas.microsoft.com/office/powerpoint/2010/main" val="38165007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14" name="Picture 13"/>
          <p:cNvPicPr>
            <a:picLocks/>
          </p:cNvPicPr>
          <p:nvPr userDrawn="1"/>
        </p:nvPicPr>
        <p:blipFill>
          <a:blip r:embed="rId2" cstate="print">
            <a:extLst>
              <a:ext uri="{28A0092B-C50C-407E-A947-70E740481C1C}">
                <a14:useLocalDpi xmlns:a14="http://schemas.microsoft.com/office/drawing/2010/main" val="0"/>
              </a:ext>
            </a:extLst>
          </a:blip>
          <a:stretch>
            <a:fillRect/>
          </a:stretch>
        </p:blipFill>
        <p:spPr>
          <a:xfrm>
            <a:off x="9565916" y="68080"/>
            <a:ext cx="2551177" cy="676656"/>
          </a:xfrm>
          <a:prstGeom prst="rect">
            <a:avLst/>
          </a:prstGeom>
        </p:spPr>
      </p:pic>
      <p:sp>
        <p:nvSpPr>
          <p:cNvPr id="9"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#2302CS401 (OS)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Unit 4 – Memory Management</a:t>
            </a:r>
          </a:p>
        </p:txBody>
      </p:sp>
      <p:sp>
        <p:nvSpPr>
          <p:cNvPr id="10" name="Date Placeholder 1">
            <a:extLst>
              <a:ext uri="{FF2B5EF4-FFF2-40B4-BE49-F238E27FC236}">
                <a16:creationId xmlns:a16="http://schemas.microsoft.com/office/drawing/2014/main" id="{FC99111E-4059-4A94-9A5E-CCA414D98D2C}"/>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Asha A. Gondaliya</a:t>
            </a:r>
          </a:p>
        </p:txBody>
      </p:sp>
    </p:spTree>
    <p:extLst>
      <p:ext uri="{BB962C8B-B14F-4D97-AF65-F5344CB8AC3E}">
        <p14:creationId xmlns:p14="http://schemas.microsoft.com/office/powerpoint/2010/main" val="65478454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16" name="Picture 15"/>
          <p:cNvPicPr>
            <a:picLocks/>
          </p:cNvPicPr>
          <p:nvPr userDrawn="1"/>
        </p:nvPicPr>
        <p:blipFill>
          <a:blip r:embed="rId2" cstate="print">
            <a:extLst>
              <a:ext uri="{28A0092B-C50C-407E-A947-70E740481C1C}">
                <a14:useLocalDpi xmlns:a14="http://schemas.microsoft.com/office/drawing/2010/main" val="0"/>
              </a:ext>
            </a:extLst>
          </a:blip>
          <a:stretch>
            <a:fillRect/>
          </a:stretch>
        </p:blipFill>
        <p:spPr>
          <a:xfrm>
            <a:off x="9608120" y="5906175"/>
            <a:ext cx="2551177" cy="676656"/>
          </a:xfrm>
          <a:prstGeom prst="rect">
            <a:avLst/>
          </a:prstGeom>
        </p:spPr>
      </p:pic>
      <p:sp>
        <p:nvSpPr>
          <p:cNvPr id="9"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#2302CS401 (OS)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Unit 4 – Memory Management</a:t>
            </a:r>
          </a:p>
        </p:txBody>
      </p:sp>
      <p:sp>
        <p:nvSpPr>
          <p:cNvPr id="10" name="Date Placeholder 1">
            <a:extLst>
              <a:ext uri="{FF2B5EF4-FFF2-40B4-BE49-F238E27FC236}">
                <a16:creationId xmlns:a16="http://schemas.microsoft.com/office/drawing/2014/main" id="{FC99111E-4059-4A94-9A5E-CCA414D98D2C}"/>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Asha A. Gondaliya</a:t>
            </a:r>
          </a:p>
        </p:txBody>
      </p:sp>
    </p:spTree>
    <p:extLst>
      <p:ext uri="{BB962C8B-B14F-4D97-AF65-F5344CB8AC3E}">
        <p14:creationId xmlns:p14="http://schemas.microsoft.com/office/powerpoint/2010/main" val="226746991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16" name="Picture 15"/>
          <p:cNvPicPr>
            <a:picLocks/>
          </p:cNvPicPr>
          <p:nvPr userDrawn="1"/>
        </p:nvPicPr>
        <p:blipFill>
          <a:blip r:embed="rId2" cstate="print">
            <a:extLst>
              <a:ext uri="{28A0092B-C50C-407E-A947-70E740481C1C}">
                <a14:useLocalDpi xmlns:a14="http://schemas.microsoft.com/office/drawing/2010/main" val="0"/>
              </a:ext>
            </a:extLst>
          </a:blip>
          <a:stretch>
            <a:fillRect/>
          </a:stretch>
        </p:blipFill>
        <p:spPr>
          <a:xfrm>
            <a:off x="0" y="5843578"/>
            <a:ext cx="2551177" cy="759295"/>
          </a:xfrm>
          <a:prstGeom prst="rect">
            <a:avLst/>
          </a:prstGeom>
        </p:spPr>
      </p:pic>
      <p:sp>
        <p:nvSpPr>
          <p:cNvPr id="9"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#2302CS401 (OS)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Unit 4 – Memory Management</a:t>
            </a:r>
          </a:p>
        </p:txBody>
      </p:sp>
      <p:sp>
        <p:nvSpPr>
          <p:cNvPr id="10" name="Date Placeholder 1">
            <a:extLst>
              <a:ext uri="{FF2B5EF4-FFF2-40B4-BE49-F238E27FC236}">
                <a16:creationId xmlns:a16="http://schemas.microsoft.com/office/drawing/2014/main" id="{FC99111E-4059-4A94-9A5E-CCA414D98D2C}"/>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Asha A. Gondaliya</a:t>
            </a:r>
          </a:p>
        </p:txBody>
      </p:sp>
    </p:spTree>
    <p:extLst>
      <p:ext uri="{BB962C8B-B14F-4D97-AF65-F5344CB8AC3E}">
        <p14:creationId xmlns:p14="http://schemas.microsoft.com/office/powerpoint/2010/main" val="370698916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291530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dirty="0"/>
          </a:p>
        </p:txBody>
      </p:sp>
    </p:spTree>
    <p:extLst>
      <p:ext uri="{BB962C8B-B14F-4D97-AF65-F5344CB8AC3E}">
        <p14:creationId xmlns:p14="http://schemas.microsoft.com/office/powerpoint/2010/main" val="369018416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0" name="Picture 29"/>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1" name="Straight Connector 30">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327773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21" name="Picture 2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1" name="Straight Connector 30">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146276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853133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920665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523306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endParaRPr lang="en-US" dirty="0">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659928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endParaRPr lang="en-US" dirty="0">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688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solidFill>
            <a:srgbClr val="6E4D40"/>
          </a:soli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767955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endParaRPr lang="en-US" dirty="0">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454967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endParaRPr lang="en-US" dirty="0">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507539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endParaRPr lang="en-US" dirty="0">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9"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4" name="Picture 33"/>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5" name="Straight Connector 34">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480763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endParaRPr lang="en-US" dirty="0">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807030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1_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solidFill>
            <a:srgbClr val="4B302A"/>
          </a:soli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endParaRPr lang="en-US" dirty="0"/>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8">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
        <p:nvSpPr>
          <p:cNvPr id="30" name="Hexagon 29">
            <a:extLst>
              <a:ext uri="{FF2B5EF4-FFF2-40B4-BE49-F238E27FC236}">
                <a16:creationId xmlns:a16="http://schemas.microsoft.com/office/drawing/2014/main" id="{1BB32699-4C62-4BBF-9A17-90008E297198}"/>
              </a:ext>
            </a:extLst>
          </p:cNvPr>
          <p:cNvSpPr/>
          <p:nvPr userDrawn="1"/>
        </p:nvSpPr>
        <p:spPr>
          <a:xfrm rot="5400000">
            <a:off x="4309292" y="1717040"/>
            <a:ext cx="3461658" cy="2984188"/>
          </a:xfrm>
          <a:prstGeom prst="hexagon">
            <a:avLst/>
          </a:prstGeom>
          <a:solidFill>
            <a:schemeClr val="bg1">
              <a:lumMod val="95000"/>
            </a:schemeClr>
          </a:solidFill>
          <a:ln w="57150">
            <a:solidFill>
              <a:srgbClr val="4B302A"/>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solidFill>
                <a:srgbClr val="212121"/>
              </a:solidFill>
            </a:endParaRPr>
          </a:p>
        </p:txBody>
      </p:sp>
      <p:sp>
        <p:nvSpPr>
          <p:cNvPr id="31" name="Rectangle 30">
            <a:extLst>
              <a:ext uri="{FF2B5EF4-FFF2-40B4-BE49-F238E27FC236}">
                <a16:creationId xmlns:a16="http://schemas.microsoft.com/office/drawing/2014/main" id="{02C58FA9-71EA-487D-8A75-915EC6877722}"/>
              </a:ext>
            </a:extLst>
          </p:cNvPr>
          <p:cNvSpPr/>
          <p:nvPr userDrawn="1"/>
        </p:nvSpPr>
        <p:spPr>
          <a:xfrm>
            <a:off x="0" y="2221532"/>
            <a:ext cx="4402106" cy="1951692"/>
          </a:xfrm>
          <a:prstGeom prst="rect">
            <a:avLst/>
          </a:prstGeom>
          <a:solidFill>
            <a:srgbClr val="4B302A"/>
          </a:soli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33" name="Rectangle 32">
            <a:extLst>
              <a:ext uri="{FF2B5EF4-FFF2-40B4-BE49-F238E27FC236}">
                <a16:creationId xmlns:a16="http://schemas.microsoft.com/office/drawing/2014/main" id="{97A77512-C96D-4B1D-861C-3369397D6121}"/>
              </a:ext>
            </a:extLst>
          </p:cNvPr>
          <p:cNvSpPr/>
          <p:nvPr userDrawn="1"/>
        </p:nvSpPr>
        <p:spPr>
          <a:xfrm flipH="1">
            <a:off x="7678346" y="2221532"/>
            <a:ext cx="4513654" cy="1951692"/>
          </a:xfrm>
          <a:prstGeom prst="rect">
            <a:avLst/>
          </a:prstGeom>
          <a:solidFill>
            <a:srgbClr val="4B302A"/>
          </a:soli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34" name="TextBox 33">
            <a:extLst>
              <a:ext uri="{FF2B5EF4-FFF2-40B4-BE49-F238E27FC236}">
                <a16:creationId xmlns:a16="http://schemas.microsoft.com/office/drawing/2014/main" id="{88342F5D-5C3A-4D09-B74D-32BF20197BBC}"/>
              </a:ext>
            </a:extLst>
          </p:cNvPr>
          <p:cNvSpPr txBox="1"/>
          <p:nvPr userDrawn="1"/>
        </p:nvSpPr>
        <p:spPr>
          <a:xfrm>
            <a:off x="5014038" y="2239638"/>
            <a:ext cx="2052165" cy="1938992"/>
          </a:xfrm>
          <a:prstGeom prst="rect">
            <a:avLst/>
          </a:prstGeom>
          <a:noFill/>
        </p:spPr>
        <p:txBody>
          <a:bodyPr wrap="none" rtlCol="0">
            <a:spAutoFit/>
          </a:bodyPr>
          <a:lstStyle/>
          <a:p>
            <a:pPr algn="ctr"/>
            <a:r>
              <a:rPr lang="en-US" sz="6000" b="1" i="1" dirty="0">
                <a:solidFill>
                  <a:srgbClr val="212121"/>
                </a:solidFill>
              </a:rPr>
              <a:t>Thank</a:t>
            </a:r>
          </a:p>
          <a:p>
            <a:pPr algn="ctr"/>
            <a:r>
              <a:rPr lang="en-US" sz="6000" b="1" i="1" dirty="0">
                <a:solidFill>
                  <a:srgbClr val="212121"/>
                </a:solidFill>
              </a:rPr>
              <a:t>You</a:t>
            </a:r>
          </a:p>
        </p:txBody>
      </p:sp>
      <p:sp>
        <p:nvSpPr>
          <p:cNvPr id="41" name="Freeform 13">
            <a:extLst>
              <a:ext uri="{FF2B5EF4-FFF2-40B4-BE49-F238E27FC236}">
                <a16:creationId xmlns:a16="http://schemas.microsoft.com/office/drawing/2014/main" id="{7DBD9FF3-DB58-439A-9C3F-981DC0699B89}"/>
              </a:ext>
            </a:extLst>
          </p:cNvPr>
          <p:cNvSpPr>
            <a:spLocks/>
          </p:cNvSpPr>
          <p:nvPr userDrawn="1"/>
        </p:nvSpPr>
        <p:spPr bwMode="auto">
          <a:xfrm>
            <a:off x="2736224" y="-2949"/>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solidFill>
            <a:srgbClr val="4B302A"/>
          </a:soli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42" name="Text Placeholder 2">
            <a:extLst>
              <a:ext uri="{FF2B5EF4-FFF2-40B4-BE49-F238E27FC236}">
                <a16:creationId xmlns:a16="http://schemas.microsoft.com/office/drawing/2014/main" id="{655B1926-C5B6-4865-B639-303A5A9FEE4F}"/>
              </a:ext>
            </a:extLst>
          </p:cNvPr>
          <p:cNvSpPr>
            <a:spLocks noGrp="1"/>
          </p:cNvSpPr>
          <p:nvPr>
            <p:ph type="body" sz="quarter" idx="17" hasCustomPrompt="1"/>
          </p:nvPr>
        </p:nvSpPr>
        <p:spPr>
          <a:xfrm>
            <a:off x="2763466" y="1743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 name="Picture 1">
            <a:extLst>
              <a:ext uri="{FF2B5EF4-FFF2-40B4-BE49-F238E27FC236}">
                <a16:creationId xmlns:a16="http://schemas.microsoft.com/office/drawing/2014/main" id="{35E07E8F-D25F-EC6C-F9A8-5D9721EBD349}"/>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10099126" y="191979"/>
            <a:ext cx="2091771" cy="945147"/>
          </a:xfrm>
          <a:prstGeom prst="rect">
            <a:avLst/>
          </a:prstGeom>
        </p:spPr>
      </p:pic>
    </p:spTree>
    <p:extLst>
      <p:ext uri="{BB962C8B-B14F-4D97-AF65-F5344CB8AC3E}">
        <p14:creationId xmlns:p14="http://schemas.microsoft.com/office/powerpoint/2010/main" val="227047096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2_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7747634" cy="338554"/>
          </a:xfrm>
          <a:prstGeom prst="rect">
            <a:avLst/>
          </a:prstGeom>
          <a:noFill/>
        </p:spPr>
        <p:txBody>
          <a:bodyPr wrap="none" rtlCol="0">
            <a:spAutoFit/>
          </a:bodyPr>
          <a:lstStyle/>
          <a:p>
            <a:r>
              <a:rPr lang="en-US" sz="1600" dirty="0"/>
              <a:t>Darshan Institute of Engineering &amp; Technology for Diploma Studies, Darshan University, Rajkot</a:t>
            </a: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solidFill>
            <a:srgbClr val="4B302A"/>
          </a:soli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endParaRPr lang="en-US" dirty="0"/>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8">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
        <p:nvSpPr>
          <p:cNvPr id="30" name="Hexagon 29">
            <a:extLst>
              <a:ext uri="{FF2B5EF4-FFF2-40B4-BE49-F238E27FC236}">
                <a16:creationId xmlns:a16="http://schemas.microsoft.com/office/drawing/2014/main" id="{1BB32699-4C62-4BBF-9A17-90008E297198}"/>
              </a:ext>
            </a:extLst>
          </p:cNvPr>
          <p:cNvSpPr/>
          <p:nvPr userDrawn="1"/>
        </p:nvSpPr>
        <p:spPr>
          <a:xfrm rot="5400000">
            <a:off x="4309292" y="1717040"/>
            <a:ext cx="3461658" cy="2984188"/>
          </a:xfrm>
          <a:prstGeom prst="hexagon">
            <a:avLst/>
          </a:prstGeom>
          <a:solidFill>
            <a:schemeClr val="bg1">
              <a:lumMod val="95000"/>
            </a:schemeClr>
          </a:solidFill>
          <a:ln w="57150">
            <a:solidFill>
              <a:srgbClr val="4B302A"/>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02C58FA9-71EA-487D-8A75-915EC6877722}"/>
              </a:ext>
            </a:extLst>
          </p:cNvPr>
          <p:cNvSpPr/>
          <p:nvPr userDrawn="1"/>
        </p:nvSpPr>
        <p:spPr>
          <a:xfrm>
            <a:off x="0" y="2221532"/>
            <a:ext cx="4402106" cy="1951692"/>
          </a:xfrm>
          <a:prstGeom prst="rect">
            <a:avLst/>
          </a:prstGeom>
          <a:solidFill>
            <a:srgbClr val="4B302A"/>
          </a:soli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sp>
        <p:nvSpPr>
          <p:cNvPr id="33" name="Rectangle 32">
            <a:extLst>
              <a:ext uri="{FF2B5EF4-FFF2-40B4-BE49-F238E27FC236}">
                <a16:creationId xmlns:a16="http://schemas.microsoft.com/office/drawing/2014/main" id="{97A77512-C96D-4B1D-861C-3369397D6121}"/>
              </a:ext>
            </a:extLst>
          </p:cNvPr>
          <p:cNvSpPr/>
          <p:nvPr userDrawn="1"/>
        </p:nvSpPr>
        <p:spPr>
          <a:xfrm flipH="1">
            <a:off x="7678346" y="2221532"/>
            <a:ext cx="4513654" cy="1951692"/>
          </a:xfrm>
          <a:prstGeom prst="rect">
            <a:avLst/>
          </a:prstGeom>
          <a:solidFill>
            <a:srgbClr val="4B302A"/>
          </a:soli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sp>
        <p:nvSpPr>
          <p:cNvPr id="34" name="TextBox 33">
            <a:extLst>
              <a:ext uri="{FF2B5EF4-FFF2-40B4-BE49-F238E27FC236}">
                <a16:creationId xmlns:a16="http://schemas.microsoft.com/office/drawing/2014/main" id="{88342F5D-5C3A-4D09-B74D-32BF20197BBC}"/>
              </a:ext>
            </a:extLst>
          </p:cNvPr>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
        <p:nvSpPr>
          <p:cNvPr id="41" name="Freeform 13">
            <a:extLst>
              <a:ext uri="{FF2B5EF4-FFF2-40B4-BE49-F238E27FC236}">
                <a16:creationId xmlns:a16="http://schemas.microsoft.com/office/drawing/2014/main" id="{7DBD9FF3-DB58-439A-9C3F-981DC0699B89}"/>
              </a:ext>
            </a:extLst>
          </p:cNvPr>
          <p:cNvSpPr>
            <a:spLocks/>
          </p:cNvSpPr>
          <p:nvPr userDrawn="1"/>
        </p:nvSpPr>
        <p:spPr bwMode="auto">
          <a:xfrm>
            <a:off x="2736224" y="-2949"/>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solidFill>
            <a:srgbClr val="4B302A"/>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Text Placeholder 2">
            <a:extLst>
              <a:ext uri="{FF2B5EF4-FFF2-40B4-BE49-F238E27FC236}">
                <a16:creationId xmlns:a16="http://schemas.microsoft.com/office/drawing/2014/main" id="{655B1926-C5B6-4865-B639-303A5A9FEE4F}"/>
              </a:ext>
            </a:extLst>
          </p:cNvPr>
          <p:cNvSpPr>
            <a:spLocks noGrp="1"/>
          </p:cNvSpPr>
          <p:nvPr>
            <p:ph type="body" sz="quarter" idx="17" hasCustomPrompt="1"/>
          </p:nvPr>
        </p:nvSpPr>
        <p:spPr>
          <a:xfrm>
            <a:off x="2763466" y="1743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5" name="Picture 34">
            <a:extLst>
              <a:ext uri="{FF2B5EF4-FFF2-40B4-BE49-F238E27FC236}">
                <a16:creationId xmlns:a16="http://schemas.microsoft.com/office/drawing/2014/main" id="{693477C7-FE49-4FB9-9AE0-0169DC1D0A63}"/>
              </a:ext>
            </a:extLst>
          </p:cNvPr>
          <p:cNvPicPr>
            <a:picLocks noChangeAspect="1"/>
          </p:cNvPicPr>
          <p:nvPr userDrawn="1"/>
        </p:nvPicPr>
        <p:blipFill>
          <a:blip r:embed="rId10" cstate="print">
            <a:extLst>
              <a:ext uri="{28A0092B-C50C-407E-A947-70E740481C1C}">
                <a14:useLocalDpi xmlns:a14="http://schemas.microsoft.com/office/drawing/2010/main" val="0"/>
              </a:ext>
            </a:extLst>
          </a:blip>
          <a:srcRect/>
          <a:stretch/>
        </p:blipFill>
        <p:spPr>
          <a:xfrm>
            <a:off x="9326880" y="58321"/>
            <a:ext cx="2801872" cy="1192189"/>
          </a:xfrm>
          <a:prstGeom prst="rect">
            <a:avLst/>
          </a:prstGeom>
        </p:spPr>
      </p:pic>
    </p:spTree>
    <p:extLst>
      <p:ext uri="{BB962C8B-B14F-4D97-AF65-F5344CB8AC3E}">
        <p14:creationId xmlns:p14="http://schemas.microsoft.com/office/powerpoint/2010/main" val="362747771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9">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pic>
        <p:nvPicPr>
          <p:cNvPr id="4" name="Picture 3"/>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spTree>
    <p:extLst>
      <p:ext uri="{BB962C8B-B14F-4D97-AF65-F5344CB8AC3E}">
        <p14:creationId xmlns:p14="http://schemas.microsoft.com/office/powerpoint/2010/main" val="295914008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#2302CS401 (OS)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Unit 4 – Memory Management</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0066"/>
            <a:ext cx="11929641" cy="5593943"/>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5" name="Date Placeholder 1">
            <a:extLst>
              <a:ext uri="{FF2B5EF4-FFF2-40B4-BE49-F238E27FC236}">
                <a16:creationId xmlns:a16="http://schemas.microsoft.com/office/drawing/2014/main" id="{FC99111E-4059-4A94-9A5E-CCA414D98D2C}"/>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Asha A. Gondaliya</a:t>
            </a:r>
          </a:p>
        </p:txBody>
      </p:sp>
      <p:pic>
        <p:nvPicPr>
          <p:cNvPr id="13" name="Picture 12"/>
          <p:cNvPicPr>
            <a:picLocks/>
          </p:cNvPicPr>
          <p:nvPr userDrawn="1"/>
        </p:nvPicPr>
        <p:blipFill>
          <a:blip r:embed="rId3">
            <a:extLst>
              <a:ext uri="{28A0092B-C50C-407E-A947-70E740481C1C}">
                <a14:useLocalDpi xmlns:a14="http://schemas.microsoft.com/office/drawing/2010/main" val="0"/>
              </a:ext>
            </a:extLst>
          </a:blip>
          <a:srcRect/>
          <a:stretch/>
        </p:blipFill>
        <p:spPr>
          <a:xfrm>
            <a:off x="10299702" y="883612"/>
            <a:ext cx="1761119" cy="538789"/>
          </a:xfrm>
          <a:prstGeom prst="rect">
            <a:avLst/>
          </a:prstGeom>
          <a:effectLst>
            <a:reflection endPos="0" dist="50800" dir="5400000" sy="-100000" algn="bl" rotWithShape="0"/>
          </a:effectLst>
        </p:spPr>
      </p:pic>
    </p:spTree>
    <p:extLst>
      <p:ext uri="{BB962C8B-B14F-4D97-AF65-F5344CB8AC3E}">
        <p14:creationId xmlns:p14="http://schemas.microsoft.com/office/powerpoint/2010/main" val="389234899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78" y="878583"/>
            <a:ext cx="11929641" cy="5649046"/>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5"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#2302CS401 (OS)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Unit 4 – Memory Management</a:t>
            </a:r>
          </a:p>
        </p:txBody>
      </p:sp>
      <p:sp>
        <p:nvSpPr>
          <p:cNvPr id="14" name="Date Placeholder 1">
            <a:extLst>
              <a:ext uri="{FF2B5EF4-FFF2-40B4-BE49-F238E27FC236}">
                <a16:creationId xmlns:a16="http://schemas.microsoft.com/office/drawing/2014/main" id="{FC99111E-4059-4A94-9A5E-CCA414D98D2C}"/>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Asha A. Gondaliya</a:t>
            </a:r>
          </a:p>
        </p:txBody>
      </p:sp>
      <p:pic>
        <p:nvPicPr>
          <p:cNvPr id="13" name="Picture 12"/>
          <p:cNvPicPr>
            <a:picLocks/>
          </p:cNvPicPr>
          <p:nvPr userDrawn="1"/>
        </p:nvPicPr>
        <p:blipFill>
          <a:blip r:embed="rId3">
            <a:extLst>
              <a:ext uri="{28A0092B-C50C-407E-A947-70E740481C1C}">
                <a14:useLocalDpi xmlns:a14="http://schemas.microsoft.com/office/drawing/2010/main" val="0"/>
              </a:ext>
            </a:extLst>
          </a:blip>
          <a:srcRect/>
          <a:stretch/>
        </p:blipFill>
        <p:spPr>
          <a:xfrm>
            <a:off x="10299700" y="5989403"/>
            <a:ext cx="1761119" cy="538789"/>
          </a:xfrm>
          <a:prstGeom prst="rect">
            <a:avLst/>
          </a:prstGeom>
          <a:effectLst>
            <a:reflection endPos="0" dist="50800" dir="5400000" sy="-100000" algn="bl" rotWithShape="0"/>
          </a:effectLst>
        </p:spPr>
      </p:pic>
    </p:spTree>
    <p:extLst>
      <p:ext uri="{BB962C8B-B14F-4D97-AF65-F5344CB8AC3E}">
        <p14:creationId xmlns:p14="http://schemas.microsoft.com/office/powerpoint/2010/main" val="347413873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#2302CS401 (OS)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Unit 4 – Memory Management</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5"/>
            <a:ext cx="11929641" cy="5656790"/>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Date Placeholder 1">
            <a:extLst>
              <a:ext uri="{FF2B5EF4-FFF2-40B4-BE49-F238E27FC236}">
                <a16:creationId xmlns:a16="http://schemas.microsoft.com/office/drawing/2014/main" id="{FC99111E-4059-4A94-9A5E-CCA414D98D2C}"/>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Asha A. Gondaliya</a:t>
            </a:r>
          </a:p>
        </p:txBody>
      </p:sp>
      <p:pic>
        <p:nvPicPr>
          <p:cNvPr id="13" name="Picture 12"/>
          <p:cNvPicPr>
            <a:picLocks/>
          </p:cNvPicPr>
          <p:nvPr userDrawn="1"/>
        </p:nvPicPr>
        <p:blipFill>
          <a:blip r:embed="rId3">
            <a:extLst>
              <a:ext uri="{28A0092B-C50C-407E-A947-70E740481C1C}">
                <a14:useLocalDpi xmlns:a14="http://schemas.microsoft.com/office/drawing/2010/main" val="0"/>
              </a:ext>
            </a:extLst>
          </a:blip>
          <a:srcRect/>
          <a:stretch/>
        </p:blipFill>
        <p:spPr>
          <a:xfrm>
            <a:off x="131180" y="5981446"/>
            <a:ext cx="1761119" cy="538789"/>
          </a:xfrm>
          <a:prstGeom prst="rect">
            <a:avLst/>
          </a:prstGeom>
          <a:effectLst>
            <a:reflection endPos="0" dist="50800" dir="5400000" sy="-100000" algn="bl" rotWithShape="0"/>
          </a:effectLst>
        </p:spPr>
      </p:pic>
    </p:spTree>
    <p:extLst>
      <p:ext uri="{BB962C8B-B14F-4D97-AF65-F5344CB8AC3E}">
        <p14:creationId xmlns:p14="http://schemas.microsoft.com/office/powerpoint/2010/main" val="300745563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solidFill>
                  <a:srgbClr val="624238"/>
                </a:soli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8" name="Freeform 17">
            <a:extLst>
              <a:ext uri="{FF2B5EF4-FFF2-40B4-BE49-F238E27FC236}">
                <a16:creationId xmlns:a16="http://schemas.microsoft.com/office/drawing/2014/main"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9"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4" name="Picture 3">
            <a:extLst>
              <a:ext uri="{FF2B5EF4-FFF2-40B4-BE49-F238E27FC236}">
                <a16:creationId xmlns:a16="http://schemas.microsoft.com/office/drawing/2014/main" id="{60FDF48D-CF99-13D3-AE8C-A06F373547FE}"/>
              </a:ext>
            </a:extLst>
          </p:cNvPr>
          <p:cNvPicPr>
            <a:picLocks/>
          </p:cNvPicPr>
          <p:nvPr userDrawn="1"/>
        </p:nvPicPr>
        <p:blipFill>
          <a:blip r:embed="rId5" cstate="print">
            <a:extLst>
              <a:ext uri="{28A0092B-C50C-407E-A947-70E740481C1C}">
                <a14:useLocalDpi xmlns:a14="http://schemas.microsoft.com/office/drawing/2010/main" val="0"/>
              </a:ext>
            </a:extLst>
          </a:blip>
          <a:srcRect/>
          <a:stretch/>
        </p:blipFill>
        <p:spPr>
          <a:xfrm>
            <a:off x="10430881" y="6037501"/>
            <a:ext cx="1761119" cy="820499"/>
          </a:xfrm>
          <a:prstGeom prst="rect">
            <a:avLst/>
          </a:prstGeom>
          <a:effectLst>
            <a:reflection endPos="0" dist="50800" dir="5400000" sy="-100000" algn="bl" rotWithShape="0"/>
          </a:effectLst>
        </p:spPr>
      </p:pic>
    </p:spTree>
    <p:extLst>
      <p:ext uri="{BB962C8B-B14F-4D97-AF65-F5344CB8AC3E}">
        <p14:creationId xmlns:p14="http://schemas.microsoft.com/office/powerpoint/2010/main" val="156491936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14" name="Picture 13"/>
          <p:cNvPicPr>
            <a:picLocks/>
          </p:cNvPicPr>
          <p:nvPr userDrawn="1"/>
        </p:nvPicPr>
        <p:blipFill>
          <a:blip r:embed="rId2" cstate="print">
            <a:extLst>
              <a:ext uri="{28A0092B-C50C-407E-A947-70E740481C1C}">
                <a14:useLocalDpi xmlns:a14="http://schemas.microsoft.com/office/drawing/2010/main" val="0"/>
              </a:ext>
            </a:extLst>
          </a:blip>
          <a:stretch>
            <a:fillRect/>
          </a:stretch>
        </p:blipFill>
        <p:spPr>
          <a:xfrm>
            <a:off x="9565916" y="68080"/>
            <a:ext cx="2551177" cy="676656"/>
          </a:xfrm>
          <a:prstGeom prst="rect">
            <a:avLst/>
          </a:prstGeom>
        </p:spPr>
      </p:pic>
      <p:sp>
        <p:nvSpPr>
          <p:cNvPr id="9" name="Date Placeholder 1">
            <a:extLst>
              <a:ext uri="{FF2B5EF4-FFF2-40B4-BE49-F238E27FC236}">
                <a16:creationId xmlns:a16="http://schemas.microsoft.com/office/drawing/2014/main" id="{FC99111E-4059-4A94-9A5E-CCA414D98D2C}"/>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Asha A. Gondaliya</a:t>
            </a:r>
          </a:p>
        </p:txBody>
      </p:sp>
      <p:sp>
        <p:nvSpPr>
          <p:cNvPr id="10"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#2302CS401 (OS)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Unit 4 – Memory Management</a:t>
            </a:r>
          </a:p>
        </p:txBody>
      </p:sp>
    </p:spTree>
    <p:extLst>
      <p:ext uri="{BB962C8B-B14F-4D97-AF65-F5344CB8AC3E}">
        <p14:creationId xmlns:p14="http://schemas.microsoft.com/office/powerpoint/2010/main" val="256759130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16" name="Picture 15"/>
          <p:cNvPicPr>
            <a:picLocks/>
          </p:cNvPicPr>
          <p:nvPr userDrawn="1"/>
        </p:nvPicPr>
        <p:blipFill>
          <a:blip r:embed="rId2" cstate="print">
            <a:extLst>
              <a:ext uri="{28A0092B-C50C-407E-A947-70E740481C1C}">
                <a14:useLocalDpi xmlns:a14="http://schemas.microsoft.com/office/drawing/2010/main" val="0"/>
              </a:ext>
            </a:extLst>
          </a:blip>
          <a:stretch>
            <a:fillRect/>
          </a:stretch>
        </p:blipFill>
        <p:spPr>
          <a:xfrm>
            <a:off x="9608120" y="5906175"/>
            <a:ext cx="2551177" cy="676656"/>
          </a:xfrm>
          <a:prstGeom prst="rect">
            <a:avLst/>
          </a:prstGeom>
        </p:spPr>
      </p:pic>
      <p:sp>
        <p:nvSpPr>
          <p:cNvPr id="9" name="Date Placeholder 1">
            <a:extLst>
              <a:ext uri="{FF2B5EF4-FFF2-40B4-BE49-F238E27FC236}">
                <a16:creationId xmlns:a16="http://schemas.microsoft.com/office/drawing/2014/main" id="{FC99111E-4059-4A94-9A5E-CCA414D98D2C}"/>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Asha A. Gondaliya</a:t>
            </a:r>
          </a:p>
        </p:txBody>
      </p:sp>
      <p:sp>
        <p:nvSpPr>
          <p:cNvPr id="10"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#2302CS401 (OS)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Unit 4 – Memory Management</a:t>
            </a:r>
          </a:p>
        </p:txBody>
      </p:sp>
    </p:spTree>
    <p:extLst>
      <p:ext uri="{BB962C8B-B14F-4D97-AF65-F5344CB8AC3E}">
        <p14:creationId xmlns:p14="http://schemas.microsoft.com/office/powerpoint/2010/main" val="397708562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16" name="Picture 15"/>
          <p:cNvPicPr>
            <a:picLocks/>
          </p:cNvPicPr>
          <p:nvPr userDrawn="1"/>
        </p:nvPicPr>
        <p:blipFill>
          <a:blip r:embed="rId2" cstate="print">
            <a:extLst>
              <a:ext uri="{28A0092B-C50C-407E-A947-70E740481C1C}">
                <a14:useLocalDpi xmlns:a14="http://schemas.microsoft.com/office/drawing/2010/main" val="0"/>
              </a:ext>
            </a:extLst>
          </a:blip>
          <a:stretch>
            <a:fillRect/>
          </a:stretch>
        </p:blipFill>
        <p:spPr>
          <a:xfrm>
            <a:off x="0" y="5843578"/>
            <a:ext cx="2551177" cy="759295"/>
          </a:xfrm>
          <a:prstGeom prst="rect">
            <a:avLst/>
          </a:prstGeom>
        </p:spPr>
      </p:pic>
      <p:sp>
        <p:nvSpPr>
          <p:cNvPr id="9"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#2302CS401 (OS)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Unit 4 – Memory Management</a:t>
            </a:r>
          </a:p>
        </p:txBody>
      </p:sp>
      <p:sp>
        <p:nvSpPr>
          <p:cNvPr id="10" name="Date Placeholder 1">
            <a:extLst>
              <a:ext uri="{FF2B5EF4-FFF2-40B4-BE49-F238E27FC236}">
                <a16:creationId xmlns:a16="http://schemas.microsoft.com/office/drawing/2014/main" id="{FC99111E-4059-4A94-9A5E-CCA414D98D2C}"/>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Asha A. Gondaliya</a:t>
            </a:r>
          </a:p>
        </p:txBody>
      </p:sp>
    </p:spTree>
    <p:extLst>
      <p:ext uri="{BB962C8B-B14F-4D97-AF65-F5344CB8AC3E}">
        <p14:creationId xmlns:p14="http://schemas.microsoft.com/office/powerpoint/2010/main" val="195161740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827543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dirty="0"/>
          </a:p>
        </p:txBody>
      </p:sp>
    </p:spTree>
    <p:extLst>
      <p:ext uri="{BB962C8B-B14F-4D97-AF65-F5344CB8AC3E}">
        <p14:creationId xmlns:p14="http://schemas.microsoft.com/office/powerpoint/2010/main" val="99868488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0" name="Picture 29"/>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1" name="Straight Connector 30">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903155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21" name="Picture 2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1" name="Straight Connector 30">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245239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652961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475284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880676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endParaRPr lang="en-US" dirty="0">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052358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endParaRPr lang="en-US" dirty="0">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688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solidFill>
            <a:srgbClr val="6E4D40"/>
          </a:soli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576608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endParaRPr lang="en-US" dirty="0">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496047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endParaRPr lang="en-US" dirty="0">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3334562"/>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endParaRPr lang="en-US" dirty="0">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9"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4" name="Picture 33"/>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5" name="Straight Connector 34">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130180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endParaRPr lang="en-US" dirty="0">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8965167"/>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9">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pic>
        <p:nvPicPr>
          <p:cNvPr id="4" name="Picture 3"/>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spTree>
    <p:extLst>
      <p:ext uri="{BB962C8B-B14F-4D97-AF65-F5344CB8AC3E}">
        <p14:creationId xmlns:p14="http://schemas.microsoft.com/office/powerpoint/2010/main" val="4151381227"/>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#2302CS401 (OS)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Unit 4 – Memory Management</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0066"/>
            <a:ext cx="11929641" cy="5593943"/>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Date Placeholder 1">
            <a:extLst>
              <a:ext uri="{FF2B5EF4-FFF2-40B4-BE49-F238E27FC236}">
                <a16:creationId xmlns:a16="http://schemas.microsoft.com/office/drawing/2014/main" id="{FC99111E-4059-4A94-9A5E-CCA414D98D2C}"/>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Asha A. Gondaliya</a:t>
            </a:r>
          </a:p>
        </p:txBody>
      </p:sp>
      <p:pic>
        <p:nvPicPr>
          <p:cNvPr id="13" name="Picture 12"/>
          <p:cNvPicPr>
            <a:picLocks/>
          </p:cNvPicPr>
          <p:nvPr userDrawn="1"/>
        </p:nvPicPr>
        <p:blipFill>
          <a:blip r:embed="rId3">
            <a:extLst>
              <a:ext uri="{28A0092B-C50C-407E-A947-70E740481C1C}">
                <a14:useLocalDpi xmlns:a14="http://schemas.microsoft.com/office/drawing/2010/main" val="0"/>
              </a:ext>
            </a:extLst>
          </a:blip>
          <a:srcRect/>
          <a:stretch/>
        </p:blipFill>
        <p:spPr>
          <a:xfrm>
            <a:off x="10299702" y="883612"/>
            <a:ext cx="1761119" cy="538789"/>
          </a:xfrm>
          <a:prstGeom prst="rect">
            <a:avLst/>
          </a:prstGeom>
          <a:effectLst>
            <a:reflection endPos="0" dist="50800" dir="5400000" sy="-100000" algn="bl" rotWithShape="0"/>
          </a:effectLst>
        </p:spPr>
      </p:pic>
    </p:spTree>
    <p:extLst>
      <p:ext uri="{BB962C8B-B14F-4D97-AF65-F5344CB8AC3E}">
        <p14:creationId xmlns:p14="http://schemas.microsoft.com/office/powerpoint/2010/main" val="3854511716"/>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78" y="878583"/>
            <a:ext cx="11929641" cy="5649046"/>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5"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#2302CS401 (OS)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Unit 4 – Memory Management</a:t>
            </a:r>
          </a:p>
        </p:txBody>
      </p:sp>
      <p:sp>
        <p:nvSpPr>
          <p:cNvPr id="14" name="Date Placeholder 1">
            <a:extLst>
              <a:ext uri="{FF2B5EF4-FFF2-40B4-BE49-F238E27FC236}">
                <a16:creationId xmlns:a16="http://schemas.microsoft.com/office/drawing/2014/main" id="{FC99111E-4059-4A94-9A5E-CCA414D98D2C}"/>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Asha A. Gondaliya</a:t>
            </a:r>
          </a:p>
        </p:txBody>
      </p:sp>
      <p:pic>
        <p:nvPicPr>
          <p:cNvPr id="13" name="Picture 12"/>
          <p:cNvPicPr>
            <a:picLocks/>
          </p:cNvPicPr>
          <p:nvPr userDrawn="1"/>
        </p:nvPicPr>
        <p:blipFill>
          <a:blip r:embed="rId3">
            <a:extLst>
              <a:ext uri="{28A0092B-C50C-407E-A947-70E740481C1C}">
                <a14:useLocalDpi xmlns:a14="http://schemas.microsoft.com/office/drawing/2010/main" val="0"/>
              </a:ext>
            </a:extLst>
          </a:blip>
          <a:srcRect/>
          <a:stretch/>
        </p:blipFill>
        <p:spPr>
          <a:xfrm>
            <a:off x="10299700" y="6027025"/>
            <a:ext cx="1761119" cy="538789"/>
          </a:xfrm>
          <a:prstGeom prst="rect">
            <a:avLst/>
          </a:prstGeom>
          <a:effectLst>
            <a:reflection endPos="0" dist="50800" dir="5400000" sy="-100000" algn="bl" rotWithShape="0"/>
          </a:effectLst>
        </p:spPr>
      </p:pic>
    </p:spTree>
    <p:extLst>
      <p:ext uri="{BB962C8B-B14F-4D97-AF65-F5344CB8AC3E}">
        <p14:creationId xmlns:p14="http://schemas.microsoft.com/office/powerpoint/2010/main" val="302675845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#2302CS401 (OS)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Unit 4 – Memory Management</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5"/>
            <a:ext cx="11929641" cy="5656790"/>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Date Placeholder 1">
            <a:extLst>
              <a:ext uri="{FF2B5EF4-FFF2-40B4-BE49-F238E27FC236}">
                <a16:creationId xmlns:a16="http://schemas.microsoft.com/office/drawing/2014/main" id="{FC99111E-4059-4A94-9A5E-CCA414D98D2C}"/>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Asha A. Gondaliya</a:t>
            </a:r>
          </a:p>
        </p:txBody>
      </p:sp>
      <p:pic>
        <p:nvPicPr>
          <p:cNvPr id="13" name="Picture 12"/>
          <p:cNvPicPr>
            <a:picLocks/>
          </p:cNvPicPr>
          <p:nvPr userDrawn="1"/>
        </p:nvPicPr>
        <p:blipFill>
          <a:blip r:embed="rId3">
            <a:extLst>
              <a:ext uri="{28A0092B-C50C-407E-A947-70E740481C1C}">
                <a14:useLocalDpi xmlns:a14="http://schemas.microsoft.com/office/drawing/2010/main" val="0"/>
              </a:ext>
            </a:extLst>
          </a:blip>
          <a:srcRect/>
          <a:stretch/>
        </p:blipFill>
        <p:spPr>
          <a:xfrm>
            <a:off x="131180" y="5923943"/>
            <a:ext cx="1761119" cy="538789"/>
          </a:xfrm>
          <a:prstGeom prst="rect">
            <a:avLst/>
          </a:prstGeom>
          <a:effectLst>
            <a:reflection endPos="0" dist="50800" dir="5400000" sy="-100000" algn="bl" rotWithShape="0"/>
          </a:effectLst>
        </p:spPr>
      </p:pic>
    </p:spTree>
    <p:extLst>
      <p:ext uri="{BB962C8B-B14F-4D97-AF65-F5344CB8AC3E}">
        <p14:creationId xmlns:p14="http://schemas.microsoft.com/office/powerpoint/2010/main" val="3250153562"/>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solidFill>
                  <a:srgbClr val="624238"/>
                </a:soli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8" name="Freeform 17">
            <a:extLst>
              <a:ext uri="{FF2B5EF4-FFF2-40B4-BE49-F238E27FC236}">
                <a16:creationId xmlns:a16="http://schemas.microsoft.com/office/drawing/2014/main"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9"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4" name="Picture 3">
            <a:extLst>
              <a:ext uri="{FF2B5EF4-FFF2-40B4-BE49-F238E27FC236}">
                <a16:creationId xmlns:a16="http://schemas.microsoft.com/office/drawing/2014/main" id="{60FDF48D-CF99-13D3-AE8C-A06F373547FE}"/>
              </a:ext>
            </a:extLst>
          </p:cNvPr>
          <p:cNvPicPr>
            <a:picLocks/>
          </p:cNvPicPr>
          <p:nvPr userDrawn="1"/>
        </p:nvPicPr>
        <p:blipFill>
          <a:blip r:embed="rId5" cstate="print">
            <a:extLst>
              <a:ext uri="{28A0092B-C50C-407E-A947-70E740481C1C}">
                <a14:useLocalDpi xmlns:a14="http://schemas.microsoft.com/office/drawing/2010/main" val="0"/>
              </a:ext>
            </a:extLst>
          </a:blip>
          <a:srcRect/>
          <a:stretch/>
        </p:blipFill>
        <p:spPr>
          <a:xfrm>
            <a:off x="10430881" y="6037501"/>
            <a:ext cx="1761119" cy="820499"/>
          </a:xfrm>
          <a:prstGeom prst="rect">
            <a:avLst/>
          </a:prstGeom>
          <a:effectLst>
            <a:reflection endPos="0" dist="50800" dir="5400000" sy="-100000" algn="bl" rotWithShape="0"/>
          </a:effectLst>
        </p:spPr>
      </p:pic>
    </p:spTree>
    <p:extLst>
      <p:ext uri="{BB962C8B-B14F-4D97-AF65-F5344CB8AC3E}">
        <p14:creationId xmlns:p14="http://schemas.microsoft.com/office/powerpoint/2010/main" val="471972924"/>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14" name="Picture 13"/>
          <p:cNvPicPr>
            <a:picLocks/>
          </p:cNvPicPr>
          <p:nvPr userDrawn="1"/>
        </p:nvPicPr>
        <p:blipFill>
          <a:blip r:embed="rId2" cstate="print">
            <a:extLst>
              <a:ext uri="{28A0092B-C50C-407E-A947-70E740481C1C}">
                <a14:useLocalDpi xmlns:a14="http://schemas.microsoft.com/office/drawing/2010/main" val="0"/>
              </a:ext>
            </a:extLst>
          </a:blip>
          <a:stretch>
            <a:fillRect/>
          </a:stretch>
        </p:blipFill>
        <p:spPr>
          <a:xfrm>
            <a:off x="9565916" y="68080"/>
            <a:ext cx="2551177" cy="676656"/>
          </a:xfrm>
          <a:prstGeom prst="rect">
            <a:avLst/>
          </a:prstGeom>
        </p:spPr>
      </p:pic>
      <p:sp>
        <p:nvSpPr>
          <p:cNvPr id="10" name="Date Placeholder 1">
            <a:extLst>
              <a:ext uri="{FF2B5EF4-FFF2-40B4-BE49-F238E27FC236}">
                <a16:creationId xmlns:a16="http://schemas.microsoft.com/office/drawing/2014/main" id="{FC99111E-4059-4A94-9A5E-CCA414D98D2C}"/>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Asha A. Gondaliya</a:t>
            </a:r>
          </a:p>
        </p:txBody>
      </p:sp>
      <p:sp>
        <p:nvSpPr>
          <p:cNvPr id="1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#2302CS401 (OS)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Unit 4 – Memory Management</a:t>
            </a:r>
          </a:p>
        </p:txBody>
      </p:sp>
    </p:spTree>
    <p:extLst>
      <p:ext uri="{BB962C8B-B14F-4D97-AF65-F5344CB8AC3E}">
        <p14:creationId xmlns:p14="http://schemas.microsoft.com/office/powerpoint/2010/main" val="345209431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16" name="Picture 15"/>
          <p:cNvPicPr>
            <a:picLocks/>
          </p:cNvPicPr>
          <p:nvPr userDrawn="1"/>
        </p:nvPicPr>
        <p:blipFill>
          <a:blip r:embed="rId2" cstate="print">
            <a:extLst>
              <a:ext uri="{28A0092B-C50C-407E-A947-70E740481C1C}">
                <a14:useLocalDpi xmlns:a14="http://schemas.microsoft.com/office/drawing/2010/main" val="0"/>
              </a:ext>
            </a:extLst>
          </a:blip>
          <a:stretch>
            <a:fillRect/>
          </a:stretch>
        </p:blipFill>
        <p:spPr>
          <a:xfrm>
            <a:off x="9608120" y="5906175"/>
            <a:ext cx="2551177" cy="676656"/>
          </a:xfrm>
          <a:prstGeom prst="rect">
            <a:avLst/>
          </a:prstGeom>
        </p:spPr>
      </p:pic>
      <p:sp>
        <p:nvSpPr>
          <p:cNvPr id="9" name="Date Placeholder 1">
            <a:extLst>
              <a:ext uri="{FF2B5EF4-FFF2-40B4-BE49-F238E27FC236}">
                <a16:creationId xmlns:a16="http://schemas.microsoft.com/office/drawing/2014/main" id="{FC99111E-4059-4A94-9A5E-CCA414D98D2C}"/>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Asha A. Gondaliya</a:t>
            </a:r>
          </a:p>
        </p:txBody>
      </p:sp>
      <p:sp>
        <p:nvSpPr>
          <p:cNvPr id="10"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#2302CS401 (OS)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Unit 4 – Memory Management</a:t>
            </a:r>
          </a:p>
        </p:txBody>
      </p:sp>
    </p:spTree>
    <p:extLst>
      <p:ext uri="{BB962C8B-B14F-4D97-AF65-F5344CB8AC3E}">
        <p14:creationId xmlns:p14="http://schemas.microsoft.com/office/powerpoint/2010/main" val="2499138175"/>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16" name="Picture 15"/>
          <p:cNvPicPr>
            <a:picLocks/>
          </p:cNvPicPr>
          <p:nvPr userDrawn="1"/>
        </p:nvPicPr>
        <p:blipFill>
          <a:blip r:embed="rId2" cstate="print">
            <a:extLst>
              <a:ext uri="{28A0092B-C50C-407E-A947-70E740481C1C}">
                <a14:useLocalDpi xmlns:a14="http://schemas.microsoft.com/office/drawing/2010/main" val="0"/>
              </a:ext>
            </a:extLst>
          </a:blip>
          <a:stretch>
            <a:fillRect/>
          </a:stretch>
        </p:blipFill>
        <p:spPr>
          <a:xfrm>
            <a:off x="0" y="5843578"/>
            <a:ext cx="2551177" cy="759295"/>
          </a:xfrm>
          <a:prstGeom prst="rect">
            <a:avLst/>
          </a:prstGeom>
        </p:spPr>
      </p:pic>
      <p:sp>
        <p:nvSpPr>
          <p:cNvPr id="9" name="Date Placeholder 1">
            <a:extLst>
              <a:ext uri="{FF2B5EF4-FFF2-40B4-BE49-F238E27FC236}">
                <a16:creationId xmlns:a16="http://schemas.microsoft.com/office/drawing/2014/main" id="{FC99111E-4059-4A94-9A5E-CCA414D98D2C}"/>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Asha A. Gondaliya</a:t>
            </a:r>
          </a:p>
        </p:txBody>
      </p:sp>
      <p:sp>
        <p:nvSpPr>
          <p:cNvPr id="10"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#2302CS401 (OS)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Unit 4 – Memory Management</a:t>
            </a:r>
          </a:p>
        </p:txBody>
      </p:sp>
    </p:spTree>
    <p:extLst>
      <p:ext uri="{BB962C8B-B14F-4D97-AF65-F5344CB8AC3E}">
        <p14:creationId xmlns:p14="http://schemas.microsoft.com/office/powerpoint/2010/main" val="3038763942"/>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602760301"/>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dirty="0"/>
          </a:p>
        </p:txBody>
      </p:sp>
    </p:spTree>
    <p:extLst>
      <p:ext uri="{BB962C8B-B14F-4D97-AF65-F5344CB8AC3E}">
        <p14:creationId xmlns:p14="http://schemas.microsoft.com/office/powerpoint/2010/main" val="3585056176"/>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0" name="Picture 29"/>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1" name="Straight Connector 30">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7394825"/>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21" name="Picture 2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1" name="Straight Connector 30">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2040848"/>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1449585"/>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9099765"/>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4971762"/>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endParaRPr lang="en-US" dirty="0">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6022986"/>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endParaRPr lang="en-US" dirty="0">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688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solidFill>
            <a:srgbClr val="6E4D40"/>
          </a:soli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1534977"/>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endParaRPr lang="en-US" dirty="0">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5824674"/>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endParaRPr lang="en-US" dirty="0">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1691501"/>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endParaRPr lang="en-US" dirty="0">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9"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4" name="Picture 33"/>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5" name="Straight Connector 34">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6012002"/>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endParaRPr lang="en-US" dirty="0">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6163170"/>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userDrawn="1">
  <p:cSld name="1_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solidFill>
                  <a:srgbClr val="212121"/>
                </a:solidFill>
              </a:rPr>
              <a:t>Darshan Institute of Engineering &amp; Technology for Diploma Studies, Rajkot</a:t>
            </a: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solidFill>
            <a:srgbClr val="4B302A"/>
          </a:soli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endParaRPr lang="en-US" dirty="0"/>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8">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
        <p:nvSpPr>
          <p:cNvPr id="30" name="Hexagon 29">
            <a:extLst>
              <a:ext uri="{FF2B5EF4-FFF2-40B4-BE49-F238E27FC236}">
                <a16:creationId xmlns:a16="http://schemas.microsoft.com/office/drawing/2014/main" id="{1BB32699-4C62-4BBF-9A17-90008E297198}"/>
              </a:ext>
            </a:extLst>
          </p:cNvPr>
          <p:cNvSpPr/>
          <p:nvPr userDrawn="1"/>
        </p:nvSpPr>
        <p:spPr>
          <a:xfrm rot="5400000">
            <a:off x="4309292" y="1717040"/>
            <a:ext cx="3461658" cy="2984188"/>
          </a:xfrm>
          <a:prstGeom prst="hexagon">
            <a:avLst/>
          </a:prstGeom>
          <a:solidFill>
            <a:schemeClr val="bg1">
              <a:lumMod val="95000"/>
            </a:schemeClr>
          </a:solidFill>
          <a:ln w="57150">
            <a:solidFill>
              <a:srgbClr val="4B302A"/>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solidFill>
                <a:srgbClr val="212121"/>
              </a:solidFill>
            </a:endParaRPr>
          </a:p>
        </p:txBody>
      </p:sp>
      <p:sp>
        <p:nvSpPr>
          <p:cNvPr id="31" name="Rectangle 30">
            <a:extLst>
              <a:ext uri="{FF2B5EF4-FFF2-40B4-BE49-F238E27FC236}">
                <a16:creationId xmlns:a16="http://schemas.microsoft.com/office/drawing/2014/main" id="{02C58FA9-71EA-487D-8A75-915EC6877722}"/>
              </a:ext>
            </a:extLst>
          </p:cNvPr>
          <p:cNvSpPr/>
          <p:nvPr userDrawn="1"/>
        </p:nvSpPr>
        <p:spPr>
          <a:xfrm>
            <a:off x="0" y="2221532"/>
            <a:ext cx="4402106" cy="1951692"/>
          </a:xfrm>
          <a:prstGeom prst="rect">
            <a:avLst/>
          </a:prstGeom>
          <a:solidFill>
            <a:srgbClr val="4B302A"/>
          </a:soli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33" name="Rectangle 32">
            <a:extLst>
              <a:ext uri="{FF2B5EF4-FFF2-40B4-BE49-F238E27FC236}">
                <a16:creationId xmlns:a16="http://schemas.microsoft.com/office/drawing/2014/main" id="{97A77512-C96D-4B1D-861C-3369397D6121}"/>
              </a:ext>
            </a:extLst>
          </p:cNvPr>
          <p:cNvSpPr/>
          <p:nvPr userDrawn="1"/>
        </p:nvSpPr>
        <p:spPr>
          <a:xfrm flipH="1">
            <a:off x="7678346" y="2221532"/>
            <a:ext cx="4513654" cy="1951692"/>
          </a:xfrm>
          <a:prstGeom prst="rect">
            <a:avLst/>
          </a:prstGeom>
          <a:solidFill>
            <a:srgbClr val="4B302A"/>
          </a:soli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34" name="TextBox 33">
            <a:extLst>
              <a:ext uri="{FF2B5EF4-FFF2-40B4-BE49-F238E27FC236}">
                <a16:creationId xmlns:a16="http://schemas.microsoft.com/office/drawing/2014/main" id="{88342F5D-5C3A-4D09-B74D-32BF20197BBC}"/>
              </a:ext>
            </a:extLst>
          </p:cNvPr>
          <p:cNvSpPr txBox="1"/>
          <p:nvPr userDrawn="1"/>
        </p:nvSpPr>
        <p:spPr>
          <a:xfrm>
            <a:off x="5014038" y="2239638"/>
            <a:ext cx="2052165" cy="1938992"/>
          </a:xfrm>
          <a:prstGeom prst="rect">
            <a:avLst/>
          </a:prstGeom>
          <a:noFill/>
        </p:spPr>
        <p:txBody>
          <a:bodyPr wrap="none" rtlCol="0">
            <a:spAutoFit/>
          </a:bodyPr>
          <a:lstStyle/>
          <a:p>
            <a:pPr algn="ctr"/>
            <a:r>
              <a:rPr lang="en-US" sz="6000" b="1" i="1" dirty="0">
                <a:solidFill>
                  <a:srgbClr val="212121"/>
                </a:solidFill>
              </a:rPr>
              <a:t>Thank</a:t>
            </a:r>
          </a:p>
          <a:p>
            <a:pPr algn="ctr"/>
            <a:r>
              <a:rPr lang="en-US" sz="6000" b="1" i="1" dirty="0">
                <a:solidFill>
                  <a:srgbClr val="212121"/>
                </a:solidFill>
              </a:rPr>
              <a:t>You</a:t>
            </a:r>
          </a:p>
        </p:txBody>
      </p:sp>
      <p:sp>
        <p:nvSpPr>
          <p:cNvPr id="41" name="Freeform 13">
            <a:extLst>
              <a:ext uri="{FF2B5EF4-FFF2-40B4-BE49-F238E27FC236}">
                <a16:creationId xmlns:a16="http://schemas.microsoft.com/office/drawing/2014/main" id="{7DBD9FF3-DB58-439A-9C3F-981DC0699B89}"/>
              </a:ext>
            </a:extLst>
          </p:cNvPr>
          <p:cNvSpPr>
            <a:spLocks/>
          </p:cNvSpPr>
          <p:nvPr userDrawn="1"/>
        </p:nvSpPr>
        <p:spPr bwMode="auto">
          <a:xfrm>
            <a:off x="2736224" y="-2949"/>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solidFill>
            <a:srgbClr val="4B302A"/>
          </a:soli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42" name="Text Placeholder 2">
            <a:extLst>
              <a:ext uri="{FF2B5EF4-FFF2-40B4-BE49-F238E27FC236}">
                <a16:creationId xmlns:a16="http://schemas.microsoft.com/office/drawing/2014/main" id="{655B1926-C5B6-4865-B639-303A5A9FEE4F}"/>
              </a:ext>
            </a:extLst>
          </p:cNvPr>
          <p:cNvSpPr>
            <a:spLocks noGrp="1"/>
          </p:cNvSpPr>
          <p:nvPr>
            <p:ph type="body" sz="quarter" idx="17" hasCustomPrompt="1"/>
          </p:nvPr>
        </p:nvSpPr>
        <p:spPr>
          <a:xfrm>
            <a:off x="2763466" y="1743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 name="Picture 1">
            <a:extLst>
              <a:ext uri="{FF2B5EF4-FFF2-40B4-BE49-F238E27FC236}">
                <a16:creationId xmlns:a16="http://schemas.microsoft.com/office/drawing/2014/main" id="{35E07E8F-D25F-EC6C-F9A8-5D9721EBD349}"/>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10099126" y="191979"/>
            <a:ext cx="2091771" cy="945147"/>
          </a:xfrm>
          <a:prstGeom prst="rect">
            <a:avLst/>
          </a:prstGeom>
        </p:spPr>
      </p:pic>
    </p:spTree>
    <p:extLst>
      <p:ext uri="{BB962C8B-B14F-4D97-AF65-F5344CB8AC3E}">
        <p14:creationId xmlns:p14="http://schemas.microsoft.com/office/powerpoint/2010/main" val="3912912994"/>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5772734" cy="338554"/>
          </a:xfrm>
          <a:prstGeom prst="rect">
            <a:avLst/>
          </a:prstGeom>
          <a:noFill/>
        </p:spPr>
        <p:txBody>
          <a:bodyPr wrap="none" rtlCol="0">
            <a:spAutoFit/>
          </a:bodyPr>
          <a:lstStyle/>
          <a:p>
            <a:r>
              <a:rPr lang="en-US" sz="1600" dirty="0">
                <a:solidFill>
                  <a:srgbClr val="212121"/>
                </a:solidFill>
              </a:rPr>
              <a:t>Darshan Institute of Computer Application, Darshan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nidhi.chitroda@darshan.ac.in</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9662524570</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r>
              <a:rPr lang="en-US" dirty="0"/>
              <a:t>Master of Computer Application</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Prof. Nidhi K Chitroda</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pic>
        <p:nvPicPr>
          <p:cNvPr id="30" name="Picture 29">
            <a:extLst>
              <a:ext uri="{FF2B5EF4-FFF2-40B4-BE49-F238E27FC236}">
                <a16:creationId xmlns:a16="http://schemas.microsoft.com/office/drawing/2014/main" id="{E75253BA-841C-4898-BAAF-3A16D7F9433E}"/>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pic>
        <p:nvPicPr>
          <p:cNvPr id="5" name="Picture 4">
            <a:extLst>
              <a:ext uri="{FF2B5EF4-FFF2-40B4-BE49-F238E27FC236}">
                <a16:creationId xmlns:a16="http://schemas.microsoft.com/office/drawing/2014/main" id="{A4D0AC29-3354-18CE-E800-48D65EB1C125}"/>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294239" y="5156727"/>
            <a:ext cx="1419726" cy="1419726"/>
          </a:xfrm>
          <a:prstGeom prst="rect">
            <a:avLst/>
          </a:prstGeom>
        </p:spPr>
      </p:pic>
    </p:spTree>
    <p:extLst>
      <p:ext uri="{BB962C8B-B14F-4D97-AF65-F5344CB8AC3E}">
        <p14:creationId xmlns:p14="http://schemas.microsoft.com/office/powerpoint/2010/main" val="329270477"/>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2"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Prof. Nidhi K. Chitroda</a:t>
            </a: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#2304CS205 (OS) Unit 04 Memory Management</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userDrawn="1">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711201"/>
            <a:ext cx="12047139" cy="5742808"/>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6F8BA41F-BE50-935D-61EC-050788871531}"/>
              </a:ext>
            </a:extLst>
          </p:cNvPr>
          <p:cNvSpPr>
            <a:spLocks noGrp="1"/>
          </p:cNvSpPr>
          <p:nvPr>
            <p:ph type="dt" sz="half" idx="10"/>
          </p:nvPr>
        </p:nvSpPr>
        <p:spPr>
          <a:xfrm>
            <a:off x="10721798" y="158196"/>
            <a:ext cx="1475630" cy="365125"/>
          </a:xfrm>
        </p:spPr>
        <p:txBody>
          <a:bodyPr/>
          <a:lstStyle/>
          <a:p>
            <a:fld id="{9CD21B45-1703-4330-B544-825BD8F37AF2}" type="datetimeFigureOut">
              <a:rPr lang="en-US" smtClean="0">
                <a:solidFill>
                  <a:srgbClr val="212121">
                    <a:tint val="75000"/>
                  </a:srgbClr>
                </a:solidFill>
              </a:rPr>
              <a:pPr/>
              <a:t>1/27/2026</a:t>
            </a:fld>
            <a:endParaRPr lang="en-US">
              <a:solidFill>
                <a:srgbClr val="212121">
                  <a:tint val="75000"/>
                </a:srgbClr>
              </a:solidFill>
            </a:endParaRPr>
          </a:p>
        </p:txBody>
      </p:sp>
      <p:grpSp>
        <p:nvGrpSpPr>
          <p:cNvPr id="21" name="Group 20">
            <a:extLst>
              <a:ext uri="{FF2B5EF4-FFF2-40B4-BE49-F238E27FC236}">
                <a16:creationId xmlns:a16="http://schemas.microsoft.com/office/drawing/2014/main" id="{8FD38B6F-D549-4D28-B5DA-3AF636652084}"/>
              </a:ext>
            </a:extLst>
          </p:cNvPr>
          <p:cNvGrpSpPr/>
          <p:nvPr userDrawn="1"/>
        </p:nvGrpSpPr>
        <p:grpSpPr>
          <a:xfrm>
            <a:off x="10529278" y="795996"/>
            <a:ext cx="1649043" cy="501287"/>
            <a:chOff x="10721798" y="852808"/>
            <a:chExt cx="1339023" cy="407045"/>
          </a:xfrm>
        </p:grpSpPr>
        <p:pic>
          <p:nvPicPr>
            <p:cNvPr id="25" name="Picture 24">
              <a:extLst>
                <a:ext uri="{FF2B5EF4-FFF2-40B4-BE49-F238E27FC236}">
                  <a16:creationId xmlns:a16="http://schemas.microsoft.com/office/drawing/2014/main" id="{538C9597-8AB6-41B2-8903-FB3D0B47ADD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Tree>
    <p:extLst>
      <p:ext uri="{BB962C8B-B14F-4D97-AF65-F5344CB8AC3E}">
        <p14:creationId xmlns:p14="http://schemas.microsoft.com/office/powerpoint/2010/main" val="605304985"/>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Prof. Nidhi K. Chitroda</a:t>
            </a: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2304CS205 (OS) Unit 04 Memory Management</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2060817" cy="5739430"/>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5E8F5A-E975-066D-5546-8505BC020245}"/>
              </a:ext>
            </a:extLst>
          </p:cNvPr>
          <p:cNvSpPr>
            <a:spLocks noGrp="1"/>
          </p:cNvSpPr>
          <p:nvPr>
            <p:ph type="dt" sz="half" idx="10"/>
          </p:nvPr>
        </p:nvSpPr>
        <p:spPr>
          <a:xfrm>
            <a:off x="10779979" y="173039"/>
            <a:ext cx="1412019" cy="365125"/>
          </a:xfrm>
        </p:spPr>
        <p:txBody>
          <a:bodyPr/>
          <a:lstStyle/>
          <a:p>
            <a:fld id="{9CD21B45-1703-4330-B544-825BD8F37AF2}" type="datetimeFigureOut">
              <a:rPr lang="en-US" smtClean="0">
                <a:solidFill>
                  <a:srgbClr val="212121">
                    <a:tint val="75000"/>
                  </a:srgbClr>
                </a:solidFill>
              </a:rPr>
              <a:pPr/>
              <a:t>1/27/2026</a:t>
            </a:fld>
            <a:endParaRPr lang="en-US">
              <a:solidFill>
                <a:srgbClr val="212121">
                  <a:tint val="75000"/>
                </a:srgbClr>
              </a:solidFill>
            </a:endParaRPr>
          </a:p>
        </p:txBody>
      </p:sp>
      <p:grpSp>
        <p:nvGrpSpPr>
          <p:cNvPr id="15" name="Group 14">
            <a:extLst>
              <a:ext uri="{FF2B5EF4-FFF2-40B4-BE49-F238E27FC236}">
                <a16:creationId xmlns:a16="http://schemas.microsoft.com/office/drawing/2014/main" id="{8FD38B6F-D549-4D28-B5DA-3AF636652084}"/>
              </a:ext>
            </a:extLst>
          </p:cNvPr>
          <p:cNvGrpSpPr/>
          <p:nvPr userDrawn="1"/>
        </p:nvGrpSpPr>
        <p:grpSpPr>
          <a:xfrm>
            <a:off x="10430804" y="5976818"/>
            <a:ext cx="1649043" cy="501287"/>
            <a:chOff x="10721798" y="852808"/>
            <a:chExt cx="1339023" cy="407045"/>
          </a:xfrm>
        </p:grpSpPr>
        <p:pic>
          <p:nvPicPr>
            <p:cNvPr id="21" name="Picture 20">
              <a:extLst>
                <a:ext uri="{FF2B5EF4-FFF2-40B4-BE49-F238E27FC236}">
                  <a16:creationId xmlns:a16="http://schemas.microsoft.com/office/drawing/2014/main" id="{538C9597-8AB6-41B2-8903-FB3D0B47ADD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7" name="Rectangle 26">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Tree>
    <p:extLst>
      <p:ext uri="{BB962C8B-B14F-4D97-AF65-F5344CB8AC3E}">
        <p14:creationId xmlns:p14="http://schemas.microsoft.com/office/powerpoint/2010/main" val="336270142"/>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Prof. Nidhi K Chitroda</a:t>
            </a: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2304CS205 (OS) Unit 04 Memory Management</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0" y="761687"/>
            <a:ext cx="11929641" cy="5841187"/>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6F61835-27E3-EC67-3A5C-FA12F6417943}"/>
              </a:ext>
            </a:extLst>
          </p:cNvPr>
          <p:cNvSpPr>
            <a:spLocks noGrp="1"/>
          </p:cNvSpPr>
          <p:nvPr>
            <p:ph type="dt" sz="half" idx="10"/>
          </p:nvPr>
        </p:nvSpPr>
        <p:spPr>
          <a:xfrm>
            <a:off x="10721799" y="147580"/>
            <a:ext cx="1470201" cy="365125"/>
          </a:xfrm>
        </p:spPr>
        <p:txBody>
          <a:bodyPr/>
          <a:lstStyle/>
          <a:p>
            <a:fld id="{9CD21B45-1703-4330-B544-825BD8F37AF2}" type="datetimeFigureOut">
              <a:rPr lang="en-US" smtClean="0">
                <a:solidFill>
                  <a:srgbClr val="212121">
                    <a:tint val="75000"/>
                  </a:srgbClr>
                </a:solidFill>
              </a:rPr>
              <a:pPr/>
              <a:t>1/27/2026</a:t>
            </a:fld>
            <a:endParaRPr lang="en-US">
              <a:solidFill>
                <a:srgbClr val="212121">
                  <a:tint val="75000"/>
                </a:srgbClr>
              </a:solidFill>
            </a:endParaRPr>
          </a:p>
        </p:txBody>
      </p:sp>
      <p:grpSp>
        <p:nvGrpSpPr>
          <p:cNvPr id="15" name="Group 14">
            <a:extLst>
              <a:ext uri="{FF2B5EF4-FFF2-40B4-BE49-F238E27FC236}">
                <a16:creationId xmlns:a16="http://schemas.microsoft.com/office/drawing/2014/main" id="{8FD38B6F-D549-4D28-B5DA-3AF636652084}"/>
              </a:ext>
            </a:extLst>
          </p:cNvPr>
          <p:cNvGrpSpPr/>
          <p:nvPr userDrawn="1"/>
        </p:nvGrpSpPr>
        <p:grpSpPr>
          <a:xfrm>
            <a:off x="57053" y="6054597"/>
            <a:ext cx="1649043" cy="501287"/>
            <a:chOff x="10721798" y="852808"/>
            <a:chExt cx="1339023" cy="407045"/>
          </a:xfrm>
        </p:grpSpPr>
        <p:pic>
          <p:nvPicPr>
            <p:cNvPr id="21" name="Picture 20">
              <a:extLst>
                <a:ext uri="{FF2B5EF4-FFF2-40B4-BE49-F238E27FC236}">
                  <a16:creationId xmlns:a16="http://schemas.microsoft.com/office/drawing/2014/main" id="{538C9597-8AB6-41B2-8903-FB3D0B47ADD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7" name="Rectangle 26">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Tree>
    <p:extLst>
      <p:ext uri="{BB962C8B-B14F-4D97-AF65-F5344CB8AC3E}">
        <p14:creationId xmlns:p14="http://schemas.microsoft.com/office/powerpoint/2010/main" val="2847116227"/>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solidFill>
                  <a:schemeClr val="accent6"/>
                </a:soli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8" name="Freeform 17">
            <a:extLst>
              <a:ext uri="{FF2B5EF4-FFF2-40B4-BE49-F238E27FC236}">
                <a16:creationId xmlns:a16="http://schemas.microsoft.com/office/drawing/2014/main"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10"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grpSp>
        <p:nvGrpSpPr>
          <p:cNvPr id="4" name="Group 3">
            <a:extLst>
              <a:ext uri="{FF2B5EF4-FFF2-40B4-BE49-F238E27FC236}">
                <a16:creationId xmlns:a16="http://schemas.microsoft.com/office/drawing/2014/main" id="{83685575-FB87-019A-46A5-12C870C2A0A5}"/>
              </a:ext>
            </a:extLst>
          </p:cNvPr>
          <p:cNvGrpSpPr/>
          <p:nvPr userDrawn="1"/>
        </p:nvGrpSpPr>
        <p:grpSpPr>
          <a:xfrm>
            <a:off x="10221085" y="6116638"/>
            <a:ext cx="1777999" cy="607830"/>
            <a:chOff x="10721798" y="852808"/>
            <a:chExt cx="1339023" cy="407045"/>
          </a:xfrm>
        </p:grpSpPr>
        <p:pic>
          <p:nvPicPr>
            <p:cNvPr id="5" name="Picture 4">
              <a:extLst>
                <a:ext uri="{FF2B5EF4-FFF2-40B4-BE49-F238E27FC236}">
                  <a16:creationId xmlns:a16="http://schemas.microsoft.com/office/drawing/2014/main" id="{ABFE1985-88D4-2C49-A295-8BDDE32A0D3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6" name="Rectangle 5">
              <a:extLst>
                <a:ext uri="{FF2B5EF4-FFF2-40B4-BE49-F238E27FC236}">
                  <a16:creationId xmlns:a16="http://schemas.microsoft.com/office/drawing/2014/main" id="{9DEC7AF9-1B37-08CB-2F6F-EF76098FDBD5}"/>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Tree>
    <p:extLst>
      <p:ext uri="{BB962C8B-B14F-4D97-AF65-F5344CB8AC3E}">
        <p14:creationId xmlns:p14="http://schemas.microsoft.com/office/powerpoint/2010/main" val="832538402"/>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Prof. Nidhi K Chitroda</a:t>
            </a: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#2304CS205 (OS) Unit 04 Memory Management</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1AA5C57A-F840-488A-AACF-E658D398FCEC}"/>
              </a:ext>
            </a:extLst>
          </p:cNvPr>
          <p:cNvGrpSpPr/>
          <p:nvPr userDrawn="1"/>
        </p:nvGrpSpPr>
        <p:grpSpPr>
          <a:xfrm>
            <a:off x="10304203" y="212531"/>
            <a:ext cx="1649043" cy="501287"/>
            <a:chOff x="10721798" y="852808"/>
            <a:chExt cx="1339023" cy="407045"/>
          </a:xfrm>
        </p:grpSpPr>
        <p:pic>
          <p:nvPicPr>
            <p:cNvPr id="15" name="Picture 14">
              <a:extLst>
                <a:ext uri="{FF2B5EF4-FFF2-40B4-BE49-F238E27FC236}">
                  <a16:creationId xmlns:a16="http://schemas.microsoft.com/office/drawing/2014/main" id="{1B8F12B0-F30C-4955-8E3F-625C9D2A74C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8508BA0B-FE99-4953-98B0-D2708C070068}"/>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2" name="Date Placeholder 1">
            <a:extLst>
              <a:ext uri="{FF2B5EF4-FFF2-40B4-BE49-F238E27FC236}">
                <a16:creationId xmlns:a16="http://schemas.microsoft.com/office/drawing/2014/main" id="{2C0674B4-7F08-C7A6-6541-7E9220DFB075}"/>
              </a:ext>
            </a:extLst>
          </p:cNvPr>
          <p:cNvSpPr>
            <a:spLocks noGrp="1"/>
          </p:cNvSpPr>
          <p:nvPr>
            <p:ph type="dt" sz="half" idx="10"/>
          </p:nvPr>
        </p:nvSpPr>
        <p:spPr>
          <a:xfrm>
            <a:off x="10795881" y="6203600"/>
            <a:ext cx="1396117" cy="365125"/>
          </a:xfrm>
        </p:spPr>
        <p:txBody>
          <a:bodyPr/>
          <a:lstStyle/>
          <a:p>
            <a:fld id="{9CD21B45-1703-4330-B544-825BD8F37AF2}" type="datetimeFigureOut">
              <a:rPr lang="en-US" smtClean="0">
                <a:solidFill>
                  <a:srgbClr val="212121">
                    <a:tint val="75000"/>
                  </a:srgbClr>
                </a:solidFill>
              </a:rPr>
              <a:pPr/>
              <a:t>1/27/2026</a:t>
            </a:fld>
            <a:endParaRPr lang="en-US">
              <a:solidFill>
                <a:srgbClr val="212121">
                  <a:tint val="75000"/>
                </a:srgbClr>
              </a:solidFill>
            </a:endParaRPr>
          </a:p>
        </p:txBody>
      </p:sp>
    </p:spTree>
    <p:extLst>
      <p:ext uri="{BB962C8B-B14F-4D97-AF65-F5344CB8AC3E}">
        <p14:creationId xmlns:p14="http://schemas.microsoft.com/office/powerpoint/2010/main" val="4152780232"/>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Prof. Nidhi K Chitroda</a:t>
            </a: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2304CS205 (OS) Unit 04 Memory Management</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5" name="Date Placeholder 4">
            <a:extLst>
              <a:ext uri="{FF2B5EF4-FFF2-40B4-BE49-F238E27FC236}">
                <a16:creationId xmlns:a16="http://schemas.microsoft.com/office/drawing/2014/main" id="{9170CE1E-3F3E-9D50-0C62-1F82AEB67DBD}"/>
              </a:ext>
            </a:extLst>
          </p:cNvPr>
          <p:cNvSpPr>
            <a:spLocks noGrp="1"/>
          </p:cNvSpPr>
          <p:nvPr>
            <p:ph type="dt" sz="half" idx="10"/>
          </p:nvPr>
        </p:nvSpPr>
        <p:spPr>
          <a:xfrm>
            <a:off x="10562310" y="15030"/>
            <a:ext cx="1629688" cy="365125"/>
          </a:xfrm>
        </p:spPr>
        <p:txBody>
          <a:bodyPr/>
          <a:lstStyle/>
          <a:p>
            <a:fld id="{9CD21B45-1703-4330-B544-825BD8F37AF2}" type="datetimeFigureOut">
              <a:rPr lang="en-US" smtClean="0">
                <a:solidFill>
                  <a:srgbClr val="212121">
                    <a:tint val="75000"/>
                  </a:srgbClr>
                </a:solidFill>
              </a:rPr>
              <a:pPr/>
              <a:t>1/27/2026</a:t>
            </a:fld>
            <a:endParaRPr lang="en-US">
              <a:solidFill>
                <a:srgbClr val="212121">
                  <a:tint val="75000"/>
                </a:srgbClr>
              </a:solidFill>
            </a:endParaRPr>
          </a:p>
        </p:txBody>
      </p:sp>
    </p:spTree>
    <p:extLst>
      <p:ext uri="{BB962C8B-B14F-4D97-AF65-F5344CB8AC3E}">
        <p14:creationId xmlns:p14="http://schemas.microsoft.com/office/powerpoint/2010/main" val="3008138425"/>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Prof. Nidhi K. Chitroda</a:t>
            </a: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2304CS205 (OS) Unit 04 Memory Management</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15C60ED7-12D4-496E-AF73-0995BE8C12FD}"/>
              </a:ext>
            </a:extLst>
          </p:cNvPr>
          <p:cNvGrpSpPr/>
          <p:nvPr userDrawn="1"/>
        </p:nvGrpSpPr>
        <p:grpSpPr>
          <a:xfrm>
            <a:off x="128095" y="5890392"/>
            <a:ext cx="2554143" cy="587454"/>
            <a:chOff x="131177" y="5775962"/>
            <a:chExt cx="2530239" cy="581956"/>
          </a:xfrm>
        </p:grpSpPr>
        <p:pic>
          <p:nvPicPr>
            <p:cNvPr id="12" name="Picture 11">
              <a:extLst>
                <a:ext uri="{FF2B5EF4-FFF2-40B4-BE49-F238E27FC236}">
                  <a16:creationId xmlns:a16="http://schemas.microsoft.com/office/drawing/2014/main" id="{30CB04CE-0025-4B1F-B962-A759D179D8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43F480CB-A4AF-424E-90DB-5B677403441A}"/>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2" name="Date Placeholder 1">
            <a:extLst>
              <a:ext uri="{FF2B5EF4-FFF2-40B4-BE49-F238E27FC236}">
                <a16:creationId xmlns:a16="http://schemas.microsoft.com/office/drawing/2014/main" id="{1DA55035-0219-AA65-2514-42B83B662260}"/>
              </a:ext>
            </a:extLst>
          </p:cNvPr>
          <p:cNvSpPr>
            <a:spLocks noGrp="1"/>
          </p:cNvSpPr>
          <p:nvPr>
            <p:ph type="dt" sz="half" idx="10"/>
          </p:nvPr>
        </p:nvSpPr>
        <p:spPr>
          <a:xfrm>
            <a:off x="10613001" y="0"/>
            <a:ext cx="1578997" cy="365125"/>
          </a:xfrm>
        </p:spPr>
        <p:txBody>
          <a:bodyPr/>
          <a:lstStyle/>
          <a:p>
            <a:fld id="{9CD21B45-1703-4330-B544-825BD8F37AF2}" type="datetimeFigureOut">
              <a:rPr lang="en-US" smtClean="0">
                <a:solidFill>
                  <a:srgbClr val="212121">
                    <a:tint val="75000"/>
                  </a:srgbClr>
                </a:solidFill>
              </a:rPr>
              <a:pPr/>
              <a:t>1/27/2026</a:t>
            </a:fld>
            <a:endParaRPr lang="en-US">
              <a:solidFill>
                <a:srgbClr val="212121">
                  <a:tint val="75000"/>
                </a:srgbClr>
              </a:solidFill>
            </a:endParaRPr>
          </a:p>
        </p:txBody>
      </p:sp>
    </p:spTree>
    <p:extLst>
      <p:ext uri="{BB962C8B-B14F-4D97-AF65-F5344CB8AC3E}">
        <p14:creationId xmlns:p14="http://schemas.microsoft.com/office/powerpoint/2010/main" val="2754765575"/>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712462675"/>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2662106588"/>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solidFill>
                  <a:srgbClr val="212121"/>
                </a:solidFill>
              </a:rPr>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0" name="Picture 29">
            <a:extLst>
              <a:ext uri="{FF2B5EF4-FFF2-40B4-BE49-F238E27FC236}">
                <a16:creationId xmlns:a16="http://schemas.microsoft.com/office/drawing/2014/main" id="{65C24A8B-C009-4A74-9481-67BB67CA49B0}"/>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3316262020"/>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solidFill>
                  <a:srgbClr val="212121"/>
                </a:solidFill>
              </a:rPr>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21" name="Picture 20">
            <a:extLst>
              <a:ext uri="{FF2B5EF4-FFF2-40B4-BE49-F238E27FC236}">
                <a16:creationId xmlns:a16="http://schemas.microsoft.com/office/drawing/2014/main" id="{8DCFBA18-DBB7-4232-9BDC-C0D95AE93AF0}"/>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1918288919"/>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solidFill>
                  <a:srgbClr val="212121"/>
                </a:solidFill>
              </a:rPr>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5E75AD4F-9BB9-4005-AB78-4A6D388A4CD6}"/>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643052780"/>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solidFill>
                  <a:srgbClr val="212121"/>
                </a:solidFill>
              </a:rPr>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4964C355-848F-46E4-BB2A-EA2EE69FEBA2}"/>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1575673676"/>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solidFill>
                  <a:srgbClr val="212121"/>
                </a:solidFill>
              </a:rPr>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nidhi.chitroda@darshan.ac.in</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9727747317</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4258322"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Department of Computer Science and Engineering</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Prof. Nidhi K Chitroda</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Operating System (OS)</a:t>
            </a:r>
          </a:p>
          <a:p>
            <a:pPr lvl="0"/>
            <a:r>
              <a:rPr lang="en-IN" dirty="0"/>
              <a:t>2105CS304</a:t>
            </a:r>
            <a:endParaRPr lang="en-US" dirty="0"/>
          </a:p>
        </p:txBody>
      </p:sp>
      <p:pic>
        <p:nvPicPr>
          <p:cNvPr id="21" name="Picture 20">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9" cstate="print">
            <a:extLst>
              <a:ext uri="{28A0092B-C50C-407E-A947-70E740481C1C}">
                <a14:useLocalDpi xmlns:a14="http://schemas.microsoft.com/office/drawing/2010/main" val="0"/>
              </a:ext>
            </a:extLst>
          </a:blip>
          <a:src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pic>
        <p:nvPicPr>
          <p:cNvPr id="31" name="Picture 30">
            <a:extLst>
              <a:ext uri="{FF2B5EF4-FFF2-40B4-BE49-F238E27FC236}">
                <a16:creationId xmlns:a16="http://schemas.microsoft.com/office/drawing/2014/main" id="{036D56FE-CA91-4481-9096-27448303AC20}"/>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3962842363"/>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solidFill>
                  <a:srgbClr val="212121"/>
                </a:solidFill>
              </a:rPr>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endParaRPr lang="en-US" dirty="0">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endParaRPr lang="en-US" dirty="0">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pic>
        <p:nvPicPr>
          <p:cNvPr id="31" name="Picture 30">
            <a:extLst>
              <a:ext uri="{FF2B5EF4-FFF2-40B4-BE49-F238E27FC236}">
                <a16:creationId xmlns:a16="http://schemas.microsoft.com/office/drawing/2014/main" id="{A561853C-B15A-4153-A982-7E7EB1213BCE}"/>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3135172044"/>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solidFill>
                  <a:srgbClr val="212121"/>
                </a:solidFill>
              </a:rPr>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endParaRPr lang="en-US" dirty="0">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endParaRPr lang="en-US" dirty="0">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pic>
        <p:nvPicPr>
          <p:cNvPr id="31" name="Picture 30">
            <a:extLst>
              <a:ext uri="{FF2B5EF4-FFF2-40B4-BE49-F238E27FC236}">
                <a16:creationId xmlns:a16="http://schemas.microsoft.com/office/drawing/2014/main" id="{B976521A-C815-4A64-A047-CE405ED0E59A}"/>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369988652"/>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solidFill>
                  <a:srgbClr val="212121"/>
                </a:solidFill>
              </a:rPr>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endParaRPr lang="en-US" dirty="0">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endParaRPr lang="en-US" dirty="0">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pic>
        <p:nvPicPr>
          <p:cNvPr id="31" name="Picture 30">
            <a:extLst>
              <a:ext uri="{FF2B5EF4-FFF2-40B4-BE49-F238E27FC236}">
                <a16:creationId xmlns:a16="http://schemas.microsoft.com/office/drawing/2014/main" id="{631765DD-2E04-4EE4-AFB7-43E328823E61}"/>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3628754202"/>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solidFill>
                  <a:srgbClr val="212121"/>
                </a:solidFill>
              </a:rPr>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endParaRPr lang="en-US" dirty="0">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endParaRPr lang="en-US" dirty="0">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pic>
        <p:nvPicPr>
          <p:cNvPr id="31" name="Picture 30">
            <a:extLst>
              <a:ext uri="{FF2B5EF4-FFF2-40B4-BE49-F238E27FC236}">
                <a16:creationId xmlns:a16="http://schemas.microsoft.com/office/drawing/2014/main" id="{1018DFAF-9B15-4199-9C36-C730A2CE6C5E}"/>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1052640007"/>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solidFill>
                  <a:srgbClr val="212121"/>
                </a:solidFill>
              </a:rPr>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endParaRPr lang="en-US" dirty="0">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endParaRPr lang="en-US" dirty="0">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9"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pic>
        <p:nvPicPr>
          <p:cNvPr id="35" name="Picture 34">
            <a:extLst>
              <a:ext uri="{FF2B5EF4-FFF2-40B4-BE49-F238E27FC236}">
                <a16:creationId xmlns:a16="http://schemas.microsoft.com/office/drawing/2014/main" id="{744A518A-BE68-4048-BDCB-77578CB57230}"/>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1926289815"/>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solidFill>
                  <a:srgbClr val="212121"/>
                </a:solidFill>
              </a:rPr>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endParaRPr lang="en-US" dirty="0">
              <a:solidFill>
                <a:srgbClr val="212121"/>
              </a:solidFill>
            </a:endParaRP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endParaRPr lang="en-US" dirty="0">
              <a:solidFill>
                <a:srgbClr val="212121"/>
              </a:solidFil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pic>
        <p:nvPicPr>
          <p:cNvPr id="31" name="Picture 30">
            <a:extLst>
              <a:ext uri="{FF2B5EF4-FFF2-40B4-BE49-F238E27FC236}">
                <a16:creationId xmlns:a16="http://schemas.microsoft.com/office/drawing/2014/main" id="{C248CBD5-99BA-4017-857A-5ED400F43651}"/>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41199636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18" Type="http://schemas.openxmlformats.org/officeDocument/2006/relationships/slideLayout" Target="../slideLayouts/slideLayout39.xml"/><Relationship Id="rId3" Type="http://schemas.openxmlformats.org/officeDocument/2006/relationships/slideLayout" Target="../slideLayouts/slideLayout24.xml"/><Relationship Id="rId21" Type="http://schemas.openxmlformats.org/officeDocument/2006/relationships/slideLayout" Target="../slideLayouts/slideLayout42.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17" Type="http://schemas.openxmlformats.org/officeDocument/2006/relationships/slideLayout" Target="../slideLayouts/slideLayout38.xml"/><Relationship Id="rId2" Type="http://schemas.openxmlformats.org/officeDocument/2006/relationships/slideLayout" Target="../slideLayouts/slideLayout23.xml"/><Relationship Id="rId16" Type="http://schemas.openxmlformats.org/officeDocument/2006/relationships/slideLayout" Target="../slideLayouts/slideLayout37.xml"/><Relationship Id="rId20" Type="http://schemas.openxmlformats.org/officeDocument/2006/relationships/slideLayout" Target="../slideLayouts/slideLayout41.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slideLayout" Target="../slideLayouts/slideLayout36.xml"/><Relationship Id="rId23" Type="http://schemas.openxmlformats.org/officeDocument/2006/relationships/theme" Target="../theme/theme2.xml"/><Relationship Id="rId10" Type="http://schemas.openxmlformats.org/officeDocument/2006/relationships/slideLayout" Target="../slideLayouts/slideLayout31.xml"/><Relationship Id="rId19" Type="http://schemas.openxmlformats.org/officeDocument/2006/relationships/slideLayout" Target="../slideLayouts/slideLayout40.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 Id="rId22" Type="http://schemas.openxmlformats.org/officeDocument/2006/relationships/slideLayout" Target="../slideLayouts/slideLayout4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1.xml"/><Relationship Id="rId13" Type="http://schemas.openxmlformats.org/officeDocument/2006/relationships/slideLayout" Target="../slideLayouts/slideLayout56.xml"/><Relationship Id="rId18" Type="http://schemas.openxmlformats.org/officeDocument/2006/relationships/slideLayout" Target="../slideLayouts/slideLayout61.xml"/><Relationship Id="rId3" Type="http://schemas.openxmlformats.org/officeDocument/2006/relationships/slideLayout" Target="../slideLayouts/slideLayout46.xml"/><Relationship Id="rId21" Type="http://schemas.openxmlformats.org/officeDocument/2006/relationships/slideLayout" Target="../slideLayouts/slideLayout64.xml"/><Relationship Id="rId7" Type="http://schemas.openxmlformats.org/officeDocument/2006/relationships/slideLayout" Target="../slideLayouts/slideLayout50.xml"/><Relationship Id="rId12" Type="http://schemas.openxmlformats.org/officeDocument/2006/relationships/slideLayout" Target="../slideLayouts/slideLayout55.xml"/><Relationship Id="rId17" Type="http://schemas.openxmlformats.org/officeDocument/2006/relationships/slideLayout" Target="../slideLayouts/slideLayout60.xml"/><Relationship Id="rId2" Type="http://schemas.openxmlformats.org/officeDocument/2006/relationships/slideLayout" Target="../slideLayouts/slideLayout45.xml"/><Relationship Id="rId16" Type="http://schemas.openxmlformats.org/officeDocument/2006/relationships/slideLayout" Target="../slideLayouts/slideLayout59.xml"/><Relationship Id="rId20" Type="http://schemas.openxmlformats.org/officeDocument/2006/relationships/slideLayout" Target="../slideLayouts/slideLayout63.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24" Type="http://schemas.openxmlformats.org/officeDocument/2006/relationships/theme" Target="../theme/theme3.xml"/><Relationship Id="rId5" Type="http://schemas.openxmlformats.org/officeDocument/2006/relationships/slideLayout" Target="../slideLayouts/slideLayout48.xml"/><Relationship Id="rId15" Type="http://schemas.openxmlformats.org/officeDocument/2006/relationships/slideLayout" Target="../slideLayouts/slideLayout58.xml"/><Relationship Id="rId23" Type="http://schemas.openxmlformats.org/officeDocument/2006/relationships/slideLayout" Target="../slideLayouts/slideLayout66.xml"/><Relationship Id="rId10" Type="http://schemas.openxmlformats.org/officeDocument/2006/relationships/slideLayout" Target="../slideLayouts/slideLayout53.xml"/><Relationship Id="rId19" Type="http://schemas.openxmlformats.org/officeDocument/2006/relationships/slideLayout" Target="../slideLayouts/slideLayout62.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slideLayout" Target="../slideLayouts/slideLayout57.xml"/><Relationship Id="rId22" Type="http://schemas.openxmlformats.org/officeDocument/2006/relationships/slideLayout" Target="../slideLayouts/slideLayout6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74.xml"/><Relationship Id="rId13" Type="http://schemas.openxmlformats.org/officeDocument/2006/relationships/slideLayout" Target="../slideLayouts/slideLayout79.xml"/><Relationship Id="rId18" Type="http://schemas.openxmlformats.org/officeDocument/2006/relationships/slideLayout" Target="../slideLayouts/slideLayout84.xml"/><Relationship Id="rId3" Type="http://schemas.openxmlformats.org/officeDocument/2006/relationships/slideLayout" Target="../slideLayouts/slideLayout69.xml"/><Relationship Id="rId21" Type="http://schemas.openxmlformats.org/officeDocument/2006/relationships/slideLayout" Target="../slideLayouts/slideLayout87.xml"/><Relationship Id="rId7" Type="http://schemas.openxmlformats.org/officeDocument/2006/relationships/slideLayout" Target="../slideLayouts/slideLayout73.xml"/><Relationship Id="rId12" Type="http://schemas.openxmlformats.org/officeDocument/2006/relationships/slideLayout" Target="../slideLayouts/slideLayout78.xml"/><Relationship Id="rId17" Type="http://schemas.openxmlformats.org/officeDocument/2006/relationships/slideLayout" Target="../slideLayouts/slideLayout83.xml"/><Relationship Id="rId2" Type="http://schemas.openxmlformats.org/officeDocument/2006/relationships/slideLayout" Target="../slideLayouts/slideLayout68.xml"/><Relationship Id="rId16" Type="http://schemas.openxmlformats.org/officeDocument/2006/relationships/slideLayout" Target="../slideLayouts/slideLayout82.xml"/><Relationship Id="rId20" Type="http://schemas.openxmlformats.org/officeDocument/2006/relationships/slideLayout" Target="../slideLayouts/slideLayout86.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5" Type="http://schemas.openxmlformats.org/officeDocument/2006/relationships/slideLayout" Target="../slideLayouts/slideLayout81.xml"/><Relationship Id="rId10" Type="http://schemas.openxmlformats.org/officeDocument/2006/relationships/slideLayout" Target="../slideLayouts/slideLayout76.xml"/><Relationship Id="rId19" Type="http://schemas.openxmlformats.org/officeDocument/2006/relationships/slideLayout" Target="../slideLayouts/slideLayout85.xml"/><Relationship Id="rId4" Type="http://schemas.openxmlformats.org/officeDocument/2006/relationships/slideLayout" Target="../slideLayouts/slideLayout70.xml"/><Relationship Id="rId9" Type="http://schemas.openxmlformats.org/officeDocument/2006/relationships/slideLayout" Target="../slideLayouts/slideLayout75.xml"/><Relationship Id="rId14" Type="http://schemas.openxmlformats.org/officeDocument/2006/relationships/slideLayout" Target="../slideLayouts/slideLayout80.xml"/><Relationship Id="rId22"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95.xml"/><Relationship Id="rId13" Type="http://schemas.openxmlformats.org/officeDocument/2006/relationships/slideLayout" Target="../slideLayouts/slideLayout100.xml"/><Relationship Id="rId18" Type="http://schemas.openxmlformats.org/officeDocument/2006/relationships/slideLayout" Target="../slideLayouts/slideLayout105.xml"/><Relationship Id="rId3" Type="http://schemas.openxmlformats.org/officeDocument/2006/relationships/slideLayout" Target="../slideLayouts/slideLayout90.xml"/><Relationship Id="rId21" Type="http://schemas.openxmlformats.org/officeDocument/2006/relationships/slideLayout" Target="../slideLayouts/slideLayout108.xml"/><Relationship Id="rId7" Type="http://schemas.openxmlformats.org/officeDocument/2006/relationships/slideLayout" Target="../slideLayouts/slideLayout94.xml"/><Relationship Id="rId12" Type="http://schemas.openxmlformats.org/officeDocument/2006/relationships/slideLayout" Target="../slideLayouts/slideLayout99.xml"/><Relationship Id="rId17" Type="http://schemas.openxmlformats.org/officeDocument/2006/relationships/slideLayout" Target="../slideLayouts/slideLayout104.xml"/><Relationship Id="rId2" Type="http://schemas.openxmlformats.org/officeDocument/2006/relationships/slideLayout" Target="../slideLayouts/slideLayout89.xml"/><Relationship Id="rId16" Type="http://schemas.openxmlformats.org/officeDocument/2006/relationships/slideLayout" Target="../slideLayouts/slideLayout103.xml"/><Relationship Id="rId20" Type="http://schemas.openxmlformats.org/officeDocument/2006/relationships/slideLayout" Target="../slideLayouts/slideLayout107.xml"/><Relationship Id="rId1" Type="http://schemas.openxmlformats.org/officeDocument/2006/relationships/slideLayout" Target="../slideLayouts/slideLayout88.xml"/><Relationship Id="rId6" Type="http://schemas.openxmlformats.org/officeDocument/2006/relationships/slideLayout" Target="../slideLayouts/slideLayout93.xml"/><Relationship Id="rId11" Type="http://schemas.openxmlformats.org/officeDocument/2006/relationships/slideLayout" Target="../slideLayouts/slideLayout98.xml"/><Relationship Id="rId5" Type="http://schemas.openxmlformats.org/officeDocument/2006/relationships/slideLayout" Target="../slideLayouts/slideLayout92.xml"/><Relationship Id="rId15" Type="http://schemas.openxmlformats.org/officeDocument/2006/relationships/slideLayout" Target="../slideLayouts/slideLayout102.xml"/><Relationship Id="rId23" Type="http://schemas.openxmlformats.org/officeDocument/2006/relationships/theme" Target="../theme/theme5.xml"/><Relationship Id="rId10" Type="http://schemas.openxmlformats.org/officeDocument/2006/relationships/slideLayout" Target="../slideLayouts/slideLayout97.xml"/><Relationship Id="rId19" Type="http://schemas.openxmlformats.org/officeDocument/2006/relationships/slideLayout" Target="../slideLayouts/slideLayout106.xml"/><Relationship Id="rId4" Type="http://schemas.openxmlformats.org/officeDocument/2006/relationships/slideLayout" Target="../slideLayouts/slideLayout91.xml"/><Relationship Id="rId9" Type="http://schemas.openxmlformats.org/officeDocument/2006/relationships/slideLayout" Target="../slideLayouts/slideLayout96.xml"/><Relationship Id="rId14" Type="http://schemas.openxmlformats.org/officeDocument/2006/relationships/slideLayout" Target="../slideLayouts/slideLayout101.xml"/><Relationship Id="rId22" Type="http://schemas.openxmlformats.org/officeDocument/2006/relationships/slideLayout" Target="../slideLayouts/slideLayout109.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17.xml"/><Relationship Id="rId13" Type="http://schemas.openxmlformats.org/officeDocument/2006/relationships/slideLayout" Target="../slideLayouts/slideLayout122.xml"/><Relationship Id="rId18" Type="http://schemas.openxmlformats.org/officeDocument/2006/relationships/slideLayout" Target="../slideLayouts/slideLayout127.xml"/><Relationship Id="rId3" Type="http://schemas.openxmlformats.org/officeDocument/2006/relationships/slideLayout" Target="../slideLayouts/slideLayout112.xml"/><Relationship Id="rId21" Type="http://schemas.openxmlformats.org/officeDocument/2006/relationships/slideLayout" Target="../slideLayouts/slideLayout130.xml"/><Relationship Id="rId7" Type="http://schemas.openxmlformats.org/officeDocument/2006/relationships/slideLayout" Target="../slideLayouts/slideLayout116.xml"/><Relationship Id="rId12" Type="http://schemas.openxmlformats.org/officeDocument/2006/relationships/slideLayout" Target="../slideLayouts/slideLayout121.xml"/><Relationship Id="rId17" Type="http://schemas.openxmlformats.org/officeDocument/2006/relationships/slideLayout" Target="../slideLayouts/slideLayout126.xml"/><Relationship Id="rId2" Type="http://schemas.openxmlformats.org/officeDocument/2006/relationships/slideLayout" Target="../slideLayouts/slideLayout111.xml"/><Relationship Id="rId16" Type="http://schemas.openxmlformats.org/officeDocument/2006/relationships/slideLayout" Target="../slideLayouts/slideLayout125.xml"/><Relationship Id="rId20" Type="http://schemas.openxmlformats.org/officeDocument/2006/relationships/slideLayout" Target="../slideLayouts/slideLayout129.xml"/><Relationship Id="rId1" Type="http://schemas.openxmlformats.org/officeDocument/2006/relationships/slideLayout" Target="../slideLayouts/slideLayout110.xml"/><Relationship Id="rId6" Type="http://schemas.openxmlformats.org/officeDocument/2006/relationships/slideLayout" Target="../slideLayouts/slideLayout115.xml"/><Relationship Id="rId11" Type="http://schemas.openxmlformats.org/officeDocument/2006/relationships/slideLayout" Target="../slideLayouts/slideLayout120.xml"/><Relationship Id="rId5" Type="http://schemas.openxmlformats.org/officeDocument/2006/relationships/slideLayout" Target="../slideLayouts/slideLayout114.xml"/><Relationship Id="rId15" Type="http://schemas.openxmlformats.org/officeDocument/2006/relationships/slideLayout" Target="../slideLayouts/slideLayout124.xml"/><Relationship Id="rId10" Type="http://schemas.openxmlformats.org/officeDocument/2006/relationships/slideLayout" Target="../slideLayouts/slideLayout119.xml"/><Relationship Id="rId19" Type="http://schemas.openxmlformats.org/officeDocument/2006/relationships/slideLayout" Target="../slideLayouts/slideLayout128.xml"/><Relationship Id="rId4" Type="http://schemas.openxmlformats.org/officeDocument/2006/relationships/slideLayout" Target="../slideLayouts/slideLayout113.xml"/><Relationship Id="rId9" Type="http://schemas.openxmlformats.org/officeDocument/2006/relationships/slideLayout" Target="../slideLayouts/slideLayout118.xml"/><Relationship Id="rId14" Type="http://schemas.openxmlformats.org/officeDocument/2006/relationships/slideLayout" Target="../slideLayouts/slideLayout123.xml"/><Relationship Id="rId22"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1/27/2026</a:t>
            </a:fld>
            <a:endParaRPr lang="en-US" dirty="0"/>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dirty="0"/>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92" r:id="rId2"/>
    <p:sldLayoutId id="2147483670" r:id="rId3"/>
    <p:sldLayoutId id="2147483687" r:id="rId4"/>
    <p:sldLayoutId id="2147483688" r:id="rId5"/>
    <p:sldLayoutId id="2147483671" r:id="rId6"/>
    <p:sldLayoutId id="2147483672" r:id="rId7"/>
    <p:sldLayoutId id="2147483689" r:id="rId8"/>
    <p:sldLayoutId id="2147483690" r:id="rId9"/>
    <p:sldLayoutId id="2147483673" r:id="rId10"/>
    <p:sldLayoutId id="2147483674" r:id="rId11"/>
    <p:sldLayoutId id="2147483677" r:id="rId12"/>
    <p:sldLayoutId id="2147483678" r:id="rId13"/>
    <p:sldLayoutId id="2147483679" r:id="rId14"/>
    <p:sldLayoutId id="2147483681" r:id="rId15"/>
    <p:sldLayoutId id="2147483683" r:id="rId16"/>
    <p:sldLayoutId id="2147483682" r:id="rId17"/>
    <p:sldLayoutId id="2147483684" r:id="rId18"/>
    <p:sldLayoutId id="2147483685" r:id="rId19"/>
    <p:sldLayoutId id="2147483686" r:id="rId20"/>
    <p:sldLayoutId id="2147483693"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solidFill>
                  <a:srgbClr val="212121">
                    <a:tint val="75000"/>
                  </a:srgbClr>
                </a:solidFill>
              </a:rPr>
              <a:pPr/>
              <a:t>1/27/2026</a:t>
            </a:fld>
            <a:endParaRPr lang="en-US">
              <a:solidFill>
                <a:srgbClr val="212121">
                  <a:tint val="75000"/>
                </a:srgbClr>
              </a:solidFill>
            </a:endParaRPr>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srgbClr val="212121">
                  <a:tint val="75000"/>
                </a:srgbClr>
              </a:solidFill>
            </a:endParaRPr>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solidFill>
                  <a:srgbClr val="212121">
                    <a:tint val="75000"/>
                  </a:srgbClr>
                </a:solidFill>
              </a:rPr>
              <a:pPr/>
              <a:t>‹#›</a:t>
            </a:fld>
            <a:endParaRPr lang="en-US">
              <a:solidFill>
                <a:srgbClr val="212121">
                  <a:tint val="75000"/>
                </a:srgbClr>
              </a:solidFill>
            </a:endParaRPr>
          </a:p>
        </p:txBody>
      </p:sp>
    </p:spTree>
    <p:extLst>
      <p:ext uri="{BB962C8B-B14F-4D97-AF65-F5344CB8AC3E}">
        <p14:creationId xmlns:p14="http://schemas.microsoft.com/office/powerpoint/2010/main" val="1522725487"/>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 id="2147483711" r:id="rId17"/>
    <p:sldLayoutId id="2147483712" r:id="rId18"/>
    <p:sldLayoutId id="2147483713" r:id="rId19"/>
    <p:sldLayoutId id="2147483714" r:id="rId20"/>
    <p:sldLayoutId id="2147483715" r:id="rId21"/>
    <p:sldLayoutId id="2147483716"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solidFill>
                  <a:srgbClr val="212121">
                    <a:tint val="75000"/>
                  </a:srgbClr>
                </a:solidFill>
              </a:rPr>
              <a:pPr/>
              <a:t>1/27/2026</a:t>
            </a:fld>
            <a:endParaRPr lang="en-US">
              <a:solidFill>
                <a:srgbClr val="212121">
                  <a:tint val="75000"/>
                </a:srgbClr>
              </a:solidFill>
            </a:endParaRPr>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srgbClr val="212121">
                  <a:tint val="75000"/>
                </a:srgbClr>
              </a:solidFill>
            </a:endParaRPr>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solidFill>
                  <a:srgbClr val="212121">
                    <a:tint val="75000"/>
                  </a:srgbClr>
                </a:solidFill>
              </a:rPr>
              <a:pPr/>
              <a:t>‹#›</a:t>
            </a:fld>
            <a:endParaRPr lang="en-US">
              <a:solidFill>
                <a:srgbClr val="212121">
                  <a:tint val="75000"/>
                </a:srgbClr>
              </a:solidFill>
            </a:endParaRPr>
          </a:p>
        </p:txBody>
      </p:sp>
    </p:spTree>
    <p:extLst>
      <p:ext uri="{BB962C8B-B14F-4D97-AF65-F5344CB8AC3E}">
        <p14:creationId xmlns:p14="http://schemas.microsoft.com/office/powerpoint/2010/main" val="1669332181"/>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 id="2147483729" r:id="rId12"/>
    <p:sldLayoutId id="2147483730" r:id="rId13"/>
    <p:sldLayoutId id="2147483731" r:id="rId14"/>
    <p:sldLayoutId id="2147483732" r:id="rId15"/>
    <p:sldLayoutId id="2147483733" r:id="rId16"/>
    <p:sldLayoutId id="2147483734" r:id="rId17"/>
    <p:sldLayoutId id="2147483735" r:id="rId18"/>
    <p:sldLayoutId id="2147483736" r:id="rId19"/>
    <p:sldLayoutId id="2147483737" r:id="rId20"/>
    <p:sldLayoutId id="2147483738" r:id="rId21"/>
    <p:sldLayoutId id="2147483739" r:id="rId22"/>
    <p:sldLayoutId id="2147483807" r:id="rId2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solidFill>
                  <a:srgbClr val="212121">
                    <a:tint val="75000"/>
                  </a:srgbClr>
                </a:solidFill>
              </a:rPr>
              <a:pPr/>
              <a:t>1/27/2026</a:t>
            </a:fld>
            <a:endParaRPr lang="en-US">
              <a:solidFill>
                <a:srgbClr val="212121">
                  <a:tint val="75000"/>
                </a:srgbClr>
              </a:solidFill>
            </a:endParaRPr>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srgbClr val="212121">
                  <a:tint val="75000"/>
                </a:srgbClr>
              </a:solidFill>
            </a:endParaRPr>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solidFill>
                  <a:srgbClr val="212121">
                    <a:tint val="75000"/>
                  </a:srgbClr>
                </a:solidFill>
              </a:rPr>
              <a:pPr/>
              <a:t>‹#›</a:t>
            </a:fld>
            <a:endParaRPr lang="en-US">
              <a:solidFill>
                <a:srgbClr val="212121">
                  <a:tint val="75000"/>
                </a:srgbClr>
              </a:solidFill>
            </a:endParaRPr>
          </a:p>
        </p:txBody>
      </p:sp>
    </p:spTree>
    <p:extLst>
      <p:ext uri="{BB962C8B-B14F-4D97-AF65-F5344CB8AC3E}">
        <p14:creationId xmlns:p14="http://schemas.microsoft.com/office/powerpoint/2010/main" val="885788312"/>
      </p:ext>
    </p:extLst>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 id="2147483752" r:id="rId12"/>
    <p:sldLayoutId id="2147483753" r:id="rId13"/>
    <p:sldLayoutId id="2147483754" r:id="rId14"/>
    <p:sldLayoutId id="2147483755" r:id="rId15"/>
    <p:sldLayoutId id="2147483756" r:id="rId16"/>
    <p:sldLayoutId id="2147483757" r:id="rId17"/>
    <p:sldLayoutId id="2147483758" r:id="rId18"/>
    <p:sldLayoutId id="2147483759" r:id="rId19"/>
    <p:sldLayoutId id="2147483760" r:id="rId20"/>
    <p:sldLayoutId id="2147483761"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solidFill>
                  <a:srgbClr val="212121">
                    <a:tint val="75000"/>
                  </a:srgbClr>
                </a:solidFill>
              </a:rPr>
              <a:pPr/>
              <a:t>1/27/2026</a:t>
            </a:fld>
            <a:endParaRPr lang="en-US">
              <a:solidFill>
                <a:srgbClr val="212121">
                  <a:tint val="75000"/>
                </a:srgbClr>
              </a:solidFill>
            </a:endParaRPr>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srgbClr val="212121">
                  <a:tint val="75000"/>
                </a:srgbClr>
              </a:solidFill>
            </a:endParaRPr>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solidFill>
                  <a:srgbClr val="212121">
                    <a:tint val="75000"/>
                  </a:srgbClr>
                </a:solidFill>
              </a:rPr>
              <a:pPr/>
              <a:t>‹#›</a:t>
            </a:fld>
            <a:endParaRPr lang="en-US">
              <a:solidFill>
                <a:srgbClr val="212121">
                  <a:tint val="75000"/>
                </a:srgbClr>
              </a:solidFill>
            </a:endParaRPr>
          </a:p>
        </p:txBody>
      </p:sp>
    </p:spTree>
    <p:extLst>
      <p:ext uri="{BB962C8B-B14F-4D97-AF65-F5344CB8AC3E}">
        <p14:creationId xmlns:p14="http://schemas.microsoft.com/office/powerpoint/2010/main" val="1122595001"/>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76" r:id="rId14"/>
    <p:sldLayoutId id="2147483777" r:id="rId15"/>
    <p:sldLayoutId id="2147483778" r:id="rId16"/>
    <p:sldLayoutId id="2147483779" r:id="rId17"/>
    <p:sldLayoutId id="2147483780" r:id="rId18"/>
    <p:sldLayoutId id="2147483781" r:id="rId19"/>
    <p:sldLayoutId id="2147483782" r:id="rId20"/>
    <p:sldLayoutId id="2147483783" r:id="rId21"/>
    <p:sldLayoutId id="2147483784"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solidFill>
                  <a:srgbClr val="212121">
                    <a:tint val="75000"/>
                  </a:srgbClr>
                </a:solidFill>
              </a:rPr>
              <a:pPr/>
              <a:t>1/27/2026</a:t>
            </a:fld>
            <a:endParaRPr lang="en-US">
              <a:solidFill>
                <a:srgbClr val="212121">
                  <a:tint val="75000"/>
                </a:srgbClr>
              </a:solidFill>
            </a:endParaRPr>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srgbClr val="212121">
                  <a:tint val="75000"/>
                </a:srgbClr>
              </a:solidFill>
            </a:endParaRPr>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solidFill>
                  <a:srgbClr val="212121">
                    <a:tint val="75000"/>
                  </a:srgbClr>
                </a:solidFill>
              </a:rPr>
              <a:pPr/>
              <a:t>‹#›</a:t>
            </a:fld>
            <a:endParaRPr lang="en-US">
              <a:solidFill>
                <a:srgbClr val="212121">
                  <a:tint val="75000"/>
                </a:srgbClr>
              </a:solidFill>
            </a:endParaRPr>
          </a:p>
        </p:txBody>
      </p:sp>
    </p:spTree>
    <p:extLst>
      <p:ext uri="{BB962C8B-B14F-4D97-AF65-F5344CB8AC3E}">
        <p14:creationId xmlns:p14="http://schemas.microsoft.com/office/powerpoint/2010/main" val="1175722445"/>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 id="2147483797" r:id="rId12"/>
    <p:sldLayoutId id="2147483798" r:id="rId13"/>
    <p:sldLayoutId id="2147483799" r:id="rId14"/>
    <p:sldLayoutId id="2147483800" r:id="rId15"/>
    <p:sldLayoutId id="2147483801" r:id="rId16"/>
    <p:sldLayoutId id="2147483802" r:id="rId17"/>
    <p:sldLayoutId id="2147483803" r:id="rId18"/>
    <p:sldLayoutId id="2147483804" r:id="rId19"/>
    <p:sldLayoutId id="2147483805" r:id="rId20"/>
    <p:sldLayoutId id="2147483806"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48.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8.xml"/><Relationship Id="rId1" Type="http://schemas.openxmlformats.org/officeDocument/2006/relationships/themeOverride" Target="../theme/themeOverride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48.xml"/><Relationship Id="rId1" Type="http://schemas.openxmlformats.org/officeDocument/2006/relationships/themeOverride" Target="../theme/themeOverride3.xml"/></Relationships>
</file>

<file path=ppt/slides/_rels/slide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g"/><Relationship Id="rId1" Type="http://schemas.openxmlformats.org/officeDocument/2006/relationships/slideLayout" Target="../slideLayouts/slideLayout111.xml"/><Relationship Id="rId4" Type="http://schemas.openxmlformats.org/officeDocument/2006/relationships/image" Target="../media/image29.jpeg"/></Relationships>
</file>

<file path=ppt/slides/_rels/slide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g"/><Relationship Id="rId1" Type="http://schemas.openxmlformats.org/officeDocument/2006/relationships/slideLayout" Target="../slideLayouts/slideLayout3.xml"/><Relationship Id="rId6" Type="http://schemas.openxmlformats.org/officeDocument/2006/relationships/image" Target="../media/image34.jpg"/><Relationship Id="rId5" Type="http://schemas.openxmlformats.org/officeDocument/2006/relationships/image" Target="../media/image33.jpeg"/><Relationship Id="rId4" Type="http://schemas.openxmlformats.org/officeDocument/2006/relationships/image" Target="../media/image3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48.xml"/><Relationship Id="rId1" Type="http://schemas.openxmlformats.org/officeDocument/2006/relationships/themeOverride" Target="../theme/themeOverride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48.xml"/><Relationship Id="rId1" Type="http://schemas.openxmlformats.org/officeDocument/2006/relationships/themeOverride" Target="../theme/themeOverride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9.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48.xml"/><Relationship Id="rId1" Type="http://schemas.openxmlformats.org/officeDocument/2006/relationships/themeOverride" Target="../theme/themeOverride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8.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48.xml"/><Relationship Id="rId1" Type="http://schemas.openxmlformats.org/officeDocument/2006/relationships/themeOverride" Target="../theme/themeOverride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9.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48.xml"/><Relationship Id="rId1" Type="http://schemas.openxmlformats.org/officeDocument/2006/relationships/themeOverride" Target="../theme/themeOverride8.xml"/></Relationships>
</file>

<file path=ppt/slides/_rels/slide4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0.xml"/></Relationships>
</file>

<file path=ppt/slides/_rels/slide47.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70.xml"/></Relationships>
</file>

<file path=ppt/slides/_rels/slide4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0.xml"/></Relationships>
</file>

<file path=ppt/slides/_rels/slide4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slideLayout" Target="../slideLayouts/slideLayout48.xml"/><Relationship Id="rId1" Type="http://schemas.openxmlformats.org/officeDocument/2006/relationships/themeOverride" Target="../theme/themeOverride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48.xml"/><Relationship Id="rId1" Type="http://schemas.openxmlformats.org/officeDocument/2006/relationships/themeOverride" Target="../theme/themeOverride1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9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9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9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6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slideLayout" Target="../slideLayouts/slideLayout66.xml"/><Relationship Id="rId1" Type="http://schemas.openxmlformats.org/officeDocument/2006/relationships/themeOverride" Target="../theme/themeOverride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A5353-D4D5-43D7-A039-6CFC6871D64F}"/>
              </a:ext>
            </a:extLst>
          </p:cNvPr>
          <p:cNvSpPr>
            <a:spLocks noGrp="1"/>
          </p:cNvSpPr>
          <p:nvPr>
            <p:ph type="ctrTitle"/>
          </p:nvPr>
        </p:nvSpPr>
        <p:spPr/>
        <p:txBody>
          <a:bodyPr/>
          <a:lstStyle/>
          <a:p>
            <a:pPr>
              <a:lnSpc>
                <a:spcPct val="100000"/>
              </a:lnSpc>
            </a:pPr>
            <a:r>
              <a:rPr lang="en-US" sz="4800" b="0" dirty="0"/>
              <a:t>Unit-4</a:t>
            </a:r>
            <a:br>
              <a:rPr lang="en-US" sz="4800" b="0" dirty="0"/>
            </a:br>
            <a:r>
              <a:rPr lang="en-IN" sz="4800" dirty="0"/>
              <a:t>Memory Management</a:t>
            </a:r>
            <a:br>
              <a:rPr lang="en-IN" sz="4800" dirty="0"/>
            </a:br>
            <a:br>
              <a:rPr lang="en-IN" sz="4800" i="1" dirty="0"/>
            </a:br>
            <a:r>
              <a:rPr lang="en-US" sz="1800" i="1" dirty="0">
                <a:effectLst/>
              </a:rPr>
              <a:t>CO4 - use memory management strategies and allocation techniques</a:t>
            </a:r>
          </a:p>
        </p:txBody>
      </p:sp>
      <p:sp>
        <p:nvSpPr>
          <p:cNvPr id="3" name="Text Placeholder 2">
            <a:extLst>
              <a:ext uri="{FF2B5EF4-FFF2-40B4-BE49-F238E27FC236}">
                <a16:creationId xmlns:a16="http://schemas.microsoft.com/office/drawing/2014/main" id="{E4D4005A-4647-4086-9144-7BCC7DFEFB1B}"/>
              </a:ext>
            </a:extLst>
          </p:cNvPr>
          <p:cNvSpPr>
            <a:spLocks noGrp="1"/>
          </p:cNvSpPr>
          <p:nvPr>
            <p:ph type="body" sz="quarter" idx="11"/>
          </p:nvPr>
        </p:nvSpPr>
        <p:spPr/>
        <p:txBody>
          <a:bodyPr/>
          <a:lstStyle/>
          <a:p>
            <a:r>
              <a:rPr lang="en-IN" dirty="0" err="1"/>
              <a:t>asha.gondaliya</a:t>
            </a:r>
            <a:r>
              <a:rPr lang="en-IN" dirty="0"/>
              <a:t>@​darshan.ac.in</a:t>
            </a:r>
            <a:endParaRPr lang="en-US" dirty="0"/>
          </a:p>
        </p:txBody>
      </p:sp>
      <p:sp>
        <p:nvSpPr>
          <p:cNvPr id="4" name="Text Placeholder 3">
            <a:extLst>
              <a:ext uri="{FF2B5EF4-FFF2-40B4-BE49-F238E27FC236}">
                <a16:creationId xmlns:a16="http://schemas.microsoft.com/office/drawing/2014/main" id="{6F817D43-889A-4049-ACFD-9B3B648B6A91}"/>
              </a:ext>
            </a:extLst>
          </p:cNvPr>
          <p:cNvSpPr>
            <a:spLocks noGrp="1"/>
          </p:cNvSpPr>
          <p:nvPr>
            <p:ph type="body" sz="quarter" idx="12"/>
          </p:nvPr>
        </p:nvSpPr>
        <p:spPr/>
        <p:txBody>
          <a:bodyPr/>
          <a:lstStyle/>
          <a:p>
            <a:endParaRPr lang="en-US" dirty="0"/>
          </a:p>
        </p:txBody>
      </p:sp>
      <p:sp>
        <p:nvSpPr>
          <p:cNvPr id="5" name="Text Placeholder 4">
            <a:extLst>
              <a:ext uri="{FF2B5EF4-FFF2-40B4-BE49-F238E27FC236}">
                <a16:creationId xmlns:a16="http://schemas.microsoft.com/office/drawing/2014/main" id="{DA9A7BEC-5E94-41D6-95AB-3D2BFB0D5E9F}"/>
              </a:ext>
            </a:extLst>
          </p:cNvPr>
          <p:cNvSpPr>
            <a:spLocks noGrp="1"/>
          </p:cNvSpPr>
          <p:nvPr>
            <p:ph type="body" sz="quarter" idx="13"/>
          </p:nvPr>
        </p:nvSpPr>
        <p:spPr/>
        <p:txBody>
          <a:bodyPr/>
          <a:lstStyle/>
          <a:p>
            <a:r>
              <a:rPr lang="en-US" dirty="0"/>
              <a:t>Department of Computer Engineering</a:t>
            </a:r>
          </a:p>
        </p:txBody>
      </p:sp>
      <p:sp>
        <p:nvSpPr>
          <p:cNvPr id="14" name="Text Placeholder 13">
            <a:extLst>
              <a:ext uri="{FF2B5EF4-FFF2-40B4-BE49-F238E27FC236}">
                <a16:creationId xmlns:a16="http://schemas.microsoft.com/office/drawing/2014/main" id="{ABE85B2E-33FC-6B45-7B2E-92B4F7EF494B}"/>
              </a:ext>
            </a:extLst>
          </p:cNvPr>
          <p:cNvSpPr>
            <a:spLocks noGrp="1"/>
          </p:cNvSpPr>
          <p:nvPr>
            <p:ph type="body" sz="quarter" idx="16"/>
          </p:nvPr>
        </p:nvSpPr>
        <p:spPr/>
        <p:txBody>
          <a:bodyPr/>
          <a:lstStyle/>
          <a:p>
            <a:pPr>
              <a:lnSpc>
                <a:spcPct val="150000"/>
              </a:lnSpc>
            </a:pPr>
            <a:r>
              <a:rPr lang="en-US" dirty="0"/>
              <a:t>Operating</a:t>
            </a:r>
            <a:r>
              <a:rPr lang="en-US" dirty="0">
                <a:latin typeface="Roboto Condensed Light" panose="02000000000000000000" pitchFamily="2" charset="0"/>
                <a:ea typeface="Roboto Condensed Light" panose="02000000000000000000" pitchFamily="2" charset="0"/>
              </a:rPr>
              <a:t> </a:t>
            </a:r>
            <a:r>
              <a:rPr lang="en-US" dirty="0"/>
              <a:t>System </a:t>
            </a:r>
            <a:r>
              <a:rPr lang="en-US" dirty="0">
                <a:latin typeface="Roboto Condensed Light" panose="02000000000000000000" pitchFamily="2" charset="0"/>
                <a:ea typeface="Roboto Condensed Light" panose="02000000000000000000" pitchFamily="2" charset="0"/>
              </a:rPr>
              <a:t>(OS)</a:t>
            </a:r>
          </a:p>
          <a:p>
            <a:pPr>
              <a:lnSpc>
                <a:spcPct val="150000"/>
              </a:lnSpc>
            </a:pPr>
            <a:r>
              <a:rPr lang="en-US" dirty="0">
                <a:latin typeface="Roboto Condensed Light" panose="02000000000000000000" pitchFamily="2" charset="0"/>
                <a:ea typeface="Roboto Condensed Light" panose="02000000000000000000" pitchFamily="2" charset="0"/>
              </a:rPr>
              <a:t>DU #2302CS401</a:t>
            </a:r>
          </a:p>
        </p:txBody>
      </p:sp>
      <p:sp>
        <p:nvSpPr>
          <p:cNvPr id="11" name="AutoShape 3">
            <a:extLst>
              <a:ext uri="{FF2B5EF4-FFF2-40B4-BE49-F238E27FC236}">
                <a16:creationId xmlns:a16="http://schemas.microsoft.com/office/drawing/2014/main" id="{3D1B70E7-2396-452E-A00A-D1D4AA1E56DF}"/>
              </a:ext>
            </a:extLst>
          </p:cNvPr>
          <p:cNvSpPr>
            <a:spLocks noChangeAspect="1" noChangeArrowheads="1" noTextEdit="1"/>
          </p:cNvSpPr>
          <p:nvPr/>
        </p:nvSpPr>
        <p:spPr bwMode="auto">
          <a:xfrm>
            <a:off x="5573676" y="-3055324"/>
            <a:ext cx="7721600" cy="1457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Text Placeholder 15">
            <a:extLst>
              <a:ext uri="{FF2B5EF4-FFF2-40B4-BE49-F238E27FC236}">
                <a16:creationId xmlns:a16="http://schemas.microsoft.com/office/drawing/2014/main" id="{7C9D2D46-64B7-7EB1-5FBC-8717156BECDC}"/>
              </a:ext>
            </a:extLst>
          </p:cNvPr>
          <p:cNvSpPr>
            <a:spLocks noGrp="1"/>
          </p:cNvSpPr>
          <p:nvPr>
            <p:ph type="body" sz="quarter" idx="14"/>
          </p:nvPr>
        </p:nvSpPr>
        <p:spPr/>
        <p:txBody>
          <a:bodyPr/>
          <a:lstStyle/>
          <a:p>
            <a:r>
              <a:rPr lang="en-US" dirty="0"/>
              <a:t>Prof. Asha A. Gondaliya</a:t>
            </a:r>
          </a:p>
        </p:txBody>
      </p:sp>
      <p:pic>
        <p:nvPicPr>
          <p:cNvPr id="10" name="Picture Placeholder 9">
            <a:extLst>
              <a:ext uri="{FF2B5EF4-FFF2-40B4-BE49-F238E27FC236}">
                <a16:creationId xmlns:a16="http://schemas.microsoft.com/office/drawing/2014/main" id="{B74FBE69-EE0F-4DDD-AA45-038D9B5E75B7}"/>
              </a:ext>
            </a:extLst>
          </p:cNvPr>
          <p:cNvPicPr>
            <a:picLocks noGrp="1" noChangeAspect="1"/>
          </p:cNvPicPr>
          <p:nvPr>
            <p:ph type="pic" sz="quarter" idx="10"/>
          </p:nvPr>
        </p:nvPicPr>
        <p:blipFill>
          <a:blip r:embed="rId2" cstate="print">
            <a:extLst>
              <a:ext uri="{28A0092B-C50C-407E-A947-70E740481C1C}">
                <a14:useLocalDpi xmlns:a14="http://schemas.microsoft.com/office/drawing/2010/main" val="0"/>
              </a:ext>
            </a:extLst>
          </a:blip>
          <a:stretch>
            <a:fillRect/>
          </a:stretch>
        </p:blipFill>
        <p:spPr>
          <a:xfrm>
            <a:off x="353569" y="5211251"/>
            <a:ext cx="1353599" cy="1353599"/>
          </a:xfrm>
        </p:spPr>
      </p:pic>
    </p:spTree>
    <p:extLst>
      <p:ext uri="{BB962C8B-B14F-4D97-AF65-F5344CB8AC3E}">
        <p14:creationId xmlns:p14="http://schemas.microsoft.com/office/powerpoint/2010/main" val="661001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50634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DAC9BCC-6D7A-4119-BBFE-F1E0245720C7}"/>
              </a:ext>
            </a:extLst>
          </p:cNvPr>
          <p:cNvSpPr txBox="1"/>
          <p:nvPr/>
        </p:nvSpPr>
        <p:spPr>
          <a:xfrm>
            <a:off x="1458963" y="731706"/>
            <a:ext cx="9956750" cy="6020110"/>
          </a:xfrm>
          <a:prstGeom prst="rect">
            <a:avLst/>
          </a:prstGeom>
          <a:noFill/>
        </p:spPr>
        <p:txBody>
          <a:bodyPr wrap="square" rtlCol="0">
            <a:spAutoFit/>
          </a:bodyPr>
          <a:lstStyle/>
          <a:p>
            <a:r>
              <a:rPr lang="en-US" sz="2400" b="1" dirty="0"/>
              <a:t>Topics </a:t>
            </a:r>
          </a:p>
          <a:p>
            <a:pPr marL="742950" lvl="1" indent="-285750">
              <a:lnSpc>
                <a:spcPct val="130000"/>
              </a:lnSpc>
              <a:buFont typeface="Arial" panose="020B0604020202020204" pitchFamily="34" charset="0"/>
              <a:buChar char="•"/>
            </a:pPr>
            <a:r>
              <a:rPr lang="en-IN" sz="2400" dirty="0"/>
              <a:t>Memory Management: Concept</a:t>
            </a:r>
          </a:p>
          <a:p>
            <a:pPr marL="742950" lvl="1" indent="-285750">
              <a:lnSpc>
                <a:spcPct val="130000"/>
              </a:lnSpc>
              <a:buFont typeface="Arial" panose="020B0604020202020204" pitchFamily="34" charset="0"/>
              <a:buChar char="•"/>
            </a:pPr>
            <a:r>
              <a:rPr lang="en-IN" sz="2400" dirty="0"/>
              <a:t>Logical and Physical address</a:t>
            </a:r>
          </a:p>
          <a:p>
            <a:pPr marL="742950" lvl="1" indent="-285750">
              <a:lnSpc>
                <a:spcPct val="130000"/>
              </a:lnSpc>
              <a:buFont typeface="Arial" panose="020B0604020202020204" pitchFamily="34" charset="0"/>
              <a:buChar char="•"/>
            </a:pPr>
            <a:r>
              <a:rPr lang="en-US" sz="2400" dirty="0"/>
              <a:t>Basic Memory Management Techniques</a:t>
            </a:r>
          </a:p>
          <a:p>
            <a:pPr marL="1200150" lvl="2" indent="-285750">
              <a:lnSpc>
                <a:spcPct val="130000"/>
              </a:lnSpc>
              <a:buFont typeface="Arial" panose="020B0604020202020204" pitchFamily="34" charset="0"/>
              <a:buChar char="•"/>
            </a:pPr>
            <a:r>
              <a:rPr lang="en-US" sz="2400" dirty="0"/>
              <a:t>Contiguous Memory Allocation</a:t>
            </a:r>
          </a:p>
          <a:p>
            <a:pPr marL="1657350" lvl="3" indent="-285750">
              <a:lnSpc>
                <a:spcPct val="130000"/>
              </a:lnSpc>
              <a:buFont typeface="Arial" panose="020B0604020202020204" pitchFamily="34" charset="0"/>
              <a:buChar char="•"/>
            </a:pPr>
            <a:r>
              <a:rPr lang="en-IN" sz="2400" dirty="0"/>
              <a:t>Fixed/Static </a:t>
            </a:r>
            <a:r>
              <a:rPr lang="en-US" sz="2400" dirty="0"/>
              <a:t>partition</a:t>
            </a:r>
            <a:endParaRPr lang="en-IN" sz="2400" dirty="0"/>
          </a:p>
          <a:p>
            <a:pPr marL="1657350" lvl="3" indent="-285750">
              <a:lnSpc>
                <a:spcPct val="130000"/>
              </a:lnSpc>
              <a:buFont typeface="Arial" panose="020B0604020202020204" pitchFamily="34" charset="0"/>
              <a:buChar char="•"/>
            </a:pPr>
            <a:r>
              <a:rPr lang="en-US" sz="2400" dirty="0"/>
              <a:t>dynamic / variable partition</a:t>
            </a:r>
          </a:p>
          <a:p>
            <a:pPr marL="1657350" lvl="3" indent="-285750">
              <a:lnSpc>
                <a:spcPct val="130000"/>
              </a:lnSpc>
              <a:buFont typeface="Arial" panose="020B0604020202020204" pitchFamily="34" charset="0"/>
              <a:buChar char="•"/>
            </a:pPr>
            <a:r>
              <a:rPr lang="en-IN" sz="2400" dirty="0"/>
              <a:t>Swapping</a:t>
            </a:r>
            <a:endParaRPr lang="en-US" sz="2400" dirty="0"/>
          </a:p>
          <a:p>
            <a:pPr marL="1200150" lvl="2" indent="-285750">
              <a:lnSpc>
                <a:spcPct val="130000"/>
              </a:lnSpc>
              <a:buFont typeface="Arial" panose="020B0604020202020204" pitchFamily="34" charset="0"/>
              <a:buChar char="•"/>
            </a:pPr>
            <a:r>
              <a:rPr lang="en-US" sz="2400" dirty="0"/>
              <a:t>Non-Contiguous Memory Allocation</a:t>
            </a:r>
          </a:p>
          <a:p>
            <a:pPr marL="1657350" lvl="3" indent="-285750">
              <a:lnSpc>
                <a:spcPct val="130000"/>
              </a:lnSpc>
              <a:buFont typeface="Arial" panose="020B0604020202020204" pitchFamily="34" charset="0"/>
              <a:buChar char="•"/>
            </a:pPr>
            <a:r>
              <a:rPr lang="en-IN" sz="2400" dirty="0"/>
              <a:t>Paging</a:t>
            </a:r>
          </a:p>
          <a:p>
            <a:pPr marL="1657350" lvl="3" indent="-285750">
              <a:lnSpc>
                <a:spcPct val="130000"/>
              </a:lnSpc>
              <a:buFont typeface="Arial" panose="020B0604020202020204" pitchFamily="34" charset="0"/>
              <a:buChar char="•"/>
            </a:pPr>
            <a:r>
              <a:rPr lang="en-IN" sz="2400" dirty="0"/>
              <a:t>Segmentation</a:t>
            </a:r>
          </a:p>
          <a:p>
            <a:pPr marL="1657350" lvl="3" indent="-285750">
              <a:lnSpc>
                <a:spcPct val="130000"/>
              </a:lnSpc>
              <a:buFont typeface="Arial" panose="020B0604020202020204" pitchFamily="34" charset="0"/>
              <a:buChar char="•"/>
            </a:pPr>
            <a:r>
              <a:rPr lang="en-US" sz="2400" dirty="0"/>
              <a:t>The concept of virtual memory</a:t>
            </a:r>
          </a:p>
          <a:p>
            <a:endParaRPr lang="en-US" dirty="0">
              <a:solidFill>
                <a:schemeClr val="bg1">
                  <a:lumMod val="50000"/>
                </a:schemeClr>
              </a:solidFill>
            </a:endParaRPr>
          </a:p>
        </p:txBody>
      </p:sp>
    </p:spTree>
    <p:extLst>
      <p:ext uri="{BB962C8B-B14F-4D97-AF65-F5344CB8AC3E}">
        <p14:creationId xmlns:p14="http://schemas.microsoft.com/office/powerpoint/2010/main" val="3685608500"/>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childTnLst>
                          </p:cTn>
                        </p:par>
                        <p:par>
                          <p:cTn id="14" fill="hold">
                            <p:stCondLst>
                              <p:cond delay="1000"/>
                            </p:stCondLst>
                            <p:childTnLst>
                              <p:par>
                                <p:cTn id="15" presetID="22" presetClass="entr" presetSubtype="1" fill="hold"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50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50634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DAC9BCC-6D7A-4119-BBFE-F1E0245720C7}"/>
              </a:ext>
            </a:extLst>
          </p:cNvPr>
          <p:cNvSpPr txBox="1"/>
          <p:nvPr/>
        </p:nvSpPr>
        <p:spPr>
          <a:xfrm>
            <a:off x="1458963" y="731706"/>
            <a:ext cx="9956750" cy="4099584"/>
          </a:xfrm>
          <a:prstGeom prst="rect">
            <a:avLst/>
          </a:prstGeom>
          <a:noFill/>
        </p:spPr>
        <p:txBody>
          <a:bodyPr wrap="square" rtlCol="0">
            <a:spAutoFit/>
          </a:bodyPr>
          <a:lstStyle/>
          <a:p>
            <a:r>
              <a:rPr lang="en-US" sz="2400" b="1" dirty="0"/>
              <a:t>Topics </a:t>
            </a:r>
          </a:p>
          <a:p>
            <a:pPr marL="742950" lvl="1" indent="-285750">
              <a:lnSpc>
                <a:spcPct val="130000"/>
              </a:lnSpc>
              <a:buFont typeface="Arial" panose="020B0604020202020204" pitchFamily="34" charset="0"/>
              <a:buChar char="•"/>
            </a:pPr>
            <a:r>
              <a:rPr lang="en-US" sz="2400" dirty="0"/>
              <a:t>Concept of a Page Fault</a:t>
            </a:r>
          </a:p>
          <a:p>
            <a:pPr marL="742950" lvl="1" indent="-285750">
              <a:lnSpc>
                <a:spcPct val="130000"/>
              </a:lnSpc>
              <a:buFont typeface="Arial" panose="020B0604020202020204" pitchFamily="34" charset="0"/>
              <a:buChar char="•"/>
            </a:pPr>
            <a:r>
              <a:rPr lang="en-US" sz="2400" dirty="0"/>
              <a:t>Memory Allocation Strategies (First Fit, Best Fit, and Worst Fit)</a:t>
            </a:r>
          </a:p>
          <a:p>
            <a:pPr marL="742950" lvl="1" indent="-285750">
              <a:lnSpc>
                <a:spcPct val="130000"/>
              </a:lnSpc>
              <a:buFont typeface="Arial" panose="020B0604020202020204" pitchFamily="34" charset="0"/>
              <a:buChar char="•"/>
            </a:pPr>
            <a:r>
              <a:rPr lang="fr-FR" sz="2400" dirty="0"/>
              <a:t>Page Replacement Algorithmes: FIFO, LRU, OPT</a:t>
            </a:r>
          </a:p>
          <a:p>
            <a:pPr marL="742950" lvl="1" indent="-285750">
              <a:lnSpc>
                <a:spcPct val="130000"/>
              </a:lnSpc>
              <a:buFont typeface="Arial" panose="020B0604020202020204" pitchFamily="34" charset="0"/>
              <a:buChar char="•"/>
            </a:pPr>
            <a:endParaRPr lang="en-IN" sz="2400" dirty="0"/>
          </a:p>
          <a:p>
            <a:pPr marL="742950" lvl="1" indent="-285750">
              <a:lnSpc>
                <a:spcPct val="130000"/>
              </a:lnSpc>
              <a:buFont typeface="Arial" panose="020B0604020202020204" pitchFamily="34" charset="0"/>
              <a:buChar char="•"/>
            </a:pPr>
            <a:endParaRPr lang="en-IN" sz="2400" dirty="0"/>
          </a:p>
          <a:p>
            <a:pPr marL="742950" lvl="1" indent="-285750">
              <a:lnSpc>
                <a:spcPct val="130000"/>
              </a:lnSpc>
              <a:buFont typeface="Arial" panose="020B0604020202020204" pitchFamily="34" charset="0"/>
              <a:buChar char="•"/>
            </a:pPr>
            <a:endParaRPr lang="en-US" sz="2400" dirty="0"/>
          </a:p>
          <a:p>
            <a:pPr marL="1200150" lvl="2" indent="-285750">
              <a:lnSpc>
                <a:spcPct val="130000"/>
              </a:lnSpc>
              <a:buFont typeface="Arial" panose="020B0604020202020204" pitchFamily="34" charset="0"/>
              <a:buChar char="•"/>
            </a:pPr>
            <a:endParaRPr lang="en-US" sz="2400" dirty="0"/>
          </a:p>
          <a:p>
            <a:endParaRPr lang="en-US" dirty="0">
              <a:solidFill>
                <a:schemeClr val="bg1">
                  <a:lumMod val="50000"/>
                </a:schemeClr>
              </a:solidFill>
            </a:endParaRPr>
          </a:p>
        </p:txBody>
      </p:sp>
    </p:spTree>
    <p:extLst>
      <p:ext uri="{BB962C8B-B14F-4D97-AF65-F5344CB8AC3E}">
        <p14:creationId xmlns:p14="http://schemas.microsoft.com/office/powerpoint/2010/main" val="189230781"/>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childTnLst>
                          </p:cTn>
                        </p:par>
                        <p:par>
                          <p:cTn id="14" fill="hold">
                            <p:stCondLst>
                              <p:cond delay="1000"/>
                            </p:stCondLst>
                            <p:childTnLst>
                              <p:par>
                                <p:cTn id="15" presetID="22" presetClass="entr" presetSubtype="1" fill="hold"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50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gradFill flip="none" rotWithShape="1">
                  <a:gsLst>
                    <a:gs pos="10000">
                      <a:srgbClr val="3E2622"/>
                    </a:gs>
                    <a:gs pos="100000">
                      <a:srgbClr val="795547"/>
                    </a:gs>
                  </a:gsLst>
                  <a:lin ang="0" scaled="1"/>
                  <a:tileRect/>
                </a:gradFill>
              </a:rPr>
              <a:t>Memory Management: Concept</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- 1</a:t>
            </a:r>
          </a:p>
        </p:txBody>
      </p:sp>
    </p:spTree>
    <p:extLst>
      <p:ext uri="{BB962C8B-B14F-4D97-AF65-F5344CB8AC3E}">
        <p14:creationId xmlns:p14="http://schemas.microsoft.com/office/powerpoint/2010/main" val="913512815"/>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982952">
            <a:off x="8351347" y="1671210"/>
            <a:ext cx="3689676" cy="1601684"/>
          </a:xfrm>
          <a:prstGeom prst="rect">
            <a:avLst/>
          </a:prstGeom>
        </p:spPr>
      </p:pic>
      <p:sp>
        <p:nvSpPr>
          <p:cNvPr id="2" name="Title 1"/>
          <p:cNvSpPr>
            <a:spLocks noGrp="1"/>
          </p:cNvSpPr>
          <p:nvPr>
            <p:ph type="title"/>
          </p:nvPr>
        </p:nvSpPr>
        <p:spPr/>
        <p:txBody>
          <a:bodyPr/>
          <a:lstStyle/>
          <a:p>
            <a:r>
              <a:rPr lang="en-US" dirty="0"/>
              <a:t>What is Memory?</a:t>
            </a:r>
          </a:p>
        </p:txBody>
      </p:sp>
      <p:sp>
        <p:nvSpPr>
          <p:cNvPr id="3" name="Content Placeholder 2"/>
          <p:cNvSpPr>
            <a:spLocks noGrp="1"/>
          </p:cNvSpPr>
          <p:nvPr>
            <p:ph idx="1"/>
          </p:nvPr>
        </p:nvSpPr>
        <p:spPr>
          <a:xfrm>
            <a:off x="131181" y="863444"/>
            <a:ext cx="8138160" cy="5590565"/>
          </a:xfrm>
        </p:spPr>
        <p:txBody>
          <a:bodyPr/>
          <a:lstStyle/>
          <a:p>
            <a:pPr lvl="0">
              <a:buClr>
                <a:srgbClr val="B84742"/>
              </a:buClr>
            </a:pPr>
            <a:r>
              <a:rPr lang="en-US" dirty="0">
                <a:solidFill>
                  <a:srgbClr val="212121"/>
                </a:solidFill>
              </a:rPr>
              <a:t>Memory is a </a:t>
            </a:r>
            <a:r>
              <a:rPr lang="en-US" dirty="0">
                <a:solidFill>
                  <a:srgbClr val="B84742"/>
                </a:solidFill>
              </a:rPr>
              <a:t>collection</a:t>
            </a:r>
            <a:r>
              <a:rPr lang="en-US" dirty="0">
                <a:solidFill>
                  <a:srgbClr val="FF0000"/>
                </a:solidFill>
              </a:rPr>
              <a:t> </a:t>
            </a:r>
            <a:r>
              <a:rPr lang="en-US" dirty="0">
                <a:solidFill>
                  <a:srgbClr val="212121"/>
                </a:solidFill>
              </a:rPr>
              <a:t>of </a:t>
            </a:r>
            <a:r>
              <a:rPr lang="en-US" dirty="0">
                <a:solidFill>
                  <a:srgbClr val="B84742"/>
                </a:solidFill>
              </a:rPr>
              <a:t>data</a:t>
            </a:r>
            <a:r>
              <a:rPr lang="en-US" dirty="0">
                <a:solidFill>
                  <a:srgbClr val="FF0000"/>
                </a:solidFill>
              </a:rPr>
              <a:t> </a:t>
            </a:r>
            <a:r>
              <a:rPr lang="en-US" dirty="0">
                <a:solidFill>
                  <a:srgbClr val="212121"/>
                </a:solidFill>
              </a:rPr>
              <a:t>in </a:t>
            </a:r>
            <a:r>
              <a:rPr lang="en-US" dirty="0">
                <a:solidFill>
                  <a:srgbClr val="B84742"/>
                </a:solidFill>
              </a:rPr>
              <a:t>specific format</a:t>
            </a:r>
            <a:r>
              <a:rPr lang="en-US" dirty="0">
                <a:solidFill>
                  <a:srgbClr val="212121"/>
                </a:solidFill>
              </a:rPr>
              <a:t>.</a:t>
            </a:r>
          </a:p>
          <a:p>
            <a:pPr lvl="0">
              <a:buClr>
                <a:srgbClr val="B84742"/>
              </a:buClr>
            </a:pPr>
            <a:r>
              <a:rPr lang="en-US" dirty="0">
                <a:solidFill>
                  <a:srgbClr val="212121"/>
                </a:solidFill>
              </a:rPr>
              <a:t>It used to </a:t>
            </a:r>
            <a:r>
              <a:rPr lang="en-US" dirty="0">
                <a:solidFill>
                  <a:srgbClr val="B84742"/>
                </a:solidFill>
              </a:rPr>
              <a:t>store instruction</a:t>
            </a:r>
            <a:r>
              <a:rPr lang="en-US" dirty="0">
                <a:solidFill>
                  <a:srgbClr val="FF0000"/>
                </a:solidFill>
              </a:rPr>
              <a:t> </a:t>
            </a:r>
            <a:r>
              <a:rPr lang="en-US" dirty="0">
                <a:solidFill>
                  <a:srgbClr val="212121"/>
                </a:solidFill>
              </a:rPr>
              <a:t>and </a:t>
            </a:r>
            <a:r>
              <a:rPr lang="en-US" dirty="0">
                <a:solidFill>
                  <a:srgbClr val="B84742"/>
                </a:solidFill>
              </a:rPr>
              <a:t>processed data</a:t>
            </a:r>
            <a:r>
              <a:rPr lang="en-US" dirty="0">
                <a:solidFill>
                  <a:srgbClr val="212121"/>
                </a:solidFill>
              </a:rPr>
              <a:t>.</a:t>
            </a:r>
          </a:p>
          <a:p>
            <a:r>
              <a:rPr lang="en-US" dirty="0"/>
              <a:t>Types of memory</a:t>
            </a:r>
          </a:p>
          <a:p>
            <a:pPr marL="914400" lvl="1" indent="-457200">
              <a:buFont typeface="+mj-lt"/>
              <a:buAutoNum type="arabicPeriod"/>
            </a:pPr>
            <a:r>
              <a:rPr lang="en-US" b="1" dirty="0"/>
              <a:t>Random Access Memory (RAM)</a:t>
            </a:r>
            <a:r>
              <a:rPr lang="en-US" dirty="0"/>
              <a:t>, is a </a:t>
            </a:r>
            <a:r>
              <a:rPr lang="en-US" b="1" dirty="0">
                <a:solidFill>
                  <a:schemeClr val="accent6"/>
                </a:solidFill>
              </a:rPr>
              <a:t>volatile memory </a:t>
            </a:r>
            <a:r>
              <a:rPr lang="en-US" dirty="0"/>
              <a:t>that </a:t>
            </a:r>
            <a:r>
              <a:rPr lang="en-US" b="1" dirty="0">
                <a:solidFill>
                  <a:schemeClr val="accent6"/>
                </a:solidFill>
              </a:rPr>
              <a:t>loses its contents when the computer </a:t>
            </a:r>
            <a:r>
              <a:rPr lang="en-US" dirty="0"/>
              <a:t>or hardware device </a:t>
            </a:r>
            <a:r>
              <a:rPr lang="en-US" b="1" dirty="0">
                <a:solidFill>
                  <a:schemeClr val="accent6"/>
                </a:solidFill>
              </a:rPr>
              <a:t>loses power</a:t>
            </a:r>
            <a:r>
              <a:rPr lang="en-US" dirty="0"/>
              <a:t>.</a:t>
            </a:r>
          </a:p>
          <a:p>
            <a:pPr marL="914400" lvl="1" indent="-457200">
              <a:buFont typeface="+mj-lt"/>
              <a:buAutoNum type="arabicPeriod"/>
            </a:pPr>
            <a:endParaRPr lang="en-US" dirty="0"/>
          </a:p>
          <a:p>
            <a:pPr marL="914400" lvl="1" indent="-457200">
              <a:buFont typeface="+mj-lt"/>
              <a:buAutoNum type="arabicPeriod"/>
            </a:pPr>
            <a:r>
              <a:rPr lang="en-US" b="1" dirty="0"/>
              <a:t>Read Only Memory (ROM), </a:t>
            </a:r>
            <a:r>
              <a:rPr lang="en-US" dirty="0"/>
              <a:t>is a </a:t>
            </a:r>
            <a:r>
              <a:rPr lang="en-US" b="1" dirty="0">
                <a:solidFill>
                  <a:schemeClr val="accent6"/>
                </a:solidFill>
              </a:rPr>
              <a:t>non-volatile memory</a:t>
            </a:r>
            <a:r>
              <a:rPr lang="en-US" dirty="0"/>
              <a:t>, that </a:t>
            </a:r>
            <a:r>
              <a:rPr lang="en-US" b="1" dirty="0">
                <a:solidFill>
                  <a:schemeClr val="accent6"/>
                </a:solidFill>
              </a:rPr>
              <a:t>keeps its contents even if the power is lost</a:t>
            </a:r>
            <a:r>
              <a:rPr lang="en-US" dirty="0"/>
              <a:t>.</a:t>
            </a:r>
          </a:p>
          <a:p>
            <a:pPr marL="914400" lvl="1" indent="-457200">
              <a:buFont typeface="+mj-lt"/>
              <a:buAutoNum type="arabicPeriod"/>
            </a:pPr>
            <a:endParaRPr lang="en-US" dirty="0"/>
          </a:p>
          <a:p>
            <a:pPr lvl="1">
              <a:buFont typeface="Wingdings" panose="05000000000000000000" pitchFamily="2" charset="2"/>
              <a:buChar char="§"/>
            </a:pPr>
            <a:r>
              <a:rPr lang="en-US" dirty="0"/>
              <a:t>Computer </a:t>
            </a:r>
            <a:r>
              <a:rPr lang="en-US" b="1" dirty="0">
                <a:solidFill>
                  <a:schemeClr val="accent6"/>
                </a:solidFill>
              </a:rPr>
              <a:t>uses special ROM </a:t>
            </a:r>
            <a:r>
              <a:rPr lang="en-US" dirty="0"/>
              <a:t>called </a:t>
            </a:r>
            <a:r>
              <a:rPr lang="en-US" b="1" dirty="0">
                <a:solidFill>
                  <a:schemeClr val="accent6"/>
                </a:solidFill>
              </a:rPr>
              <a:t>BIOS</a:t>
            </a:r>
            <a:r>
              <a:rPr lang="en-US" dirty="0"/>
              <a:t> (</a:t>
            </a:r>
            <a:r>
              <a:rPr lang="en-US" b="1" dirty="0">
                <a:solidFill>
                  <a:schemeClr val="accent6"/>
                </a:solidFill>
              </a:rPr>
              <a:t>Basic Input Output System</a:t>
            </a:r>
            <a:r>
              <a:rPr lang="en-US" dirty="0"/>
              <a:t>) which </a:t>
            </a:r>
            <a:r>
              <a:rPr lang="en-US" b="1" dirty="0">
                <a:solidFill>
                  <a:schemeClr val="accent6"/>
                </a:solidFill>
              </a:rPr>
              <a:t>permanently stores the software</a:t>
            </a:r>
            <a:r>
              <a:rPr lang="en-US" dirty="0"/>
              <a:t> needed to access computer hardware such as hard disk and then load an operating system into RAM and start to execute it.</a:t>
            </a:r>
          </a:p>
          <a:p>
            <a:pPr marL="457200" lvl="1" indent="0">
              <a:buNone/>
            </a:pPr>
            <a:endParaRPr lang="en-US" dirty="0"/>
          </a:p>
          <a:p>
            <a:pPr marL="914400" lvl="1" indent="-457200">
              <a:buFont typeface="+mj-lt"/>
              <a:buAutoNum type="arabicPeriod"/>
            </a:pPr>
            <a:endParaRPr lang="en-US" dirty="0"/>
          </a:p>
        </p:txBody>
      </p:sp>
      <p:pic>
        <p:nvPicPr>
          <p:cNvPr id="1026" name="Picture 2" descr="What Is ROM (Read Only Memory)? – POFTU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34336" y="2845326"/>
            <a:ext cx="1723698" cy="138757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IO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29575" y="4232903"/>
            <a:ext cx="1733221" cy="15165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4953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1026"/>
                                        </p:tgtEl>
                                        <p:attrNameLst>
                                          <p:attrName>style.visibility</p:attrName>
                                        </p:attrNameLst>
                                      </p:cBhvr>
                                      <p:to>
                                        <p:strVal val="visible"/>
                                      </p:to>
                                    </p:set>
                                    <p:animEffect transition="in" filter="fade">
                                      <p:cBhvr>
                                        <p:cTn id="33" dur="500"/>
                                        <p:tgtEl>
                                          <p:spTgt spid="1026"/>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500"/>
                                        <p:tgtEl>
                                          <p:spTgt spid="3">
                                            <p:txEl>
                                              <p:pRg st="7" end="7"/>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1028"/>
                                        </p:tgtEl>
                                        <p:attrNameLst>
                                          <p:attrName>style.visibility</p:attrName>
                                        </p:attrNameLst>
                                      </p:cBhvr>
                                      <p:to>
                                        <p:strVal val="visible"/>
                                      </p:to>
                                    </p:set>
                                    <p:animEffect transition="in" filter="fade">
                                      <p:cBhvr>
                                        <p:cTn id="41" dur="5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03458" y="5392336"/>
            <a:ext cx="1507355" cy="1025715"/>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90828" y="3519312"/>
            <a:ext cx="1859748" cy="1011703"/>
          </a:xfrm>
          <a:prstGeom prst="rect">
            <a:avLst/>
          </a:prstGeom>
        </p:spPr>
      </p:pic>
      <p:sp>
        <p:nvSpPr>
          <p:cNvPr id="2" name="Title 1"/>
          <p:cNvSpPr>
            <a:spLocks noGrp="1"/>
          </p:cNvSpPr>
          <p:nvPr>
            <p:ph type="title"/>
          </p:nvPr>
        </p:nvSpPr>
        <p:spPr/>
        <p:txBody>
          <a:bodyPr/>
          <a:lstStyle/>
          <a:p>
            <a:r>
              <a:rPr lang="en-US" dirty="0">
                <a:solidFill>
                  <a:schemeClr val="tx1"/>
                </a:solidFill>
              </a:rPr>
              <a:t>Memory Hierarchy</a:t>
            </a:r>
            <a:endParaRPr lang="en-IN" dirty="0">
              <a:solidFill>
                <a:schemeClr val="tx1"/>
              </a:solidFill>
            </a:endParaRPr>
          </a:p>
        </p:txBody>
      </p:sp>
      <p:sp>
        <p:nvSpPr>
          <p:cNvPr id="11" name="Content Placeholder 10"/>
          <p:cNvSpPr>
            <a:spLocks noGrp="1"/>
          </p:cNvSpPr>
          <p:nvPr>
            <p:ph idx="1"/>
          </p:nvPr>
        </p:nvSpPr>
        <p:spPr/>
        <p:txBody>
          <a:bodyPr/>
          <a:lstStyle/>
          <a:p>
            <a:r>
              <a:rPr lang="en-US" dirty="0"/>
              <a:t>Arrangement of storage of memory system in computer is memory hierarchy.</a:t>
            </a:r>
          </a:p>
        </p:txBody>
      </p:sp>
      <p:grpSp>
        <p:nvGrpSpPr>
          <p:cNvPr id="9" name="Group 8"/>
          <p:cNvGrpSpPr/>
          <p:nvPr/>
        </p:nvGrpSpPr>
        <p:grpSpPr>
          <a:xfrm>
            <a:off x="5657804" y="2757089"/>
            <a:ext cx="854439" cy="693370"/>
            <a:chOff x="2902111" y="663575"/>
            <a:chExt cx="1710999" cy="693370"/>
          </a:xfrm>
        </p:grpSpPr>
        <p:sp>
          <p:nvSpPr>
            <p:cNvPr id="10" name="Trapezoid 9"/>
            <p:cNvSpPr/>
            <p:nvPr/>
          </p:nvSpPr>
          <p:spPr>
            <a:xfrm>
              <a:off x="2902111" y="663575"/>
              <a:ext cx="1710999" cy="663575"/>
            </a:xfrm>
            <a:prstGeom prst="trapezoid">
              <a:avLst>
                <a:gd name="adj" fmla="val 94378"/>
              </a:avLst>
            </a:prstGeom>
            <a:solidFill>
              <a:schemeClr val="accent5">
                <a:lumMod val="40000"/>
                <a:lumOff val="60000"/>
              </a:schemeClr>
            </a:solidFill>
          </p:spPr>
          <p:style>
            <a:lnRef idx="2">
              <a:schemeClr val="lt1">
                <a:hueOff val="0"/>
                <a:satOff val="0"/>
                <a:lumOff val="0"/>
                <a:alphaOff val="0"/>
              </a:schemeClr>
            </a:lnRef>
            <a:fillRef idx="1">
              <a:schemeClr val="accent2">
                <a:hueOff val="-1208347"/>
                <a:satOff val="-10000"/>
                <a:lumOff val="2000"/>
                <a:alphaOff val="0"/>
              </a:schemeClr>
            </a:fillRef>
            <a:effectRef idx="0">
              <a:schemeClr val="accent2">
                <a:hueOff val="-1208347"/>
                <a:satOff val="-10000"/>
                <a:lumOff val="2000"/>
                <a:alphaOff val="0"/>
              </a:schemeClr>
            </a:effectRef>
            <a:fontRef idx="minor">
              <a:schemeClr val="lt1"/>
            </a:fontRef>
          </p:style>
        </p:sp>
        <p:sp>
          <p:nvSpPr>
            <p:cNvPr id="12" name="Trapezoid 4"/>
            <p:cNvSpPr/>
            <p:nvPr/>
          </p:nvSpPr>
          <p:spPr>
            <a:xfrm>
              <a:off x="2984809" y="693370"/>
              <a:ext cx="1628301" cy="66357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2860" tIns="22860" rIns="22860" bIns="22860" numCol="1" spcCol="1270" anchor="b" anchorCtr="0">
              <a:noAutofit/>
            </a:bodyPr>
            <a:lstStyle/>
            <a:p>
              <a:pPr lvl="0" algn="ctr" defTabSz="800100">
                <a:lnSpc>
                  <a:spcPct val="90000"/>
                </a:lnSpc>
                <a:spcBef>
                  <a:spcPct val="0"/>
                </a:spcBef>
                <a:spcAft>
                  <a:spcPct val="35000"/>
                </a:spcAft>
              </a:pPr>
              <a:r>
                <a:rPr lang="en-US" sz="1600" b="1" kern="1200" dirty="0">
                  <a:solidFill>
                    <a:srgbClr val="C00000"/>
                  </a:solidFill>
                </a:rPr>
                <a:t>Register</a:t>
              </a:r>
            </a:p>
          </p:txBody>
        </p:sp>
      </p:grpSp>
      <p:grpSp>
        <p:nvGrpSpPr>
          <p:cNvPr id="13" name="Group 12"/>
          <p:cNvGrpSpPr/>
          <p:nvPr/>
        </p:nvGrpSpPr>
        <p:grpSpPr>
          <a:xfrm>
            <a:off x="5030273" y="3420664"/>
            <a:ext cx="2121075" cy="663575"/>
            <a:chOff x="1878806" y="1327150"/>
            <a:chExt cx="3757612" cy="663575"/>
          </a:xfrm>
        </p:grpSpPr>
        <p:sp>
          <p:nvSpPr>
            <p:cNvPr id="14" name="Trapezoid 13"/>
            <p:cNvSpPr/>
            <p:nvPr/>
          </p:nvSpPr>
          <p:spPr>
            <a:xfrm>
              <a:off x="1878806" y="1327150"/>
              <a:ext cx="3757612" cy="663575"/>
            </a:xfrm>
            <a:prstGeom prst="trapezoid">
              <a:avLst>
                <a:gd name="adj" fmla="val 94378"/>
              </a:avLst>
            </a:prstGeom>
            <a:solidFill>
              <a:schemeClr val="accent5">
                <a:lumMod val="40000"/>
                <a:lumOff val="60000"/>
              </a:schemeClr>
            </a:solidFill>
          </p:spPr>
          <p:style>
            <a:lnRef idx="2">
              <a:schemeClr val="lt1">
                <a:hueOff val="0"/>
                <a:satOff val="0"/>
                <a:lumOff val="0"/>
                <a:alphaOff val="0"/>
              </a:schemeClr>
            </a:lnRef>
            <a:fillRef idx="1">
              <a:schemeClr val="accent2">
                <a:hueOff val="-2416693"/>
                <a:satOff val="-20000"/>
                <a:lumOff val="4000"/>
                <a:alphaOff val="0"/>
              </a:schemeClr>
            </a:fillRef>
            <a:effectRef idx="0">
              <a:schemeClr val="accent2">
                <a:hueOff val="-2416693"/>
                <a:satOff val="-20000"/>
                <a:lumOff val="4000"/>
                <a:alphaOff val="0"/>
              </a:schemeClr>
            </a:effectRef>
            <a:fontRef idx="minor">
              <a:schemeClr val="lt1"/>
            </a:fontRef>
          </p:style>
        </p:sp>
        <p:sp>
          <p:nvSpPr>
            <p:cNvPr id="15" name="Trapezoid 4"/>
            <p:cNvSpPr/>
            <p:nvPr/>
          </p:nvSpPr>
          <p:spPr>
            <a:xfrm>
              <a:off x="2536388" y="1327150"/>
              <a:ext cx="2442448" cy="66357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5400" tIns="25400" rIns="25400" bIns="25400" numCol="1" spcCol="1270" anchor="b" anchorCtr="0">
              <a:noAutofit/>
            </a:bodyPr>
            <a:lstStyle/>
            <a:p>
              <a:pPr lvl="0" algn="ctr" defTabSz="889000">
                <a:lnSpc>
                  <a:spcPct val="90000"/>
                </a:lnSpc>
                <a:spcBef>
                  <a:spcPct val="0"/>
                </a:spcBef>
                <a:spcAft>
                  <a:spcPct val="35000"/>
                </a:spcAft>
              </a:pPr>
              <a:r>
                <a:rPr lang="en-US" sz="2800" b="1" kern="1200" dirty="0">
                  <a:solidFill>
                    <a:srgbClr val="C00000"/>
                  </a:solidFill>
                </a:rPr>
                <a:t>Cache</a:t>
              </a:r>
            </a:p>
          </p:txBody>
        </p:sp>
      </p:grpSp>
      <p:grpSp>
        <p:nvGrpSpPr>
          <p:cNvPr id="16" name="Group 15"/>
          <p:cNvGrpSpPr/>
          <p:nvPr/>
        </p:nvGrpSpPr>
        <p:grpSpPr>
          <a:xfrm>
            <a:off x="4443601" y="4050111"/>
            <a:ext cx="3282846" cy="663575"/>
            <a:chOff x="1252537" y="1990725"/>
            <a:chExt cx="5010149" cy="663575"/>
          </a:xfrm>
          <a:solidFill>
            <a:schemeClr val="accent5">
              <a:lumMod val="40000"/>
              <a:lumOff val="60000"/>
            </a:schemeClr>
          </a:solidFill>
        </p:grpSpPr>
        <p:sp>
          <p:nvSpPr>
            <p:cNvPr id="17" name="Trapezoid 16"/>
            <p:cNvSpPr/>
            <p:nvPr/>
          </p:nvSpPr>
          <p:spPr>
            <a:xfrm>
              <a:off x="1252537" y="1990725"/>
              <a:ext cx="5010149" cy="663575"/>
            </a:xfrm>
            <a:prstGeom prst="trapezoid">
              <a:avLst>
                <a:gd name="adj" fmla="val 94378"/>
              </a:avLst>
            </a:prstGeom>
            <a:grpFill/>
          </p:spPr>
          <p:style>
            <a:lnRef idx="2">
              <a:schemeClr val="lt1">
                <a:hueOff val="0"/>
                <a:satOff val="0"/>
                <a:lumOff val="0"/>
                <a:alphaOff val="0"/>
              </a:schemeClr>
            </a:lnRef>
            <a:fillRef idx="1">
              <a:schemeClr val="accent2">
                <a:hueOff val="-3625040"/>
                <a:satOff val="-30000"/>
                <a:lumOff val="6000"/>
                <a:alphaOff val="0"/>
              </a:schemeClr>
            </a:fillRef>
            <a:effectRef idx="0">
              <a:schemeClr val="accent2">
                <a:hueOff val="-3625040"/>
                <a:satOff val="-30000"/>
                <a:lumOff val="6000"/>
                <a:alphaOff val="0"/>
              </a:schemeClr>
            </a:effectRef>
            <a:fontRef idx="minor">
              <a:schemeClr val="lt1"/>
            </a:fontRef>
          </p:style>
        </p:sp>
        <p:sp>
          <p:nvSpPr>
            <p:cNvPr id="18" name="Trapezoid 4"/>
            <p:cNvSpPr/>
            <p:nvPr/>
          </p:nvSpPr>
          <p:spPr>
            <a:xfrm>
              <a:off x="2129313" y="1990725"/>
              <a:ext cx="3256597" cy="66357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27940" tIns="27940" rIns="27940" bIns="27940" numCol="1" spcCol="1270" anchor="b" anchorCtr="0">
              <a:noAutofit/>
            </a:bodyPr>
            <a:lstStyle/>
            <a:p>
              <a:pPr lvl="0" algn="ctr" defTabSz="977900">
                <a:lnSpc>
                  <a:spcPct val="90000"/>
                </a:lnSpc>
                <a:spcBef>
                  <a:spcPct val="0"/>
                </a:spcBef>
                <a:spcAft>
                  <a:spcPct val="35000"/>
                </a:spcAft>
              </a:pPr>
              <a:r>
                <a:rPr lang="en-US" sz="2400" b="1" kern="1200" dirty="0">
                  <a:solidFill>
                    <a:srgbClr val="C00000"/>
                  </a:solidFill>
                </a:rPr>
                <a:t>Main Memory</a:t>
              </a:r>
            </a:p>
          </p:txBody>
        </p:sp>
      </p:grpSp>
      <p:grpSp>
        <p:nvGrpSpPr>
          <p:cNvPr id="19" name="Group 18"/>
          <p:cNvGrpSpPr/>
          <p:nvPr/>
        </p:nvGrpSpPr>
        <p:grpSpPr>
          <a:xfrm>
            <a:off x="3813312" y="4713686"/>
            <a:ext cx="4557009" cy="663575"/>
            <a:chOff x="626268" y="2650153"/>
            <a:chExt cx="6262687" cy="663575"/>
          </a:xfrm>
          <a:solidFill>
            <a:schemeClr val="accent5">
              <a:lumMod val="40000"/>
              <a:lumOff val="60000"/>
            </a:schemeClr>
          </a:solidFill>
        </p:grpSpPr>
        <p:sp>
          <p:nvSpPr>
            <p:cNvPr id="20" name="Trapezoid 19"/>
            <p:cNvSpPr/>
            <p:nvPr/>
          </p:nvSpPr>
          <p:spPr>
            <a:xfrm>
              <a:off x="626268" y="2650153"/>
              <a:ext cx="6262687" cy="663575"/>
            </a:xfrm>
            <a:prstGeom prst="trapezoid">
              <a:avLst>
                <a:gd name="adj" fmla="val 94378"/>
              </a:avLst>
            </a:prstGeom>
            <a:grpFill/>
          </p:spPr>
          <p:style>
            <a:lnRef idx="2">
              <a:schemeClr val="lt1">
                <a:hueOff val="0"/>
                <a:satOff val="0"/>
                <a:lumOff val="0"/>
                <a:alphaOff val="0"/>
              </a:schemeClr>
            </a:lnRef>
            <a:fillRef idx="1">
              <a:schemeClr val="accent2">
                <a:hueOff val="-4833387"/>
                <a:satOff val="-40000"/>
                <a:lumOff val="8000"/>
                <a:alphaOff val="0"/>
              </a:schemeClr>
            </a:fillRef>
            <a:effectRef idx="0">
              <a:schemeClr val="accent2">
                <a:hueOff val="-4833387"/>
                <a:satOff val="-40000"/>
                <a:lumOff val="8000"/>
                <a:alphaOff val="0"/>
              </a:schemeClr>
            </a:effectRef>
            <a:fontRef idx="minor">
              <a:schemeClr val="lt1"/>
            </a:fontRef>
          </p:style>
        </p:sp>
        <p:sp>
          <p:nvSpPr>
            <p:cNvPr id="21" name="Trapezoid 4"/>
            <p:cNvSpPr/>
            <p:nvPr/>
          </p:nvSpPr>
          <p:spPr>
            <a:xfrm>
              <a:off x="1722239" y="2650153"/>
              <a:ext cx="4070745" cy="66357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30480" tIns="30480" rIns="30480" bIns="30480" numCol="1" spcCol="1270" anchor="b" anchorCtr="0">
              <a:noAutofit/>
            </a:bodyPr>
            <a:lstStyle/>
            <a:p>
              <a:pPr lvl="0" algn="ctr" defTabSz="1066800">
                <a:lnSpc>
                  <a:spcPct val="90000"/>
                </a:lnSpc>
                <a:spcBef>
                  <a:spcPct val="0"/>
                </a:spcBef>
                <a:spcAft>
                  <a:spcPct val="35000"/>
                </a:spcAft>
              </a:pPr>
              <a:r>
                <a:rPr lang="en-US" sz="2800" b="1" kern="1200" dirty="0">
                  <a:solidFill>
                    <a:srgbClr val="C00000"/>
                  </a:solidFill>
                </a:rPr>
                <a:t>Magnetic Disk</a:t>
              </a:r>
            </a:p>
          </p:txBody>
        </p:sp>
      </p:grpSp>
      <p:grpSp>
        <p:nvGrpSpPr>
          <p:cNvPr id="22" name="Group 21"/>
          <p:cNvGrpSpPr/>
          <p:nvPr/>
        </p:nvGrpSpPr>
        <p:grpSpPr>
          <a:xfrm>
            <a:off x="3199417" y="5377265"/>
            <a:ext cx="5756223" cy="663575"/>
            <a:chOff x="0" y="3317875"/>
            <a:chExt cx="7515225" cy="663575"/>
          </a:xfrm>
          <a:solidFill>
            <a:schemeClr val="accent5">
              <a:lumMod val="40000"/>
              <a:lumOff val="60000"/>
            </a:schemeClr>
          </a:solidFill>
        </p:grpSpPr>
        <p:sp>
          <p:nvSpPr>
            <p:cNvPr id="23" name="Trapezoid 22"/>
            <p:cNvSpPr/>
            <p:nvPr/>
          </p:nvSpPr>
          <p:spPr>
            <a:xfrm>
              <a:off x="0" y="3317875"/>
              <a:ext cx="7515225" cy="663575"/>
            </a:xfrm>
            <a:prstGeom prst="trapezoid">
              <a:avLst>
                <a:gd name="adj" fmla="val 94378"/>
              </a:avLst>
            </a:prstGeom>
            <a:grpFill/>
          </p:spPr>
          <p:style>
            <a:lnRef idx="2">
              <a:schemeClr val="lt1">
                <a:hueOff val="0"/>
                <a:satOff val="0"/>
                <a:lumOff val="0"/>
                <a:alphaOff val="0"/>
              </a:schemeClr>
            </a:lnRef>
            <a:fillRef idx="1">
              <a:schemeClr val="accent2">
                <a:hueOff val="-6041733"/>
                <a:satOff val="-50000"/>
                <a:lumOff val="10000"/>
                <a:alphaOff val="0"/>
              </a:schemeClr>
            </a:fillRef>
            <a:effectRef idx="0">
              <a:schemeClr val="accent2">
                <a:hueOff val="-6041733"/>
                <a:satOff val="-50000"/>
                <a:lumOff val="10000"/>
                <a:alphaOff val="0"/>
              </a:schemeClr>
            </a:effectRef>
            <a:fontRef idx="minor">
              <a:schemeClr val="lt1"/>
            </a:fontRef>
          </p:style>
        </p:sp>
        <p:sp>
          <p:nvSpPr>
            <p:cNvPr id="24" name="Trapezoid 4"/>
            <p:cNvSpPr/>
            <p:nvPr/>
          </p:nvSpPr>
          <p:spPr>
            <a:xfrm>
              <a:off x="1315164" y="3317875"/>
              <a:ext cx="4884896" cy="66357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33020" tIns="33020" rIns="33020" bIns="33020" numCol="1" spcCol="1270" anchor="b" anchorCtr="0">
              <a:noAutofit/>
            </a:bodyPr>
            <a:lstStyle/>
            <a:p>
              <a:pPr lvl="0" algn="ctr" defTabSz="1155700">
                <a:lnSpc>
                  <a:spcPct val="90000"/>
                </a:lnSpc>
                <a:spcBef>
                  <a:spcPct val="0"/>
                </a:spcBef>
                <a:spcAft>
                  <a:spcPct val="35000"/>
                </a:spcAft>
              </a:pPr>
              <a:r>
                <a:rPr lang="en-US" sz="2800" b="1" kern="1200" dirty="0">
                  <a:solidFill>
                    <a:srgbClr val="C00000"/>
                  </a:solidFill>
                </a:rPr>
                <a:t>Magnetic Tape</a:t>
              </a:r>
            </a:p>
          </p:txBody>
        </p:sp>
      </p:grpSp>
      <p:sp>
        <p:nvSpPr>
          <p:cNvPr id="34" name="TextBox 33"/>
          <p:cNvSpPr txBox="1"/>
          <p:nvPr/>
        </p:nvSpPr>
        <p:spPr>
          <a:xfrm>
            <a:off x="1262774" y="4851820"/>
            <a:ext cx="2691777" cy="646331"/>
          </a:xfrm>
          <a:prstGeom prst="rect">
            <a:avLst/>
          </a:prstGeom>
          <a:noFill/>
        </p:spPr>
        <p:txBody>
          <a:bodyPr wrap="square" rtlCol="0">
            <a:spAutoFit/>
          </a:bodyPr>
          <a:lstStyle/>
          <a:p>
            <a:r>
              <a:rPr lang="en-US" dirty="0"/>
              <a:t>Used for Store information permanently in form of file</a:t>
            </a:r>
          </a:p>
        </p:txBody>
      </p:sp>
      <p:sp>
        <p:nvSpPr>
          <p:cNvPr id="37" name="TextBox 36"/>
          <p:cNvSpPr txBox="1"/>
          <p:nvPr/>
        </p:nvSpPr>
        <p:spPr>
          <a:xfrm>
            <a:off x="7574266" y="4168094"/>
            <a:ext cx="3737322" cy="646331"/>
          </a:xfrm>
          <a:prstGeom prst="rect">
            <a:avLst/>
          </a:prstGeom>
          <a:noFill/>
        </p:spPr>
        <p:txBody>
          <a:bodyPr wrap="square" rtlCol="0">
            <a:spAutoFit/>
          </a:bodyPr>
          <a:lstStyle/>
          <a:p>
            <a:r>
              <a:rPr lang="en-US" dirty="0"/>
              <a:t>Workhouse of memory system. </a:t>
            </a:r>
          </a:p>
          <a:p>
            <a:pPr algn="ctr"/>
            <a:r>
              <a:rPr lang="en-US" dirty="0"/>
              <a:t>Information came from disk before use</a:t>
            </a:r>
          </a:p>
        </p:txBody>
      </p:sp>
      <p:sp>
        <p:nvSpPr>
          <p:cNvPr id="39" name="TextBox 38"/>
          <p:cNvSpPr txBox="1"/>
          <p:nvPr/>
        </p:nvSpPr>
        <p:spPr>
          <a:xfrm>
            <a:off x="1399886" y="2867583"/>
            <a:ext cx="3660111" cy="646331"/>
          </a:xfrm>
          <a:prstGeom prst="rect">
            <a:avLst/>
          </a:prstGeom>
          <a:noFill/>
        </p:spPr>
        <p:txBody>
          <a:bodyPr wrap="square" rtlCol="0">
            <a:spAutoFit/>
          </a:bodyPr>
          <a:lstStyle/>
          <a:p>
            <a:r>
              <a:rPr lang="en-US" dirty="0"/>
              <a:t>Located inside CPU. Used to reduce main memory access.</a:t>
            </a:r>
          </a:p>
        </p:txBody>
      </p:sp>
      <p:pic>
        <p:nvPicPr>
          <p:cNvPr id="25" name="Picture 2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800" y="2953707"/>
            <a:ext cx="1122578" cy="950586"/>
          </a:xfrm>
          <a:prstGeom prst="rect">
            <a:avLst/>
          </a:prstGeom>
        </p:spPr>
      </p:pic>
      <p:pic>
        <p:nvPicPr>
          <p:cNvPr id="26" name="Picture 25"/>
          <p:cNvPicPr>
            <a:picLocks noChangeAspect="1"/>
          </p:cNvPicPr>
          <p:nvPr/>
        </p:nvPicPr>
        <p:blipFill rotWithShape="1">
          <a:blip r:embed="rId5" cstate="print">
            <a:extLst>
              <a:ext uri="{28A0092B-C50C-407E-A947-70E740481C1C}">
                <a14:useLocalDpi xmlns:a14="http://schemas.microsoft.com/office/drawing/2010/main" val="0"/>
              </a:ext>
            </a:extLst>
          </a:blip>
          <a:srcRect t="10739" b="16391"/>
          <a:stretch/>
        </p:blipFill>
        <p:spPr>
          <a:xfrm>
            <a:off x="6459064" y="2512770"/>
            <a:ext cx="1317249" cy="663576"/>
          </a:xfrm>
          <a:prstGeom prst="rect">
            <a:avLst/>
          </a:prstGeom>
        </p:spPr>
      </p:pic>
      <p:pic>
        <p:nvPicPr>
          <p:cNvPr id="7" name="Picture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3732" y="4790263"/>
            <a:ext cx="1145120" cy="1016743"/>
          </a:xfrm>
          <a:prstGeom prst="rect">
            <a:avLst/>
          </a:prstGeom>
        </p:spPr>
      </p:pic>
      <p:sp>
        <p:nvSpPr>
          <p:cNvPr id="3" name="TextBox 2"/>
          <p:cNvSpPr txBox="1"/>
          <p:nvPr/>
        </p:nvSpPr>
        <p:spPr>
          <a:xfrm>
            <a:off x="8660301" y="5093875"/>
            <a:ext cx="2890535" cy="369332"/>
          </a:xfrm>
          <a:prstGeom prst="rect">
            <a:avLst/>
          </a:prstGeom>
          <a:noFill/>
        </p:spPr>
        <p:txBody>
          <a:bodyPr wrap="none" rtlCol="0">
            <a:spAutoFit/>
          </a:bodyPr>
          <a:lstStyle/>
          <a:p>
            <a:r>
              <a:rPr lang="en-US" dirty="0"/>
              <a:t>Used for backup purpose only</a:t>
            </a:r>
          </a:p>
        </p:txBody>
      </p:sp>
      <p:sp>
        <p:nvSpPr>
          <p:cNvPr id="62" name="TextBox 61">
            <a:extLst>
              <a:ext uri="{FF2B5EF4-FFF2-40B4-BE49-F238E27FC236}">
                <a16:creationId xmlns:a16="http://schemas.microsoft.com/office/drawing/2014/main" id="{E3593940-A01A-42A8-BC8B-EF535EC4D779}"/>
              </a:ext>
            </a:extLst>
          </p:cNvPr>
          <p:cNvSpPr txBox="1"/>
          <p:nvPr/>
        </p:nvSpPr>
        <p:spPr>
          <a:xfrm>
            <a:off x="1399073" y="3435712"/>
            <a:ext cx="3225936" cy="646331"/>
          </a:xfrm>
          <a:prstGeom prst="rect">
            <a:avLst/>
          </a:prstGeom>
          <a:noFill/>
        </p:spPr>
        <p:txBody>
          <a:bodyPr wrap="square" rtlCol="0">
            <a:spAutoFit/>
          </a:bodyPr>
          <a:lstStyle/>
          <a:p>
            <a:r>
              <a:rPr lang="en-US" dirty="0"/>
              <a:t>If data available , </a:t>
            </a:r>
            <a:r>
              <a:rPr lang="en-US" dirty="0">
                <a:solidFill>
                  <a:schemeClr val="accent6"/>
                </a:solidFill>
              </a:rPr>
              <a:t>Cache Hit</a:t>
            </a:r>
          </a:p>
          <a:p>
            <a:r>
              <a:rPr lang="en-US" dirty="0"/>
              <a:t>If data not available ,</a:t>
            </a:r>
            <a:r>
              <a:rPr lang="en-US" dirty="0">
                <a:solidFill>
                  <a:srgbClr val="FF0000"/>
                </a:solidFill>
              </a:rPr>
              <a:t> </a:t>
            </a:r>
            <a:r>
              <a:rPr lang="en-US" dirty="0">
                <a:solidFill>
                  <a:schemeClr val="accent6"/>
                </a:solidFill>
              </a:rPr>
              <a:t>Cache miss</a:t>
            </a:r>
          </a:p>
        </p:txBody>
      </p:sp>
      <p:sp>
        <p:nvSpPr>
          <p:cNvPr id="63" name="TextBox 62">
            <a:extLst>
              <a:ext uri="{FF2B5EF4-FFF2-40B4-BE49-F238E27FC236}">
                <a16:creationId xmlns:a16="http://schemas.microsoft.com/office/drawing/2014/main" id="{E7D0E6EA-8F4F-48E9-AA85-674797E0F761}"/>
              </a:ext>
            </a:extLst>
          </p:cNvPr>
          <p:cNvSpPr txBox="1"/>
          <p:nvPr/>
        </p:nvSpPr>
        <p:spPr>
          <a:xfrm>
            <a:off x="506174" y="3995817"/>
            <a:ext cx="4204978" cy="646331"/>
          </a:xfrm>
          <a:prstGeom prst="rect">
            <a:avLst/>
          </a:prstGeom>
          <a:noFill/>
        </p:spPr>
        <p:txBody>
          <a:bodyPr wrap="square" rtlCol="0">
            <a:spAutoFit/>
          </a:bodyPr>
          <a:lstStyle/>
          <a:p>
            <a:r>
              <a:rPr lang="en-US" dirty="0"/>
              <a:t>Currently used data kept in cache memory. Program need data it searched from cache.</a:t>
            </a:r>
          </a:p>
        </p:txBody>
      </p:sp>
      <p:sp>
        <p:nvSpPr>
          <p:cNvPr id="64" name="TextBox 63">
            <a:extLst>
              <a:ext uri="{FF2B5EF4-FFF2-40B4-BE49-F238E27FC236}">
                <a16:creationId xmlns:a16="http://schemas.microsoft.com/office/drawing/2014/main" id="{5F5E4D10-1351-4FD8-BA65-A8249096C262}"/>
              </a:ext>
            </a:extLst>
          </p:cNvPr>
          <p:cNvSpPr txBox="1"/>
          <p:nvPr/>
        </p:nvSpPr>
        <p:spPr>
          <a:xfrm>
            <a:off x="7814796" y="2430994"/>
            <a:ext cx="3018776" cy="646331"/>
          </a:xfrm>
          <a:prstGeom prst="rect">
            <a:avLst/>
          </a:prstGeom>
          <a:noFill/>
        </p:spPr>
        <p:txBody>
          <a:bodyPr wrap="none" rtlCol="0">
            <a:spAutoFit/>
          </a:bodyPr>
          <a:lstStyle/>
          <a:p>
            <a:r>
              <a:rPr lang="en-US" dirty="0"/>
              <a:t>Top layer for memory hierarchy</a:t>
            </a:r>
          </a:p>
          <a:p>
            <a:r>
              <a:rPr lang="en-US" dirty="0"/>
              <a:t>Can be access without </a:t>
            </a:r>
            <a:r>
              <a:rPr lang="en-US" dirty="0">
                <a:solidFill>
                  <a:schemeClr val="accent6"/>
                </a:solidFill>
              </a:rPr>
              <a:t>delay</a:t>
            </a:r>
            <a:r>
              <a:rPr lang="en-US" dirty="0">
                <a:solidFill>
                  <a:srgbClr val="FF0000"/>
                </a:solidFill>
              </a:rPr>
              <a:t>.</a:t>
            </a:r>
          </a:p>
        </p:txBody>
      </p:sp>
      <p:sp>
        <p:nvSpPr>
          <p:cNvPr id="65" name="TextBox 64">
            <a:extLst>
              <a:ext uri="{FF2B5EF4-FFF2-40B4-BE49-F238E27FC236}">
                <a16:creationId xmlns:a16="http://schemas.microsoft.com/office/drawing/2014/main" id="{668224E0-0647-4837-8C64-D96BC662EF1F}"/>
              </a:ext>
            </a:extLst>
          </p:cNvPr>
          <p:cNvSpPr txBox="1"/>
          <p:nvPr/>
        </p:nvSpPr>
        <p:spPr>
          <a:xfrm>
            <a:off x="7854290" y="3039251"/>
            <a:ext cx="2990103" cy="646331"/>
          </a:xfrm>
          <a:prstGeom prst="rect">
            <a:avLst/>
          </a:prstGeom>
          <a:noFill/>
        </p:spPr>
        <p:txBody>
          <a:bodyPr wrap="square" rtlCol="0">
            <a:spAutoFit/>
          </a:bodyPr>
          <a:lstStyle/>
          <a:p>
            <a:r>
              <a:rPr lang="en-US" dirty="0"/>
              <a:t>Programs can decide what to keep in register</a:t>
            </a:r>
            <a:endParaRPr lang="en-US" dirty="0">
              <a:solidFill>
                <a:srgbClr val="FF0000"/>
              </a:solidFill>
            </a:endParaRPr>
          </a:p>
        </p:txBody>
      </p:sp>
    </p:spTree>
    <p:extLst>
      <p:ext uri="{BB962C8B-B14F-4D97-AF65-F5344CB8AC3E}">
        <p14:creationId xmlns:p14="http://schemas.microsoft.com/office/powerpoint/2010/main" val="231822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3"/>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5"/>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34"/>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7"/>
                                        </p:tgtEl>
                                        <p:attrNameLst>
                                          <p:attrName>style.visibility</p:attrName>
                                        </p:attrNameLst>
                                      </p:cBhvr>
                                      <p:to>
                                        <p:strVal val="hidden"/>
                                      </p:to>
                                    </p:set>
                                  </p:childTnLst>
                                </p:cTn>
                              </p:par>
                              <p:par>
                                <p:cTn id="33" presetID="1" presetClass="entr" presetSubtype="0"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1" nodeType="clickEffect">
                                  <p:stCondLst>
                                    <p:cond delay="0"/>
                                  </p:stCondLst>
                                  <p:childTnLst>
                                    <p:set>
                                      <p:cBhvr>
                                        <p:cTn id="42" dur="1" fill="hold">
                                          <p:stCondLst>
                                            <p:cond delay="0"/>
                                          </p:stCondLst>
                                        </p:cTn>
                                        <p:tgtEl>
                                          <p:spTgt spid="37"/>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8"/>
                                        </p:tgtEl>
                                        <p:attrNameLst>
                                          <p:attrName>style.visibility</p:attrName>
                                        </p:attrNameLst>
                                      </p:cBhvr>
                                      <p:to>
                                        <p:strVal val="hidden"/>
                                      </p:to>
                                    </p:set>
                                  </p:childTnLst>
                                </p:cTn>
                              </p:par>
                              <p:par>
                                <p:cTn id="45" presetID="1" presetClass="entr" presetSubtype="0" fill="hold" nodeType="with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9"/>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grpId="1" nodeType="clickEffect">
                                  <p:stCondLst>
                                    <p:cond delay="0"/>
                                  </p:stCondLst>
                                  <p:childTnLst>
                                    <p:set>
                                      <p:cBhvr>
                                        <p:cTn id="58" dur="1" fill="hold">
                                          <p:stCondLst>
                                            <p:cond delay="0"/>
                                          </p:stCondLst>
                                        </p:cTn>
                                        <p:tgtEl>
                                          <p:spTgt spid="39"/>
                                        </p:tgtEl>
                                        <p:attrNameLst>
                                          <p:attrName>style.visibility</p:attrName>
                                        </p:attrNameLst>
                                      </p:cBhvr>
                                      <p:to>
                                        <p:strVal val="hidden"/>
                                      </p:to>
                                    </p:set>
                                  </p:childTnLst>
                                </p:cTn>
                              </p:par>
                            </p:childTnLst>
                          </p:cTn>
                        </p:par>
                        <p:par>
                          <p:cTn id="59" fill="hold">
                            <p:stCondLst>
                              <p:cond delay="0"/>
                            </p:stCondLst>
                            <p:childTnLst>
                              <p:par>
                                <p:cTn id="60" presetID="1" presetClass="exit" presetSubtype="0" fill="hold" nodeType="afterEffect">
                                  <p:stCondLst>
                                    <p:cond delay="0"/>
                                  </p:stCondLst>
                                  <p:childTnLst>
                                    <p:set>
                                      <p:cBhvr>
                                        <p:cTn id="61" dur="1" fill="hold">
                                          <p:stCondLst>
                                            <p:cond delay="0"/>
                                          </p:stCondLst>
                                        </p:cTn>
                                        <p:tgtEl>
                                          <p:spTgt spid="25"/>
                                        </p:tgtEl>
                                        <p:attrNameLst>
                                          <p:attrName>style.visibility</p:attrName>
                                        </p:attrNameLst>
                                      </p:cBhvr>
                                      <p:to>
                                        <p:strVal val="hidden"/>
                                      </p:to>
                                    </p:set>
                                  </p:childTnLst>
                                </p:cTn>
                              </p:par>
                              <p:par>
                                <p:cTn id="62" presetID="1" presetClass="entr" presetSubtype="0" fill="hold" nodeType="withEffect">
                                  <p:stCondLst>
                                    <p:cond delay="0"/>
                                  </p:stCondLst>
                                  <p:childTnLst>
                                    <p:set>
                                      <p:cBhvr>
                                        <p:cTn id="63" dur="1" fill="hold">
                                          <p:stCondLst>
                                            <p:cond delay="0"/>
                                          </p:stCondLst>
                                        </p:cTn>
                                        <p:tgtEl>
                                          <p:spTgt spid="9"/>
                                        </p:tgtEl>
                                        <p:attrNameLst>
                                          <p:attrName>style.visibility</p:attrName>
                                        </p:attrNameLst>
                                      </p:cBhvr>
                                      <p:to>
                                        <p:strVal val="visible"/>
                                      </p:to>
                                    </p:set>
                                  </p:childTnLst>
                                </p:cTn>
                              </p:par>
                              <p:par>
                                <p:cTn id="64" presetID="1" presetClass="entr" presetSubtype="0" fill="hold" nodeType="withEffect">
                                  <p:stCondLst>
                                    <p:cond delay="0"/>
                                  </p:stCondLst>
                                  <p:childTnLst>
                                    <p:set>
                                      <p:cBhvr>
                                        <p:cTn id="65" dur="1" fill="hold">
                                          <p:stCondLst>
                                            <p:cond delay="0"/>
                                          </p:stCondLst>
                                        </p:cTn>
                                        <p:tgtEl>
                                          <p:spTgt spid="26"/>
                                        </p:tgtEl>
                                        <p:attrNameLst>
                                          <p:attrName>style.visibility</p:attrName>
                                        </p:attrNameLst>
                                      </p:cBhvr>
                                      <p:to>
                                        <p:strVal val="visible"/>
                                      </p:to>
                                    </p:set>
                                  </p:childTnLst>
                                </p:cTn>
                              </p:par>
                              <p:par>
                                <p:cTn id="66" presetID="1" presetClass="exit" presetSubtype="0" fill="hold" grpId="1" nodeType="withEffect">
                                  <p:stCondLst>
                                    <p:cond delay="0"/>
                                  </p:stCondLst>
                                  <p:childTnLst>
                                    <p:set>
                                      <p:cBhvr>
                                        <p:cTn id="67" dur="1" fill="hold">
                                          <p:stCondLst>
                                            <p:cond delay="0"/>
                                          </p:stCondLst>
                                        </p:cTn>
                                        <p:tgtEl>
                                          <p:spTgt spid="62"/>
                                        </p:tgtEl>
                                        <p:attrNameLst>
                                          <p:attrName>style.visibility</p:attrName>
                                        </p:attrNameLst>
                                      </p:cBhvr>
                                      <p:to>
                                        <p:strVal val="hidden"/>
                                      </p:to>
                                    </p:set>
                                  </p:childTnLst>
                                </p:cTn>
                              </p:par>
                              <p:par>
                                <p:cTn id="68" presetID="1" presetClass="exit" presetSubtype="0" fill="hold" grpId="1" nodeType="withEffect">
                                  <p:stCondLst>
                                    <p:cond delay="0"/>
                                  </p:stCondLst>
                                  <p:childTnLst>
                                    <p:set>
                                      <p:cBhvr>
                                        <p:cTn id="69" dur="1" fill="hold">
                                          <p:stCondLst>
                                            <p:cond delay="0"/>
                                          </p:stCondLst>
                                        </p:cTn>
                                        <p:tgtEl>
                                          <p:spTgt spid="63"/>
                                        </p:tgtEl>
                                        <p:attrNameLst>
                                          <p:attrName>style.visibility</p:attrName>
                                        </p:attrNameLst>
                                      </p:cBhvr>
                                      <p:to>
                                        <p:strVal val="hidden"/>
                                      </p:to>
                                    </p:set>
                                  </p:childTnLst>
                                </p:cTn>
                              </p:par>
                              <p:par>
                                <p:cTn id="70" presetID="1" presetClass="entr" presetSubtype="0" fill="hold" grpId="0" nodeType="withEffect">
                                  <p:stCondLst>
                                    <p:cond delay="0"/>
                                  </p:stCondLst>
                                  <p:childTnLst>
                                    <p:set>
                                      <p:cBhvr>
                                        <p:cTn id="71" dur="1" fill="hold">
                                          <p:stCondLst>
                                            <p:cond delay="0"/>
                                          </p:stCondLst>
                                        </p:cTn>
                                        <p:tgtEl>
                                          <p:spTgt spid="64"/>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65"/>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xit" presetSubtype="0" fill="hold" grpId="1" nodeType="clickEffect">
                                  <p:stCondLst>
                                    <p:cond delay="0"/>
                                  </p:stCondLst>
                                  <p:childTnLst>
                                    <p:set>
                                      <p:cBhvr>
                                        <p:cTn id="77" dur="1" fill="hold">
                                          <p:stCondLst>
                                            <p:cond delay="0"/>
                                          </p:stCondLst>
                                        </p:cTn>
                                        <p:tgtEl>
                                          <p:spTgt spid="64"/>
                                        </p:tgtEl>
                                        <p:attrNameLst>
                                          <p:attrName>style.visibility</p:attrName>
                                        </p:attrNameLst>
                                      </p:cBhvr>
                                      <p:to>
                                        <p:strVal val="hidden"/>
                                      </p:to>
                                    </p:set>
                                  </p:childTnLst>
                                </p:cTn>
                              </p:par>
                              <p:par>
                                <p:cTn id="78" presetID="1" presetClass="exit" presetSubtype="0" fill="hold" nodeType="withEffect">
                                  <p:stCondLst>
                                    <p:cond delay="0"/>
                                  </p:stCondLst>
                                  <p:childTnLst>
                                    <p:set>
                                      <p:cBhvr>
                                        <p:cTn id="79" dur="1" fill="hold">
                                          <p:stCondLst>
                                            <p:cond delay="0"/>
                                          </p:stCondLst>
                                        </p:cTn>
                                        <p:tgtEl>
                                          <p:spTgt spid="26"/>
                                        </p:tgtEl>
                                        <p:attrNameLst>
                                          <p:attrName>style.visibility</p:attrName>
                                        </p:attrNameLst>
                                      </p:cBhvr>
                                      <p:to>
                                        <p:strVal val="hidden"/>
                                      </p:to>
                                    </p:set>
                                  </p:childTnLst>
                                </p:cTn>
                              </p:par>
                              <p:par>
                                <p:cTn id="80" presetID="1" presetClass="exit" presetSubtype="0" fill="hold" grpId="1" nodeType="withEffect">
                                  <p:stCondLst>
                                    <p:cond delay="0"/>
                                  </p:stCondLst>
                                  <p:childTnLst>
                                    <p:set>
                                      <p:cBhvr>
                                        <p:cTn id="81" dur="1" fill="hold">
                                          <p:stCondLst>
                                            <p:cond delay="0"/>
                                          </p:stCondLst>
                                        </p:cTn>
                                        <p:tgtEl>
                                          <p:spTgt spid="6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4" grpId="1"/>
      <p:bldP spid="37" grpId="0"/>
      <p:bldP spid="37" grpId="1"/>
      <p:bldP spid="39" grpId="0"/>
      <p:bldP spid="39" grpId="1"/>
      <p:bldP spid="3" grpId="0"/>
      <p:bldP spid="3" grpId="1"/>
      <p:bldP spid="62" grpId="0"/>
      <p:bldP spid="62" grpId="1"/>
      <p:bldP spid="63" grpId="0"/>
      <p:bldP spid="63" grpId="1"/>
      <p:bldP spid="64" grpId="0"/>
      <p:bldP spid="64" grpId="1"/>
      <p:bldP spid="65" grpId="0"/>
      <p:bldP spid="65"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Memory Hierarchy</a:t>
            </a:r>
            <a:endParaRPr lang="en-IN" dirty="0"/>
          </a:p>
        </p:txBody>
      </p:sp>
      <p:sp>
        <p:nvSpPr>
          <p:cNvPr id="11" name="Content Placeholder 10"/>
          <p:cNvSpPr>
            <a:spLocks noGrp="1"/>
          </p:cNvSpPr>
          <p:nvPr>
            <p:ph idx="1"/>
          </p:nvPr>
        </p:nvSpPr>
        <p:spPr/>
        <p:txBody>
          <a:bodyPr/>
          <a:lstStyle/>
          <a:p>
            <a:pPr marL="0" indent="0">
              <a:buNone/>
            </a:pPr>
            <a:endParaRPr lang="en-US" dirty="0">
              <a:solidFill>
                <a:srgbClr val="C00000"/>
              </a:solidFill>
            </a:endParaRPr>
          </a:p>
        </p:txBody>
      </p:sp>
      <p:grpSp>
        <p:nvGrpSpPr>
          <p:cNvPr id="9" name="Group 8"/>
          <p:cNvGrpSpPr/>
          <p:nvPr/>
        </p:nvGrpSpPr>
        <p:grpSpPr>
          <a:xfrm>
            <a:off x="5235945" y="1995089"/>
            <a:ext cx="854439" cy="693370"/>
            <a:chOff x="2902111" y="663575"/>
            <a:chExt cx="1710999" cy="693370"/>
          </a:xfrm>
        </p:grpSpPr>
        <p:sp>
          <p:nvSpPr>
            <p:cNvPr id="10" name="Trapezoid 9"/>
            <p:cNvSpPr/>
            <p:nvPr/>
          </p:nvSpPr>
          <p:spPr>
            <a:xfrm>
              <a:off x="2902111" y="663575"/>
              <a:ext cx="1710999" cy="663575"/>
            </a:xfrm>
            <a:prstGeom prst="trapezoid">
              <a:avLst>
                <a:gd name="adj" fmla="val 94378"/>
              </a:avLst>
            </a:prstGeom>
            <a:solidFill>
              <a:schemeClr val="accent5">
                <a:lumMod val="40000"/>
                <a:lumOff val="60000"/>
              </a:schemeClr>
            </a:solidFill>
          </p:spPr>
          <p:style>
            <a:lnRef idx="2">
              <a:schemeClr val="lt1">
                <a:hueOff val="0"/>
                <a:satOff val="0"/>
                <a:lumOff val="0"/>
                <a:alphaOff val="0"/>
              </a:schemeClr>
            </a:lnRef>
            <a:fillRef idx="1">
              <a:schemeClr val="accent2">
                <a:hueOff val="-1208347"/>
                <a:satOff val="-10000"/>
                <a:lumOff val="2000"/>
                <a:alphaOff val="0"/>
              </a:schemeClr>
            </a:fillRef>
            <a:effectRef idx="0">
              <a:schemeClr val="accent2">
                <a:hueOff val="-1208347"/>
                <a:satOff val="-10000"/>
                <a:lumOff val="2000"/>
                <a:alphaOff val="0"/>
              </a:schemeClr>
            </a:effectRef>
            <a:fontRef idx="minor">
              <a:schemeClr val="lt1"/>
            </a:fontRef>
          </p:style>
        </p:sp>
        <p:sp>
          <p:nvSpPr>
            <p:cNvPr id="12" name="Trapezoid 4"/>
            <p:cNvSpPr/>
            <p:nvPr/>
          </p:nvSpPr>
          <p:spPr>
            <a:xfrm>
              <a:off x="2984810" y="693370"/>
              <a:ext cx="1628300" cy="66357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2860" tIns="22860" rIns="22860" bIns="22860" numCol="1" spcCol="1270" anchor="b" anchorCtr="0">
              <a:noAutofit/>
            </a:bodyPr>
            <a:lstStyle/>
            <a:p>
              <a:pPr lvl="0" algn="ctr" defTabSz="800100">
                <a:lnSpc>
                  <a:spcPct val="90000"/>
                </a:lnSpc>
                <a:spcBef>
                  <a:spcPct val="0"/>
                </a:spcBef>
                <a:spcAft>
                  <a:spcPct val="35000"/>
                </a:spcAft>
              </a:pPr>
              <a:r>
                <a:rPr lang="en-US" sz="1600" b="1" kern="1200" dirty="0">
                  <a:solidFill>
                    <a:srgbClr val="C00000"/>
                  </a:solidFill>
                </a:rPr>
                <a:t>Register</a:t>
              </a:r>
            </a:p>
          </p:txBody>
        </p:sp>
      </p:grpSp>
      <p:grpSp>
        <p:nvGrpSpPr>
          <p:cNvPr id="13" name="Group 12"/>
          <p:cNvGrpSpPr/>
          <p:nvPr/>
        </p:nvGrpSpPr>
        <p:grpSpPr>
          <a:xfrm>
            <a:off x="4608414" y="2658664"/>
            <a:ext cx="2121075" cy="663575"/>
            <a:chOff x="1878806" y="1327150"/>
            <a:chExt cx="3757612" cy="663575"/>
          </a:xfrm>
        </p:grpSpPr>
        <p:sp>
          <p:nvSpPr>
            <p:cNvPr id="14" name="Trapezoid 13"/>
            <p:cNvSpPr/>
            <p:nvPr/>
          </p:nvSpPr>
          <p:spPr>
            <a:xfrm>
              <a:off x="1878806" y="1327150"/>
              <a:ext cx="3757612" cy="663575"/>
            </a:xfrm>
            <a:prstGeom prst="trapezoid">
              <a:avLst>
                <a:gd name="adj" fmla="val 94378"/>
              </a:avLst>
            </a:prstGeom>
            <a:solidFill>
              <a:schemeClr val="accent5">
                <a:lumMod val="40000"/>
                <a:lumOff val="60000"/>
              </a:schemeClr>
            </a:solidFill>
          </p:spPr>
          <p:style>
            <a:lnRef idx="2">
              <a:schemeClr val="lt1">
                <a:hueOff val="0"/>
                <a:satOff val="0"/>
                <a:lumOff val="0"/>
                <a:alphaOff val="0"/>
              </a:schemeClr>
            </a:lnRef>
            <a:fillRef idx="1">
              <a:schemeClr val="accent2">
                <a:hueOff val="-2416693"/>
                <a:satOff val="-20000"/>
                <a:lumOff val="4000"/>
                <a:alphaOff val="0"/>
              </a:schemeClr>
            </a:fillRef>
            <a:effectRef idx="0">
              <a:schemeClr val="accent2">
                <a:hueOff val="-2416693"/>
                <a:satOff val="-20000"/>
                <a:lumOff val="4000"/>
                <a:alphaOff val="0"/>
              </a:schemeClr>
            </a:effectRef>
            <a:fontRef idx="minor">
              <a:schemeClr val="lt1"/>
            </a:fontRef>
          </p:style>
        </p:sp>
        <p:sp>
          <p:nvSpPr>
            <p:cNvPr id="15" name="Trapezoid 4"/>
            <p:cNvSpPr/>
            <p:nvPr/>
          </p:nvSpPr>
          <p:spPr>
            <a:xfrm>
              <a:off x="2536388" y="1327150"/>
              <a:ext cx="2442448" cy="66357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5400" tIns="25400" rIns="25400" bIns="25400" numCol="1" spcCol="1270" anchor="b" anchorCtr="0">
              <a:noAutofit/>
            </a:bodyPr>
            <a:lstStyle/>
            <a:p>
              <a:pPr lvl="0" algn="ctr" defTabSz="889000">
                <a:lnSpc>
                  <a:spcPct val="90000"/>
                </a:lnSpc>
                <a:spcBef>
                  <a:spcPct val="0"/>
                </a:spcBef>
                <a:spcAft>
                  <a:spcPct val="35000"/>
                </a:spcAft>
              </a:pPr>
              <a:r>
                <a:rPr lang="en-US" sz="2800" b="1" kern="1200" dirty="0">
                  <a:solidFill>
                    <a:srgbClr val="C00000"/>
                  </a:solidFill>
                </a:rPr>
                <a:t>Cache</a:t>
              </a:r>
            </a:p>
          </p:txBody>
        </p:sp>
      </p:grpSp>
      <p:grpSp>
        <p:nvGrpSpPr>
          <p:cNvPr id="16" name="Group 15"/>
          <p:cNvGrpSpPr/>
          <p:nvPr/>
        </p:nvGrpSpPr>
        <p:grpSpPr>
          <a:xfrm>
            <a:off x="4021742" y="3288111"/>
            <a:ext cx="3282846" cy="663575"/>
            <a:chOff x="1252537" y="1990725"/>
            <a:chExt cx="5010149" cy="663575"/>
          </a:xfrm>
          <a:solidFill>
            <a:schemeClr val="accent5">
              <a:lumMod val="40000"/>
              <a:lumOff val="60000"/>
            </a:schemeClr>
          </a:solidFill>
        </p:grpSpPr>
        <p:sp>
          <p:nvSpPr>
            <p:cNvPr id="17" name="Trapezoid 16"/>
            <p:cNvSpPr/>
            <p:nvPr/>
          </p:nvSpPr>
          <p:spPr>
            <a:xfrm>
              <a:off x="1252537" y="1990725"/>
              <a:ext cx="5010149" cy="663575"/>
            </a:xfrm>
            <a:prstGeom prst="trapezoid">
              <a:avLst>
                <a:gd name="adj" fmla="val 94378"/>
              </a:avLst>
            </a:prstGeom>
            <a:grpFill/>
          </p:spPr>
          <p:style>
            <a:lnRef idx="2">
              <a:schemeClr val="lt1">
                <a:hueOff val="0"/>
                <a:satOff val="0"/>
                <a:lumOff val="0"/>
                <a:alphaOff val="0"/>
              </a:schemeClr>
            </a:lnRef>
            <a:fillRef idx="1">
              <a:schemeClr val="accent2">
                <a:hueOff val="-3625040"/>
                <a:satOff val="-30000"/>
                <a:lumOff val="6000"/>
                <a:alphaOff val="0"/>
              </a:schemeClr>
            </a:fillRef>
            <a:effectRef idx="0">
              <a:schemeClr val="accent2">
                <a:hueOff val="-3625040"/>
                <a:satOff val="-30000"/>
                <a:lumOff val="6000"/>
                <a:alphaOff val="0"/>
              </a:schemeClr>
            </a:effectRef>
            <a:fontRef idx="minor">
              <a:schemeClr val="lt1"/>
            </a:fontRef>
          </p:style>
        </p:sp>
        <p:sp>
          <p:nvSpPr>
            <p:cNvPr id="18" name="Trapezoid 4"/>
            <p:cNvSpPr/>
            <p:nvPr/>
          </p:nvSpPr>
          <p:spPr>
            <a:xfrm>
              <a:off x="2129313" y="1990725"/>
              <a:ext cx="3256597" cy="66357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27940" tIns="27940" rIns="27940" bIns="27940" numCol="1" spcCol="1270" anchor="b" anchorCtr="0">
              <a:noAutofit/>
            </a:bodyPr>
            <a:lstStyle/>
            <a:p>
              <a:pPr lvl="0" algn="ctr" defTabSz="977900">
                <a:lnSpc>
                  <a:spcPct val="90000"/>
                </a:lnSpc>
                <a:spcBef>
                  <a:spcPct val="0"/>
                </a:spcBef>
                <a:spcAft>
                  <a:spcPct val="35000"/>
                </a:spcAft>
              </a:pPr>
              <a:r>
                <a:rPr lang="en-US" sz="2400" b="1" kern="1200" dirty="0">
                  <a:solidFill>
                    <a:srgbClr val="C00000"/>
                  </a:solidFill>
                </a:rPr>
                <a:t>Main Memory</a:t>
              </a:r>
            </a:p>
          </p:txBody>
        </p:sp>
      </p:grpSp>
      <p:grpSp>
        <p:nvGrpSpPr>
          <p:cNvPr id="19" name="Group 18"/>
          <p:cNvGrpSpPr/>
          <p:nvPr/>
        </p:nvGrpSpPr>
        <p:grpSpPr>
          <a:xfrm>
            <a:off x="3391453" y="3951686"/>
            <a:ext cx="4557009" cy="663575"/>
            <a:chOff x="626268" y="2650153"/>
            <a:chExt cx="6262687" cy="663575"/>
          </a:xfrm>
          <a:solidFill>
            <a:schemeClr val="accent5">
              <a:lumMod val="40000"/>
              <a:lumOff val="60000"/>
            </a:schemeClr>
          </a:solidFill>
        </p:grpSpPr>
        <p:sp>
          <p:nvSpPr>
            <p:cNvPr id="20" name="Trapezoid 19"/>
            <p:cNvSpPr/>
            <p:nvPr/>
          </p:nvSpPr>
          <p:spPr>
            <a:xfrm>
              <a:off x="626268" y="2650153"/>
              <a:ext cx="6262687" cy="663575"/>
            </a:xfrm>
            <a:prstGeom prst="trapezoid">
              <a:avLst>
                <a:gd name="adj" fmla="val 94378"/>
              </a:avLst>
            </a:prstGeom>
            <a:grpFill/>
          </p:spPr>
          <p:style>
            <a:lnRef idx="2">
              <a:schemeClr val="lt1">
                <a:hueOff val="0"/>
                <a:satOff val="0"/>
                <a:lumOff val="0"/>
                <a:alphaOff val="0"/>
              </a:schemeClr>
            </a:lnRef>
            <a:fillRef idx="1">
              <a:schemeClr val="accent2">
                <a:hueOff val="-4833387"/>
                <a:satOff val="-40000"/>
                <a:lumOff val="8000"/>
                <a:alphaOff val="0"/>
              </a:schemeClr>
            </a:fillRef>
            <a:effectRef idx="0">
              <a:schemeClr val="accent2">
                <a:hueOff val="-4833387"/>
                <a:satOff val="-40000"/>
                <a:lumOff val="8000"/>
                <a:alphaOff val="0"/>
              </a:schemeClr>
            </a:effectRef>
            <a:fontRef idx="minor">
              <a:schemeClr val="lt1"/>
            </a:fontRef>
          </p:style>
        </p:sp>
        <p:sp>
          <p:nvSpPr>
            <p:cNvPr id="21" name="Trapezoid 4"/>
            <p:cNvSpPr/>
            <p:nvPr/>
          </p:nvSpPr>
          <p:spPr>
            <a:xfrm>
              <a:off x="1722239" y="2650153"/>
              <a:ext cx="4070745" cy="66357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30480" tIns="30480" rIns="30480" bIns="30480" numCol="1" spcCol="1270" anchor="b" anchorCtr="0">
              <a:noAutofit/>
            </a:bodyPr>
            <a:lstStyle/>
            <a:p>
              <a:pPr lvl="0" algn="ctr" defTabSz="1066800">
                <a:lnSpc>
                  <a:spcPct val="90000"/>
                </a:lnSpc>
                <a:spcBef>
                  <a:spcPct val="0"/>
                </a:spcBef>
                <a:spcAft>
                  <a:spcPct val="35000"/>
                </a:spcAft>
              </a:pPr>
              <a:r>
                <a:rPr lang="en-US" sz="2800" b="1" kern="1200" dirty="0">
                  <a:solidFill>
                    <a:srgbClr val="C00000"/>
                  </a:solidFill>
                </a:rPr>
                <a:t>Magnetic Disk</a:t>
              </a:r>
            </a:p>
          </p:txBody>
        </p:sp>
      </p:grpSp>
      <p:grpSp>
        <p:nvGrpSpPr>
          <p:cNvPr id="22" name="Group 21"/>
          <p:cNvGrpSpPr/>
          <p:nvPr/>
        </p:nvGrpSpPr>
        <p:grpSpPr>
          <a:xfrm>
            <a:off x="2777558" y="4615265"/>
            <a:ext cx="5756223" cy="663575"/>
            <a:chOff x="0" y="3317875"/>
            <a:chExt cx="7515225" cy="663575"/>
          </a:xfrm>
          <a:solidFill>
            <a:schemeClr val="accent5">
              <a:lumMod val="40000"/>
              <a:lumOff val="60000"/>
            </a:schemeClr>
          </a:solidFill>
        </p:grpSpPr>
        <p:sp>
          <p:nvSpPr>
            <p:cNvPr id="23" name="Trapezoid 22"/>
            <p:cNvSpPr/>
            <p:nvPr/>
          </p:nvSpPr>
          <p:spPr>
            <a:xfrm>
              <a:off x="0" y="3317875"/>
              <a:ext cx="7515225" cy="663575"/>
            </a:xfrm>
            <a:prstGeom prst="trapezoid">
              <a:avLst>
                <a:gd name="adj" fmla="val 94378"/>
              </a:avLst>
            </a:prstGeom>
            <a:grpFill/>
          </p:spPr>
          <p:style>
            <a:lnRef idx="2">
              <a:schemeClr val="lt1">
                <a:hueOff val="0"/>
                <a:satOff val="0"/>
                <a:lumOff val="0"/>
                <a:alphaOff val="0"/>
              </a:schemeClr>
            </a:lnRef>
            <a:fillRef idx="1">
              <a:schemeClr val="accent2">
                <a:hueOff val="-6041733"/>
                <a:satOff val="-50000"/>
                <a:lumOff val="10000"/>
                <a:alphaOff val="0"/>
              </a:schemeClr>
            </a:fillRef>
            <a:effectRef idx="0">
              <a:schemeClr val="accent2">
                <a:hueOff val="-6041733"/>
                <a:satOff val="-50000"/>
                <a:lumOff val="10000"/>
                <a:alphaOff val="0"/>
              </a:schemeClr>
            </a:effectRef>
            <a:fontRef idx="minor">
              <a:schemeClr val="lt1"/>
            </a:fontRef>
          </p:style>
        </p:sp>
        <p:sp>
          <p:nvSpPr>
            <p:cNvPr id="24" name="Trapezoid 4"/>
            <p:cNvSpPr/>
            <p:nvPr/>
          </p:nvSpPr>
          <p:spPr>
            <a:xfrm>
              <a:off x="1315164" y="3317875"/>
              <a:ext cx="4884896" cy="66357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33020" tIns="33020" rIns="33020" bIns="33020" numCol="1" spcCol="1270" anchor="b" anchorCtr="0">
              <a:noAutofit/>
            </a:bodyPr>
            <a:lstStyle/>
            <a:p>
              <a:pPr lvl="0" algn="ctr" defTabSz="1155700">
                <a:lnSpc>
                  <a:spcPct val="90000"/>
                </a:lnSpc>
                <a:spcBef>
                  <a:spcPct val="0"/>
                </a:spcBef>
                <a:spcAft>
                  <a:spcPct val="35000"/>
                </a:spcAft>
              </a:pPr>
              <a:r>
                <a:rPr lang="en-US" sz="2800" b="1" kern="1200" dirty="0">
                  <a:solidFill>
                    <a:srgbClr val="C00000"/>
                  </a:solidFill>
                </a:rPr>
                <a:t>Magnetic Tape</a:t>
              </a:r>
            </a:p>
          </p:txBody>
        </p:sp>
      </p:grpSp>
      <p:sp>
        <p:nvSpPr>
          <p:cNvPr id="29" name="TextBox 28"/>
          <p:cNvSpPr txBox="1"/>
          <p:nvPr/>
        </p:nvSpPr>
        <p:spPr>
          <a:xfrm>
            <a:off x="8978565" y="5287587"/>
            <a:ext cx="801823" cy="369332"/>
          </a:xfrm>
          <a:prstGeom prst="rect">
            <a:avLst/>
          </a:prstGeom>
          <a:noFill/>
        </p:spPr>
        <p:txBody>
          <a:bodyPr wrap="none" rtlCol="0">
            <a:spAutoFit/>
          </a:bodyPr>
          <a:lstStyle/>
          <a:p>
            <a:r>
              <a:rPr lang="en-US" dirty="0"/>
              <a:t>Slower</a:t>
            </a:r>
          </a:p>
        </p:txBody>
      </p:sp>
      <p:sp>
        <p:nvSpPr>
          <p:cNvPr id="30" name="TextBox 29"/>
          <p:cNvSpPr txBox="1"/>
          <p:nvPr/>
        </p:nvSpPr>
        <p:spPr>
          <a:xfrm>
            <a:off x="8983834" y="1645917"/>
            <a:ext cx="758541" cy="369332"/>
          </a:xfrm>
          <a:prstGeom prst="rect">
            <a:avLst/>
          </a:prstGeom>
          <a:noFill/>
        </p:spPr>
        <p:txBody>
          <a:bodyPr wrap="none" rtlCol="0">
            <a:spAutoFit/>
          </a:bodyPr>
          <a:lstStyle/>
          <a:p>
            <a:r>
              <a:rPr lang="en-US" dirty="0"/>
              <a:t>Faster</a:t>
            </a:r>
          </a:p>
        </p:txBody>
      </p:sp>
      <p:sp>
        <p:nvSpPr>
          <p:cNvPr id="32" name="TextBox 31"/>
          <p:cNvSpPr txBox="1"/>
          <p:nvPr/>
        </p:nvSpPr>
        <p:spPr>
          <a:xfrm>
            <a:off x="9905769" y="1646738"/>
            <a:ext cx="1099981" cy="369332"/>
          </a:xfrm>
          <a:prstGeom prst="rect">
            <a:avLst/>
          </a:prstGeom>
          <a:noFill/>
        </p:spPr>
        <p:txBody>
          <a:bodyPr wrap="none" rtlCol="0">
            <a:spAutoFit/>
          </a:bodyPr>
          <a:lstStyle/>
          <a:p>
            <a:r>
              <a:rPr lang="en-US" dirty="0"/>
              <a:t>Expensive</a:t>
            </a:r>
          </a:p>
        </p:txBody>
      </p:sp>
      <p:sp>
        <p:nvSpPr>
          <p:cNvPr id="33" name="TextBox 32"/>
          <p:cNvSpPr txBox="1"/>
          <p:nvPr/>
        </p:nvSpPr>
        <p:spPr>
          <a:xfrm>
            <a:off x="10055391" y="5287587"/>
            <a:ext cx="760144" cy="369332"/>
          </a:xfrm>
          <a:prstGeom prst="rect">
            <a:avLst/>
          </a:prstGeom>
          <a:noFill/>
        </p:spPr>
        <p:txBody>
          <a:bodyPr wrap="none" rtlCol="0">
            <a:spAutoFit/>
          </a:bodyPr>
          <a:lstStyle/>
          <a:p>
            <a:r>
              <a:rPr lang="en-US" dirty="0"/>
              <a:t>Cheap</a:t>
            </a:r>
          </a:p>
        </p:txBody>
      </p:sp>
      <p:cxnSp>
        <p:nvCxnSpPr>
          <p:cNvPr id="38" name="Straight Arrow Connector 37"/>
          <p:cNvCxnSpPr>
            <a:stCxn id="30" idx="2"/>
          </p:cNvCxnSpPr>
          <p:nvPr/>
        </p:nvCxnSpPr>
        <p:spPr>
          <a:xfrm flipH="1">
            <a:off x="9354899" y="2015249"/>
            <a:ext cx="8206" cy="3251664"/>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flipH="1">
            <a:off x="10447553" y="2015249"/>
            <a:ext cx="8206" cy="3251664"/>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rot="16200000">
            <a:off x="9261501" y="3379123"/>
            <a:ext cx="859531" cy="400110"/>
          </a:xfrm>
          <a:prstGeom prst="rect">
            <a:avLst/>
          </a:prstGeom>
          <a:noFill/>
        </p:spPr>
        <p:txBody>
          <a:bodyPr wrap="none" rtlCol="0">
            <a:spAutoFit/>
          </a:bodyPr>
          <a:lstStyle/>
          <a:p>
            <a:r>
              <a:rPr lang="en-US" sz="2000" dirty="0"/>
              <a:t>SPEED</a:t>
            </a:r>
          </a:p>
        </p:txBody>
      </p:sp>
      <p:sp>
        <p:nvSpPr>
          <p:cNvPr id="50" name="TextBox 49"/>
          <p:cNvSpPr txBox="1"/>
          <p:nvPr/>
        </p:nvSpPr>
        <p:spPr>
          <a:xfrm rot="16200000">
            <a:off x="10309676" y="3379122"/>
            <a:ext cx="750526" cy="400110"/>
          </a:xfrm>
          <a:prstGeom prst="rect">
            <a:avLst/>
          </a:prstGeom>
          <a:noFill/>
        </p:spPr>
        <p:txBody>
          <a:bodyPr wrap="none" rtlCol="0">
            <a:spAutoFit/>
          </a:bodyPr>
          <a:lstStyle/>
          <a:p>
            <a:r>
              <a:rPr lang="en-US" sz="2000" dirty="0"/>
              <a:t>COST</a:t>
            </a:r>
          </a:p>
        </p:txBody>
      </p:sp>
      <p:sp>
        <p:nvSpPr>
          <p:cNvPr id="43" name="TextBox 42"/>
          <p:cNvSpPr txBox="1"/>
          <p:nvPr/>
        </p:nvSpPr>
        <p:spPr>
          <a:xfrm>
            <a:off x="7306119" y="1645917"/>
            <a:ext cx="1683474" cy="369332"/>
          </a:xfrm>
          <a:prstGeom prst="rect">
            <a:avLst/>
          </a:prstGeom>
          <a:noFill/>
        </p:spPr>
        <p:txBody>
          <a:bodyPr wrap="none" rtlCol="0">
            <a:spAutoFit/>
          </a:bodyPr>
          <a:lstStyle/>
          <a:p>
            <a:r>
              <a:rPr lang="en-US" dirty="0"/>
              <a:t>Typical Capacity</a:t>
            </a:r>
          </a:p>
        </p:txBody>
      </p:sp>
      <p:sp>
        <p:nvSpPr>
          <p:cNvPr id="44" name="TextBox 43"/>
          <p:cNvSpPr txBox="1"/>
          <p:nvPr/>
        </p:nvSpPr>
        <p:spPr>
          <a:xfrm>
            <a:off x="7806529" y="2128618"/>
            <a:ext cx="758541" cy="369332"/>
          </a:xfrm>
          <a:prstGeom prst="rect">
            <a:avLst/>
          </a:prstGeom>
          <a:noFill/>
        </p:spPr>
        <p:txBody>
          <a:bodyPr wrap="none" rtlCol="0">
            <a:spAutoFit/>
          </a:bodyPr>
          <a:lstStyle/>
          <a:p>
            <a:r>
              <a:rPr lang="en-US" dirty="0"/>
              <a:t>&lt; 1 KB</a:t>
            </a:r>
          </a:p>
        </p:txBody>
      </p:sp>
      <p:sp>
        <p:nvSpPr>
          <p:cNvPr id="45" name="TextBox 44"/>
          <p:cNvSpPr txBox="1"/>
          <p:nvPr/>
        </p:nvSpPr>
        <p:spPr>
          <a:xfrm>
            <a:off x="7989229" y="2723720"/>
            <a:ext cx="652743" cy="369332"/>
          </a:xfrm>
          <a:prstGeom prst="rect">
            <a:avLst/>
          </a:prstGeom>
          <a:noFill/>
        </p:spPr>
        <p:txBody>
          <a:bodyPr wrap="none" rtlCol="0">
            <a:spAutoFit/>
          </a:bodyPr>
          <a:lstStyle/>
          <a:p>
            <a:r>
              <a:rPr lang="en-US" dirty="0"/>
              <a:t>1 MB</a:t>
            </a:r>
          </a:p>
        </p:txBody>
      </p:sp>
      <p:sp>
        <p:nvSpPr>
          <p:cNvPr id="48" name="TextBox 47"/>
          <p:cNvSpPr txBox="1"/>
          <p:nvPr/>
        </p:nvSpPr>
        <p:spPr>
          <a:xfrm>
            <a:off x="7994063" y="3414778"/>
            <a:ext cx="1271502" cy="369332"/>
          </a:xfrm>
          <a:prstGeom prst="rect">
            <a:avLst/>
          </a:prstGeom>
          <a:noFill/>
        </p:spPr>
        <p:txBody>
          <a:bodyPr wrap="none" rtlCol="0">
            <a:spAutoFit/>
          </a:bodyPr>
          <a:lstStyle/>
          <a:p>
            <a:r>
              <a:rPr lang="en-US" dirty="0"/>
              <a:t>64 - 512 MB</a:t>
            </a:r>
          </a:p>
        </p:txBody>
      </p:sp>
      <p:sp>
        <p:nvSpPr>
          <p:cNvPr id="52" name="TextBox 51"/>
          <p:cNvSpPr txBox="1"/>
          <p:nvPr/>
        </p:nvSpPr>
        <p:spPr>
          <a:xfrm>
            <a:off x="7984361" y="4059677"/>
            <a:ext cx="1005403" cy="369332"/>
          </a:xfrm>
          <a:prstGeom prst="rect">
            <a:avLst/>
          </a:prstGeom>
          <a:noFill/>
        </p:spPr>
        <p:txBody>
          <a:bodyPr wrap="none" rtlCol="0">
            <a:spAutoFit/>
          </a:bodyPr>
          <a:lstStyle/>
          <a:p>
            <a:r>
              <a:rPr lang="en-US" dirty="0"/>
              <a:t>5 - 50 GB</a:t>
            </a:r>
          </a:p>
        </p:txBody>
      </p:sp>
      <p:sp>
        <p:nvSpPr>
          <p:cNvPr id="53" name="TextBox 52"/>
          <p:cNvSpPr txBox="1"/>
          <p:nvPr/>
        </p:nvSpPr>
        <p:spPr>
          <a:xfrm>
            <a:off x="8074488" y="4749513"/>
            <a:ext cx="1233030" cy="369332"/>
          </a:xfrm>
          <a:prstGeom prst="rect">
            <a:avLst/>
          </a:prstGeom>
          <a:noFill/>
        </p:spPr>
        <p:txBody>
          <a:bodyPr wrap="none" rtlCol="0">
            <a:spAutoFit/>
          </a:bodyPr>
          <a:lstStyle/>
          <a:p>
            <a:r>
              <a:rPr lang="en-US" dirty="0"/>
              <a:t>20 - 100 GB</a:t>
            </a:r>
          </a:p>
        </p:txBody>
      </p:sp>
      <p:sp>
        <p:nvSpPr>
          <p:cNvPr id="54" name="TextBox 53"/>
          <p:cNvSpPr txBox="1"/>
          <p:nvPr/>
        </p:nvSpPr>
        <p:spPr>
          <a:xfrm>
            <a:off x="1092994" y="1637031"/>
            <a:ext cx="2064989" cy="369332"/>
          </a:xfrm>
          <a:prstGeom prst="rect">
            <a:avLst/>
          </a:prstGeom>
          <a:noFill/>
        </p:spPr>
        <p:txBody>
          <a:bodyPr wrap="none" rtlCol="0">
            <a:spAutoFit/>
          </a:bodyPr>
          <a:lstStyle/>
          <a:p>
            <a:r>
              <a:rPr lang="en-US" dirty="0"/>
              <a:t>Typical Access Time</a:t>
            </a:r>
          </a:p>
        </p:txBody>
      </p:sp>
      <p:sp>
        <p:nvSpPr>
          <p:cNvPr id="55" name="TextBox 54"/>
          <p:cNvSpPr txBox="1"/>
          <p:nvPr/>
        </p:nvSpPr>
        <p:spPr>
          <a:xfrm>
            <a:off x="1378399" y="2164691"/>
            <a:ext cx="784189" cy="369332"/>
          </a:xfrm>
          <a:prstGeom prst="rect">
            <a:avLst/>
          </a:prstGeom>
          <a:noFill/>
        </p:spPr>
        <p:txBody>
          <a:bodyPr wrap="none" rtlCol="0">
            <a:spAutoFit/>
          </a:bodyPr>
          <a:lstStyle/>
          <a:p>
            <a:r>
              <a:rPr lang="en-US" dirty="0"/>
              <a:t>1 </a:t>
            </a:r>
            <a:r>
              <a:rPr lang="en-US" dirty="0" err="1"/>
              <a:t>nsec</a:t>
            </a:r>
            <a:endParaRPr lang="en-US" dirty="0"/>
          </a:p>
        </p:txBody>
      </p:sp>
      <p:sp>
        <p:nvSpPr>
          <p:cNvPr id="56" name="TextBox 55"/>
          <p:cNvSpPr txBox="1"/>
          <p:nvPr/>
        </p:nvSpPr>
        <p:spPr>
          <a:xfrm>
            <a:off x="1397731" y="2889638"/>
            <a:ext cx="784189" cy="369332"/>
          </a:xfrm>
          <a:prstGeom prst="rect">
            <a:avLst/>
          </a:prstGeom>
          <a:noFill/>
        </p:spPr>
        <p:txBody>
          <a:bodyPr wrap="none" rtlCol="0">
            <a:spAutoFit/>
          </a:bodyPr>
          <a:lstStyle/>
          <a:p>
            <a:r>
              <a:rPr lang="en-US" dirty="0"/>
              <a:t>2 </a:t>
            </a:r>
            <a:r>
              <a:rPr lang="en-US" dirty="0" err="1"/>
              <a:t>nsec</a:t>
            </a:r>
            <a:endParaRPr lang="en-US" dirty="0"/>
          </a:p>
        </p:txBody>
      </p:sp>
      <p:sp>
        <p:nvSpPr>
          <p:cNvPr id="57" name="TextBox 56"/>
          <p:cNvSpPr txBox="1"/>
          <p:nvPr/>
        </p:nvSpPr>
        <p:spPr>
          <a:xfrm>
            <a:off x="1349539" y="3565133"/>
            <a:ext cx="898003" cy="369332"/>
          </a:xfrm>
          <a:prstGeom prst="rect">
            <a:avLst/>
          </a:prstGeom>
          <a:noFill/>
        </p:spPr>
        <p:txBody>
          <a:bodyPr wrap="none" rtlCol="0">
            <a:spAutoFit/>
          </a:bodyPr>
          <a:lstStyle/>
          <a:p>
            <a:r>
              <a:rPr lang="en-US" dirty="0"/>
              <a:t>10 </a:t>
            </a:r>
            <a:r>
              <a:rPr lang="en-US" dirty="0" err="1"/>
              <a:t>nsec</a:t>
            </a:r>
            <a:endParaRPr lang="en-US" dirty="0"/>
          </a:p>
        </p:txBody>
      </p:sp>
      <p:sp>
        <p:nvSpPr>
          <p:cNvPr id="58" name="TextBox 57"/>
          <p:cNvSpPr txBox="1"/>
          <p:nvPr/>
        </p:nvSpPr>
        <p:spPr>
          <a:xfrm>
            <a:off x="1339837" y="4210032"/>
            <a:ext cx="958917" cy="369332"/>
          </a:xfrm>
          <a:prstGeom prst="rect">
            <a:avLst/>
          </a:prstGeom>
          <a:noFill/>
        </p:spPr>
        <p:txBody>
          <a:bodyPr wrap="none" rtlCol="0">
            <a:spAutoFit/>
          </a:bodyPr>
          <a:lstStyle/>
          <a:p>
            <a:r>
              <a:rPr lang="en-US" dirty="0"/>
              <a:t>10 </a:t>
            </a:r>
            <a:r>
              <a:rPr lang="en-US" dirty="0" err="1"/>
              <a:t>msec</a:t>
            </a:r>
            <a:endParaRPr lang="en-US" dirty="0"/>
          </a:p>
        </p:txBody>
      </p:sp>
      <p:sp>
        <p:nvSpPr>
          <p:cNvPr id="59" name="TextBox 58"/>
          <p:cNvSpPr txBox="1"/>
          <p:nvPr/>
        </p:nvSpPr>
        <p:spPr>
          <a:xfrm>
            <a:off x="1340024" y="4899868"/>
            <a:ext cx="899605" cy="369332"/>
          </a:xfrm>
          <a:prstGeom prst="rect">
            <a:avLst/>
          </a:prstGeom>
          <a:noFill/>
        </p:spPr>
        <p:txBody>
          <a:bodyPr wrap="none" rtlCol="0">
            <a:spAutoFit/>
          </a:bodyPr>
          <a:lstStyle/>
          <a:p>
            <a:r>
              <a:rPr lang="en-US" dirty="0"/>
              <a:t>100 sec</a:t>
            </a:r>
          </a:p>
        </p:txBody>
      </p:sp>
      <p:sp>
        <p:nvSpPr>
          <p:cNvPr id="6" name="Left Brace 5"/>
          <p:cNvSpPr/>
          <p:nvPr/>
        </p:nvSpPr>
        <p:spPr>
          <a:xfrm rot="10800000" flipH="1">
            <a:off x="3337432" y="4092330"/>
            <a:ext cx="432660" cy="115550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TextBox 26"/>
          <p:cNvSpPr txBox="1"/>
          <p:nvPr/>
        </p:nvSpPr>
        <p:spPr>
          <a:xfrm>
            <a:off x="2741883" y="3985915"/>
            <a:ext cx="492443" cy="1355499"/>
          </a:xfrm>
          <a:prstGeom prst="rect">
            <a:avLst/>
          </a:prstGeom>
          <a:noFill/>
        </p:spPr>
        <p:txBody>
          <a:bodyPr vert="vert" wrap="none" rtlCol="0">
            <a:spAutoFit/>
          </a:bodyPr>
          <a:lstStyle/>
          <a:p>
            <a:r>
              <a:rPr lang="en-US" sz="2000" b="1" dirty="0">
                <a:solidFill>
                  <a:srgbClr val="AD59C7"/>
                </a:solidFill>
              </a:rPr>
              <a:t>Non Volatile</a:t>
            </a:r>
          </a:p>
        </p:txBody>
      </p:sp>
      <p:sp>
        <p:nvSpPr>
          <p:cNvPr id="60" name="Left Brace 59"/>
          <p:cNvSpPr/>
          <p:nvPr/>
        </p:nvSpPr>
        <p:spPr>
          <a:xfrm rot="10800000" flipH="1">
            <a:off x="3249431" y="2349690"/>
            <a:ext cx="622976" cy="1567174"/>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1" name="TextBox 60"/>
          <p:cNvSpPr txBox="1"/>
          <p:nvPr/>
        </p:nvSpPr>
        <p:spPr>
          <a:xfrm>
            <a:off x="2661002" y="2628278"/>
            <a:ext cx="492443" cy="928293"/>
          </a:xfrm>
          <a:prstGeom prst="rect">
            <a:avLst/>
          </a:prstGeom>
          <a:noFill/>
        </p:spPr>
        <p:txBody>
          <a:bodyPr vert="vert" wrap="square" rtlCol="0">
            <a:spAutoFit/>
          </a:bodyPr>
          <a:lstStyle/>
          <a:p>
            <a:r>
              <a:rPr lang="en-US" sz="2000" b="1" dirty="0">
                <a:solidFill>
                  <a:srgbClr val="AD59C7"/>
                </a:solidFill>
              </a:rPr>
              <a:t>Volatile</a:t>
            </a:r>
          </a:p>
        </p:txBody>
      </p:sp>
    </p:spTree>
    <p:extLst>
      <p:ext uri="{BB962C8B-B14F-4D97-AF65-F5344CB8AC3E}">
        <p14:creationId xmlns:p14="http://schemas.microsoft.com/office/powerpoint/2010/main" val="1089605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nodePh="1">
                                  <p:stCondLst>
                                    <p:cond delay="0"/>
                                  </p:stCondLst>
                                  <p:endCondLst>
                                    <p:cond evt="begin" delay="0">
                                      <p:tn val="5"/>
                                    </p:cond>
                                  </p:endCondLst>
                                  <p:childTnLst>
                                    <p:set>
                                      <p:cBhvr>
                                        <p:cTn id="6" dur="1" fill="hold">
                                          <p:stCondLst>
                                            <p:cond delay="0"/>
                                          </p:stCondLst>
                                        </p:cTn>
                                        <p:tgtEl>
                                          <p:spTgt spid="1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par>
                                <p:cTn id="21" presetID="16" presetClass="entr" presetSubtype="26" fill="hold" nodeType="withEffect">
                                  <p:stCondLst>
                                    <p:cond delay="0"/>
                                  </p:stCondLst>
                                  <p:childTnLst>
                                    <p:set>
                                      <p:cBhvr>
                                        <p:cTn id="22" dur="1" fill="hold">
                                          <p:stCondLst>
                                            <p:cond delay="0"/>
                                          </p:stCondLst>
                                        </p:cTn>
                                        <p:tgtEl>
                                          <p:spTgt spid="38"/>
                                        </p:tgtEl>
                                        <p:attrNameLst>
                                          <p:attrName>style.visibility</p:attrName>
                                        </p:attrNameLst>
                                      </p:cBhvr>
                                      <p:to>
                                        <p:strVal val="visible"/>
                                      </p:to>
                                    </p:set>
                                    <p:animEffect transition="in" filter="barn(inHorizontal)">
                                      <p:cBhvr>
                                        <p:cTn id="23" dur="500"/>
                                        <p:tgtEl>
                                          <p:spTgt spid="38"/>
                                        </p:tgtEl>
                                      </p:cBhvr>
                                    </p:animEffect>
                                  </p:childTnLst>
                                </p:cTn>
                              </p:par>
                              <p:par>
                                <p:cTn id="24" presetID="1" presetClass="entr" presetSubtype="0" fill="hold" grpId="0" nodeType="withEffect">
                                  <p:stCondLst>
                                    <p:cond delay="0"/>
                                  </p:stCondLst>
                                  <p:childTnLst>
                                    <p:set>
                                      <p:cBhvr>
                                        <p:cTn id="25" dur="1" fill="hold">
                                          <p:stCondLst>
                                            <p:cond delay="0"/>
                                          </p:stCondLst>
                                        </p:cTn>
                                        <p:tgtEl>
                                          <p:spTgt spid="29"/>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49"/>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32"/>
                                        </p:tgtEl>
                                        <p:attrNameLst>
                                          <p:attrName>style.visibility</p:attrName>
                                        </p:attrNameLst>
                                      </p:cBhvr>
                                      <p:to>
                                        <p:strVal val="visible"/>
                                      </p:to>
                                    </p:set>
                                  </p:childTnLst>
                                </p:cTn>
                              </p:par>
                              <p:par>
                                <p:cTn id="32" presetID="16" presetClass="entr" presetSubtype="26" fill="hold" nodeType="withEffect">
                                  <p:stCondLst>
                                    <p:cond delay="0"/>
                                  </p:stCondLst>
                                  <p:childTnLst>
                                    <p:set>
                                      <p:cBhvr>
                                        <p:cTn id="33" dur="1" fill="hold">
                                          <p:stCondLst>
                                            <p:cond delay="0"/>
                                          </p:stCondLst>
                                        </p:cTn>
                                        <p:tgtEl>
                                          <p:spTgt spid="46"/>
                                        </p:tgtEl>
                                        <p:attrNameLst>
                                          <p:attrName>style.visibility</p:attrName>
                                        </p:attrNameLst>
                                      </p:cBhvr>
                                      <p:to>
                                        <p:strVal val="visible"/>
                                      </p:to>
                                    </p:set>
                                    <p:animEffect transition="in" filter="barn(inHorizontal)">
                                      <p:cBhvr>
                                        <p:cTn id="34" dur="500"/>
                                        <p:tgtEl>
                                          <p:spTgt spid="46"/>
                                        </p:tgtEl>
                                      </p:cBhvr>
                                    </p:animEffect>
                                  </p:childTnLst>
                                </p:cTn>
                              </p:par>
                              <p:par>
                                <p:cTn id="35" presetID="1" presetClass="entr" presetSubtype="0" fill="hold" grpId="0" nodeType="with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5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8"/>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59"/>
                                        </p:tgtEl>
                                        <p:attrNameLst>
                                          <p:attrName>style.visibility</p:attrName>
                                        </p:attrNameLst>
                                      </p:cBhvr>
                                      <p:to>
                                        <p:strVal val="visible"/>
                                      </p:to>
                                    </p:set>
                                  </p:childTnLst>
                                </p:cTn>
                              </p:par>
                            </p:childTnLst>
                          </p:cTn>
                        </p:par>
                        <p:par>
                          <p:cTn id="67" fill="hold">
                            <p:stCondLst>
                              <p:cond delay="0"/>
                            </p:stCondLst>
                            <p:childTnLst>
                              <p:par>
                                <p:cTn id="68" presetID="1" presetClass="entr" presetSubtype="0" fill="hold" grpId="0" nodeType="afterEffect">
                                  <p:stCondLst>
                                    <p:cond delay="0"/>
                                  </p:stCondLst>
                                  <p:childTnLst>
                                    <p:set>
                                      <p:cBhvr>
                                        <p:cTn id="69" dur="1" fill="hold">
                                          <p:stCondLst>
                                            <p:cond delay="0"/>
                                          </p:stCondLst>
                                        </p:cTn>
                                        <p:tgtEl>
                                          <p:spTgt spid="6"/>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60"/>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61"/>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P spid="32" grpId="0"/>
      <p:bldP spid="33" grpId="0"/>
      <p:bldP spid="49" grpId="0"/>
      <p:bldP spid="50" grpId="0"/>
      <p:bldP spid="43" grpId="0"/>
      <p:bldP spid="44" grpId="0"/>
      <p:bldP spid="45" grpId="0"/>
      <p:bldP spid="48" grpId="0"/>
      <p:bldP spid="52" grpId="0"/>
      <p:bldP spid="53" grpId="0"/>
      <p:bldP spid="54" grpId="0"/>
      <p:bldP spid="55" grpId="0"/>
      <p:bldP spid="56" grpId="0"/>
      <p:bldP spid="57" grpId="0"/>
      <p:bldP spid="58" grpId="0"/>
      <p:bldP spid="59" grpId="0"/>
      <p:bldP spid="6" grpId="0" animBg="1"/>
      <p:bldP spid="27" grpId="0"/>
      <p:bldP spid="60" grpId="0" animBg="1"/>
      <p:bldP spid="6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IN" dirty="0">
                <a:gradFill flip="none" rotWithShape="1">
                  <a:gsLst>
                    <a:gs pos="10000">
                      <a:srgbClr val="3E2622"/>
                    </a:gs>
                    <a:gs pos="100000">
                      <a:srgbClr val="795547"/>
                    </a:gs>
                  </a:gsLst>
                  <a:lin ang="0" scaled="1"/>
                  <a:tileRect/>
                </a:gradFill>
              </a:rPr>
              <a:t>Logical and Physical Address</a:t>
            </a:r>
            <a:endParaRPr lang="en-US" dirty="0">
              <a:gradFill flip="none" rotWithShape="1">
                <a:gsLst>
                  <a:gs pos="10000">
                    <a:srgbClr val="3E2622"/>
                  </a:gs>
                  <a:gs pos="100000">
                    <a:srgbClr val="795547"/>
                  </a:gs>
                </a:gsLst>
                <a:lin ang="0" scaled="1"/>
                <a:tileRect/>
              </a:gradFill>
            </a:endParaRP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- 2</a:t>
            </a:r>
          </a:p>
        </p:txBody>
      </p:sp>
    </p:spTree>
    <p:extLst>
      <p:ext uri="{BB962C8B-B14F-4D97-AF65-F5344CB8AC3E}">
        <p14:creationId xmlns:p14="http://schemas.microsoft.com/office/powerpoint/2010/main" val="18113673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IN" dirty="0"/>
          </a:p>
        </p:txBody>
      </p:sp>
      <p:sp>
        <p:nvSpPr>
          <p:cNvPr id="6" name="Rectangle 5"/>
          <p:cNvSpPr/>
          <p:nvPr/>
        </p:nvSpPr>
        <p:spPr>
          <a:xfrm>
            <a:off x="1875257" y="2502643"/>
            <a:ext cx="914400" cy="1204169"/>
          </a:xfrm>
          <a:prstGeom prst="rect">
            <a:avLst/>
          </a:prstGeom>
          <a:ln w="57150"/>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tx1"/>
                </a:solidFill>
              </a:rPr>
              <a:t>  </a:t>
            </a:r>
            <a:r>
              <a:rPr dirty="0">
                <a:solidFill>
                  <a:schemeClr val="tx1"/>
                </a:solidFill>
              </a:rPr>
              <a:t>CPU</a:t>
            </a:r>
          </a:p>
        </p:txBody>
      </p:sp>
      <p:sp>
        <p:nvSpPr>
          <p:cNvPr id="7" name="Rectangle 6"/>
          <p:cNvSpPr/>
          <p:nvPr/>
        </p:nvSpPr>
        <p:spPr>
          <a:xfrm>
            <a:off x="4755489" y="1520825"/>
            <a:ext cx="2260944" cy="3257550"/>
          </a:xfrm>
          <a:prstGeom prst="rect">
            <a:avLst/>
          </a:prstGeom>
          <a:ln w="28575"/>
        </p:spPr>
        <p:style>
          <a:lnRef idx="2">
            <a:schemeClr val="accent6"/>
          </a:lnRef>
          <a:fillRef idx="1">
            <a:schemeClr val="lt1"/>
          </a:fillRef>
          <a:effectRef idx="0">
            <a:schemeClr val="accent6"/>
          </a:effectRef>
          <a:fontRef idx="minor">
            <a:schemeClr val="dk1"/>
          </a:fontRef>
        </p:style>
        <p:txBody>
          <a:bodyPr rtlCol="0" anchor="ctr"/>
          <a:lstStyle/>
          <a:p>
            <a:endParaRPr dirty="0">
              <a:solidFill>
                <a:schemeClr val="tx1"/>
              </a:solidFill>
            </a:endParaRPr>
          </a:p>
        </p:txBody>
      </p:sp>
      <p:sp>
        <p:nvSpPr>
          <p:cNvPr id="8" name="Rectangle 7"/>
          <p:cNvSpPr/>
          <p:nvPr/>
        </p:nvSpPr>
        <p:spPr>
          <a:xfrm>
            <a:off x="9166767" y="1643218"/>
            <a:ext cx="1828800" cy="2743200"/>
          </a:xfrm>
          <a:prstGeom prst="rect">
            <a:avLst/>
          </a:prstGeom>
          <a:ln w="57150"/>
        </p:spPr>
        <p:style>
          <a:lnRef idx="2">
            <a:schemeClr val="accent6"/>
          </a:lnRef>
          <a:fillRef idx="1">
            <a:schemeClr val="lt1"/>
          </a:fillRef>
          <a:effectRef idx="0">
            <a:schemeClr val="accent6"/>
          </a:effectRef>
          <a:fontRef idx="minor">
            <a:schemeClr val="dk1"/>
          </a:fontRef>
        </p:style>
        <p:txBody>
          <a:bodyPr rtlCol="0" anchor="ctr"/>
          <a:lstStyle/>
          <a:p>
            <a:pPr algn="ctr"/>
            <a:r>
              <a:rPr dirty="0">
                <a:solidFill>
                  <a:schemeClr val="tx1"/>
                </a:solidFill>
              </a:rPr>
              <a:t>Memory</a:t>
            </a:r>
          </a:p>
        </p:txBody>
      </p:sp>
      <p:sp>
        <p:nvSpPr>
          <p:cNvPr id="11" name="TextBox 10"/>
          <p:cNvSpPr txBox="1"/>
          <p:nvPr/>
        </p:nvSpPr>
        <p:spPr>
          <a:xfrm>
            <a:off x="7283687" y="2322292"/>
            <a:ext cx="1754006" cy="646331"/>
          </a:xfrm>
          <a:prstGeom prst="rect">
            <a:avLst/>
          </a:prstGeom>
          <a:solidFill>
            <a:schemeClr val="bg1"/>
          </a:solidFill>
        </p:spPr>
        <p:txBody>
          <a:bodyPr wrap="none">
            <a:spAutoFit/>
          </a:bodyPr>
          <a:lstStyle/>
          <a:p>
            <a:pPr>
              <a:defRPr>
                <a:solidFill>
                  <a:srgbClr val="008000"/>
                </a:solidFill>
              </a:defRPr>
            </a:pPr>
            <a:r>
              <a:rPr dirty="0">
                <a:solidFill>
                  <a:schemeClr val="tx1">
                    <a:lumMod val="90000"/>
                    <a:lumOff val="10000"/>
                  </a:schemeClr>
                </a:solidFill>
              </a:rPr>
              <a:t>Physical Address</a:t>
            </a:r>
          </a:p>
          <a:p>
            <a:r>
              <a:rPr dirty="0"/>
              <a:t>14346</a:t>
            </a:r>
          </a:p>
        </p:txBody>
      </p:sp>
      <p:sp>
        <p:nvSpPr>
          <p:cNvPr id="3" name="Oval 2"/>
          <p:cNvSpPr/>
          <p:nvPr/>
        </p:nvSpPr>
        <p:spPr>
          <a:xfrm>
            <a:off x="5428760" y="2546350"/>
            <a:ext cx="914400" cy="9144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 name="Rectangle 3"/>
          <p:cNvSpPr/>
          <p:nvPr/>
        </p:nvSpPr>
        <p:spPr>
          <a:xfrm>
            <a:off x="5078616" y="3863975"/>
            <a:ext cx="1614689" cy="62229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1400</a:t>
            </a:r>
            <a:endParaRPr lang="en-IN" dirty="0"/>
          </a:p>
        </p:txBody>
      </p:sp>
      <p:sp>
        <p:nvSpPr>
          <p:cNvPr id="12" name="Rectangle 11"/>
          <p:cNvSpPr/>
          <p:nvPr/>
        </p:nvSpPr>
        <p:spPr>
          <a:xfrm>
            <a:off x="5078616" y="1814512"/>
            <a:ext cx="1614689" cy="4921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Relocation Register</a:t>
            </a:r>
            <a:endParaRPr lang="en-IN" dirty="0">
              <a:solidFill>
                <a:schemeClr val="tx1"/>
              </a:solidFill>
            </a:endParaRPr>
          </a:p>
        </p:txBody>
      </p:sp>
      <p:sp>
        <p:nvSpPr>
          <p:cNvPr id="13" name="Rectangle 12"/>
          <p:cNvSpPr/>
          <p:nvPr/>
        </p:nvSpPr>
        <p:spPr>
          <a:xfrm>
            <a:off x="4626417" y="5181600"/>
            <a:ext cx="2528198" cy="6715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MMU</a:t>
            </a:r>
            <a:endParaRPr lang="en-IN" dirty="0">
              <a:solidFill>
                <a:schemeClr val="tx1"/>
              </a:solidFill>
            </a:endParaRPr>
          </a:p>
        </p:txBody>
      </p:sp>
      <p:cxnSp>
        <p:nvCxnSpPr>
          <p:cNvPr id="20" name="Straight Arrow Connector 19"/>
          <p:cNvCxnSpPr>
            <a:cxnSpLocks/>
            <a:endCxn id="3" idx="2"/>
          </p:cNvCxnSpPr>
          <p:nvPr/>
        </p:nvCxnSpPr>
        <p:spPr>
          <a:xfrm flipV="1">
            <a:off x="2789657" y="3003550"/>
            <a:ext cx="2639103" cy="11268"/>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31" name="Straight Arrow Connector 30"/>
          <p:cNvCxnSpPr>
            <a:endCxn id="8" idx="1"/>
          </p:cNvCxnSpPr>
          <p:nvPr/>
        </p:nvCxnSpPr>
        <p:spPr>
          <a:xfrm flipV="1">
            <a:off x="6343162" y="3014818"/>
            <a:ext cx="2823605" cy="8912"/>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9" name="Title 1">
            <a:extLst>
              <a:ext uri="{FF2B5EF4-FFF2-40B4-BE49-F238E27FC236}">
                <a16:creationId xmlns:a16="http://schemas.microsoft.com/office/drawing/2014/main" id="{1E66FEA9-AAA8-6C2B-0750-33805FA18174}"/>
              </a:ext>
            </a:extLst>
          </p:cNvPr>
          <p:cNvSpPr txBox="1">
            <a:spLocks noGrp="1"/>
          </p:cNvSpPr>
          <p:nvPr>
            <p:ph type="title"/>
          </p:nvPr>
        </p:nvSpPr>
        <p:spPr>
          <a:xfrm>
            <a:off x="0" y="0"/>
            <a:ext cx="12192000" cy="711200"/>
          </a:xfrm>
          <a:prstGeom prst="rect">
            <a:avLst/>
          </a:prstGeom>
          <a:solidFill>
            <a:srgbClr val="C0C0C0">
              <a:alpha val="50000"/>
            </a:srgbClr>
          </a:solidFill>
          <a:ln>
            <a:noFill/>
          </a:ln>
        </p:spPr>
        <p:txBody>
          <a:bodyPr vert="horz" lIns="216000" tIns="108000" rIns="216000" bIns="108000" rtlCol="0" anchor="ctr">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US" dirty="0"/>
              <a:t>Logical Address and Physical Address</a:t>
            </a:r>
          </a:p>
        </p:txBody>
      </p:sp>
      <p:sp>
        <p:nvSpPr>
          <p:cNvPr id="15" name="TextBox 14">
            <a:extLst>
              <a:ext uri="{FF2B5EF4-FFF2-40B4-BE49-F238E27FC236}">
                <a16:creationId xmlns:a16="http://schemas.microsoft.com/office/drawing/2014/main" id="{A603A1A8-67F6-AF57-C8B6-8B08D9DCEE60}"/>
              </a:ext>
            </a:extLst>
          </p:cNvPr>
          <p:cNvSpPr txBox="1"/>
          <p:nvPr/>
        </p:nvSpPr>
        <p:spPr>
          <a:xfrm>
            <a:off x="3016301" y="2306638"/>
            <a:ext cx="1649811" cy="646331"/>
          </a:xfrm>
          <a:prstGeom prst="rect">
            <a:avLst/>
          </a:prstGeom>
          <a:solidFill>
            <a:schemeClr val="bg1"/>
          </a:solidFill>
        </p:spPr>
        <p:txBody>
          <a:bodyPr wrap="none">
            <a:spAutoFit/>
          </a:bodyPr>
          <a:lstStyle/>
          <a:p>
            <a:pPr>
              <a:defRPr>
                <a:solidFill>
                  <a:srgbClr val="008000"/>
                </a:solidFill>
              </a:defRPr>
            </a:pPr>
            <a:r>
              <a:rPr dirty="0">
                <a:solidFill>
                  <a:schemeClr val="tx1">
                    <a:lumMod val="90000"/>
                    <a:lumOff val="10000"/>
                  </a:schemeClr>
                </a:solidFill>
              </a:rPr>
              <a:t>Logical Address</a:t>
            </a:r>
          </a:p>
          <a:p>
            <a:r>
              <a:rPr dirty="0"/>
              <a:t>346</a:t>
            </a:r>
          </a:p>
        </p:txBody>
      </p:sp>
    </p:spTree>
    <p:extLst>
      <p:ext uri="{BB962C8B-B14F-4D97-AF65-F5344CB8AC3E}">
        <p14:creationId xmlns:p14="http://schemas.microsoft.com/office/powerpoint/2010/main" val="94050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1" grpId="0" animBg="1"/>
      <p:bldP spid="3" grpId="0" animBg="1"/>
      <p:bldP spid="4" grpId="0" animBg="1"/>
      <p:bldP spid="12" grpId="0"/>
      <p:bldP spid="13" grpId="0"/>
      <p:bldP spid="1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1D94D-D193-6E1D-F245-71E7858263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DAD495-F1AE-C230-8883-9C482DBFE35E}"/>
              </a:ext>
            </a:extLst>
          </p:cNvPr>
          <p:cNvSpPr>
            <a:spLocks noGrp="1"/>
          </p:cNvSpPr>
          <p:nvPr>
            <p:ph type="title"/>
          </p:nvPr>
        </p:nvSpPr>
        <p:spPr/>
        <p:txBody>
          <a:bodyPr/>
          <a:lstStyle/>
          <a:p>
            <a:r>
              <a:rPr lang="en-US" dirty="0"/>
              <a:t>Logical Address and Physical Address</a:t>
            </a:r>
          </a:p>
        </p:txBody>
      </p:sp>
      <p:sp>
        <p:nvSpPr>
          <p:cNvPr id="5" name="Rectangle 4">
            <a:extLst>
              <a:ext uri="{FF2B5EF4-FFF2-40B4-BE49-F238E27FC236}">
                <a16:creationId xmlns:a16="http://schemas.microsoft.com/office/drawing/2014/main" id="{353CB56A-9D41-C69F-F498-16A408391055}"/>
              </a:ext>
            </a:extLst>
          </p:cNvPr>
          <p:cNvSpPr/>
          <p:nvPr/>
        </p:nvSpPr>
        <p:spPr>
          <a:xfrm>
            <a:off x="260845" y="711201"/>
            <a:ext cx="5835155" cy="57279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nSpc>
                <a:spcPct val="120000"/>
              </a:lnSpc>
            </a:pPr>
            <a:endParaRPr lang="en-IN" sz="2000" dirty="0">
              <a:solidFill>
                <a:schemeClr val="bg1"/>
              </a:solidFill>
            </a:endParaRPr>
          </a:p>
        </p:txBody>
      </p:sp>
      <p:graphicFrame>
        <p:nvGraphicFramePr>
          <p:cNvPr id="3" name="Table 2">
            <a:extLst>
              <a:ext uri="{FF2B5EF4-FFF2-40B4-BE49-F238E27FC236}">
                <a16:creationId xmlns:a16="http://schemas.microsoft.com/office/drawing/2014/main" id="{8E74EDE1-E016-A035-DAA6-0E9914EFACD6}"/>
              </a:ext>
            </a:extLst>
          </p:cNvPr>
          <p:cNvGraphicFramePr>
            <a:graphicFrameLocks noGrp="1"/>
          </p:cNvGraphicFramePr>
          <p:nvPr>
            <p:extLst>
              <p:ext uri="{D42A27DB-BD31-4B8C-83A1-F6EECF244321}">
                <p14:modId xmlns:p14="http://schemas.microsoft.com/office/powerpoint/2010/main" val="4262804076"/>
              </p:ext>
            </p:extLst>
          </p:nvPr>
        </p:nvGraphicFramePr>
        <p:xfrm>
          <a:off x="599440" y="1567182"/>
          <a:ext cx="10139680" cy="586738"/>
        </p:xfrm>
        <a:graphic>
          <a:graphicData uri="http://schemas.openxmlformats.org/drawingml/2006/table">
            <a:tbl>
              <a:tblPr firstRow="1" bandRow="1">
                <a:tableStyleId>{69012ECD-51FC-41F1-AA8D-1B2483CD663E}</a:tableStyleId>
              </a:tblPr>
              <a:tblGrid>
                <a:gridCol w="5069840">
                  <a:extLst>
                    <a:ext uri="{9D8B030D-6E8A-4147-A177-3AD203B41FA5}">
                      <a16:colId xmlns:a16="http://schemas.microsoft.com/office/drawing/2014/main" val="2259813348"/>
                    </a:ext>
                  </a:extLst>
                </a:gridCol>
                <a:gridCol w="5069840">
                  <a:extLst>
                    <a:ext uri="{9D8B030D-6E8A-4147-A177-3AD203B41FA5}">
                      <a16:colId xmlns:a16="http://schemas.microsoft.com/office/drawing/2014/main" val="123427425"/>
                    </a:ext>
                  </a:extLst>
                </a:gridCol>
              </a:tblGrid>
              <a:tr h="586738">
                <a:tc>
                  <a:txBody>
                    <a:bodyPr/>
                    <a:lstStyle/>
                    <a:p>
                      <a:pPr algn="ctr"/>
                      <a:r>
                        <a:rPr lang="en-US" b="1" dirty="0">
                          <a:solidFill>
                            <a:schemeClr val="tx1"/>
                          </a:solidFill>
                        </a:rPr>
                        <a:t>Logical Address</a:t>
                      </a:r>
                      <a:endParaRPr lang="en-IN"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algn="ctr"/>
                      <a:r>
                        <a:rPr lang="en-US" b="1" dirty="0">
                          <a:solidFill>
                            <a:schemeClr val="tx1"/>
                          </a:solidFill>
                        </a:rPr>
                        <a:t>Physical Address</a:t>
                      </a:r>
                      <a:endParaRPr lang="en-IN"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286123548"/>
                  </a:ext>
                </a:extLst>
              </a:tr>
            </a:tbl>
          </a:graphicData>
        </a:graphic>
      </p:graphicFrame>
      <p:graphicFrame>
        <p:nvGraphicFramePr>
          <p:cNvPr id="6" name="Table 5">
            <a:extLst>
              <a:ext uri="{FF2B5EF4-FFF2-40B4-BE49-F238E27FC236}">
                <a16:creationId xmlns:a16="http://schemas.microsoft.com/office/drawing/2014/main" id="{ACFE3604-6230-5C07-C811-0A4DC17D7EDF}"/>
              </a:ext>
            </a:extLst>
          </p:cNvPr>
          <p:cNvGraphicFramePr>
            <a:graphicFrameLocks noGrp="1"/>
          </p:cNvGraphicFramePr>
          <p:nvPr>
            <p:extLst>
              <p:ext uri="{D42A27DB-BD31-4B8C-83A1-F6EECF244321}">
                <p14:modId xmlns:p14="http://schemas.microsoft.com/office/powerpoint/2010/main" val="2711018805"/>
              </p:ext>
            </p:extLst>
          </p:nvPr>
        </p:nvGraphicFramePr>
        <p:xfrm>
          <a:off x="599440" y="2171697"/>
          <a:ext cx="10139680" cy="586737"/>
        </p:xfrm>
        <a:graphic>
          <a:graphicData uri="http://schemas.openxmlformats.org/drawingml/2006/table">
            <a:tbl>
              <a:tblPr firstRow="1" bandRow="1">
                <a:tableStyleId>{5940675A-B579-460E-94D1-54222C63F5DA}</a:tableStyleId>
              </a:tblPr>
              <a:tblGrid>
                <a:gridCol w="5069840">
                  <a:extLst>
                    <a:ext uri="{9D8B030D-6E8A-4147-A177-3AD203B41FA5}">
                      <a16:colId xmlns:a16="http://schemas.microsoft.com/office/drawing/2014/main" val="3995100257"/>
                    </a:ext>
                  </a:extLst>
                </a:gridCol>
                <a:gridCol w="5069840">
                  <a:extLst>
                    <a:ext uri="{9D8B030D-6E8A-4147-A177-3AD203B41FA5}">
                      <a16:colId xmlns:a16="http://schemas.microsoft.com/office/drawing/2014/main" val="1592129209"/>
                    </a:ext>
                  </a:extLst>
                </a:gridCol>
              </a:tblGrid>
              <a:tr h="586737">
                <a:tc>
                  <a:txBody>
                    <a:bodyPr/>
                    <a:lstStyle/>
                    <a:p>
                      <a:r>
                        <a:rPr lang="en-US" dirty="0"/>
                        <a:t>Logical Address is generated by CPU</a:t>
                      </a:r>
                      <a:endParaRPr lang="en-IN" dirty="0"/>
                    </a:p>
                  </a:txBody>
                  <a:tcPr anchor="ctr"/>
                </a:tc>
                <a:tc>
                  <a:txBody>
                    <a:bodyPr/>
                    <a:lstStyle/>
                    <a:p>
                      <a:r>
                        <a:rPr lang="en-US" dirty="0"/>
                        <a:t>Physical Address assign in main memory</a:t>
                      </a:r>
                      <a:endParaRPr lang="en-IN" dirty="0"/>
                    </a:p>
                  </a:txBody>
                  <a:tcPr anchor="ctr"/>
                </a:tc>
                <a:extLst>
                  <a:ext uri="{0D108BD9-81ED-4DB2-BD59-A6C34878D82A}">
                    <a16:rowId xmlns:a16="http://schemas.microsoft.com/office/drawing/2014/main" val="1452961073"/>
                  </a:ext>
                </a:extLst>
              </a:tr>
            </a:tbl>
          </a:graphicData>
        </a:graphic>
      </p:graphicFrame>
      <p:graphicFrame>
        <p:nvGraphicFramePr>
          <p:cNvPr id="7" name="Table 6">
            <a:extLst>
              <a:ext uri="{FF2B5EF4-FFF2-40B4-BE49-F238E27FC236}">
                <a16:creationId xmlns:a16="http://schemas.microsoft.com/office/drawing/2014/main" id="{442DD6BF-90A1-581A-D12D-99456B7E1978}"/>
              </a:ext>
            </a:extLst>
          </p:cNvPr>
          <p:cNvGraphicFramePr>
            <a:graphicFrameLocks noGrp="1"/>
          </p:cNvGraphicFramePr>
          <p:nvPr>
            <p:extLst>
              <p:ext uri="{D42A27DB-BD31-4B8C-83A1-F6EECF244321}">
                <p14:modId xmlns:p14="http://schemas.microsoft.com/office/powerpoint/2010/main" val="290623607"/>
              </p:ext>
            </p:extLst>
          </p:nvPr>
        </p:nvGraphicFramePr>
        <p:xfrm>
          <a:off x="599440" y="2776210"/>
          <a:ext cx="10139680" cy="693423"/>
        </p:xfrm>
        <a:graphic>
          <a:graphicData uri="http://schemas.openxmlformats.org/drawingml/2006/table">
            <a:tbl>
              <a:tblPr firstRow="1" bandRow="1">
                <a:tableStyleId>{5940675A-B579-460E-94D1-54222C63F5DA}</a:tableStyleId>
              </a:tblPr>
              <a:tblGrid>
                <a:gridCol w="5069840">
                  <a:extLst>
                    <a:ext uri="{9D8B030D-6E8A-4147-A177-3AD203B41FA5}">
                      <a16:colId xmlns:a16="http://schemas.microsoft.com/office/drawing/2014/main" val="210081532"/>
                    </a:ext>
                  </a:extLst>
                </a:gridCol>
                <a:gridCol w="5069840">
                  <a:extLst>
                    <a:ext uri="{9D8B030D-6E8A-4147-A177-3AD203B41FA5}">
                      <a16:colId xmlns:a16="http://schemas.microsoft.com/office/drawing/2014/main" val="2063462670"/>
                    </a:ext>
                  </a:extLst>
                </a:gridCol>
              </a:tblGrid>
              <a:tr h="693423">
                <a:tc>
                  <a:txBody>
                    <a:bodyPr/>
                    <a:lstStyle/>
                    <a:p>
                      <a:r>
                        <a:rPr lang="en-US" dirty="0"/>
                        <a:t>Set of all logical addresses that can be referenced by a </a:t>
                      </a:r>
                      <a:r>
                        <a:rPr lang="en-US" b="1" dirty="0"/>
                        <a:t>process</a:t>
                      </a:r>
                      <a:r>
                        <a:rPr lang="en-US" dirty="0"/>
                        <a:t>.</a:t>
                      </a:r>
                      <a:endParaRPr lang="en-IN" dirty="0"/>
                    </a:p>
                  </a:txBody>
                  <a:tcPr anchor="ctr"/>
                </a:tc>
                <a:tc>
                  <a:txBody>
                    <a:bodyPr/>
                    <a:lstStyle/>
                    <a:p>
                      <a:r>
                        <a:rPr lang="en-US" dirty="0"/>
                        <a:t>Set of all physical addresses occupied by a </a:t>
                      </a:r>
                      <a:r>
                        <a:rPr lang="en-US" b="1" dirty="0"/>
                        <a:t>process in main memory</a:t>
                      </a:r>
                      <a:r>
                        <a:rPr lang="en-US" dirty="0"/>
                        <a:t>.</a:t>
                      </a:r>
                      <a:endParaRPr lang="en-IN" dirty="0"/>
                    </a:p>
                  </a:txBody>
                  <a:tcPr anchor="ctr"/>
                </a:tc>
                <a:extLst>
                  <a:ext uri="{0D108BD9-81ED-4DB2-BD59-A6C34878D82A}">
                    <a16:rowId xmlns:a16="http://schemas.microsoft.com/office/drawing/2014/main" val="205553683"/>
                  </a:ext>
                </a:extLst>
              </a:tr>
            </a:tbl>
          </a:graphicData>
        </a:graphic>
      </p:graphicFrame>
      <p:graphicFrame>
        <p:nvGraphicFramePr>
          <p:cNvPr id="9" name="Table 8">
            <a:extLst>
              <a:ext uri="{FF2B5EF4-FFF2-40B4-BE49-F238E27FC236}">
                <a16:creationId xmlns:a16="http://schemas.microsoft.com/office/drawing/2014/main" id="{0CC85153-B5FB-AEDD-6536-8934AFBE44DA}"/>
              </a:ext>
            </a:extLst>
          </p:cNvPr>
          <p:cNvGraphicFramePr>
            <a:graphicFrameLocks noGrp="1"/>
          </p:cNvGraphicFramePr>
          <p:nvPr>
            <p:extLst>
              <p:ext uri="{D42A27DB-BD31-4B8C-83A1-F6EECF244321}">
                <p14:modId xmlns:p14="http://schemas.microsoft.com/office/powerpoint/2010/main" val="2738490039"/>
              </p:ext>
            </p:extLst>
          </p:nvPr>
        </p:nvGraphicFramePr>
        <p:xfrm>
          <a:off x="599440" y="3482338"/>
          <a:ext cx="10139680" cy="835661"/>
        </p:xfrm>
        <a:graphic>
          <a:graphicData uri="http://schemas.openxmlformats.org/drawingml/2006/table">
            <a:tbl>
              <a:tblPr firstRow="1" bandRow="1">
                <a:tableStyleId>{5940675A-B579-460E-94D1-54222C63F5DA}</a:tableStyleId>
              </a:tblPr>
              <a:tblGrid>
                <a:gridCol w="5069840">
                  <a:extLst>
                    <a:ext uri="{9D8B030D-6E8A-4147-A177-3AD203B41FA5}">
                      <a16:colId xmlns:a16="http://schemas.microsoft.com/office/drawing/2014/main" val="1749413178"/>
                    </a:ext>
                  </a:extLst>
                </a:gridCol>
                <a:gridCol w="5069840">
                  <a:extLst>
                    <a:ext uri="{9D8B030D-6E8A-4147-A177-3AD203B41FA5}">
                      <a16:colId xmlns:a16="http://schemas.microsoft.com/office/drawing/2014/main" val="2639625886"/>
                    </a:ext>
                  </a:extLst>
                </a:gridCol>
              </a:tblGrid>
              <a:tr h="835661">
                <a:tc>
                  <a:txBody>
                    <a:bodyPr/>
                    <a:lstStyle/>
                    <a:p>
                      <a:r>
                        <a:rPr lang="en-US" dirty="0"/>
                        <a:t>Address starts from </a:t>
                      </a:r>
                      <a:r>
                        <a:rPr lang="en-US" b="1" dirty="0"/>
                        <a:t>zero</a:t>
                      </a:r>
                      <a:r>
                        <a:rPr lang="en-US" dirty="0"/>
                        <a:t> and goes up to a </a:t>
                      </a:r>
                      <a:r>
                        <a:rPr lang="en-US" b="1" dirty="0"/>
                        <a:t>maximum value</a:t>
                      </a:r>
                      <a:r>
                        <a:rPr lang="en-US" dirty="0"/>
                        <a:t> based on the size of the process.</a:t>
                      </a:r>
                      <a:endParaRPr lang="en-IN" dirty="0"/>
                    </a:p>
                  </a:txBody>
                  <a:tcPr anchor="ctr"/>
                </a:tc>
                <a:tc>
                  <a:txBody>
                    <a:bodyPr/>
                    <a:lstStyle/>
                    <a:p>
                      <a:r>
                        <a:rPr lang="en-US" dirty="0"/>
                        <a:t>Addresses may or may not be </a:t>
                      </a:r>
                      <a:r>
                        <a:rPr lang="en-US" b="1" dirty="0"/>
                        <a:t>contiguous</a:t>
                      </a:r>
                      <a:r>
                        <a:rPr lang="en-US" dirty="0"/>
                        <a:t>, depending on the </a:t>
                      </a:r>
                      <a:r>
                        <a:rPr lang="en-US" b="1" dirty="0"/>
                        <a:t>memory allocation method</a:t>
                      </a:r>
                      <a:r>
                        <a:rPr lang="en-US" dirty="0"/>
                        <a:t>.</a:t>
                      </a:r>
                      <a:endParaRPr lang="en-IN" dirty="0"/>
                    </a:p>
                  </a:txBody>
                  <a:tcPr anchor="ctr"/>
                </a:tc>
                <a:extLst>
                  <a:ext uri="{0D108BD9-81ED-4DB2-BD59-A6C34878D82A}">
                    <a16:rowId xmlns:a16="http://schemas.microsoft.com/office/drawing/2014/main" val="2177173910"/>
                  </a:ext>
                </a:extLst>
              </a:tr>
            </a:tbl>
          </a:graphicData>
        </a:graphic>
      </p:graphicFrame>
      <p:graphicFrame>
        <p:nvGraphicFramePr>
          <p:cNvPr id="93" name="Table 92">
            <a:extLst>
              <a:ext uri="{FF2B5EF4-FFF2-40B4-BE49-F238E27FC236}">
                <a16:creationId xmlns:a16="http://schemas.microsoft.com/office/drawing/2014/main" id="{62DAB14C-D198-F54F-4B8C-65274CCB1991}"/>
              </a:ext>
            </a:extLst>
          </p:cNvPr>
          <p:cNvGraphicFramePr>
            <a:graphicFrameLocks noGrp="1"/>
          </p:cNvGraphicFramePr>
          <p:nvPr>
            <p:extLst>
              <p:ext uri="{D42A27DB-BD31-4B8C-83A1-F6EECF244321}">
                <p14:modId xmlns:p14="http://schemas.microsoft.com/office/powerpoint/2010/main" val="2489964918"/>
              </p:ext>
            </p:extLst>
          </p:nvPr>
        </p:nvGraphicFramePr>
        <p:xfrm>
          <a:off x="599440" y="4317999"/>
          <a:ext cx="10139680" cy="835660"/>
        </p:xfrm>
        <a:graphic>
          <a:graphicData uri="http://schemas.openxmlformats.org/drawingml/2006/table">
            <a:tbl>
              <a:tblPr firstRow="1" bandRow="1">
                <a:tableStyleId>{5940675A-B579-460E-94D1-54222C63F5DA}</a:tableStyleId>
              </a:tblPr>
              <a:tblGrid>
                <a:gridCol w="5069840">
                  <a:extLst>
                    <a:ext uri="{9D8B030D-6E8A-4147-A177-3AD203B41FA5}">
                      <a16:colId xmlns:a16="http://schemas.microsoft.com/office/drawing/2014/main" val="2902370116"/>
                    </a:ext>
                  </a:extLst>
                </a:gridCol>
                <a:gridCol w="5069840">
                  <a:extLst>
                    <a:ext uri="{9D8B030D-6E8A-4147-A177-3AD203B41FA5}">
                      <a16:colId xmlns:a16="http://schemas.microsoft.com/office/drawing/2014/main" val="2086743030"/>
                    </a:ext>
                  </a:extLst>
                </a:gridCol>
              </a:tblGrid>
              <a:tr h="835660">
                <a:tc>
                  <a:txBody>
                    <a:bodyPr/>
                    <a:lstStyle/>
                    <a:p>
                      <a:r>
                        <a:rPr lang="en-US" dirty="0"/>
                        <a:t>A process can </a:t>
                      </a:r>
                      <a:r>
                        <a:rPr lang="en-US" b="1" dirty="0"/>
                        <a:t>read and write</a:t>
                      </a:r>
                      <a:r>
                        <a:rPr lang="en-US" dirty="0"/>
                        <a:t> its own logical address space.</a:t>
                      </a:r>
                      <a:endParaRPr lang="en-IN" dirty="0"/>
                    </a:p>
                  </a:txBody>
                  <a:tcPr anchor="ctr"/>
                </a:tc>
                <a:tc>
                  <a:txBody>
                    <a:bodyPr/>
                    <a:lstStyle/>
                    <a:p>
                      <a:r>
                        <a:rPr lang="en-US" dirty="0"/>
                        <a:t>A process can </a:t>
                      </a:r>
                      <a:r>
                        <a:rPr lang="en-US" b="1" dirty="0"/>
                        <a:t>read and write</a:t>
                      </a:r>
                      <a:r>
                        <a:rPr lang="en-US" dirty="0"/>
                        <a:t> only those physical addresses that belong to its own logical address.</a:t>
                      </a:r>
                      <a:endParaRPr lang="en-IN" dirty="0"/>
                    </a:p>
                  </a:txBody>
                  <a:tcPr anchor="ctr"/>
                </a:tc>
                <a:extLst>
                  <a:ext uri="{0D108BD9-81ED-4DB2-BD59-A6C34878D82A}">
                    <a16:rowId xmlns:a16="http://schemas.microsoft.com/office/drawing/2014/main" val="3122907167"/>
                  </a:ext>
                </a:extLst>
              </a:tr>
            </a:tbl>
          </a:graphicData>
        </a:graphic>
      </p:graphicFrame>
      <p:graphicFrame>
        <p:nvGraphicFramePr>
          <p:cNvPr id="94" name="Table 93">
            <a:extLst>
              <a:ext uri="{FF2B5EF4-FFF2-40B4-BE49-F238E27FC236}">
                <a16:creationId xmlns:a16="http://schemas.microsoft.com/office/drawing/2014/main" id="{B8CE6C08-FC07-90E5-CC88-AB672E2A36C4}"/>
              </a:ext>
            </a:extLst>
          </p:cNvPr>
          <p:cNvGraphicFramePr>
            <a:graphicFrameLocks noGrp="1"/>
          </p:cNvGraphicFramePr>
          <p:nvPr>
            <p:extLst>
              <p:ext uri="{D42A27DB-BD31-4B8C-83A1-F6EECF244321}">
                <p14:modId xmlns:p14="http://schemas.microsoft.com/office/powerpoint/2010/main" val="793046875"/>
              </p:ext>
            </p:extLst>
          </p:nvPr>
        </p:nvGraphicFramePr>
        <p:xfrm>
          <a:off x="599440" y="5153659"/>
          <a:ext cx="10139680" cy="835660"/>
        </p:xfrm>
        <a:graphic>
          <a:graphicData uri="http://schemas.openxmlformats.org/drawingml/2006/table">
            <a:tbl>
              <a:tblPr firstRow="1" bandRow="1">
                <a:tableStyleId>{5940675A-B579-460E-94D1-54222C63F5DA}</a:tableStyleId>
              </a:tblPr>
              <a:tblGrid>
                <a:gridCol w="5069840">
                  <a:extLst>
                    <a:ext uri="{9D8B030D-6E8A-4147-A177-3AD203B41FA5}">
                      <a16:colId xmlns:a16="http://schemas.microsoft.com/office/drawing/2014/main" val="2794932514"/>
                    </a:ext>
                  </a:extLst>
                </a:gridCol>
                <a:gridCol w="5069840">
                  <a:extLst>
                    <a:ext uri="{9D8B030D-6E8A-4147-A177-3AD203B41FA5}">
                      <a16:colId xmlns:a16="http://schemas.microsoft.com/office/drawing/2014/main" val="4141477612"/>
                    </a:ext>
                  </a:extLst>
                </a:gridCol>
              </a:tblGrid>
              <a:tr h="835660">
                <a:tc>
                  <a:txBody>
                    <a:bodyPr/>
                    <a:lstStyle/>
                    <a:p>
                      <a:r>
                        <a:rPr lang="en-US" dirty="0"/>
                        <a:t>Logical addresses are </a:t>
                      </a:r>
                      <a:r>
                        <a:rPr lang="en-US" b="1" dirty="0"/>
                        <a:t>limited by the address size of the processor</a:t>
                      </a:r>
                      <a:r>
                        <a:rPr lang="en-US" dirty="0"/>
                        <a:t>.</a:t>
                      </a:r>
                      <a:endParaRPr lang="en-IN" dirty="0"/>
                    </a:p>
                  </a:txBody>
                  <a:tcPr anchor="ctr"/>
                </a:tc>
                <a:tc>
                  <a:txBody>
                    <a:bodyPr/>
                    <a:lstStyle/>
                    <a:p>
                      <a:r>
                        <a:rPr lang="en-US" dirty="0"/>
                        <a:t>Physical addresses are </a:t>
                      </a:r>
                      <a:r>
                        <a:rPr lang="en-US" b="1" dirty="0"/>
                        <a:t>limited by the amount of installed memory</a:t>
                      </a:r>
                      <a:r>
                        <a:rPr lang="en-US" dirty="0"/>
                        <a:t>.</a:t>
                      </a:r>
                      <a:endParaRPr lang="en-IN" dirty="0"/>
                    </a:p>
                  </a:txBody>
                  <a:tcPr anchor="ctr"/>
                </a:tc>
                <a:extLst>
                  <a:ext uri="{0D108BD9-81ED-4DB2-BD59-A6C34878D82A}">
                    <a16:rowId xmlns:a16="http://schemas.microsoft.com/office/drawing/2014/main" val="1034238024"/>
                  </a:ext>
                </a:extLst>
              </a:tr>
            </a:tbl>
          </a:graphicData>
        </a:graphic>
      </p:graphicFrame>
    </p:spTree>
    <p:extLst>
      <p:ext uri="{BB962C8B-B14F-4D97-AF65-F5344CB8AC3E}">
        <p14:creationId xmlns:p14="http://schemas.microsoft.com/office/powerpoint/2010/main" val="3812850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t>Basic Memory Management Techniques</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- 3</a:t>
            </a:r>
          </a:p>
        </p:txBody>
      </p:sp>
    </p:spTree>
    <p:extLst>
      <p:ext uri="{BB962C8B-B14F-4D97-AF65-F5344CB8AC3E}">
        <p14:creationId xmlns:p14="http://schemas.microsoft.com/office/powerpoint/2010/main" val="27800404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 Allocation</a:t>
            </a:r>
          </a:p>
        </p:txBody>
      </p:sp>
      <p:sp>
        <p:nvSpPr>
          <p:cNvPr id="3" name="Content Placeholder 2"/>
          <p:cNvSpPr>
            <a:spLocks noGrp="1"/>
          </p:cNvSpPr>
          <p:nvPr>
            <p:ph idx="1"/>
          </p:nvPr>
        </p:nvSpPr>
        <p:spPr>
          <a:xfrm>
            <a:off x="131179" y="853816"/>
            <a:ext cx="11929641" cy="5649046"/>
          </a:xfrm>
        </p:spPr>
        <p:txBody>
          <a:bodyPr/>
          <a:lstStyle/>
          <a:p>
            <a:r>
              <a:rPr lang="en-US" dirty="0"/>
              <a:t>Memory Allocation is an action of </a:t>
            </a:r>
            <a:r>
              <a:rPr lang="en-US" dirty="0">
                <a:solidFill>
                  <a:schemeClr val="accent6"/>
                </a:solidFill>
              </a:rPr>
              <a:t>assigning physical </a:t>
            </a:r>
            <a:r>
              <a:rPr lang="en-US" dirty="0"/>
              <a:t>and </a:t>
            </a:r>
            <a:r>
              <a:rPr lang="en-US" dirty="0">
                <a:solidFill>
                  <a:schemeClr val="accent6"/>
                </a:solidFill>
              </a:rPr>
              <a:t>virtual memory address space to process.</a:t>
            </a:r>
          </a:p>
          <a:p>
            <a:r>
              <a:rPr lang="en-US" dirty="0"/>
              <a:t>Goal of Memory allocation</a:t>
            </a:r>
          </a:p>
          <a:p>
            <a:r>
              <a:rPr lang="en-US" sz="2200" b="1" dirty="0">
                <a:solidFill>
                  <a:schemeClr val="accent6"/>
                </a:solidFill>
              </a:rPr>
              <a:t>High Utilization</a:t>
            </a:r>
          </a:p>
          <a:p>
            <a:pPr lvl="1"/>
            <a:r>
              <a:rPr lang="en-US" dirty="0"/>
              <a:t>Maximum possible memory should be Utilized</a:t>
            </a:r>
          </a:p>
          <a:p>
            <a:pPr lvl="1"/>
            <a:r>
              <a:rPr lang="en-US" dirty="0"/>
              <a:t>No any Single piece of memory should be wasted.</a:t>
            </a:r>
          </a:p>
          <a:p>
            <a:r>
              <a:rPr lang="en-US" sz="2200" b="1" dirty="0">
                <a:solidFill>
                  <a:schemeClr val="accent6"/>
                </a:solidFill>
              </a:rPr>
              <a:t>High Concurrency</a:t>
            </a:r>
          </a:p>
          <a:p>
            <a:pPr lvl="1"/>
            <a:r>
              <a:rPr lang="en-US" dirty="0"/>
              <a:t>Maximum possible process should be in main memory.</a:t>
            </a:r>
          </a:p>
          <a:p>
            <a:pPr lvl="1" algn="l"/>
            <a:r>
              <a:rPr lang="en-US" dirty="0"/>
              <a:t>As there are many processes in memory, CPU remain busy most of the time in executing one of the process. So throughput is better. </a:t>
            </a:r>
          </a:p>
        </p:txBody>
      </p:sp>
    </p:spTree>
    <p:extLst>
      <p:ext uri="{BB962C8B-B14F-4D97-AF65-F5344CB8AC3E}">
        <p14:creationId xmlns:p14="http://schemas.microsoft.com/office/powerpoint/2010/main" val="572531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 Allocation</a:t>
            </a:r>
          </a:p>
        </p:txBody>
      </p:sp>
      <p:sp>
        <p:nvSpPr>
          <p:cNvPr id="5" name="TextBox 4"/>
          <p:cNvSpPr txBox="1"/>
          <p:nvPr/>
        </p:nvSpPr>
        <p:spPr>
          <a:xfrm>
            <a:off x="4595428" y="1028700"/>
            <a:ext cx="3047629" cy="461665"/>
          </a:xfrm>
          <a:prstGeom prst="rect">
            <a:avLst/>
          </a:prstGeom>
          <a:noFill/>
        </p:spPr>
        <p:txBody>
          <a:bodyPr wrap="none" rtlCol="0">
            <a:spAutoFit/>
          </a:bodyPr>
          <a:lstStyle/>
          <a:p>
            <a:r>
              <a:rPr lang="en-US" sz="2400" b="1" dirty="0">
                <a:solidFill>
                  <a:srgbClr val="212121"/>
                </a:solidFill>
              </a:rPr>
              <a:t>MEMORY ALLOCATION</a:t>
            </a:r>
          </a:p>
        </p:txBody>
      </p:sp>
      <p:cxnSp>
        <p:nvCxnSpPr>
          <p:cNvPr id="7" name="Straight Connector 6"/>
          <p:cNvCxnSpPr>
            <a:stCxn id="5" idx="2"/>
          </p:cNvCxnSpPr>
          <p:nvPr/>
        </p:nvCxnSpPr>
        <p:spPr>
          <a:xfrm flipH="1">
            <a:off x="6119242" y="1490365"/>
            <a:ext cx="1" cy="69562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3132038" y="2185988"/>
            <a:ext cx="642991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9528857" y="2185988"/>
            <a:ext cx="0" cy="60007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3155727" y="2185988"/>
            <a:ext cx="0" cy="60007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8287032" y="2852855"/>
            <a:ext cx="2513830" cy="830997"/>
          </a:xfrm>
          <a:prstGeom prst="rect">
            <a:avLst/>
          </a:prstGeom>
          <a:noFill/>
        </p:spPr>
        <p:txBody>
          <a:bodyPr wrap="none" rtlCol="0">
            <a:spAutoFit/>
          </a:bodyPr>
          <a:lstStyle/>
          <a:p>
            <a:pPr algn="ctr"/>
            <a:r>
              <a:rPr lang="en-US" sz="2400" b="1" dirty="0">
                <a:solidFill>
                  <a:srgbClr val="B84742"/>
                </a:solidFill>
              </a:rPr>
              <a:t>Non – Contiguous </a:t>
            </a:r>
          </a:p>
          <a:p>
            <a:pPr algn="ctr"/>
            <a:r>
              <a:rPr lang="en-US" sz="2400" b="1" dirty="0">
                <a:solidFill>
                  <a:srgbClr val="B84742"/>
                </a:solidFill>
              </a:rPr>
              <a:t>Memory Allocation</a:t>
            </a:r>
          </a:p>
        </p:txBody>
      </p:sp>
      <p:sp>
        <p:nvSpPr>
          <p:cNvPr id="21" name="TextBox 20"/>
          <p:cNvSpPr txBox="1"/>
          <p:nvPr/>
        </p:nvSpPr>
        <p:spPr>
          <a:xfrm>
            <a:off x="1898812" y="2881612"/>
            <a:ext cx="2513830" cy="830997"/>
          </a:xfrm>
          <a:prstGeom prst="rect">
            <a:avLst/>
          </a:prstGeom>
          <a:noFill/>
        </p:spPr>
        <p:txBody>
          <a:bodyPr wrap="none" rtlCol="0">
            <a:spAutoFit/>
          </a:bodyPr>
          <a:lstStyle/>
          <a:p>
            <a:pPr algn="ctr"/>
            <a:r>
              <a:rPr lang="en-US" sz="2400" b="1" dirty="0">
                <a:solidFill>
                  <a:srgbClr val="B84742"/>
                </a:solidFill>
              </a:rPr>
              <a:t>Contiguous </a:t>
            </a:r>
          </a:p>
          <a:p>
            <a:pPr algn="ctr"/>
            <a:r>
              <a:rPr lang="en-US" sz="2400" b="1" dirty="0">
                <a:solidFill>
                  <a:srgbClr val="B84742"/>
                </a:solidFill>
              </a:rPr>
              <a:t>Memory Allocation</a:t>
            </a:r>
          </a:p>
        </p:txBody>
      </p:sp>
      <p:cxnSp>
        <p:nvCxnSpPr>
          <p:cNvPr id="22" name="Straight Connector 21"/>
          <p:cNvCxnSpPr/>
          <p:nvPr/>
        </p:nvCxnSpPr>
        <p:spPr>
          <a:xfrm flipH="1">
            <a:off x="3157831" y="3651919"/>
            <a:ext cx="1" cy="6382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V="1">
            <a:off x="846161" y="4293448"/>
            <a:ext cx="4642099" cy="55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870967" y="4286615"/>
            <a:ext cx="1" cy="6382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3141415" y="4325111"/>
            <a:ext cx="1" cy="6382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a:off x="5488260" y="4293448"/>
            <a:ext cx="1" cy="6382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H="1">
            <a:off x="9543947" y="3651919"/>
            <a:ext cx="1" cy="6382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7915701" y="4302896"/>
            <a:ext cx="3637568" cy="96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7926449" y="4302025"/>
            <a:ext cx="2900" cy="60742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H="1">
            <a:off x="11539621" y="4297077"/>
            <a:ext cx="1" cy="6382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173053" y="4875467"/>
            <a:ext cx="1518364" cy="830997"/>
          </a:xfrm>
          <a:prstGeom prst="rect">
            <a:avLst/>
          </a:prstGeom>
          <a:noFill/>
        </p:spPr>
        <p:txBody>
          <a:bodyPr wrap="none" rtlCol="0">
            <a:spAutoFit/>
          </a:bodyPr>
          <a:lstStyle/>
          <a:p>
            <a:pPr algn="ctr"/>
            <a:r>
              <a:rPr lang="en-US" sz="2400" dirty="0">
                <a:solidFill>
                  <a:srgbClr val="212121"/>
                </a:solidFill>
              </a:rPr>
              <a:t>Fixed </a:t>
            </a:r>
          </a:p>
          <a:p>
            <a:pPr algn="ctr"/>
            <a:r>
              <a:rPr lang="en-US" sz="2400" dirty="0">
                <a:solidFill>
                  <a:srgbClr val="212121"/>
                </a:solidFill>
              </a:rPr>
              <a:t>Partitioned</a:t>
            </a:r>
          </a:p>
        </p:txBody>
      </p:sp>
      <p:sp>
        <p:nvSpPr>
          <p:cNvPr id="36" name="TextBox 35"/>
          <p:cNvSpPr txBox="1"/>
          <p:nvPr/>
        </p:nvSpPr>
        <p:spPr>
          <a:xfrm>
            <a:off x="2469281" y="4893522"/>
            <a:ext cx="1518364" cy="830997"/>
          </a:xfrm>
          <a:prstGeom prst="rect">
            <a:avLst/>
          </a:prstGeom>
          <a:noFill/>
        </p:spPr>
        <p:txBody>
          <a:bodyPr wrap="none" rtlCol="0">
            <a:spAutoFit/>
          </a:bodyPr>
          <a:lstStyle/>
          <a:p>
            <a:pPr algn="ctr"/>
            <a:r>
              <a:rPr lang="en-US" sz="2400" dirty="0">
                <a:solidFill>
                  <a:srgbClr val="212121"/>
                </a:solidFill>
              </a:rPr>
              <a:t>Dynamic</a:t>
            </a:r>
          </a:p>
          <a:p>
            <a:pPr algn="ctr"/>
            <a:r>
              <a:rPr lang="en-US" sz="2400" dirty="0">
                <a:solidFill>
                  <a:srgbClr val="212121"/>
                </a:solidFill>
              </a:rPr>
              <a:t>Partitioned</a:t>
            </a:r>
          </a:p>
        </p:txBody>
      </p:sp>
      <p:sp>
        <p:nvSpPr>
          <p:cNvPr id="37" name="TextBox 36"/>
          <p:cNvSpPr txBox="1"/>
          <p:nvPr/>
        </p:nvSpPr>
        <p:spPr>
          <a:xfrm>
            <a:off x="4857208" y="4963956"/>
            <a:ext cx="1367682" cy="461665"/>
          </a:xfrm>
          <a:prstGeom prst="rect">
            <a:avLst/>
          </a:prstGeom>
          <a:noFill/>
        </p:spPr>
        <p:txBody>
          <a:bodyPr wrap="none" rtlCol="0">
            <a:spAutoFit/>
          </a:bodyPr>
          <a:lstStyle/>
          <a:p>
            <a:pPr algn="ctr"/>
            <a:r>
              <a:rPr lang="en-US" sz="2400" dirty="0">
                <a:solidFill>
                  <a:srgbClr val="212121"/>
                </a:solidFill>
              </a:rPr>
              <a:t>Swapping</a:t>
            </a:r>
          </a:p>
        </p:txBody>
      </p:sp>
      <p:sp>
        <p:nvSpPr>
          <p:cNvPr id="40" name="TextBox 39"/>
          <p:cNvSpPr txBox="1"/>
          <p:nvPr/>
        </p:nvSpPr>
        <p:spPr>
          <a:xfrm>
            <a:off x="7500610" y="4919796"/>
            <a:ext cx="1026243" cy="461665"/>
          </a:xfrm>
          <a:prstGeom prst="rect">
            <a:avLst/>
          </a:prstGeom>
          <a:noFill/>
        </p:spPr>
        <p:txBody>
          <a:bodyPr wrap="none" rtlCol="0">
            <a:spAutoFit/>
          </a:bodyPr>
          <a:lstStyle/>
          <a:p>
            <a:pPr algn="ctr"/>
            <a:r>
              <a:rPr lang="en-US" sz="2400" dirty="0">
                <a:solidFill>
                  <a:srgbClr val="212121"/>
                </a:solidFill>
              </a:rPr>
              <a:t>Paging</a:t>
            </a:r>
          </a:p>
        </p:txBody>
      </p:sp>
      <p:sp>
        <p:nvSpPr>
          <p:cNvPr id="41" name="TextBox 40"/>
          <p:cNvSpPr txBox="1"/>
          <p:nvPr/>
        </p:nvSpPr>
        <p:spPr>
          <a:xfrm>
            <a:off x="10947593" y="4963407"/>
            <a:ext cx="1167307" cy="830997"/>
          </a:xfrm>
          <a:prstGeom prst="rect">
            <a:avLst/>
          </a:prstGeom>
          <a:noFill/>
        </p:spPr>
        <p:txBody>
          <a:bodyPr wrap="none" rtlCol="0">
            <a:spAutoFit/>
          </a:bodyPr>
          <a:lstStyle/>
          <a:p>
            <a:pPr algn="ctr"/>
            <a:r>
              <a:rPr lang="en-US" sz="2400" dirty="0">
                <a:solidFill>
                  <a:srgbClr val="212121"/>
                </a:solidFill>
              </a:rPr>
              <a:t>Virtual</a:t>
            </a:r>
          </a:p>
          <a:p>
            <a:pPr algn="ctr"/>
            <a:r>
              <a:rPr lang="en-US" sz="2400" dirty="0">
                <a:solidFill>
                  <a:srgbClr val="212121"/>
                </a:solidFill>
              </a:rPr>
              <a:t>Memory</a:t>
            </a:r>
          </a:p>
        </p:txBody>
      </p:sp>
      <p:cxnSp>
        <p:nvCxnSpPr>
          <p:cNvPr id="24" name="Straight Connector 23"/>
          <p:cNvCxnSpPr/>
          <p:nvPr/>
        </p:nvCxnSpPr>
        <p:spPr>
          <a:xfrm flipH="1">
            <a:off x="9829818" y="4325111"/>
            <a:ext cx="1" cy="6382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8808526" y="4963407"/>
            <a:ext cx="1867820" cy="461665"/>
          </a:xfrm>
          <a:prstGeom prst="rect">
            <a:avLst/>
          </a:prstGeom>
          <a:noFill/>
        </p:spPr>
        <p:txBody>
          <a:bodyPr wrap="none" rtlCol="0">
            <a:spAutoFit/>
          </a:bodyPr>
          <a:lstStyle/>
          <a:p>
            <a:pPr algn="ctr"/>
            <a:r>
              <a:rPr lang="en-US" sz="2400" dirty="0">
                <a:solidFill>
                  <a:srgbClr val="212121"/>
                </a:solidFill>
              </a:rPr>
              <a:t>Segmentation</a:t>
            </a:r>
          </a:p>
        </p:txBody>
      </p:sp>
    </p:spTree>
    <p:extLst>
      <p:ext uri="{BB962C8B-B14F-4D97-AF65-F5344CB8AC3E}">
        <p14:creationId xmlns:p14="http://schemas.microsoft.com/office/powerpoint/2010/main" val="1042697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up)">
                                      <p:cBhvr>
                                        <p:cTn id="17" dur="500"/>
                                        <p:tgtEl>
                                          <p:spTgt spid="19"/>
                                        </p:tgtEl>
                                      </p:cBhvr>
                                    </p:animEffect>
                                  </p:childTnLst>
                                </p:cTn>
                              </p:par>
                              <p:par>
                                <p:cTn id="18" presetID="1" presetClass="entr" presetSubtype="0"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wipe(up)">
                                      <p:cBhvr>
                                        <p:cTn id="24" dur="500"/>
                                        <p:tgtEl>
                                          <p:spTgt spid="18"/>
                                        </p:tgtEl>
                                      </p:cBhvr>
                                    </p:animEffec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wipe(up)">
                                      <p:cBhvr>
                                        <p:cTn id="37" dur="500"/>
                                        <p:tgtEl>
                                          <p:spTgt spid="26"/>
                                        </p:tgtEl>
                                      </p:cBhvr>
                                    </p:animEffect>
                                  </p:childTnLst>
                                </p:cTn>
                              </p:par>
                              <p:par>
                                <p:cTn id="38" presetID="1" presetClass="entr" presetSubtype="0" fill="hold" grpId="0" nodeType="withEffect">
                                  <p:stCondLst>
                                    <p:cond delay="0"/>
                                  </p:stCondLst>
                                  <p:childTnLst>
                                    <p:set>
                                      <p:cBhvr>
                                        <p:cTn id="39" dur="1" fill="hold">
                                          <p:stCondLst>
                                            <p:cond delay="0"/>
                                          </p:stCondLst>
                                        </p:cTn>
                                        <p:tgtEl>
                                          <p:spTgt spid="35"/>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nodeType="clickEffect">
                                  <p:stCondLst>
                                    <p:cond delay="0"/>
                                  </p:stCondLst>
                                  <p:childTnLst>
                                    <p:set>
                                      <p:cBhvr>
                                        <p:cTn id="43" dur="1" fill="hold">
                                          <p:stCondLst>
                                            <p:cond delay="0"/>
                                          </p:stCondLst>
                                        </p:cTn>
                                        <p:tgtEl>
                                          <p:spTgt spid="27"/>
                                        </p:tgtEl>
                                        <p:attrNameLst>
                                          <p:attrName>style.visibility</p:attrName>
                                        </p:attrNameLst>
                                      </p:cBhvr>
                                      <p:to>
                                        <p:strVal val="visible"/>
                                      </p:to>
                                    </p:set>
                                    <p:animEffect transition="in" filter="wipe(up)">
                                      <p:cBhvr>
                                        <p:cTn id="44" dur="500"/>
                                        <p:tgtEl>
                                          <p:spTgt spid="27"/>
                                        </p:tgtEl>
                                      </p:cBhvr>
                                    </p:animEffect>
                                  </p:childTnLst>
                                </p:cTn>
                              </p:par>
                              <p:par>
                                <p:cTn id="45" presetID="1" presetClass="entr" presetSubtype="0" fill="hold" grpId="0" nodeType="withEffect">
                                  <p:stCondLst>
                                    <p:cond delay="0"/>
                                  </p:stCondLst>
                                  <p:childTnLst>
                                    <p:set>
                                      <p:cBhvr>
                                        <p:cTn id="46" dur="1" fill="hold">
                                          <p:stCondLst>
                                            <p:cond delay="0"/>
                                          </p:stCondLst>
                                        </p:cTn>
                                        <p:tgtEl>
                                          <p:spTgt spid="3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wipe(up)">
                                      <p:cBhvr>
                                        <p:cTn id="51" dur="500"/>
                                        <p:tgtEl>
                                          <p:spTgt spid="28"/>
                                        </p:tgtEl>
                                      </p:cBhvr>
                                    </p:animEffect>
                                  </p:childTnLst>
                                </p:cTn>
                              </p:par>
                              <p:par>
                                <p:cTn id="52" presetID="1" presetClass="entr" presetSubtype="0" fill="hold" grpId="0" nodeType="withEffect">
                                  <p:stCondLst>
                                    <p:cond delay="0"/>
                                  </p:stCondLst>
                                  <p:childTnLst>
                                    <p:set>
                                      <p:cBhvr>
                                        <p:cTn id="53" dur="1" fill="hold">
                                          <p:stCondLst>
                                            <p:cond delay="0"/>
                                          </p:stCondLst>
                                        </p:cTn>
                                        <p:tgtEl>
                                          <p:spTgt spid="37"/>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31"/>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9" dur="1" fill="hold">
                                          <p:stCondLst>
                                            <p:cond delay="0"/>
                                          </p:stCondLst>
                                        </p:cTn>
                                        <p:tgtEl>
                                          <p:spTgt spid="32"/>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nodeType="clickEffect">
                                  <p:stCondLst>
                                    <p:cond delay="0"/>
                                  </p:stCondLst>
                                  <p:childTnLst>
                                    <p:set>
                                      <p:cBhvr>
                                        <p:cTn id="63" dur="1" fill="hold">
                                          <p:stCondLst>
                                            <p:cond delay="0"/>
                                          </p:stCondLst>
                                        </p:cTn>
                                        <p:tgtEl>
                                          <p:spTgt spid="33"/>
                                        </p:tgtEl>
                                        <p:attrNameLst>
                                          <p:attrName>style.visibility</p:attrName>
                                        </p:attrNameLst>
                                      </p:cBhvr>
                                      <p:to>
                                        <p:strVal val="visible"/>
                                      </p:to>
                                    </p:set>
                                    <p:animEffect transition="in" filter="wipe(up)">
                                      <p:cBhvr>
                                        <p:cTn id="64" dur="500"/>
                                        <p:tgtEl>
                                          <p:spTgt spid="33"/>
                                        </p:tgtEl>
                                      </p:cBhvr>
                                    </p:animEffect>
                                  </p:childTnLst>
                                </p:cTn>
                              </p:par>
                              <p:par>
                                <p:cTn id="65" presetID="1" presetClass="entr" presetSubtype="0" fill="hold" grpId="0" nodeType="withEffect">
                                  <p:stCondLst>
                                    <p:cond delay="0"/>
                                  </p:stCondLst>
                                  <p:childTnLst>
                                    <p:set>
                                      <p:cBhvr>
                                        <p:cTn id="66" dur="1" fill="hold">
                                          <p:stCondLst>
                                            <p:cond delay="0"/>
                                          </p:stCondLst>
                                        </p:cTn>
                                        <p:tgtEl>
                                          <p:spTgt spid="4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22" presetClass="entr" presetSubtype="1" fill="hold" nodeType="click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wipe(up)">
                                      <p:cBhvr>
                                        <p:cTn id="71" dur="500"/>
                                        <p:tgtEl>
                                          <p:spTgt spid="24"/>
                                        </p:tgtEl>
                                      </p:cBhvr>
                                    </p:animEffect>
                                  </p:childTnLst>
                                </p:cTn>
                              </p:par>
                              <p:par>
                                <p:cTn id="72" presetID="1" presetClass="entr" presetSubtype="0" fill="hold" grpId="0" nodeType="withEffect">
                                  <p:stCondLst>
                                    <p:cond delay="0"/>
                                  </p:stCondLst>
                                  <p:childTnLst>
                                    <p:set>
                                      <p:cBhvr>
                                        <p:cTn id="73" dur="1" fill="hold">
                                          <p:stCondLst>
                                            <p:cond delay="0"/>
                                          </p:stCondLst>
                                        </p:cTn>
                                        <p:tgtEl>
                                          <p:spTgt spid="25"/>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22" presetClass="entr" presetSubtype="1" fill="hold" nodeType="clickEffect">
                                  <p:stCondLst>
                                    <p:cond delay="0"/>
                                  </p:stCondLst>
                                  <p:childTnLst>
                                    <p:set>
                                      <p:cBhvr>
                                        <p:cTn id="77" dur="1" fill="hold">
                                          <p:stCondLst>
                                            <p:cond delay="0"/>
                                          </p:stCondLst>
                                        </p:cTn>
                                        <p:tgtEl>
                                          <p:spTgt spid="34"/>
                                        </p:tgtEl>
                                        <p:attrNameLst>
                                          <p:attrName>style.visibility</p:attrName>
                                        </p:attrNameLst>
                                      </p:cBhvr>
                                      <p:to>
                                        <p:strVal val="visible"/>
                                      </p:to>
                                    </p:set>
                                    <p:animEffect transition="in" filter="wipe(up)">
                                      <p:cBhvr>
                                        <p:cTn id="78" dur="500"/>
                                        <p:tgtEl>
                                          <p:spTgt spid="34"/>
                                        </p:tgtEl>
                                      </p:cBhvr>
                                    </p:animEffect>
                                  </p:childTnLst>
                                </p:cTn>
                              </p:par>
                              <p:par>
                                <p:cTn id="79" presetID="1" presetClass="entr" presetSubtype="0" fill="hold" grpId="0" nodeType="withEffect">
                                  <p:stCondLst>
                                    <p:cond delay="0"/>
                                  </p:stCondLst>
                                  <p:childTnLst>
                                    <p:set>
                                      <p:cBhvr>
                                        <p:cTn id="80"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0" grpId="0"/>
      <p:bldP spid="21" grpId="0"/>
      <p:bldP spid="35" grpId="0"/>
      <p:bldP spid="36" grpId="0"/>
      <p:bldP spid="37" grpId="0"/>
      <p:bldP spid="40" grpId="0"/>
      <p:bldP spid="41" grpId="0"/>
      <p:bldP spid="2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t>Contiguous Memory Allocation</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3.1</a:t>
            </a:r>
          </a:p>
        </p:txBody>
      </p:sp>
    </p:spTree>
    <p:extLst>
      <p:ext uri="{BB962C8B-B14F-4D97-AF65-F5344CB8AC3E}">
        <p14:creationId xmlns:p14="http://schemas.microsoft.com/office/powerpoint/2010/main" val="36447523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Contiguous Memory Allocation</a:t>
            </a:r>
          </a:p>
        </p:txBody>
      </p:sp>
      <p:sp>
        <p:nvSpPr>
          <p:cNvPr id="3" name="Content Placeholder 2"/>
          <p:cNvSpPr>
            <a:spLocks noGrp="1"/>
          </p:cNvSpPr>
          <p:nvPr>
            <p:ph idx="1"/>
          </p:nvPr>
        </p:nvSpPr>
        <p:spPr/>
        <p:txBody>
          <a:bodyPr/>
          <a:lstStyle/>
          <a:p>
            <a:r>
              <a:rPr lang="en-US" dirty="0"/>
              <a:t>Simple and Old method of memory allocation. Not used in modern OS.</a:t>
            </a:r>
          </a:p>
          <a:p>
            <a:r>
              <a:rPr lang="en-US" dirty="0"/>
              <a:t>Each </a:t>
            </a:r>
            <a:r>
              <a:rPr lang="en-US" dirty="0">
                <a:solidFill>
                  <a:schemeClr val="accent6"/>
                </a:solidFill>
              </a:rPr>
              <a:t>space occupy </a:t>
            </a:r>
            <a:r>
              <a:rPr lang="en-US" dirty="0"/>
              <a:t>block of </a:t>
            </a:r>
            <a:r>
              <a:rPr lang="en-US" dirty="0">
                <a:solidFill>
                  <a:schemeClr val="accent6"/>
                </a:solidFill>
              </a:rPr>
              <a:t>contiguous memory </a:t>
            </a:r>
            <a:r>
              <a:rPr lang="en-US" dirty="0"/>
              <a:t>location in main memory.</a:t>
            </a:r>
          </a:p>
          <a:p>
            <a:r>
              <a:rPr lang="en-US" dirty="0"/>
              <a:t>Entire </a:t>
            </a:r>
            <a:r>
              <a:rPr lang="en-US" dirty="0">
                <a:solidFill>
                  <a:schemeClr val="accent6"/>
                </a:solidFill>
              </a:rPr>
              <a:t>process</a:t>
            </a:r>
            <a:r>
              <a:rPr lang="en-US" dirty="0">
                <a:solidFill>
                  <a:srgbClr val="FF0000"/>
                </a:solidFill>
              </a:rPr>
              <a:t> </a:t>
            </a:r>
            <a:r>
              <a:rPr lang="en-US" dirty="0"/>
              <a:t>kept in </a:t>
            </a:r>
            <a:r>
              <a:rPr lang="en-US" dirty="0">
                <a:solidFill>
                  <a:schemeClr val="accent6"/>
                </a:solidFill>
              </a:rPr>
              <a:t>Contiguous</a:t>
            </a:r>
            <a:r>
              <a:rPr lang="en-US" dirty="0"/>
              <a:t> </a:t>
            </a:r>
            <a:r>
              <a:rPr lang="en-US" dirty="0">
                <a:solidFill>
                  <a:schemeClr val="accent6"/>
                </a:solidFill>
              </a:rPr>
              <a:t>section</a:t>
            </a:r>
            <a:r>
              <a:rPr lang="en-US" dirty="0"/>
              <a:t> of memory.</a:t>
            </a:r>
          </a:p>
          <a:p>
            <a:r>
              <a:rPr lang="en-US" dirty="0"/>
              <a:t>When Process brought in memory it finds </a:t>
            </a:r>
            <a:r>
              <a:rPr lang="en-US" dirty="0">
                <a:solidFill>
                  <a:schemeClr val="accent6"/>
                </a:solidFill>
              </a:rPr>
              <a:t>chunk</a:t>
            </a:r>
            <a:r>
              <a:rPr lang="en-US" dirty="0">
                <a:solidFill>
                  <a:srgbClr val="FF0000"/>
                </a:solidFill>
              </a:rPr>
              <a:t> </a:t>
            </a:r>
          </a:p>
          <a:p>
            <a:pPr marL="285750" indent="0">
              <a:buNone/>
            </a:pPr>
            <a:r>
              <a:rPr lang="en-US" dirty="0">
                <a:solidFill>
                  <a:schemeClr val="accent6"/>
                </a:solidFill>
              </a:rPr>
              <a:t>free memory </a:t>
            </a:r>
            <a:r>
              <a:rPr lang="en-US" dirty="0"/>
              <a:t>having enough </a:t>
            </a:r>
            <a:r>
              <a:rPr lang="en-US" dirty="0">
                <a:solidFill>
                  <a:schemeClr val="accent6"/>
                </a:solidFill>
              </a:rPr>
              <a:t>size</a:t>
            </a:r>
            <a:r>
              <a:rPr lang="en-US" dirty="0"/>
              <a:t> to </a:t>
            </a:r>
            <a:r>
              <a:rPr lang="en-US" dirty="0">
                <a:solidFill>
                  <a:schemeClr val="accent6"/>
                </a:solidFill>
              </a:rPr>
              <a:t>hold process</a:t>
            </a:r>
            <a:r>
              <a:rPr lang="en-US" dirty="0"/>
              <a:t>.</a:t>
            </a:r>
          </a:p>
          <a:p>
            <a:r>
              <a:rPr lang="en-US" dirty="0"/>
              <a:t>When </a:t>
            </a:r>
            <a:r>
              <a:rPr lang="en-US" dirty="0">
                <a:solidFill>
                  <a:schemeClr val="accent6"/>
                </a:solidFill>
              </a:rPr>
              <a:t>Chunk</a:t>
            </a:r>
            <a:r>
              <a:rPr lang="en-US" dirty="0"/>
              <a:t> is </a:t>
            </a:r>
            <a:r>
              <a:rPr lang="en-US" dirty="0">
                <a:solidFill>
                  <a:schemeClr val="accent6"/>
                </a:solidFill>
              </a:rPr>
              <a:t>found</a:t>
            </a:r>
            <a:r>
              <a:rPr lang="en-US" dirty="0"/>
              <a:t> required memory is allocated.</a:t>
            </a:r>
          </a:p>
          <a:p>
            <a:r>
              <a:rPr lang="en-US" dirty="0"/>
              <a:t>If memory space of </a:t>
            </a:r>
            <a:r>
              <a:rPr lang="en-US" dirty="0">
                <a:solidFill>
                  <a:schemeClr val="accent6"/>
                </a:solidFill>
              </a:rPr>
              <a:t>required</a:t>
            </a:r>
            <a:r>
              <a:rPr lang="en-US" dirty="0"/>
              <a:t> size </a:t>
            </a:r>
            <a:r>
              <a:rPr lang="en-US" dirty="0">
                <a:solidFill>
                  <a:schemeClr val="accent6"/>
                </a:solidFill>
              </a:rPr>
              <a:t>not</a:t>
            </a:r>
            <a:r>
              <a:rPr lang="en-US" dirty="0"/>
              <a:t> available </a:t>
            </a:r>
          </a:p>
          <a:p>
            <a:pPr marL="285750" indent="0">
              <a:buNone/>
            </a:pPr>
            <a:r>
              <a:rPr lang="en-US" dirty="0"/>
              <a:t>in main memory then process </a:t>
            </a:r>
            <a:r>
              <a:rPr lang="en-US" dirty="0">
                <a:solidFill>
                  <a:schemeClr val="accent6"/>
                </a:solidFill>
              </a:rPr>
              <a:t>wait</a:t>
            </a:r>
            <a:r>
              <a:rPr lang="en-US" dirty="0"/>
              <a:t> until required </a:t>
            </a:r>
          </a:p>
          <a:p>
            <a:pPr marL="285750" indent="0">
              <a:buNone/>
            </a:pPr>
            <a:r>
              <a:rPr lang="en-US" dirty="0"/>
              <a:t>size is available.</a:t>
            </a:r>
          </a:p>
          <a:p>
            <a:r>
              <a:rPr lang="en-US" dirty="0"/>
              <a:t>Logical address space is </a:t>
            </a:r>
            <a:r>
              <a:rPr lang="en-US" dirty="0">
                <a:solidFill>
                  <a:schemeClr val="accent6"/>
                </a:solidFill>
              </a:rPr>
              <a:t>not divided </a:t>
            </a:r>
            <a:r>
              <a:rPr lang="en-US" dirty="0"/>
              <a:t>into any </a:t>
            </a:r>
            <a:r>
              <a:rPr lang="en-US" dirty="0">
                <a:solidFill>
                  <a:schemeClr val="accent6"/>
                </a:solidFill>
              </a:rPr>
              <a:t>partition</a:t>
            </a:r>
            <a:r>
              <a:rPr lang="en-US" dirty="0"/>
              <a:t>. </a:t>
            </a:r>
          </a:p>
          <a:p>
            <a:r>
              <a:rPr lang="en-US" dirty="0"/>
              <a:t>Physical address space will be </a:t>
            </a:r>
            <a:r>
              <a:rPr lang="en-US" dirty="0">
                <a:solidFill>
                  <a:schemeClr val="accent6"/>
                </a:solidFill>
              </a:rPr>
              <a:t>contiguous without </a:t>
            </a:r>
            <a:r>
              <a:rPr lang="en-US" dirty="0"/>
              <a:t>any </a:t>
            </a:r>
            <a:r>
              <a:rPr lang="en-US" dirty="0">
                <a:solidFill>
                  <a:schemeClr val="accent6"/>
                </a:solidFill>
              </a:rPr>
              <a:t>gaps</a:t>
            </a:r>
            <a:r>
              <a:rPr lang="en-US" dirty="0"/>
              <a:t>.</a:t>
            </a:r>
          </a:p>
          <a:p>
            <a:pPr marL="0" indent="0">
              <a:buNone/>
            </a:pPr>
            <a:endParaRPr lang="en-US" dirty="0"/>
          </a:p>
          <a:p>
            <a:endParaRPr lang="en-US" dirty="0"/>
          </a:p>
          <a:p>
            <a:endParaRPr lang="en-US" dirty="0"/>
          </a:p>
          <a:p>
            <a:endParaRPr lang="en-US" dirty="0"/>
          </a:p>
          <a:p>
            <a:endParaRPr lang="en-US" dirty="0"/>
          </a:p>
          <a:p>
            <a:endParaRPr lang="en-US" dirty="0"/>
          </a:p>
        </p:txBody>
      </p:sp>
      <p:sp>
        <p:nvSpPr>
          <p:cNvPr id="4" name="TextBox 3"/>
          <p:cNvSpPr txBox="1"/>
          <p:nvPr/>
        </p:nvSpPr>
        <p:spPr>
          <a:xfrm>
            <a:off x="6838608" y="2328867"/>
            <a:ext cx="1407758" cy="1569660"/>
          </a:xfrm>
          <a:prstGeom prst="rect">
            <a:avLst/>
          </a:prstGeom>
          <a:noFill/>
          <a:ln>
            <a:solidFill>
              <a:schemeClr val="tx1"/>
            </a:solidFill>
          </a:ln>
        </p:spPr>
        <p:txBody>
          <a:bodyPr wrap="none" rtlCol="0">
            <a:spAutoFit/>
          </a:bodyPr>
          <a:lstStyle/>
          <a:p>
            <a:pPr algn="ctr"/>
            <a:r>
              <a:rPr lang="en-US" sz="2400" dirty="0">
                <a:solidFill>
                  <a:srgbClr val="212121"/>
                </a:solidFill>
              </a:rPr>
              <a:t>Logical </a:t>
            </a:r>
          </a:p>
          <a:p>
            <a:pPr algn="ctr"/>
            <a:r>
              <a:rPr lang="en-US" sz="2400" dirty="0">
                <a:solidFill>
                  <a:srgbClr val="212121"/>
                </a:solidFill>
              </a:rPr>
              <a:t>Address </a:t>
            </a:r>
          </a:p>
          <a:p>
            <a:pPr algn="ctr"/>
            <a:r>
              <a:rPr lang="en-US" sz="2400" dirty="0">
                <a:solidFill>
                  <a:srgbClr val="212121"/>
                </a:solidFill>
              </a:rPr>
              <a:t>Space of</a:t>
            </a:r>
          </a:p>
          <a:p>
            <a:pPr algn="ctr"/>
            <a:r>
              <a:rPr lang="en-US" sz="2400" dirty="0">
                <a:solidFill>
                  <a:srgbClr val="212121"/>
                </a:solidFill>
              </a:rPr>
              <a:t>Process P</a:t>
            </a:r>
          </a:p>
        </p:txBody>
      </p:sp>
      <p:sp>
        <p:nvSpPr>
          <p:cNvPr id="6" name="TextBox 5"/>
          <p:cNvSpPr txBox="1"/>
          <p:nvPr/>
        </p:nvSpPr>
        <p:spPr>
          <a:xfrm>
            <a:off x="9789089" y="2983856"/>
            <a:ext cx="1819276" cy="1569660"/>
          </a:xfrm>
          <a:prstGeom prst="rect">
            <a:avLst/>
          </a:prstGeom>
          <a:noFill/>
          <a:ln>
            <a:solidFill>
              <a:schemeClr val="tx1"/>
            </a:solidFill>
          </a:ln>
        </p:spPr>
        <p:txBody>
          <a:bodyPr wrap="square" rtlCol="0">
            <a:spAutoFit/>
          </a:bodyPr>
          <a:lstStyle/>
          <a:p>
            <a:pPr algn="ctr"/>
            <a:r>
              <a:rPr lang="en-US" sz="2400" dirty="0">
                <a:solidFill>
                  <a:srgbClr val="212121"/>
                </a:solidFill>
              </a:rPr>
              <a:t>Physical</a:t>
            </a:r>
          </a:p>
          <a:p>
            <a:pPr algn="ctr"/>
            <a:r>
              <a:rPr lang="en-US" sz="2400" dirty="0">
                <a:solidFill>
                  <a:srgbClr val="212121"/>
                </a:solidFill>
              </a:rPr>
              <a:t>Address </a:t>
            </a:r>
          </a:p>
          <a:p>
            <a:pPr algn="ctr"/>
            <a:r>
              <a:rPr lang="en-US" sz="2400" dirty="0">
                <a:solidFill>
                  <a:srgbClr val="212121"/>
                </a:solidFill>
              </a:rPr>
              <a:t>Space of</a:t>
            </a:r>
          </a:p>
          <a:p>
            <a:pPr algn="ctr"/>
            <a:r>
              <a:rPr lang="en-US" sz="2400" dirty="0">
                <a:solidFill>
                  <a:srgbClr val="212121"/>
                </a:solidFill>
              </a:rPr>
              <a:t>Process P</a:t>
            </a:r>
          </a:p>
        </p:txBody>
      </p:sp>
      <p:sp>
        <p:nvSpPr>
          <p:cNvPr id="7" name="TextBox 6"/>
          <p:cNvSpPr txBox="1"/>
          <p:nvPr/>
        </p:nvSpPr>
        <p:spPr>
          <a:xfrm>
            <a:off x="9789089" y="2155095"/>
            <a:ext cx="1815383" cy="830997"/>
          </a:xfrm>
          <a:prstGeom prst="rect">
            <a:avLst/>
          </a:prstGeom>
          <a:solidFill>
            <a:schemeClr val="accent3">
              <a:lumMod val="40000"/>
              <a:lumOff val="60000"/>
            </a:schemeClr>
          </a:solidFill>
          <a:ln>
            <a:solidFill>
              <a:schemeClr val="tx1"/>
            </a:solidFill>
          </a:ln>
        </p:spPr>
        <p:txBody>
          <a:bodyPr wrap="square" rtlCol="0">
            <a:spAutoFit/>
          </a:bodyPr>
          <a:lstStyle/>
          <a:p>
            <a:pPr algn="ctr"/>
            <a:endParaRPr lang="en-US" sz="2400" dirty="0">
              <a:solidFill>
                <a:srgbClr val="212121"/>
              </a:solidFill>
            </a:endParaRPr>
          </a:p>
          <a:p>
            <a:pPr algn="ctr"/>
            <a:endParaRPr lang="en-US" sz="2400" dirty="0">
              <a:solidFill>
                <a:srgbClr val="212121"/>
              </a:solidFill>
            </a:endParaRPr>
          </a:p>
        </p:txBody>
      </p:sp>
      <p:sp>
        <p:nvSpPr>
          <p:cNvPr id="8" name="TextBox 7"/>
          <p:cNvSpPr txBox="1"/>
          <p:nvPr/>
        </p:nvSpPr>
        <p:spPr>
          <a:xfrm>
            <a:off x="9789089" y="4551280"/>
            <a:ext cx="1815383" cy="830997"/>
          </a:xfrm>
          <a:prstGeom prst="rect">
            <a:avLst/>
          </a:prstGeom>
          <a:solidFill>
            <a:schemeClr val="accent3">
              <a:lumMod val="40000"/>
              <a:lumOff val="60000"/>
            </a:schemeClr>
          </a:solidFill>
          <a:ln>
            <a:solidFill>
              <a:schemeClr val="tx1"/>
            </a:solidFill>
          </a:ln>
        </p:spPr>
        <p:txBody>
          <a:bodyPr wrap="square" rtlCol="0">
            <a:spAutoFit/>
          </a:bodyPr>
          <a:lstStyle/>
          <a:p>
            <a:pPr algn="ctr"/>
            <a:endParaRPr lang="en-US" sz="2400" dirty="0">
              <a:solidFill>
                <a:srgbClr val="212121"/>
              </a:solidFill>
            </a:endParaRPr>
          </a:p>
          <a:p>
            <a:pPr algn="ctr"/>
            <a:endParaRPr lang="en-US" sz="2400" dirty="0">
              <a:solidFill>
                <a:srgbClr val="212121"/>
              </a:solidFill>
            </a:endParaRPr>
          </a:p>
        </p:txBody>
      </p:sp>
      <p:cxnSp>
        <p:nvCxnSpPr>
          <p:cNvPr id="10" name="Straight Connector 9"/>
          <p:cNvCxnSpPr/>
          <p:nvPr/>
        </p:nvCxnSpPr>
        <p:spPr>
          <a:xfrm>
            <a:off x="8260654" y="2343155"/>
            <a:ext cx="1542723" cy="654989"/>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8246366" y="3887446"/>
            <a:ext cx="1542723" cy="654989"/>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6364546" y="2201261"/>
            <a:ext cx="526106" cy="369332"/>
          </a:xfrm>
          <a:prstGeom prst="rect">
            <a:avLst/>
          </a:prstGeom>
          <a:noFill/>
        </p:spPr>
        <p:txBody>
          <a:bodyPr wrap="none" rtlCol="0">
            <a:spAutoFit/>
          </a:bodyPr>
          <a:lstStyle/>
          <a:p>
            <a:r>
              <a:rPr lang="en-US" dirty="0">
                <a:solidFill>
                  <a:srgbClr val="00B050"/>
                </a:solidFill>
              </a:rPr>
              <a:t>000</a:t>
            </a:r>
          </a:p>
        </p:txBody>
      </p:sp>
      <p:sp>
        <p:nvSpPr>
          <p:cNvPr id="13" name="TextBox 12"/>
          <p:cNvSpPr txBox="1"/>
          <p:nvPr/>
        </p:nvSpPr>
        <p:spPr>
          <a:xfrm>
            <a:off x="6364546" y="3678060"/>
            <a:ext cx="526106" cy="369332"/>
          </a:xfrm>
          <a:prstGeom prst="rect">
            <a:avLst/>
          </a:prstGeom>
          <a:noFill/>
        </p:spPr>
        <p:txBody>
          <a:bodyPr wrap="none" rtlCol="0">
            <a:spAutoFit/>
          </a:bodyPr>
          <a:lstStyle/>
          <a:p>
            <a:r>
              <a:rPr lang="en-US" dirty="0">
                <a:solidFill>
                  <a:srgbClr val="00B050"/>
                </a:solidFill>
              </a:rPr>
              <a:t>799</a:t>
            </a:r>
          </a:p>
        </p:txBody>
      </p:sp>
      <p:sp>
        <p:nvSpPr>
          <p:cNvPr id="14" name="TextBox 13"/>
          <p:cNvSpPr txBox="1"/>
          <p:nvPr/>
        </p:nvSpPr>
        <p:spPr>
          <a:xfrm>
            <a:off x="11604472" y="2834991"/>
            <a:ext cx="639919" cy="369332"/>
          </a:xfrm>
          <a:prstGeom prst="rect">
            <a:avLst/>
          </a:prstGeom>
          <a:noFill/>
        </p:spPr>
        <p:txBody>
          <a:bodyPr wrap="none" rtlCol="0">
            <a:spAutoFit/>
          </a:bodyPr>
          <a:lstStyle/>
          <a:p>
            <a:r>
              <a:rPr lang="en-US" dirty="0">
                <a:solidFill>
                  <a:srgbClr val="00B050"/>
                </a:solidFill>
              </a:rPr>
              <a:t>6000</a:t>
            </a:r>
          </a:p>
        </p:txBody>
      </p:sp>
      <p:sp>
        <p:nvSpPr>
          <p:cNvPr id="15" name="TextBox 14"/>
          <p:cNvSpPr txBox="1"/>
          <p:nvPr/>
        </p:nvSpPr>
        <p:spPr>
          <a:xfrm>
            <a:off x="11604471" y="4375226"/>
            <a:ext cx="639919" cy="369332"/>
          </a:xfrm>
          <a:prstGeom prst="rect">
            <a:avLst/>
          </a:prstGeom>
          <a:noFill/>
        </p:spPr>
        <p:txBody>
          <a:bodyPr wrap="none" rtlCol="0">
            <a:spAutoFit/>
          </a:bodyPr>
          <a:lstStyle/>
          <a:p>
            <a:r>
              <a:rPr lang="en-US" dirty="0">
                <a:solidFill>
                  <a:srgbClr val="00B050"/>
                </a:solidFill>
              </a:rPr>
              <a:t>6799</a:t>
            </a:r>
          </a:p>
        </p:txBody>
      </p:sp>
      <p:cxnSp>
        <p:nvCxnSpPr>
          <p:cNvPr id="9" name="Straight Connector 8"/>
          <p:cNvCxnSpPr>
            <a:stCxn id="7" idx="1"/>
            <a:endCxn id="7" idx="3"/>
          </p:cNvCxnSpPr>
          <p:nvPr/>
        </p:nvCxnSpPr>
        <p:spPr>
          <a:xfrm>
            <a:off x="9789089" y="2570594"/>
            <a:ext cx="181538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8" idx="1"/>
            <a:endCxn id="8" idx="3"/>
          </p:cNvCxnSpPr>
          <p:nvPr/>
        </p:nvCxnSpPr>
        <p:spPr>
          <a:xfrm>
            <a:off x="9789089" y="4966779"/>
            <a:ext cx="181538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3018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3" end="3"/>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0"/>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6" end="6"/>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
                                            <p:txEl>
                                              <p:pRg st="7" end="7"/>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12" grpId="0"/>
      <p:bldP spid="13" grpId="0"/>
      <p:bldP spid="14" grpId="0"/>
      <p:bldP spid="1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Contiguous Memory Allocation(Conti..)</a:t>
            </a:r>
          </a:p>
        </p:txBody>
      </p:sp>
      <p:sp>
        <p:nvSpPr>
          <p:cNvPr id="3" name="Content Placeholder 2"/>
          <p:cNvSpPr>
            <a:spLocks noGrp="1"/>
          </p:cNvSpPr>
          <p:nvPr>
            <p:ph idx="1"/>
          </p:nvPr>
        </p:nvSpPr>
        <p:spPr/>
        <p:txBody>
          <a:bodyPr/>
          <a:lstStyle/>
          <a:p>
            <a:r>
              <a:rPr lang="en-US" b="1" dirty="0"/>
              <a:t>Advantages</a:t>
            </a:r>
          </a:p>
          <a:p>
            <a:pPr lvl="1"/>
            <a:r>
              <a:rPr lang="en-US" dirty="0"/>
              <a:t>It is easy to implement and understand.</a:t>
            </a:r>
          </a:p>
          <a:p>
            <a:endParaRPr lang="en-US" dirty="0">
              <a:solidFill>
                <a:srgbClr val="FF0000"/>
              </a:solidFill>
            </a:endParaRPr>
          </a:p>
          <a:p>
            <a:r>
              <a:rPr lang="en-US" b="1" dirty="0"/>
              <a:t>Disadvantages</a:t>
            </a:r>
          </a:p>
          <a:p>
            <a:pPr lvl="1"/>
            <a:r>
              <a:rPr lang="en-US" dirty="0"/>
              <a:t>Having poor memory utilization</a:t>
            </a:r>
          </a:p>
        </p:txBody>
      </p:sp>
    </p:spTree>
    <p:extLst>
      <p:ext uri="{BB962C8B-B14F-4D97-AF65-F5344CB8AC3E}">
        <p14:creationId xmlns:p14="http://schemas.microsoft.com/office/powerpoint/2010/main" val="3222654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t>Fixed / Static partition</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3.1.1</a:t>
            </a:r>
          </a:p>
        </p:txBody>
      </p:sp>
    </p:spTree>
    <p:extLst>
      <p:ext uri="{BB962C8B-B14F-4D97-AF65-F5344CB8AC3E}">
        <p14:creationId xmlns:p14="http://schemas.microsoft.com/office/powerpoint/2010/main" val="42152311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Fixed /Static Partition </a:t>
            </a:r>
          </a:p>
        </p:txBody>
      </p:sp>
      <p:sp>
        <p:nvSpPr>
          <p:cNvPr id="3" name="Content Placeholder 2"/>
          <p:cNvSpPr>
            <a:spLocks noGrp="1"/>
          </p:cNvSpPr>
          <p:nvPr>
            <p:ph idx="1"/>
          </p:nvPr>
        </p:nvSpPr>
        <p:spPr/>
        <p:txBody>
          <a:bodyPr/>
          <a:lstStyle/>
          <a:p>
            <a:r>
              <a:rPr lang="en-US" dirty="0"/>
              <a:t>Allow </a:t>
            </a:r>
            <a:r>
              <a:rPr lang="en-US" dirty="0">
                <a:solidFill>
                  <a:schemeClr val="accent6"/>
                </a:solidFill>
              </a:rPr>
              <a:t>multiple</a:t>
            </a:r>
            <a:r>
              <a:rPr lang="en-US" dirty="0">
                <a:solidFill>
                  <a:srgbClr val="FF0000"/>
                </a:solidFill>
              </a:rPr>
              <a:t> </a:t>
            </a:r>
            <a:r>
              <a:rPr lang="en-US" dirty="0"/>
              <a:t>process to </a:t>
            </a:r>
            <a:r>
              <a:rPr lang="en-US" dirty="0">
                <a:solidFill>
                  <a:schemeClr val="accent6"/>
                </a:solidFill>
              </a:rPr>
              <a:t>execute</a:t>
            </a:r>
            <a:r>
              <a:rPr lang="en-US" dirty="0">
                <a:solidFill>
                  <a:srgbClr val="FF0000"/>
                </a:solidFill>
              </a:rPr>
              <a:t> </a:t>
            </a:r>
            <a:r>
              <a:rPr lang="en-US" dirty="0"/>
              <a:t>simultaneously.</a:t>
            </a:r>
          </a:p>
          <a:p>
            <a:r>
              <a:rPr lang="en-US" dirty="0"/>
              <a:t>Memory shared among OS and processes. It </a:t>
            </a:r>
            <a:r>
              <a:rPr lang="en-US" dirty="0">
                <a:solidFill>
                  <a:schemeClr val="accent6"/>
                </a:solidFill>
              </a:rPr>
              <a:t>increases CPU utilization</a:t>
            </a:r>
            <a:r>
              <a:rPr lang="en-US" dirty="0"/>
              <a:t>.</a:t>
            </a:r>
          </a:p>
          <a:p>
            <a:r>
              <a:rPr lang="en-US" dirty="0"/>
              <a:t>Memory divided into fixed size partition. </a:t>
            </a:r>
            <a:r>
              <a:rPr lang="en-US" dirty="0">
                <a:solidFill>
                  <a:schemeClr val="accent6"/>
                </a:solidFill>
              </a:rPr>
              <a:t>Size</a:t>
            </a:r>
            <a:r>
              <a:rPr lang="en-US" dirty="0"/>
              <a:t> can be </a:t>
            </a:r>
            <a:r>
              <a:rPr lang="en-US" dirty="0">
                <a:solidFill>
                  <a:schemeClr val="accent6"/>
                </a:solidFill>
              </a:rPr>
              <a:t>equal or unequal </a:t>
            </a:r>
            <a:r>
              <a:rPr lang="en-US" dirty="0"/>
              <a:t>for different partitions.</a:t>
            </a:r>
          </a:p>
          <a:p>
            <a:r>
              <a:rPr lang="en-US" dirty="0"/>
              <a:t> Each partition can </a:t>
            </a:r>
            <a:r>
              <a:rPr lang="en-US" dirty="0">
                <a:solidFill>
                  <a:schemeClr val="accent6"/>
                </a:solidFill>
              </a:rPr>
              <a:t>accommodate exactly one process.</a:t>
            </a:r>
          </a:p>
          <a:p>
            <a:r>
              <a:rPr lang="en-US" dirty="0"/>
              <a:t>Any program need to be loaded in memory , </a:t>
            </a:r>
            <a:r>
              <a:rPr lang="en-US" dirty="0">
                <a:solidFill>
                  <a:schemeClr val="accent6"/>
                </a:solidFill>
              </a:rPr>
              <a:t>a free partition big enough </a:t>
            </a:r>
          </a:p>
          <a:p>
            <a:pPr marL="285750" indent="0">
              <a:buNone/>
            </a:pPr>
            <a:r>
              <a:rPr lang="en-US" dirty="0">
                <a:solidFill>
                  <a:schemeClr val="accent6"/>
                </a:solidFill>
              </a:rPr>
              <a:t>to hold program is found</a:t>
            </a:r>
            <a:r>
              <a:rPr lang="en-US" dirty="0"/>
              <a:t>. This partition will be allocated to that process.</a:t>
            </a:r>
          </a:p>
          <a:p>
            <a:r>
              <a:rPr lang="en-US" dirty="0"/>
              <a:t>If there is </a:t>
            </a:r>
            <a:r>
              <a:rPr lang="en-US" dirty="0">
                <a:solidFill>
                  <a:schemeClr val="accent6"/>
                </a:solidFill>
              </a:rPr>
              <a:t>no free partition available </a:t>
            </a:r>
            <a:r>
              <a:rPr lang="en-US" dirty="0"/>
              <a:t>for required size, then that </a:t>
            </a:r>
          </a:p>
          <a:p>
            <a:pPr marL="285750" indent="0">
              <a:buNone/>
            </a:pPr>
            <a:r>
              <a:rPr lang="en-US" dirty="0">
                <a:solidFill>
                  <a:schemeClr val="accent6"/>
                </a:solidFill>
              </a:rPr>
              <a:t>process</a:t>
            </a:r>
            <a:r>
              <a:rPr lang="en-US" dirty="0"/>
              <a:t> need to </a:t>
            </a:r>
            <a:r>
              <a:rPr lang="en-US" dirty="0">
                <a:solidFill>
                  <a:schemeClr val="accent6"/>
                </a:solidFill>
              </a:rPr>
              <a:t>wait</a:t>
            </a:r>
            <a:r>
              <a:rPr lang="en-US" dirty="0"/>
              <a:t> in </a:t>
            </a:r>
            <a:r>
              <a:rPr lang="en-US" dirty="0">
                <a:solidFill>
                  <a:schemeClr val="accent6"/>
                </a:solidFill>
              </a:rPr>
              <a:t>queue</a:t>
            </a:r>
            <a:r>
              <a:rPr lang="en-US" dirty="0"/>
              <a:t>.</a:t>
            </a:r>
          </a:p>
        </p:txBody>
      </p:sp>
      <p:sp>
        <p:nvSpPr>
          <p:cNvPr id="4" name="Rectangle 3"/>
          <p:cNvSpPr/>
          <p:nvPr/>
        </p:nvSpPr>
        <p:spPr>
          <a:xfrm>
            <a:off x="9786937" y="2288049"/>
            <a:ext cx="1776412" cy="4165960"/>
          </a:xfrm>
          <a:prstGeom prst="rect">
            <a:avLst/>
          </a:prstGeom>
          <a:noFill/>
          <a:ln w="381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prstClr val="white"/>
              </a:solidFill>
            </a:endParaRPr>
          </a:p>
        </p:txBody>
      </p:sp>
      <p:cxnSp>
        <p:nvCxnSpPr>
          <p:cNvPr id="7" name="Straight Connector 6"/>
          <p:cNvCxnSpPr/>
          <p:nvPr/>
        </p:nvCxnSpPr>
        <p:spPr>
          <a:xfrm>
            <a:off x="9786937" y="5986463"/>
            <a:ext cx="1776412"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9786937" y="5367335"/>
            <a:ext cx="1776412"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9786937" y="4376732"/>
            <a:ext cx="1776412"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9786937" y="2957515"/>
            <a:ext cx="1776412"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0406478" y="6006632"/>
            <a:ext cx="537327" cy="461665"/>
          </a:xfrm>
          <a:prstGeom prst="rect">
            <a:avLst/>
          </a:prstGeom>
          <a:noFill/>
        </p:spPr>
        <p:txBody>
          <a:bodyPr wrap="none" rtlCol="0">
            <a:spAutoFit/>
          </a:bodyPr>
          <a:lstStyle/>
          <a:p>
            <a:r>
              <a:rPr lang="en-US" sz="2400" b="1" dirty="0">
                <a:solidFill>
                  <a:srgbClr val="C00000"/>
                </a:solidFill>
              </a:rPr>
              <a:t>OS</a:t>
            </a:r>
          </a:p>
        </p:txBody>
      </p:sp>
      <p:sp>
        <p:nvSpPr>
          <p:cNvPr id="13" name="TextBox 12"/>
          <p:cNvSpPr txBox="1"/>
          <p:nvPr/>
        </p:nvSpPr>
        <p:spPr>
          <a:xfrm>
            <a:off x="9934394" y="5445018"/>
            <a:ext cx="1481496" cy="461665"/>
          </a:xfrm>
          <a:prstGeom prst="rect">
            <a:avLst/>
          </a:prstGeom>
          <a:noFill/>
        </p:spPr>
        <p:txBody>
          <a:bodyPr wrap="none" rtlCol="0">
            <a:spAutoFit/>
          </a:bodyPr>
          <a:lstStyle/>
          <a:p>
            <a:pPr algn="ctr"/>
            <a:r>
              <a:rPr lang="en-US" sz="2400" b="1" dirty="0">
                <a:solidFill>
                  <a:srgbClr val="C00000"/>
                </a:solidFill>
              </a:rPr>
              <a:t>Partition 1</a:t>
            </a:r>
          </a:p>
        </p:txBody>
      </p:sp>
      <p:sp>
        <p:nvSpPr>
          <p:cNvPr id="14" name="TextBox 13"/>
          <p:cNvSpPr txBox="1"/>
          <p:nvPr/>
        </p:nvSpPr>
        <p:spPr>
          <a:xfrm>
            <a:off x="9934394" y="4662633"/>
            <a:ext cx="1481496" cy="461665"/>
          </a:xfrm>
          <a:prstGeom prst="rect">
            <a:avLst/>
          </a:prstGeom>
          <a:noFill/>
        </p:spPr>
        <p:txBody>
          <a:bodyPr wrap="none" rtlCol="0">
            <a:spAutoFit/>
          </a:bodyPr>
          <a:lstStyle/>
          <a:p>
            <a:pPr algn="ctr"/>
            <a:r>
              <a:rPr lang="en-US" sz="2400" b="1" dirty="0">
                <a:solidFill>
                  <a:srgbClr val="C00000"/>
                </a:solidFill>
              </a:rPr>
              <a:t>Partition 2</a:t>
            </a:r>
          </a:p>
        </p:txBody>
      </p:sp>
      <p:sp>
        <p:nvSpPr>
          <p:cNvPr id="15" name="TextBox 14"/>
          <p:cNvSpPr txBox="1"/>
          <p:nvPr/>
        </p:nvSpPr>
        <p:spPr>
          <a:xfrm>
            <a:off x="9934394" y="3431908"/>
            <a:ext cx="1481496" cy="461665"/>
          </a:xfrm>
          <a:prstGeom prst="rect">
            <a:avLst/>
          </a:prstGeom>
          <a:noFill/>
        </p:spPr>
        <p:txBody>
          <a:bodyPr wrap="none" rtlCol="0">
            <a:spAutoFit/>
          </a:bodyPr>
          <a:lstStyle/>
          <a:p>
            <a:pPr algn="ctr"/>
            <a:r>
              <a:rPr lang="en-US" sz="2400" b="1" dirty="0">
                <a:solidFill>
                  <a:srgbClr val="C00000"/>
                </a:solidFill>
              </a:rPr>
              <a:t>Partition 3</a:t>
            </a:r>
          </a:p>
        </p:txBody>
      </p:sp>
      <p:sp>
        <p:nvSpPr>
          <p:cNvPr id="16" name="TextBox 15"/>
          <p:cNvSpPr txBox="1"/>
          <p:nvPr/>
        </p:nvSpPr>
        <p:spPr>
          <a:xfrm>
            <a:off x="9934394" y="2394615"/>
            <a:ext cx="1481496" cy="461665"/>
          </a:xfrm>
          <a:prstGeom prst="rect">
            <a:avLst/>
          </a:prstGeom>
          <a:noFill/>
        </p:spPr>
        <p:txBody>
          <a:bodyPr wrap="none" rtlCol="0">
            <a:spAutoFit/>
          </a:bodyPr>
          <a:lstStyle/>
          <a:p>
            <a:pPr algn="ctr"/>
            <a:r>
              <a:rPr lang="en-US" sz="2400" b="1" dirty="0">
                <a:solidFill>
                  <a:srgbClr val="C00000"/>
                </a:solidFill>
              </a:rPr>
              <a:t>Partition 4</a:t>
            </a:r>
          </a:p>
        </p:txBody>
      </p:sp>
    </p:spTree>
    <p:extLst>
      <p:ext uri="{BB962C8B-B14F-4D97-AF65-F5344CB8AC3E}">
        <p14:creationId xmlns:p14="http://schemas.microsoft.com/office/powerpoint/2010/main" val="1062933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4"/>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2" grpId="0"/>
      <p:bldP spid="13" grpId="0"/>
      <p:bldP spid="14" grpId="0"/>
      <p:bldP spid="1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Fixed / Static partition(Conti..) </a:t>
            </a:r>
          </a:p>
        </p:txBody>
      </p:sp>
      <p:sp>
        <p:nvSpPr>
          <p:cNvPr id="3" name="Content Placeholder 2"/>
          <p:cNvSpPr>
            <a:spLocks noGrp="1"/>
          </p:cNvSpPr>
          <p:nvPr>
            <p:ph idx="1"/>
          </p:nvPr>
        </p:nvSpPr>
        <p:spPr/>
        <p:txBody>
          <a:bodyPr/>
          <a:lstStyle/>
          <a:p>
            <a:r>
              <a:rPr lang="en-US" dirty="0"/>
              <a:t>There are two ways to maintain queue :</a:t>
            </a:r>
          </a:p>
          <a:p>
            <a:pPr lvl="1"/>
            <a:r>
              <a:rPr lang="en-US" dirty="0"/>
              <a:t>Using </a:t>
            </a:r>
            <a:r>
              <a:rPr lang="en-US" dirty="0">
                <a:solidFill>
                  <a:schemeClr val="accent6"/>
                </a:solidFill>
              </a:rPr>
              <a:t>single input queue</a:t>
            </a:r>
          </a:p>
          <a:p>
            <a:pPr lvl="1"/>
            <a:r>
              <a:rPr lang="en-US" dirty="0"/>
              <a:t>Using </a:t>
            </a:r>
            <a:r>
              <a:rPr lang="en-US" dirty="0">
                <a:solidFill>
                  <a:schemeClr val="accent6"/>
                </a:solidFill>
              </a:rPr>
              <a:t>multiple input queue : </a:t>
            </a:r>
            <a:r>
              <a:rPr lang="en-US" dirty="0"/>
              <a:t>Separate queue is maintained, when process comes, it puts in queue for smallest   partition large enough to hold</a:t>
            </a:r>
            <a:r>
              <a:rPr lang="en-US" dirty="0">
                <a:solidFill>
                  <a:srgbClr val="FF0000"/>
                </a:solidFill>
              </a:rPr>
              <a:t>.</a:t>
            </a:r>
          </a:p>
        </p:txBody>
      </p:sp>
      <p:sp>
        <p:nvSpPr>
          <p:cNvPr id="48" name="TextBox 47"/>
          <p:cNvSpPr txBox="1"/>
          <p:nvPr/>
        </p:nvSpPr>
        <p:spPr>
          <a:xfrm>
            <a:off x="10978900" y="6204966"/>
            <a:ext cx="298480" cy="369332"/>
          </a:xfrm>
          <a:prstGeom prst="rect">
            <a:avLst/>
          </a:prstGeom>
          <a:noFill/>
        </p:spPr>
        <p:txBody>
          <a:bodyPr wrap="none" rtlCol="0">
            <a:spAutoFit/>
          </a:bodyPr>
          <a:lstStyle/>
          <a:p>
            <a:r>
              <a:rPr lang="en-US" dirty="0">
                <a:solidFill>
                  <a:srgbClr val="212121"/>
                </a:solidFill>
              </a:rPr>
              <a:t>0</a:t>
            </a:r>
          </a:p>
        </p:txBody>
      </p:sp>
      <p:sp>
        <p:nvSpPr>
          <p:cNvPr id="49" name="TextBox 48"/>
          <p:cNvSpPr txBox="1"/>
          <p:nvPr/>
        </p:nvSpPr>
        <p:spPr>
          <a:xfrm>
            <a:off x="10978900" y="2309656"/>
            <a:ext cx="630301" cy="369332"/>
          </a:xfrm>
          <a:prstGeom prst="rect">
            <a:avLst/>
          </a:prstGeom>
          <a:noFill/>
        </p:spPr>
        <p:txBody>
          <a:bodyPr wrap="none" rtlCol="0">
            <a:spAutoFit/>
          </a:bodyPr>
          <a:lstStyle/>
          <a:p>
            <a:r>
              <a:rPr lang="en-US" dirty="0">
                <a:solidFill>
                  <a:srgbClr val="212121"/>
                </a:solidFill>
              </a:rPr>
              <a:t>800k</a:t>
            </a:r>
          </a:p>
        </p:txBody>
      </p:sp>
      <p:sp>
        <p:nvSpPr>
          <p:cNvPr id="50" name="TextBox 49"/>
          <p:cNvSpPr txBox="1"/>
          <p:nvPr/>
        </p:nvSpPr>
        <p:spPr>
          <a:xfrm>
            <a:off x="10978899" y="2870179"/>
            <a:ext cx="630301" cy="369332"/>
          </a:xfrm>
          <a:prstGeom prst="rect">
            <a:avLst/>
          </a:prstGeom>
          <a:noFill/>
        </p:spPr>
        <p:txBody>
          <a:bodyPr wrap="none" rtlCol="0">
            <a:spAutoFit/>
          </a:bodyPr>
          <a:lstStyle/>
          <a:p>
            <a:r>
              <a:rPr lang="en-US" dirty="0">
                <a:solidFill>
                  <a:srgbClr val="212121"/>
                </a:solidFill>
              </a:rPr>
              <a:t>700k</a:t>
            </a:r>
          </a:p>
        </p:txBody>
      </p:sp>
      <p:sp>
        <p:nvSpPr>
          <p:cNvPr id="51" name="TextBox 50"/>
          <p:cNvSpPr txBox="1"/>
          <p:nvPr/>
        </p:nvSpPr>
        <p:spPr>
          <a:xfrm>
            <a:off x="10948581" y="4328481"/>
            <a:ext cx="630301" cy="369332"/>
          </a:xfrm>
          <a:prstGeom prst="rect">
            <a:avLst/>
          </a:prstGeom>
          <a:noFill/>
        </p:spPr>
        <p:txBody>
          <a:bodyPr wrap="none" rtlCol="0">
            <a:spAutoFit/>
          </a:bodyPr>
          <a:lstStyle/>
          <a:p>
            <a:r>
              <a:rPr lang="en-US" dirty="0">
                <a:solidFill>
                  <a:srgbClr val="212121"/>
                </a:solidFill>
              </a:rPr>
              <a:t>400k</a:t>
            </a:r>
          </a:p>
        </p:txBody>
      </p:sp>
      <p:sp>
        <p:nvSpPr>
          <p:cNvPr id="52" name="TextBox 51"/>
          <p:cNvSpPr txBox="1"/>
          <p:nvPr/>
        </p:nvSpPr>
        <p:spPr>
          <a:xfrm>
            <a:off x="10942947" y="5211993"/>
            <a:ext cx="630301" cy="369332"/>
          </a:xfrm>
          <a:prstGeom prst="rect">
            <a:avLst/>
          </a:prstGeom>
          <a:noFill/>
        </p:spPr>
        <p:txBody>
          <a:bodyPr wrap="none" rtlCol="0">
            <a:spAutoFit/>
          </a:bodyPr>
          <a:lstStyle/>
          <a:p>
            <a:r>
              <a:rPr lang="en-US" dirty="0">
                <a:solidFill>
                  <a:srgbClr val="212121"/>
                </a:solidFill>
              </a:rPr>
              <a:t>200k</a:t>
            </a:r>
          </a:p>
        </p:txBody>
      </p:sp>
      <p:sp>
        <p:nvSpPr>
          <p:cNvPr id="53" name="TextBox 52"/>
          <p:cNvSpPr txBox="1"/>
          <p:nvPr/>
        </p:nvSpPr>
        <p:spPr>
          <a:xfrm>
            <a:off x="10904754" y="5812718"/>
            <a:ext cx="630301" cy="369332"/>
          </a:xfrm>
          <a:prstGeom prst="rect">
            <a:avLst/>
          </a:prstGeom>
          <a:noFill/>
        </p:spPr>
        <p:txBody>
          <a:bodyPr wrap="none" rtlCol="0">
            <a:spAutoFit/>
          </a:bodyPr>
          <a:lstStyle/>
          <a:p>
            <a:r>
              <a:rPr lang="en-US" dirty="0">
                <a:solidFill>
                  <a:srgbClr val="212121"/>
                </a:solidFill>
              </a:rPr>
              <a:t>100k</a:t>
            </a:r>
          </a:p>
        </p:txBody>
      </p:sp>
      <p:sp>
        <p:nvSpPr>
          <p:cNvPr id="18" name="Rectangle 17"/>
          <p:cNvSpPr/>
          <p:nvPr/>
        </p:nvSpPr>
        <p:spPr>
          <a:xfrm>
            <a:off x="9068649" y="2341050"/>
            <a:ext cx="1776412" cy="4165960"/>
          </a:xfrm>
          <a:prstGeom prst="rect">
            <a:avLst/>
          </a:prstGeom>
          <a:noFill/>
          <a:ln w="381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prstClr val="white"/>
              </a:solidFill>
            </a:endParaRPr>
          </a:p>
        </p:txBody>
      </p:sp>
      <p:cxnSp>
        <p:nvCxnSpPr>
          <p:cNvPr id="19" name="Straight Connector 18"/>
          <p:cNvCxnSpPr/>
          <p:nvPr/>
        </p:nvCxnSpPr>
        <p:spPr>
          <a:xfrm>
            <a:off x="9068649" y="6039464"/>
            <a:ext cx="1776412"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9068649" y="5420336"/>
            <a:ext cx="1776412"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9068649" y="4429733"/>
            <a:ext cx="1776412"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9068649" y="3010516"/>
            <a:ext cx="1776412"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9688190" y="6059633"/>
            <a:ext cx="537327" cy="461665"/>
          </a:xfrm>
          <a:prstGeom prst="rect">
            <a:avLst/>
          </a:prstGeom>
          <a:noFill/>
        </p:spPr>
        <p:txBody>
          <a:bodyPr wrap="none" rtlCol="0">
            <a:spAutoFit/>
          </a:bodyPr>
          <a:lstStyle/>
          <a:p>
            <a:r>
              <a:rPr lang="en-US" sz="2400" b="1" dirty="0">
                <a:solidFill>
                  <a:srgbClr val="C00000"/>
                </a:solidFill>
              </a:rPr>
              <a:t>OS</a:t>
            </a:r>
          </a:p>
        </p:txBody>
      </p:sp>
      <p:sp>
        <p:nvSpPr>
          <p:cNvPr id="24" name="TextBox 23"/>
          <p:cNvSpPr txBox="1"/>
          <p:nvPr/>
        </p:nvSpPr>
        <p:spPr>
          <a:xfrm>
            <a:off x="9216106" y="5498019"/>
            <a:ext cx="1481496" cy="461665"/>
          </a:xfrm>
          <a:prstGeom prst="rect">
            <a:avLst/>
          </a:prstGeom>
          <a:noFill/>
        </p:spPr>
        <p:txBody>
          <a:bodyPr wrap="none" rtlCol="0">
            <a:spAutoFit/>
          </a:bodyPr>
          <a:lstStyle/>
          <a:p>
            <a:pPr algn="ctr"/>
            <a:r>
              <a:rPr lang="en-US" sz="2400" b="1" dirty="0">
                <a:solidFill>
                  <a:srgbClr val="C00000"/>
                </a:solidFill>
              </a:rPr>
              <a:t>Partition 1</a:t>
            </a:r>
          </a:p>
        </p:txBody>
      </p:sp>
      <p:sp>
        <p:nvSpPr>
          <p:cNvPr id="25" name="TextBox 24"/>
          <p:cNvSpPr txBox="1"/>
          <p:nvPr/>
        </p:nvSpPr>
        <p:spPr>
          <a:xfrm>
            <a:off x="9216106" y="4715634"/>
            <a:ext cx="1481496" cy="461665"/>
          </a:xfrm>
          <a:prstGeom prst="rect">
            <a:avLst/>
          </a:prstGeom>
          <a:noFill/>
        </p:spPr>
        <p:txBody>
          <a:bodyPr wrap="none" rtlCol="0">
            <a:spAutoFit/>
          </a:bodyPr>
          <a:lstStyle/>
          <a:p>
            <a:pPr algn="ctr"/>
            <a:r>
              <a:rPr lang="en-US" sz="2400" b="1" dirty="0">
                <a:solidFill>
                  <a:srgbClr val="C00000"/>
                </a:solidFill>
              </a:rPr>
              <a:t>Partition 2</a:t>
            </a:r>
          </a:p>
        </p:txBody>
      </p:sp>
      <p:sp>
        <p:nvSpPr>
          <p:cNvPr id="26" name="TextBox 25"/>
          <p:cNvSpPr txBox="1"/>
          <p:nvPr/>
        </p:nvSpPr>
        <p:spPr>
          <a:xfrm>
            <a:off x="9216106" y="3484909"/>
            <a:ext cx="1481496" cy="461665"/>
          </a:xfrm>
          <a:prstGeom prst="rect">
            <a:avLst/>
          </a:prstGeom>
          <a:noFill/>
        </p:spPr>
        <p:txBody>
          <a:bodyPr wrap="none" rtlCol="0">
            <a:spAutoFit/>
          </a:bodyPr>
          <a:lstStyle/>
          <a:p>
            <a:pPr algn="ctr"/>
            <a:r>
              <a:rPr lang="en-US" sz="2400" b="1" dirty="0">
                <a:solidFill>
                  <a:srgbClr val="C00000"/>
                </a:solidFill>
              </a:rPr>
              <a:t>Partition 3</a:t>
            </a:r>
          </a:p>
        </p:txBody>
      </p:sp>
      <p:sp>
        <p:nvSpPr>
          <p:cNvPr id="27" name="TextBox 26"/>
          <p:cNvSpPr txBox="1"/>
          <p:nvPr/>
        </p:nvSpPr>
        <p:spPr>
          <a:xfrm>
            <a:off x="9216106" y="2447616"/>
            <a:ext cx="1481496" cy="461665"/>
          </a:xfrm>
          <a:prstGeom prst="rect">
            <a:avLst/>
          </a:prstGeom>
          <a:noFill/>
        </p:spPr>
        <p:txBody>
          <a:bodyPr wrap="none" rtlCol="0">
            <a:spAutoFit/>
          </a:bodyPr>
          <a:lstStyle/>
          <a:p>
            <a:pPr algn="ctr"/>
            <a:r>
              <a:rPr lang="en-US" sz="2400" b="1" dirty="0">
                <a:solidFill>
                  <a:srgbClr val="C00000"/>
                </a:solidFill>
              </a:rPr>
              <a:t>Partition 4</a:t>
            </a:r>
          </a:p>
        </p:txBody>
      </p:sp>
      <p:sp>
        <p:nvSpPr>
          <p:cNvPr id="4" name="TextBox 3"/>
          <p:cNvSpPr txBox="1"/>
          <p:nvPr/>
        </p:nvSpPr>
        <p:spPr>
          <a:xfrm>
            <a:off x="6381569" y="3498900"/>
            <a:ext cx="1506649" cy="646331"/>
          </a:xfrm>
          <a:prstGeom prst="rect">
            <a:avLst/>
          </a:prstGeom>
          <a:noFill/>
        </p:spPr>
        <p:txBody>
          <a:bodyPr wrap="square" rtlCol="0">
            <a:spAutoFit/>
          </a:bodyPr>
          <a:lstStyle/>
          <a:p>
            <a:pPr algn="ctr"/>
            <a:r>
              <a:rPr lang="en-US" dirty="0">
                <a:solidFill>
                  <a:srgbClr val="212121"/>
                </a:solidFill>
              </a:rPr>
              <a:t>Single Input Queue</a:t>
            </a:r>
          </a:p>
        </p:txBody>
      </p:sp>
      <p:sp>
        <p:nvSpPr>
          <p:cNvPr id="5" name="Rectangle 4"/>
          <p:cNvSpPr/>
          <p:nvPr/>
        </p:nvSpPr>
        <p:spPr>
          <a:xfrm>
            <a:off x="6358760" y="4323551"/>
            <a:ext cx="372524" cy="36933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0" name="Rectangle 29"/>
          <p:cNvSpPr/>
          <p:nvPr/>
        </p:nvSpPr>
        <p:spPr>
          <a:xfrm>
            <a:off x="6920335" y="4323551"/>
            <a:ext cx="372524" cy="36933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1" name="Rectangle 30"/>
          <p:cNvSpPr/>
          <p:nvPr/>
        </p:nvSpPr>
        <p:spPr>
          <a:xfrm>
            <a:off x="7481910" y="4323551"/>
            <a:ext cx="372524" cy="36933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7" name="Straight Connector 6"/>
          <p:cNvCxnSpPr>
            <a:stCxn id="31" idx="3"/>
          </p:cNvCxnSpPr>
          <p:nvPr/>
        </p:nvCxnSpPr>
        <p:spPr>
          <a:xfrm flipV="1">
            <a:off x="7854434" y="2678448"/>
            <a:ext cx="1214215" cy="182976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a:stCxn id="31" idx="3"/>
          </p:cNvCxnSpPr>
          <p:nvPr/>
        </p:nvCxnSpPr>
        <p:spPr>
          <a:xfrm flipV="1">
            <a:off x="7854434" y="3715741"/>
            <a:ext cx="1211954" cy="79247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31" idx="3"/>
          </p:cNvCxnSpPr>
          <p:nvPr/>
        </p:nvCxnSpPr>
        <p:spPr>
          <a:xfrm>
            <a:off x="7854434" y="4508217"/>
            <a:ext cx="1211954" cy="122063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31" idx="3"/>
          </p:cNvCxnSpPr>
          <p:nvPr/>
        </p:nvCxnSpPr>
        <p:spPr>
          <a:xfrm>
            <a:off x="7854434" y="4508217"/>
            <a:ext cx="1211954" cy="39687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5" idx="3"/>
            <a:endCxn id="30" idx="1"/>
          </p:cNvCxnSpPr>
          <p:nvPr/>
        </p:nvCxnSpPr>
        <p:spPr>
          <a:xfrm>
            <a:off x="6731284" y="4508217"/>
            <a:ext cx="18905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30" idx="3"/>
            <a:endCxn id="31" idx="1"/>
          </p:cNvCxnSpPr>
          <p:nvPr/>
        </p:nvCxnSpPr>
        <p:spPr>
          <a:xfrm>
            <a:off x="7292859" y="4508217"/>
            <a:ext cx="189051" cy="0"/>
          </a:xfrm>
          <a:prstGeom prst="line">
            <a:avLst/>
          </a:prstGeom>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4798144" y="6219111"/>
            <a:ext cx="298480" cy="369332"/>
          </a:xfrm>
          <a:prstGeom prst="rect">
            <a:avLst/>
          </a:prstGeom>
          <a:noFill/>
        </p:spPr>
        <p:txBody>
          <a:bodyPr wrap="none" rtlCol="0">
            <a:spAutoFit/>
          </a:bodyPr>
          <a:lstStyle/>
          <a:p>
            <a:r>
              <a:rPr lang="en-US" dirty="0">
                <a:solidFill>
                  <a:srgbClr val="212121"/>
                </a:solidFill>
              </a:rPr>
              <a:t>0</a:t>
            </a:r>
          </a:p>
        </p:txBody>
      </p:sp>
      <p:sp>
        <p:nvSpPr>
          <p:cNvPr id="55" name="TextBox 54"/>
          <p:cNvSpPr txBox="1"/>
          <p:nvPr/>
        </p:nvSpPr>
        <p:spPr>
          <a:xfrm>
            <a:off x="4798144" y="2323801"/>
            <a:ext cx="630301" cy="369332"/>
          </a:xfrm>
          <a:prstGeom prst="rect">
            <a:avLst/>
          </a:prstGeom>
          <a:noFill/>
        </p:spPr>
        <p:txBody>
          <a:bodyPr wrap="none" rtlCol="0">
            <a:spAutoFit/>
          </a:bodyPr>
          <a:lstStyle/>
          <a:p>
            <a:r>
              <a:rPr lang="en-US" dirty="0">
                <a:solidFill>
                  <a:srgbClr val="212121"/>
                </a:solidFill>
              </a:rPr>
              <a:t>800k</a:t>
            </a:r>
          </a:p>
        </p:txBody>
      </p:sp>
      <p:sp>
        <p:nvSpPr>
          <p:cNvPr id="56" name="TextBox 55"/>
          <p:cNvSpPr txBox="1"/>
          <p:nvPr/>
        </p:nvSpPr>
        <p:spPr>
          <a:xfrm>
            <a:off x="4798143" y="2884324"/>
            <a:ext cx="630301" cy="369332"/>
          </a:xfrm>
          <a:prstGeom prst="rect">
            <a:avLst/>
          </a:prstGeom>
          <a:noFill/>
        </p:spPr>
        <p:txBody>
          <a:bodyPr wrap="none" rtlCol="0">
            <a:spAutoFit/>
          </a:bodyPr>
          <a:lstStyle/>
          <a:p>
            <a:r>
              <a:rPr lang="en-US" dirty="0">
                <a:solidFill>
                  <a:srgbClr val="212121"/>
                </a:solidFill>
              </a:rPr>
              <a:t>700k</a:t>
            </a:r>
          </a:p>
        </p:txBody>
      </p:sp>
      <p:sp>
        <p:nvSpPr>
          <p:cNvPr id="57" name="TextBox 56"/>
          <p:cNvSpPr txBox="1"/>
          <p:nvPr/>
        </p:nvSpPr>
        <p:spPr>
          <a:xfrm>
            <a:off x="4767825" y="4342626"/>
            <a:ext cx="630301" cy="369332"/>
          </a:xfrm>
          <a:prstGeom prst="rect">
            <a:avLst/>
          </a:prstGeom>
          <a:noFill/>
        </p:spPr>
        <p:txBody>
          <a:bodyPr wrap="none" rtlCol="0">
            <a:spAutoFit/>
          </a:bodyPr>
          <a:lstStyle/>
          <a:p>
            <a:r>
              <a:rPr lang="en-US" dirty="0">
                <a:solidFill>
                  <a:srgbClr val="212121"/>
                </a:solidFill>
              </a:rPr>
              <a:t>400k</a:t>
            </a:r>
          </a:p>
        </p:txBody>
      </p:sp>
      <p:sp>
        <p:nvSpPr>
          <p:cNvPr id="58" name="TextBox 57"/>
          <p:cNvSpPr txBox="1"/>
          <p:nvPr/>
        </p:nvSpPr>
        <p:spPr>
          <a:xfrm>
            <a:off x="4762191" y="5226138"/>
            <a:ext cx="630301" cy="369332"/>
          </a:xfrm>
          <a:prstGeom prst="rect">
            <a:avLst/>
          </a:prstGeom>
          <a:noFill/>
        </p:spPr>
        <p:txBody>
          <a:bodyPr wrap="none" rtlCol="0">
            <a:spAutoFit/>
          </a:bodyPr>
          <a:lstStyle/>
          <a:p>
            <a:r>
              <a:rPr lang="en-US" dirty="0">
                <a:solidFill>
                  <a:srgbClr val="212121"/>
                </a:solidFill>
              </a:rPr>
              <a:t>200k</a:t>
            </a:r>
          </a:p>
        </p:txBody>
      </p:sp>
      <p:sp>
        <p:nvSpPr>
          <p:cNvPr id="59" name="TextBox 58"/>
          <p:cNvSpPr txBox="1"/>
          <p:nvPr/>
        </p:nvSpPr>
        <p:spPr>
          <a:xfrm>
            <a:off x="4723998" y="5826863"/>
            <a:ext cx="630301" cy="369332"/>
          </a:xfrm>
          <a:prstGeom prst="rect">
            <a:avLst/>
          </a:prstGeom>
          <a:noFill/>
        </p:spPr>
        <p:txBody>
          <a:bodyPr wrap="none" rtlCol="0">
            <a:spAutoFit/>
          </a:bodyPr>
          <a:lstStyle/>
          <a:p>
            <a:r>
              <a:rPr lang="en-US" dirty="0">
                <a:solidFill>
                  <a:srgbClr val="212121"/>
                </a:solidFill>
              </a:rPr>
              <a:t>100k</a:t>
            </a:r>
          </a:p>
        </p:txBody>
      </p:sp>
      <p:sp>
        <p:nvSpPr>
          <p:cNvPr id="60" name="Rectangle 59"/>
          <p:cNvSpPr/>
          <p:nvPr/>
        </p:nvSpPr>
        <p:spPr>
          <a:xfrm>
            <a:off x="2887893" y="2355195"/>
            <a:ext cx="1776412" cy="4165960"/>
          </a:xfrm>
          <a:prstGeom prst="rect">
            <a:avLst/>
          </a:prstGeom>
          <a:noFill/>
          <a:ln w="381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prstClr val="white"/>
              </a:solidFill>
            </a:endParaRPr>
          </a:p>
        </p:txBody>
      </p:sp>
      <p:cxnSp>
        <p:nvCxnSpPr>
          <p:cNvPr id="61" name="Straight Connector 60"/>
          <p:cNvCxnSpPr/>
          <p:nvPr/>
        </p:nvCxnSpPr>
        <p:spPr>
          <a:xfrm>
            <a:off x="2887893" y="6053609"/>
            <a:ext cx="1776412"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a:off x="2887893" y="5434481"/>
            <a:ext cx="1776412"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a:off x="2887893" y="4443878"/>
            <a:ext cx="1776412"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2887893" y="3024661"/>
            <a:ext cx="1776412"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3507434" y="6073778"/>
            <a:ext cx="537327" cy="461665"/>
          </a:xfrm>
          <a:prstGeom prst="rect">
            <a:avLst/>
          </a:prstGeom>
          <a:noFill/>
        </p:spPr>
        <p:txBody>
          <a:bodyPr wrap="none" rtlCol="0">
            <a:spAutoFit/>
          </a:bodyPr>
          <a:lstStyle/>
          <a:p>
            <a:r>
              <a:rPr lang="en-US" sz="2400" b="1" dirty="0">
                <a:solidFill>
                  <a:srgbClr val="C00000"/>
                </a:solidFill>
              </a:rPr>
              <a:t>OS</a:t>
            </a:r>
          </a:p>
        </p:txBody>
      </p:sp>
      <p:sp>
        <p:nvSpPr>
          <p:cNvPr id="66" name="TextBox 65"/>
          <p:cNvSpPr txBox="1"/>
          <p:nvPr/>
        </p:nvSpPr>
        <p:spPr>
          <a:xfrm>
            <a:off x="3035350" y="5512164"/>
            <a:ext cx="1481496" cy="461665"/>
          </a:xfrm>
          <a:prstGeom prst="rect">
            <a:avLst/>
          </a:prstGeom>
          <a:noFill/>
        </p:spPr>
        <p:txBody>
          <a:bodyPr wrap="none" rtlCol="0">
            <a:spAutoFit/>
          </a:bodyPr>
          <a:lstStyle/>
          <a:p>
            <a:pPr algn="ctr"/>
            <a:r>
              <a:rPr lang="en-US" sz="2400" b="1" dirty="0">
                <a:solidFill>
                  <a:srgbClr val="C00000"/>
                </a:solidFill>
              </a:rPr>
              <a:t>Partition 1</a:t>
            </a:r>
          </a:p>
        </p:txBody>
      </p:sp>
      <p:sp>
        <p:nvSpPr>
          <p:cNvPr id="67" name="TextBox 66"/>
          <p:cNvSpPr txBox="1"/>
          <p:nvPr/>
        </p:nvSpPr>
        <p:spPr>
          <a:xfrm>
            <a:off x="3035350" y="4729779"/>
            <a:ext cx="1481496" cy="461665"/>
          </a:xfrm>
          <a:prstGeom prst="rect">
            <a:avLst/>
          </a:prstGeom>
          <a:noFill/>
        </p:spPr>
        <p:txBody>
          <a:bodyPr wrap="none" rtlCol="0">
            <a:spAutoFit/>
          </a:bodyPr>
          <a:lstStyle/>
          <a:p>
            <a:pPr algn="ctr"/>
            <a:r>
              <a:rPr lang="en-US" sz="2400" b="1" dirty="0">
                <a:solidFill>
                  <a:srgbClr val="C00000"/>
                </a:solidFill>
              </a:rPr>
              <a:t>Partition 2</a:t>
            </a:r>
          </a:p>
        </p:txBody>
      </p:sp>
      <p:sp>
        <p:nvSpPr>
          <p:cNvPr id="68" name="TextBox 67"/>
          <p:cNvSpPr txBox="1"/>
          <p:nvPr/>
        </p:nvSpPr>
        <p:spPr>
          <a:xfrm>
            <a:off x="3035350" y="3499054"/>
            <a:ext cx="1481496" cy="461665"/>
          </a:xfrm>
          <a:prstGeom prst="rect">
            <a:avLst/>
          </a:prstGeom>
          <a:noFill/>
        </p:spPr>
        <p:txBody>
          <a:bodyPr wrap="none" rtlCol="0">
            <a:spAutoFit/>
          </a:bodyPr>
          <a:lstStyle/>
          <a:p>
            <a:pPr algn="ctr"/>
            <a:r>
              <a:rPr lang="en-US" sz="2400" b="1" dirty="0">
                <a:solidFill>
                  <a:srgbClr val="C00000"/>
                </a:solidFill>
              </a:rPr>
              <a:t>Partition 3</a:t>
            </a:r>
          </a:p>
        </p:txBody>
      </p:sp>
      <p:sp>
        <p:nvSpPr>
          <p:cNvPr id="69" name="TextBox 68"/>
          <p:cNvSpPr txBox="1"/>
          <p:nvPr/>
        </p:nvSpPr>
        <p:spPr>
          <a:xfrm>
            <a:off x="3035350" y="2461761"/>
            <a:ext cx="1481496" cy="461665"/>
          </a:xfrm>
          <a:prstGeom prst="rect">
            <a:avLst/>
          </a:prstGeom>
          <a:noFill/>
        </p:spPr>
        <p:txBody>
          <a:bodyPr wrap="none" rtlCol="0">
            <a:spAutoFit/>
          </a:bodyPr>
          <a:lstStyle/>
          <a:p>
            <a:pPr algn="ctr"/>
            <a:r>
              <a:rPr lang="en-US" sz="2400" b="1" dirty="0">
                <a:solidFill>
                  <a:srgbClr val="C00000"/>
                </a:solidFill>
              </a:rPr>
              <a:t>Partition 4</a:t>
            </a:r>
          </a:p>
        </p:txBody>
      </p:sp>
      <p:sp>
        <p:nvSpPr>
          <p:cNvPr id="70" name="TextBox 69"/>
          <p:cNvSpPr txBox="1"/>
          <p:nvPr/>
        </p:nvSpPr>
        <p:spPr>
          <a:xfrm>
            <a:off x="933705" y="3480420"/>
            <a:ext cx="1506649" cy="646331"/>
          </a:xfrm>
          <a:prstGeom prst="rect">
            <a:avLst/>
          </a:prstGeom>
          <a:noFill/>
        </p:spPr>
        <p:txBody>
          <a:bodyPr wrap="square" rtlCol="0">
            <a:spAutoFit/>
          </a:bodyPr>
          <a:lstStyle/>
          <a:p>
            <a:pPr algn="ctr"/>
            <a:r>
              <a:rPr lang="en-US" dirty="0">
                <a:solidFill>
                  <a:srgbClr val="212121"/>
                </a:solidFill>
              </a:rPr>
              <a:t>Multiple Input Queue</a:t>
            </a:r>
          </a:p>
        </p:txBody>
      </p:sp>
      <p:sp>
        <p:nvSpPr>
          <p:cNvPr id="71" name="Rectangle 70"/>
          <p:cNvSpPr/>
          <p:nvPr/>
        </p:nvSpPr>
        <p:spPr>
          <a:xfrm>
            <a:off x="716633" y="5558941"/>
            <a:ext cx="372524" cy="36933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2" name="Rectangle 71"/>
          <p:cNvSpPr/>
          <p:nvPr/>
        </p:nvSpPr>
        <p:spPr>
          <a:xfrm>
            <a:off x="1278208" y="5590991"/>
            <a:ext cx="372524" cy="30523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3" name="Rectangle 72"/>
          <p:cNvSpPr/>
          <p:nvPr/>
        </p:nvSpPr>
        <p:spPr>
          <a:xfrm>
            <a:off x="1839783" y="5558941"/>
            <a:ext cx="372524" cy="36933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78" name="Straight Connector 77"/>
          <p:cNvCxnSpPr>
            <a:stCxn id="71" idx="3"/>
            <a:endCxn id="72" idx="1"/>
          </p:cNvCxnSpPr>
          <p:nvPr/>
        </p:nvCxnSpPr>
        <p:spPr>
          <a:xfrm>
            <a:off x="1089157" y="5743607"/>
            <a:ext cx="189051"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Straight Connector 78"/>
          <p:cNvCxnSpPr>
            <a:stCxn id="72" idx="3"/>
            <a:endCxn id="73" idx="1"/>
          </p:cNvCxnSpPr>
          <p:nvPr/>
        </p:nvCxnSpPr>
        <p:spPr>
          <a:xfrm flipV="1">
            <a:off x="1650732" y="5743607"/>
            <a:ext cx="189051" cy="1"/>
          </a:xfrm>
          <a:prstGeom prst="line">
            <a:avLst/>
          </a:prstGeom>
        </p:spPr>
        <p:style>
          <a:lnRef idx="1">
            <a:schemeClr val="accent1"/>
          </a:lnRef>
          <a:fillRef idx="0">
            <a:schemeClr val="accent1"/>
          </a:fillRef>
          <a:effectRef idx="0">
            <a:schemeClr val="accent1"/>
          </a:effectRef>
          <a:fontRef idx="minor">
            <a:schemeClr val="tx1"/>
          </a:fontRef>
        </p:style>
      </p:cxnSp>
      <p:sp>
        <p:nvSpPr>
          <p:cNvPr id="86" name="Rectangle 85"/>
          <p:cNvSpPr/>
          <p:nvPr/>
        </p:nvSpPr>
        <p:spPr>
          <a:xfrm>
            <a:off x="1281670" y="2461761"/>
            <a:ext cx="372524" cy="36933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7" name="Rectangle 86"/>
          <p:cNvSpPr/>
          <p:nvPr/>
        </p:nvSpPr>
        <p:spPr>
          <a:xfrm>
            <a:off x="1843245" y="2461761"/>
            <a:ext cx="372524" cy="36933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89" name="Straight Connector 88"/>
          <p:cNvCxnSpPr>
            <a:stCxn id="86" idx="3"/>
            <a:endCxn id="87" idx="1"/>
          </p:cNvCxnSpPr>
          <p:nvPr/>
        </p:nvCxnSpPr>
        <p:spPr>
          <a:xfrm>
            <a:off x="1654194" y="2646427"/>
            <a:ext cx="189051" cy="0"/>
          </a:xfrm>
          <a:prstGeom prst="line">
            <a:avLst/>
          </a:prstGeom>
        </p:spPr>
        <p:style>
          <a:lnRef idx="1">
            <a:schemeClr val="accent1"/>
          </a:lnRef>
          <a:fillRef idx="0">
            <a:schemeClr val="accent1"/>
          </a:fillRef>
          <a:effectRef idx="0">
            <a:schemeClr val="accent1"/>
          </a:effectRef>
          <a:fontRef idx="minor">
            <a:schemeClr val="tx1"/>
          </a:fontRef>
        </p:style>
      </p:cxnSp>
      <p:sp>
        <p:nvSpPr>
          <p:cNvPr id="92" name="Rectangle 91"/>
          <p:cNvSpPr/>
          <p:nvPr/>
        </p:nvSpPr>
        <p:spPr>
          <a:xfrm>
            <a:off x="1844617" y="4824874"/>
            <a:ext cx="372524" cy="36933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38" name="Straight Connector 37"/>
          <p:cNvCxnSpPr>
            <a:stCxn id="87" idx="3"/>
          </p:cNvCxnSpPr>
          <p:nvPr/>
        </p:nvCxnSpPr>
        <p:spPr>
          <a:xfrm>
            <a:off x="2215769" y="2646427"/>
            <a:ext cx="67212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a:stCxn id="92" idx="3"/>
          </p:cNvCxnSpPr>
          <p:nvPr/>
        </p:nvCxnSpPr>
        <p:spPr>
          <a:xfrm>
            <a:off x="2217141" y="5009540"/>
            <a:ext cx="66729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a:stCxn id="73" idx="3"/>
          </p:cNvCxnSpPr>
          <p:nvPr/>
        </p:nvCxnSpPr>
        <p:spPr>
          <a:xfrm>
            <a:off x="2212307" y="5743607"/>
            <a:ext cx="674541" cy="23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4914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7">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31"/>
                                        </p:tgtEl>
                                        <p:attrNameLst>
                                          <p:attrName>style.visibility</p:attrName>
                                        </p:attrNameLst>
                                      </p:cBhvr>
                                      <p:to>
                                        <p:strVal val="visible"/>
                                      </p:to>
                                    </p:set>
                                    <p:anim calcmode="lin" valueType="num">
                                      <p:cBhvr additive="base">
                                        <p:cTn id="55" dur="500" fill="hold"/>
                                        <p:tgtEl>
                                          <p:spTgt spid="31"/>
                                        </p:tgtEl>
                                        <p:attrNameLst>
                                          <p:attrName>ppt_x</p:attrName>
                                        </p:attrNameLst>
                                      </p:cBhvr>
                                      <p:tavLst>
                                        <p:tav tm="0">
                                          <p:val>
                                            <p:strVal val="0-#ppt_w/2"/>
                                          </p:val>
                                        </p:tav>
                                        <p:tav tm="100000">
                                          <p:val>
                                            <p:strVal val="#ppt_x"/>
                                          </p:val>
                                        </p:tav>
                                      </p:tavLst>
                                    </p:anim>
                                    <p:anim calcmode="lin" valueType="num">
                                      <p:cBhvr additive="base">
                                        <p:cTn id="56" dur="500" fill="hold"/>
                                        <p:tgtEl>
                                          <p:spTgt spid="31"/>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stCondLst>
                                    <p:cond delay="700"/>
                                  </p:stCondLst>
                                  <p:childTnLst>
                                    <p:set>
                                      <p:cBhvr>
                                        <p:cTn id="58" dur="1" fill="hold">
                                          <p:stCondLst>
                                            <p:cond delay="0"/>
                                          </p:stCondLst>
                                        </p:cTn>
                                        <p:tgtEl>
                                          <p:spTgt spid="30"/>
                                        </p:tgtEl>
                                        <p:attrNameLst>
                                          <p:attrName>style.visibility</p:attrName>
                                        </p:attrNameLst>
                                      </p:cBhvr>
                                      <p:to>
                                        <p:strVal val="visible"/>
                                      </p:to>
                                    </p:set>
                                    <p:anim calcmode="lin" valueType="num">
                                      <p:cBhvr additive="base">
                                        <p:cTn id="59" dur="500" fill="hold"/>
                                        <p:tgtEl>
                                          <p:spTgt spid="30"/>
                                        </p:tgtEl>
                                        <p:attrNameLst>
                                          <p:attrName>ppt_x</p:attrName>
                                        </p:attrNameLst>
                                      </p:cBhvr>
                                      <p:tavLst>
                                        <p:tav tm="0">
                                          <p:val>
                                            <p:strVal val="0-#ppt_w/2"/>
                                          </p:val>
                                        </p:tav>
                                        <p:tav tm="100000">
                                          <p:val>
                                            <p:strVal val="#ppt_x"/>
                                          </p:val>
                                        </p:tav>
                                      </p:tavLst>
                                    </p:anim>
                                    <p:anim calcmode="lin" valueType="num">
                                      <p:cBhvr additive="base">
                                        <p:cTn id="60" dur="500" fill="hold"/>
                                        <p:tgtEl>
                                          <p:spTgt spid="30"/>
                                        </p:tgtEl>
                                        <p:attrNameLst>
                                          <p:attrName>ppt_y</p:attrName>
                                        </p:attrNameLst>
                                      </p:cBhvr>
                                      <p:tavLst>
                                        <p:tav tm="0">
                                          <p:val>
                                            <p:strVal val="#ppt_y"/>
                                          </p:val>
                                        </p:tav>
                                        <p:tav tm="100000">
                                          <p:val>
                                            <p:strVal val="#ppt_y"/>
                                          </p:val>
                                        </p:tav>
                                      </p:tavLst>
                                    </p:anim>
                                  </p:childTnLst>
                                </p:cTn>
                              </p:par>
                              <p:par>
                                <p:cTn id="61" presetID="2" presetClass="entr" presetSubtype="8" fill="hold" nodeType="withEffect">
                                  <p:stCondLst>
                                    <p:cond delay="700"/>
                                  </p:stCondLst>
                                  <p:childTnLst>
                                    <p:set>
                                      <p:cBhvr>
                                        <p:cTn id="62" dur="1" fill="hold">
                                          <p:stCondLst>
                                            <p:cond delay="0"/>
                                          </p:stCondLst>
                                        </p:cTn>
                                        <p:tgtEl>
                                          <p:spTgt spid="17"/>
                                        </p:tgtEl>
                                        <p:attrNameLst>
                                          <p:attrName>style.visibility</p:attrName>
                                        </p:attrNameLst>
                                      </p:cBhvr>
                                      <p:to>
                                        <p:strVal val="visible"/>
                                      </p:to>
                                    </p:set>
                                    <p:anim calcmode="lin" valueType="num">
                                      <p:cBhvr additive="base">
                                        <p:cTn id="63" dur="500" fill="hold"/>
                                        <p:tgtEl>
                                          <p:spTgt spid="17"/>
                                        </p:tgtEl>
                                        <p:attrNameLst>
                                          <p:attrName>ppt_x</p:attrName>
                                        </p:attrNameLst>
                                      </p:cBhvr>
                                      <p:tavLst>
                                        <p:tav tm="0">
                                          <p:val>
                                            <p:strVal val="0-#ppt_w/2"/>
                                          </p:val>
                                        </p:tav>
                                        <p:tav tm="100000">
                                          <p:val>
                                            <p:strVal val="#ppt_x"/>
                                          </p:val>
                                        </p:tav>
                                      </p:tavLst>
                                    </p:anim>
                                    <p:anim calcmode="lin" valueType="num">
                                      <p:cBhvr additive="base">
                                        <p:cTn id="64" dur="500" fill="hold"/>
                                        <p:tgtEl>
                                          <p:spTgt spid="17"/>
                                        </p:tgtEl>
                                        <p:attrNameLst>
                                          <p:attrName>ppt_y</p:attrName>
                                        </p:attrNameLst>
                                      </p:cBhvr>
                                      <p:tavLst>
                                        <p:tav tm="0">
                                          <p:val>
                                            <p:strVal val="#ppt_y"/>
                                          </p:val>
                                        </p:tav>
                                        <p:tav tm="100000">
                                          <p:val>
                                            <p:strVal val="#ppt_y"/>
                                          </p:val>
                                        </p:tav>
                                      </p:tavLst>
                                    </p:anim>
                                  </p:childTnLst>
                                </p:cTn>
                              </p:par>
                              <p:par>
                                <p:cTn id="65" presetID="2" presetClass="entr" presetSubtype="8" fill="hold" grpId="0" nodeType="withEffect">
                                  <p:stCondLst>
                                    <p:cond delay="1500"/>
                                  </p:stCondLst>
                                  <p:childTnLst>
                                    <p:set>
                                      <p:cBhvr>
                                        <p:cTn id="66" dur="1" fill="hold">
                                          <p:stCondLst>
                                            <p:cond delay="0"/>
                                          </p:stCondLst>
                                        </p:cTn>
                                        <p:tgtEl>
                                          <p:spTgt spid="5"/>
                                        </p:tgtEl>
                                        <p:attrNameLst>
                                          <p:attrName>style.visibility</p:attrName>
                                        </p:attrNameLst>
                                      </p:cBhvr>
                                      <p:to>
                                        <p:strVal val="visible"/>
                                      </p:to>
                                    </p:set>
                                    <p:anim calcmode="lin" valueType="num">
                                      <p:cBhvr additive="base">
                                        <p:cTn id="67" dur="500" fill="hold"/>
                                        <p:tgtEl>
                                          <p:spTgt spid="5"/>
                                        </p:tgtEl>
                                        <p:attrNameLst>
                                          <p:attrName>ppt_x</p:attrName>
                                        </p:attrNameLst>
                                      </p:cBhvr>
                                      <p:tavLst>
                                        <p:tav tm="0">
                                          <p:val>
                                            <p:strVal val="0-#ppt_w/2"/>
                                          </p:val>
                                        </p:tav>
                                        <p:tav tm="100000">
                                          <p:val>
                                            <p:strVal val="#ppt_x"/>
                                          </p:val>
                                        </p:tav>
                                      </p:tavLst>
                                    </p:anim>
                                    <p:anim calcmode="lin" valueType="num">
                                      <p:cBhvr additive="base">
                                        <p:cTn id="68" dur="500" fill="hold"/>
                                        <p:tgtEl>
                                          <p:spTgt spid="5"/>
                                        </p:tgtEl>
                                        <p:attrNameLst>
                                          <p:attrName>ppt_y</p:attrName>
                                        </p:attrNameLst>
                                      </p:cBhvr>
                                      <p:tavLst>
                                        <p:tav tm="0">
                                          <p:val>
                                            <p:strVal val="#ppt_y"/>
                                          </p:val>
                                        </p:tav>
                                        <p:tav tm="100000">
                                          <p:val>
                                            <p:strVal val="#ppt_y"/>
                                          </p:val>
                                        </p:tav>
                                      </p:tavLst>
                                    </p:anim>
                                  </p:childTnLst>
                                </p:cTn>
                              </p:par>
                              <p:par>
                                <p:cTn id="69" presetID="2" presetClass="entr" presetSubtype="8" fill="hold" nodeType="withEffect">
                                  <p:stCondLst>
                                    <p:cond delay="1500"/>
                                  </p:stCondLst>
                                  <p:childTnLst>
                                    <p:set>
                                      <p:cBhvr>
                                        <p:cTn id="70" dur="1" fill="hold">
                                          <p:stCondLst>
                                            <p:cond delay="0"/>
                                          </p:stCondLst>
                                        </p:cTn>
                                        <p:tgtEl>
                                          <p:spTgt spid="15"/>
                                        </p:tgtEl>
                                        <p:attrNameLst>
                                          <p:attrName>style.visibility</p:attrName>
                                        </p:attrNameLst>
                                      </p:cBhvr>
                                      <p:to>
                                        <p:strVal val="visible"/>
                                      </p:to>
                                    </p:set>
                                    <p:anim calcmode="lin" valueType="num">
                                      <p:cBhvr additive="base">
                                        <p:cTn id="71" dur="500" fill="hold"/>
                                        <p:tgtEl>
                                          <p:spTgt spid="15"/>
                                        </p:tgtEl>
                                        <p:attrNameLst>
                                          <p:attrName>ppt_x</p:attrName>
                                        </p:attrNameLst>
                                      </p:cBhvr>
                                      <p:tavLst>
                                        <p:tav tm="0">
                                          <p:val>
                                            <p:strVal val="0-#ppt_w/2"/>
                                          </p:val>
                                        </p:tav>
                                        <p:tav tm="100000">
                                          <p:val>
                                            <p:strVal val="#ppt_x"/>
                                          </p:val>
                                        </p:tav>
                                      </p:tavLst>
                                    </p:anim>
                                    <p:anim calcmode="lin" valueType="num">
                                      <p:cBhvr additive="base">
                                        <p:cTn id="72"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7"/>
                                        </p:tgtEl>
                                        <p:attrNameLst>
                                          <p:attrName>style.visibility</p:attrName>
                                        </p:attrNameLst>
                                      </p:cBhvr>
                                      <p:to>
                                        <p:strVal val="visible"/>
                                      </p:to>
                                    </p:set>
                                  </p:childTnLst>
                                </p:cTn>
                              </p:par>
                              <p:par>
                                <p:cTn id="77" presetID="1" presetClass="entr" presetSubtype="0" fill="hold" nodeType="withEffect">
                                  <p:stCondLst>
                                    <p:cond delay="500"/>
                                  </p:stCondLst>
                                  <p:childTnLst>
                                    <p:set>
                                      <p:cBhvr>
                                        <p:cTn id="78" dur="1" fill="hold">
                                          <p:stCondLst>
                                            <p:cond delay="0"/>
                                          </p:stCondLst>
                                        </p:cTn>
                                        <p:tgtEl>
                                          <p:spTgt spid="9"/>
                                        </p:tgtEl>
                                        <p:attrNameLst>
                                          <p:attrName>style.visibility</p:attrName>
                                        </p:attrNameLst>
                                      </p:cBhvr>
                                      <p:to>
                                        <p:strVal val="visible"/>
                                      </p:to>
                                    </p:set>
                                  </p:childTnLst>
                                </p:cTn>
                              </p:par>
                              <p:par>
                                <p:cTn id="79" presetID="1" presetClass="entr" presetSubtype="0" fill="hold" nodeType="withEffect">
                                  <p:stCondLst>
                                    <p:cond delay="1000"/>
                                  </p:stCondLst>
                                  <p:childTnLst>
                                    <p:set>
                                      <p:cBhvr>
                                        <p:cTn id="80" dur="1" fill="hold">
                                          <p:stCondLst>
                                            <p:cond delay="0"/>
                                          </p:stCondLst>
                                        </p:cTn>
                                        <p:tgtEl>
                                          <p:spTgt spid="13"/>
                                        </p:tgtEl>
                                        <p:attrNameLst>
                                          <p:attrName>style.visibility</p:attrName>
                                        </p:attrNameLst>
                                      </p:cBhvr>
                                      <p:to>
                                        <p:strVal val="visible"/>
                                      </p:to>
                                    </p:set>
                                  </p:childTnLst>
                                </p:cTn>
                              </p:par>
                              <p:par>
                                <p:cTn id="81" presetID="1" presetClass="entr" presetSubtype="0" fill="hold" nodeType="withEffect">
                                  <p:stCondLst>
                                    <p:cond delay="1500"/>
                                  </p:stCondLst>
                                  <p:childTnLst>
                                    <p:set>
                                      <p:cBhvr>
                                        <p:cTn id="82" dur="1" fill="hold">
                                          <p:stCondLst>
                                            <p:cond delay="0"/>
                                          </p:stCondLst>
                                        </p:cTn>
                                        <p:tgtEl>
                                          <p:spTgt spid="11"/>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60"/>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61"/>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65"/>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55"/>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56"/>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57"/>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58"/>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59"/>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54"/>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62"/>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66"/>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63"/>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67"/>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64"/>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68"/>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69">
                                            <p:txEl>
                                              <p:pRg st="0" end="0"/>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70"/>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2" presetClass="entr" presetSubtype="8" fill="hold" grpId="0" nodeType="clickEffect">
                                  <p:stCondLst>
                                    <p:cond delay="0"/>
                                  </p:stCondLst>
                                  <p:childTnLst>
                                    <p:set>
                                      <p:cBhvr>
                                        <p:cTn id="130" dur="1" fill="hold">
                                          <p:stCondLst>
                                            <p:cond delay="0"/>
                                          </p:stCondLst>
                                        </p:cTn>
                                        <p:tgtEl>
                                          <p:spTgt spid="73"/>
                                        </p:tgtEl>
                                        <p:attrNameLst>
                                          <p:attrName>style.visibility</p:attrName>
                                        </p:attrNameLst>
                                      </p:cBhvr>
                                      <p:to>
                                        <p:strVal val="visible"/>
                                      </p:to>
                                    </p:set>
                                    <p:anim calcmode="lin" valueType="num">
                                      <p:cBhvr additive="base">
                                        <p:cTn id="131" dur="500" fill="hold"/>
                                        <p:tgtEl>
                                          <p:spTgt spid="73"/>
                                        </p:tgtEl>
                                        <p:attrNameLst>
                                          <p:attrName>ppt_x</p:attrName>
                                        </p:attrNameLst>
                                      </p:cBhvr>
                                      <p:tavLst>
                                        <p:tav tm="0">
                                          <p:val>
                                            <p:strVal val="0-#ppt_w/2"/>
                                          </p:val>
                                        </p:tav>
                                        <p:tav tm="100000">
                                          <p:val>
                                            <p:strVal val="#ppt_x"/>
                                          </p:val>
                                        </p:tav>
                                      </p:tavLst>
                                    </p:anim>
                                    <p:anim calcmode="lin" valueType="num">
                                      <p:cBhvr additive="base">
                                        <p:cTn id="132" dur="500" fill="hold"/>
                                        <p:tgtEl>
                                          <p:spTgt spid="73"/>
                                        </p:tgtEl>
                                        <p:attrNameLst>
                                          <p:attrName>ppt_y</p:attrName>
                                        </p:attrNameLst>
                                      </p:cBhvr>
                                      <p:tavLst>
                                        <p:tav tm="0">
                                          <p:val>
                                            <p:strVal val="#ppt_y"/>
                                          </p:val>
                                        </p:tav>
                                        <p:tav tm="100000">
                                          <p:val>
                                            <p:strVal val="#ppt_y"/>
                                          </p:val>
                                        </p:tav>
                                      </p:tavLst>
                                    </p:anim>
                                  </p:childTnLst>
                                </p:cTn>
                              </p:par>
                              <p:par>
                                <p:cTn id="133" presetID="1" presetClass="entr" presetSubtype="0" fill="hold" nodeType="withEffect">
                                  <p:stCondLst>
                                    <p:cond delay="500"/>
                                  </p:stCondLst>
                                  <p:childTnLst>
                                    <p:set>
                                      <p:cBhvr>
                                        <p:cTn id="134" dur="1" fill="hold">
                                          <p:stCondLst>
                                            <p:cond delay="0"/>
                                          </p:stCondLst>
                                        </p:cTn>
                                        <p:tgtEl>
                                          <p:spTgt spid="97"/>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2" presetClass="entr" presetSubtype="8" fill="hold" grpId="0" nodeType="clickEffect">
                                  <p:stCondLst>
                                    <p:cond delay="0"/>
                                  </p:stCondLst>
                                  <p:childTnLst>
                                    <p:set>
                                      <p:cBhvr>
                                        <p:cTn id="138" dur="1" fill="hold">
                                          <p:stCondLst>
                                            <p:cond delay="0"/>
                                          </p:stCondLst>
                                        </p:cTn>
                                        <p:tgtEl>
                                          <p:spTgt spid="87"/>
                                        </p:tgtEl>
                                        <p:attrNameLst>
                                          <p:attrName>style.visibility</p:attrName>
                                        </p:attrNameLst>
                                      </p:cBhvr>
                                      <p:to>
                                        <p:strVal val="visible"/>
                                      </p:to>
                                    </p:set>
                                    <p:anim calcmode="lin" valueType="num">
                                      <p:cBhvr additive="base">
                                        <p:cTn id="139" dur="500" fill="hold"/>
                                        <p:tgtEl>
                                          <p:spTgt spid="87"/>
                                        </p:tgtEl>
                                        <p:attrNameLst>
                                          <p:attrName>ppt_x</p:attrName>
                                        </p:attrNameLst>
                                      </p:cBhvr>
                                      <p:tavLst>
                                        <p:tav tm="0">
                                          <p:val>
                                            <p:strVal val="0-#ppt_w/2"/>
                                          </p:val>
                                        </p:tav>
                                        <p:tav tm="100000">
                                          <p:val>
                                            <p:strVal val="#ppt_x"/>
                                          </p:val>
                                        </p:tav>
                                      </p:tavLst>
                                    </p:anim>
                                    <p:anim calcmode="lin" valueType="num">
                                      <p:cBhvr additive="base">
                                        <p:cTn id="140" dur="500" fill="hold"/>
                                        <p:tgtEl>
                                          <p:spTgt spid="87"/>
                                        </p:tgtEl>
                                        <p:attrNameLst>
                                          <p:attrName>ppt_y</p:attrName>
                                        </p:attrNameLst>
                                      </p:cBhvr>
                                      <p:tavLst>
                                        <p:tav tm="0">
                                          <p:val>
                                            <p:strVal val="#ppt_y"/>
                                          </p:val>
                                        </p:tav>
                                        <p:tav tm="100000">
                                          <p:val>
                                            <p:strVal val="#ppt_y"/>
                                          </p:val>
                                        </p:tav>
                                      </p:tavLst>
                                    </p:anim>
                                  </p:childTnLst>
                                </p:cTn>
                              </p:par>
                              <p:par>
                                <p:cTn id="141" presetID="1" presetClass="entr" presetSubtype="0" fill="hold" nodeType="withEffect">
                                  <p:stCondLst>
                                    <p:cond delay="500"/>
                                  </p:stCondLst>
                                  <p:childTnLst>
                                    <p:set>
                                      <p:cBhvr>
                                        <p:cTn id="142" dur="1" fill="hold">
                                          <p:stCondLst>
                                            <p:cond delay="0"/>
                                          </p:stCondLst>
                                        </p:cTn>
                                        <p:tgtEl>
                                          <p:spTgt spid="38"/>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2" presetClass="entr" presetSubtype="8" fill="hold" grpId="0" nodeType="clickEffect">
                                  <p:stCondLst>
                                    <p:cond delay="0"/>
                                  </p:stCondLst>
                                  <p:childTnLst>
                                    <p:set>
                                      <p:cBhvr>
                                        <p:cTn id="146" dur="1" fill="hold">
                                          <p:stCondLst>
                                            <p:cond delay="0"/>
                                          </p:stCondLst>
                                        </p:cTn>
                                        <p:tgtEl>
                                          <p:spTgt spid="92"/>
                                        </p:tgtEl>
                                        <p:attrNameLst>
                                          <p:attrName>style.visibility</p:attrName>
                                        </p:attrNameLst>
                                      </p:cBhvr>
                                      <p:to>
                                        <p:strVal val="visible"/>
                                      </p:to>
                                    </p:set>
                                    <p:anim calcmode="lin" valueType="num">
                                      <p:cBhvr additive="base">
                                        <p:cTn id="147" dur="500" fill="hold"/>
                                        <p:tgtEl>
                                          <p:spTgt spid="92"/>
                                        </p:tgtEl>
                                        <p:attrNameLst>
                                          <p:attrName>ppt_x</p:attrName>
                                        </p:attrNameLst>
                                      </p:cBhvr>
                                      <p:tavLst>
                                        <p:tav tm="0">
                                          <p:val>
                                            <p:strVal val="0-#ppt_w/2"/>
                                          </p:val>
                                        </p:tav>
                                        <p:tav tm="100000">
                                          <p:val>
                                            <p:strVal val="#ppt_x"/>
                                          </p:val>
                                        </p:tav>
                                      </p:tavLst>
                                    </p:anim>
                                    <p:anim calcmode="lin" valueType="num">
                                      <p:cBhvr additive="base">
                                        <p:cTn id="148" dur="500" fill="hold"/>
                                        <p:tgtEl>
                                          <p:spTgt spid="92"/>
                                        </p:tgtEl>
                                        <p:attrNameLst>
                                          <p:attrName>ppt_y</p:attrName>
                                        </p:attrNameLst>
                                      </p:cBhvr>
                                      <p:tavLst>
                                        <p:tav tm="0">
                                          <p:val>
                                            <p:strVal val="#ppt_y"/>
                                          </p:val>
                                        </p:tav>
                                        <p:tav tm="100000">
                                          <p:val>
                                            <p:strVal val="#ppt_y"/>
                                          </p:val>
                                        </p:tav>
                                      </p:tavLst>
                                    </p:anim>
                                  </p:childTnLst>
                                </p:cTn>
                              </p:par>
                              <p:par>
                                <p:cTn id="149" presetID="1" presetClass="entr" presetSubtype="0" fill="hold" nodeType="withEffect">
                                  <p:stCondLst>
                                    <p:cond delay="500"/>
                                  </p:stCondLst>
                                  <p:childTnLst>
                                    <p:set>
                                      <p:cBhvr>
                                        <p:cTn id="150" dur="1" fill="hold">
                                          <p:stCondLst>
                                            <p:cond delay="0"/>
                                          </p:stCondLst>
                                        </p:cTn>
                                        <p:tgtEl>
                                          <p:spTgt spid="95"/>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2" presetClass="entr" presetSubtype="8" fill="hold" grpId="0" nodeType="clickEffect">
                                  <p:stCondLst>
                                    <p:cond delay="0"/>
                                  </p:stCondLst>
                                  <p:childTnLst>
                                    <p:set>
                                      <p:cBhvr>
                                        <p:cTn id="154" dur="1" fill="hold">
                                          <p:stCondLst>
                                            <p:cond delay="0"/>
                                          </p:stCondLst>
                                        </p:cTn>
                                        <p:tgtEl>
                                          <p:spTgt spid="72"/>
                                        </p:tgtEl>
                                        <p:attrNameLst>
                                          <p:attrName>style.visibility</p:attrName>
                                        </p:attrNameLst>
                                      </p:cBhvr>
                                      <p:to>
                                        <p:strVal val="visible"/>
                                      </p:to>
                                    </p:set>
                                    <p:anim calcmode="lin" valueType="num">
                                      <p:cBhvr additive="base">
                                        <p:cTn id="155" dur="500" fill="hold"/>
                                        <p:tgtEl>
                                          <p:spTgt spid="72"/>
                                        </p:tgtEl>
                                        <p:attrNameLst>
                                          <p:attrName>ppt_x</p:attrName>
                                        </p:attrNameLst>
                                      </p:cBhvr>
                                      <p:tavLst>
                                        <p:tav tm="0">
                                          <p:val>
                                            <p:strVal val="0-#ppt_w/2"/>
                                          </p:val>
                                        </p:tav>
                                        <p:tav tm="100000">
                                          <p:val>
                                            <p:strVal val="#ppt_x"/>
                                          </p:val>
                                        </p:tav>
                                      </p:tavLst>
                                    </p:anim>
                                    <p:anim calcmode="lin" valueType="num">
                                      <p:cBhvr additive="base">
                                        <p:cTn id="156" dur="500" fill="hold"/>
                                        <p:tgtEl>
                                          <p:spTgt spid="72"/>
                                        </p:tgtEl>
                                        <p:attrNameLst>
                                          <p:attrName>ppt_y</p:attrName>
                                        </p:attrNameLst>
                                      </p:cBhvr>
                                      <p:tavLst>
                                        <p:tav tm="0">
                                          <p:val>
                                            <p:strVal val="#ppt_y"/>
                                          </p:val>
                                        </p:tav>
                                        <p:tav tm="100000">
                                          <p:val>
                                            <p:strVal val="#ppt_y"/>
                                          </p:val>
                                        </p:tav>
                                      </p:tavLst>
                                    </p:anim>
                                  </p:childTnLst>
                                </p:cTn>
                              </p:par>
                              <p:par>
                                <p:cTn id="157" presetID="2" presetClass="entr" presetSubtype="8" fill="hold" nodeType="withEffect">
                                  <p:stCondLst>
                                    <p:cond delay="0"/>
                                  </p:stCondLst>
                                  <p:childTnLst>
                                    <p:set>
                                      <p:cBhvr>
                                        <p:cTn id="158" dur="1" fill="hold">
                                          <p:stCondLst>
                                            <p:cond delay="0"/>
                                          </p:stCondLst>
                                        </p:cTn>
                                        <p:tgtEl>
                                          <p:spTgt spid="79"/>
                                        </p:tgtEl>
                                        <p:attrNameLst>
                                          <p:attrName>style.visibility</p:attrName>
                                        </p:attrNameLst>
                                      </p:cBhvr>
                                      <p:to>
                                        <p:strVal val="visible"/>
                                      </p:to>
                                    </p:set>
                                    <p:anim calcmode="lin" valueType="num">
                                      <p:cBhvr additive="base">
                                        <p:cTn id="159" dur="500" fill="hold"/>
                                        <p:tgtEl>
                                          <p:spTgt spid="79"/>
                                        </p:tgtEl>
                                        <p:attrNameLst>
                                          <p:attrName>ppt_x</p:attrName>
                                        </p:attrNameLst>
                                      </p:cBhvr>
                                      <p:tavLst>
                                        <p:tav tm="0">
                                          <p:val>
                                            <p:strVal val="0-#ppt_w/2"/>
                                          </p:val>
                                        </p:tav>
                                        <p:tav tm="100000">
                                          <p:val>
                                            <p:strVal val="#ppt_x"/>
                                          </p:val>
                                        </p:tav>
                                      </p:tavLst>
                                    </p:anim>
                                    <p:anim calcmode="lin" valueType="num">
                                      <p:cBhvr additive="base">
                                        <p:cTn id="160" dur="500" fill="hold"/>
                                        <p:tgtEl>
                                          <p:spTgt spid="79"/>
                                        </p:tgtEl>
                                        <p:attrNameLst>
                                          <p:attrName>ppt_y</p:attrName>
                                        </p:attrNameLst>
                                      </p:cBhvr>
                                      <p:tavLst>
                                        <p:tav tm="0">
                                          <p:val>
                                            <p:strVal val="#ppt_y"/>
                                          </p:val>
                                        </p:tav>
                                        <p:tav tm="100000">
                                          <p:val>
                                            <p:strVal val="#ppt_y"/>
                                          </p:val>
                                        </p:tav>
                                      </p:tavLst>
                                    </p:anim>
                                  </p:childTnLst>
                                </p:cTn>
                              </p:par>
                              <p:par>
                                <p:cTn id="161" presetID="2" presetClass="entr" presetSubtype="8" fill="hold" grpId="0" nodeType="withEffect">
                                  <p:stCondLst>
                                    <p:cond delay="1000"/>
                                  </p:stCondLst>
                                  <p:childTnLst>
                                    <p:set>
                                      <p:cBhvr>
                                        <p:cTn id="162" dur="1" fill="hold">
                                          <p:stCondLst>
                                            <p:cond delay="0"/>
                                          </p:stCondLst>
                                        </p:cTn>
                                        <p:tgtEl>
                                          <p:spTgt spid="86"/>
                                        </p:tgtEl>
                                        <p:attrNameLst>
                                          <p:attrName>style.visibility</p:attrName>
                                        </p:attrNameLst>
                                      </p:cBhvr>
                                      <p:to>
                                        <p:strVal val="visible"/>
                                      </p:to>
                                    </p:set>
                                    <p:anim calcmode="lin" valueType="num">
                                      <p:cBhvr additive="base">
                                        <p:cTn id="163" dur="500" fill="hold"/>
                                        <p:tgtEl>
                                          <p:spTgt spid="86"/>
                                        </p:tgtEl>
                                        <p:attrNameLst>
                                          <p:attrName>ppt_x</p:attrName>
                                        </p:attrNameLst>
                                      </p:cBhvr>
                                      <p:tavLst>
                                        <p:tav tm="0">
                                          <p:val>
                                            <p:strVal val="0-#ppt_w/2"/>
                                          </p:val>
                                        </p:tav>
                                        <p:tav tm="100000">
                                          <p:val>
                                            <p:strVal val="#ppt_x"/>
                                          </p:val>
                                        </p:tav>
                                      </p:tavLst>
                                    </p:anim>
                                    <p:anim calcmode="lin" valueType="num">
                                      <p:cBhvr additive="base">
                                        <p:cTn id="164" dur="500" fill="hold"/>
                                        <p:tgtEl>
                                          <p:spTgt spid="86"/>
                                        </p:tgtEl>
                                        <p:attrNameLst>
                                          <p:attrName>ppt_y</p:attrName>
                                        </p:attrNameLst>
                                      </p:cBhvr>
                                      <p:tavLst>
                                        <p:tav tm="0">
                                          <p:val>
                                            <p:strVal val="#ppt_y"/>
                                          </p:val>
                                        </p:tav>
                                        <p:tav tm="100000">
                                          <p:val>
                                            <p:strVal val="#ppt_y"/>
                                          </p:val>
                                        </p:tav>
                                      </p:tavLst>
                                    </p:anim>
                                  </p:childTnLst>
                                </p:cTn>
                              </p:par>
                              <p:par>
                                <p:cTn id="165" presetID="2" presetClass="entr" presetSubtype="8" fill="hold" nodeType="withEffect">
                                  <p:stCondLst>
                                    <p:cond delay="1000"/>
                                  </p:stCondLst>
                                  <p:childTnLst>
                                    <p:set>
                                      <p:cBhvr>
                                        <p:cTn id="166" dur="1" fill="hold">
                                          <p:stCondLst>
                                            <p:cond delay="0"/>
                                          </p:stCondLst>
                                        </p:cTn>
                                        <p:tgtEl>
                                          <p:spTgt spid="89"/>
                                        </p:tgtEl>
                                        <p:attrNameLst>
                                          <p:attrName>style.visibility</p:attrName>
                                        </p:attrNameLst>
                                      </p:cBhvr>
                                      <p:to>
                                        <p:strVal val="visible"/>
                                      </p:to>
                                    </p:set>
                                    <p:anim calcmode="lin" valueType="num">
                                      <p:cBhvr additive="base">
                                        <p:cTn id="167" dur="500" fill="hold"/>
                                        <p:tgtEl>
                                          <p:spTgt spid="89"/>
                                        </p:tgtEl>
                                        <p:attrNameLst>
                                          <p:attrName>ppt_x</p:attrName>
                                        </p:attrNameLst>
                                      </p:cBhvr>
                                      <p:tavLst>
                                        <p:tav tm="0">
                                          <p:val>
                                            <p:strVal val="0-#ppt_w/2"/>
                                          </p:val>
                                        </p:tav>
                                        <p:tav tm="100000">
                                          <p:val>
                                            <p:strVal val="#ppt_x"/>
                                          </p:val>
                                        </p:tav>
                                      </p:tavLst>
                                    </p:anim>
                                    <p:anim calcmode="lin" valueType="num">
                                      <p:cBhvr additive="base">
                                        <p:cTn id="168" dur="500" fill="hold"/>
                                        <p:tgtEl>
                                          <p:spTgt spid="89"/>
                                        </p:tgtEl>
                                        <p:attrNameLst>
                                          <p:attrName>ppt_y</p:attrName>
                                        </p:attrNameLst>
                                      </p:cBhvr>
                                      <p:tavLst>
                                        <p:tav tm="0">
                                          <p:val>
                                            <p:strVal val="#ppt_y"/>
                                          </p:val>
                                        </p:tav>
                                        <p:tav tm="100000">
                                          <p:val>
                                            <p:strVal val="#ppt_y"/>
                                          </p:val>
                                        </p:tav>
                                      </p:tavLst>
                                    </p:anim>
                                  </p:childTnLst>
                                </p:cTn>
                              </p:par>
                              <p:par>
                                <p:cTn id="169" presetID="2" presetClass="entr" presetSubtype="8" fill="hold" grpId="0" nodeType="withEffect">
                                  <p:stCondLst>
                                    <p:cond delay="1500"/>
                                  </p:stCondLst>
                                  <p:childTnLst>
                                    <p:set>
                                      <p:cBhvr>
                                        <p:cTn id="170" dur="1" fill="hold">
                                          <p:stCondLst>
                                            <p:cond delay="0"/>
                                          </p:stCondLst>
                                        </p:cTn>
                                        <p:tgtEl>
                                          <p:spTgt spid="71"/>
                                        </p:tgtEl>
                                        <p:attrNameLst>
                                          <p:attrName>style.visibility</p:attrName>
                                        </p:attrNameLst>
                                      </p:cBhvr>
                                      <p:to>
                                        <p:strVal val="visible"/>
                                      </p:to>
                                    </p:set>
                                    <p:anim calcmode="lin" valueType="num">
                                      <p:cBhvr additive="base">
                                        <p:cTn id="171" dur="500" fill="hold"/>
                                        <p:tgtEl>
                                          <p:spTgt spid="71"/>
                                        </p:tgtEl>
                                        <p:attrNameLst>
                                          <p:attrName>ppt_x</p:attrName>
                                        </p:attrNameLst>
                                      </p:cBhvr>
                                      <p:tavLst>
                                        <p:tav tm="0">
                                          <p:val>
                                            <p:strVal val="0-#ppt_w/2"/>
                                          </p:val>
                                        </p:tav>
                                        <p:tav tm="100000">
                                          <p:val>
                                            <p:strVal val="#ppt_x"/>
                                          </p:val>
                                        </p:tav>
                                      </p:tavLst>
                                    </p:anim>
                                    <p:anim calcmode="lin" valueType="num">
                                      <p:cBhvr additive="base">
                                        <p:cTn id="172" dur="500" fill="hold"/>
                                        <p:tgtEl>
                                          <p:spTgt spid="71"/>
                                        </p:tgtEl>
                                        <p:attrNameLst>
                                          <p:attrName>ppt_y</p:attrName>
                                        </p:attrNameLst>
                                      </p:cBhvr>
                                      <p:tavLst>
                                        <p:tav tm="0">
                                          <p:val>
                                            <p:strVal val="#ppt_y"/>
                                          </p:val>
                                        </p:tav>
                                        <p:tav tm="100000">
                                          <p:val>
                                            <p:strVal val="#ppt_y"/>
                                          </p:val>
                                        </p:tav>
                                      </p:tavLst>
                                    </p:anim>
                                  </p:childTnLst>
                                </p:cTn>
                              </p:par>
                              <p:par>
                                <p:cTn id="173" presetID="2" presetClass="entr" presetSubtype="8" fill="hold" nodeType="withEffect">
                                  <p:stCondLst>
                                    <p:cond delay="1500"/>
                                  </p:stCondLst>
                                  <p:childTnLst>
                                    <p:set>
                                      <p:cBhvr>
                                        <p:cTn id="174" dur="1" fill="hold">
                                          <p:stCondLst>
                                            <p:cond delay="0"/>
                                          </p:stCondLst>
                                        </p:cTn>
                                        <p:tgtEl>
                                          <p:spTgt spid="78"/>
                                        </p:tgtEl>
                                        <p:attrNameLst>
                                          <p:attrName>style.visibility</p:attrName>
                                        </p:attrNameLst>
                                      </p:cBhvr>
                                      <p:to>
                                        <p:strVal val="visible"/>
                                      </p:to>
                                    </p:set>
                                    <p:anim calcmode="lin" valueType="num">
                                      <p:cBhvr additive="base">
                                        <p:cTn id="175" dur="500" fill="hold"/>
                                        <p:tgtEl>
                                          <p:spTgt spid="78"/>
                                        </p:tgtEl>
                                        <p:attrNameLst>
                                          <p:attrName>ppt_x</p:attrName>
                                        </p:attrNameLst>
                                      </p:cBhvr>
                                      <p:tavLst>
                                        <p:tav tm="0">
                                          <p:val>
                                            <p:strVal val="0-#ppt_w/2"/>
                                          </p:val>
                                        </p:tav>
                                        <p:tav tm="100000">
                                          <p:val>
                                            <p:strVal val="#ppt_x"/>
                                          </p:val>
                                        </p:tav>
                                      </p:tavLst>
                                    </p:anim>
                                    <p:anim calcmode="lin" valueType="num">
                                      <p:cBhvr additive="base">
                                        <p:cTn id="176" dur="500" fill="hold"/>
                                        <p:tgtEl>
                                          <p:spTgt spid="7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49" grpId="0"/>
      <p:bldP spid="50" grpId="0"/>
      <p:bldP spid="51" grpId="0"/>
      <p:bldP spid="52" grpId="0"/>
      <p:bldP spid="53" grpId="0"/>
      <p:bldP spid="18" grpId="0" animBg="1"/>
      <p:bldP spid="23" grpId="0"/>
      <p:bldP spid="24" grpId="0"/>
      <p:bldP spid="25" grpId="0"/>
      <p:bldP spid="26" grpId="0"/>
      <p:bldP spid="4" grpId="0"/>
      <p:bldP spid="5" grpId="0" animBg="1"/>
      <p:bldP spid="30" grpId="0" animBg="1"/>
      <p:bldP spid="31" grpId="0" animBg="1"/>
      <p:bldP spid="54" grpId="0"/>
      <p:bldP spid="55" grpId="0"/>
      <p:bldP spid="56" grpId="0"/>
      <p:bldP spid="57" grpId="0"/>
      <p:bldP spid="58" grpId="0"/>
      <p:bldP spid="59" grpId="0"/>
      <p:bldP spid="60" grpId="0" animBg="1"/>
      <p:bldP spid="65" grpId="0"/>
      <p:bldP spid="66" grpId="0"/>
      <p:bldP spid="67" grpId="0"/>
      <p:bldP spid="68" grpId="0"/>
      <p:bldP spid="70" grpId="0"/>
      <p:bldP spid="71" grpId="0" animBg="1"/>
      <p:bldP spid="72" grpId="0" animBg="1"/>
      <p:bldP spid="73" grpId="0" animBg="1"/>
      <p:bldP spid="86" grpId="0" animBg="1"/>
      <p:bldP spid="87" grpId="0" animBg="1"/>
      <p:bldP spid="9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Fixed / Static Partitions(Conti..)</a:t>
            </a:r>
          </a:p>
        </p:txBody>
      </p:sp>
      <p:sp>
        <p:nvSpPr>
          <p:cNvPr id="3" name="Content Placeholder 2"/>
          <p:cNvSpPr>
            <a:spLocks noGrp="1"/>
          </p:cNvSpPr>
          <p:nvPr>
            <p:ph idx="1"/>
          </p:nvPr>
        </p:nvSpPr>
        <p:spPr/>
        <p:txBody>
          <a:bodyPr/>
          <a:lstStyle/>
          <a:p>
            <a:r>
              <a:rPr lang="en-US" b="1" dirty="0"/>
              <a:t>Advantages</a:t>
            </a:r>
          </a:p>
          <a:p>
            <a:pPr lvl="1"/>
            <a:r>
              <a:rPr lang="en-US" dirty="0"/>
              <a:t>Implementation is simple</a:t>
            </a:r>
          </a:p>
          <a:p>
            <a:endParaRPr lang="en-US" dirty="0">
              <a:solidFill>
                <a:srgbClr val="FF0000"/>
              </a:solidFill>
            </a:endParaRPr>
          </a:p>
          <a:p>
            <a:r>
              <a:rPr lang="en-US" b="1" dirty="0"/>
              <a:t>Disadvantages</a:t>
            </a:r>
          </a:p>
          <a:p>
            <a:pPr lvl="1"/>
            <a:r>
              <a:rPr lang="en-US" dirty="0">
                <a:solidFill>
                  <a:schemeClr val="accent6"/>
                </a:solidFill>
              </a:rPr>
              <a:t>Degree of multiprogramming is fixed. </a:t>
            </a:r>
            <a:r>
              <a:rPr lang="en-US" dirty="0"/>
              <a:t>The number of maximum possible processes that can be executed simultaneously cannot be changed.</a:t>
            </a:r>
          </a:p>
          <a:p>
            <a:pPr lvl="1"/>
            <a:r>
              <a:rPr lang="en-US" dirty="0"/>
              <a:t>Partition are of fixed sized. So, any space in partition not used by process is wasted. This is called </a:t>
            </a:r>
            <a:r>
              <a:rPr lang="en-US" dirty="0">
                <a:solidFill>
                  <a:schemeClr val="accent6"/>
                </a:solidFill>
              </a:rPr>
              <a:t>internal fragmentation.</a:t>
            </a:r>
          </a:p>
          <a:p>
            <a:endParaRPr lang="en-US" dirty="0"/>
          </a:p>
        </p:txBody>
      </p:sp>
    </p:spTree>
    <p:extLst>
      <p:ext uri="{BB962C8B-B14F-4D97-AF65-F5344CB8AC3E}">
        <p14:creationId xmlns:p14="http://schemas.microsoft.com/office/powerpoint/2010/main" val="4003655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lstStyle/>
          <a:p>
            <a:r>
              <a:rPr lang="en-US" dirty="0"/>
              <a:t>Dynamic / Variable Partition</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3.1.2</a:t>
            </a:r>
          </a:p>
        </p:txBody>
      </p:sp>
    </p:spTree>
    <p:extLst>
      <p:ext uri="{BB962C8B-B14F-4D97-AF65-F5344CB8AC3E}">
        <p14:creationId xmlns:p14="http://schemas.microsoft.com/office/powerpoint/2010/main" val="21428141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Dynamic / Variable Partitions(Conti..)</a:t>
            </a:r>
          </a:p>
        </p:txBody>
      </p:sp>
      <p:sp>
        <p:nvSpPr>
          <p:cNvPr id="3" name="Content Placeholder 2"/>
          <p:cNvSpPr>
            <a:spLocks noGrp="1"/>
          </p:cNvSpPr>
          <p:nvPr>
            <p:ph idx="1"/>
          </p:nvPr>
        </p:nvSpPr>
        <p:spPr/>
        <p:txBody>
          <a:bodyPr/>
          <a:lstStyle/>
          <a:p>
            <a:r>
              <a:rPr lang="en-US" dirty="0"/>
              <a:t>Initially, the </a:t>
            </a:r>
            <a:r>
              <a:rPr lang="en-US" dirty="0">
                <a:solidFill>
                  <a:schemeClr val="accent6"/>
                </a:solidFill>
              </a:rPr>
              <a:t>entire memory</a:t>
            </a:r>
            <a:r>
              <a:rPr lang="en-US" dirty="0">
                <a:solidFill>
                  <a:srgbClr val="FF0000"/>
                </a:solidFill>
              </a:rPr>
              <a:t> </a:t>
            </a:r>
            <a:r>
              <a:rPr lang="en-US" dirty="0"/>
              <a:t>is treated as </a:t>
            </a:r>
            <a:r>
              <a:rPr lang="en-US" dirty="0">
                <a:solidFill>
                  <a:schemeClr val="accent6"/>
                </a:solidFill>
              </a:rPr>
              <a:t>single fixed partition</a:t>
            </a:r>
            <a:r>
              <a:rPr lang="en-US" dirty="0"/>
              <a:t>. </a:t>
            </a:r>
          </a:p>
          <a:p>
            <a:r>
              <a:rPr lang="en-US" dirty="0"/>
              <a:t>Whenever, any process enters in system, a </a:t>
            </a:r>
            <a:r>
              <a:rPr lang="en-US" dirty="0">
                <a:solidFill>
                  <a:schemeClr val="accent6"/>
                </a:solidFill>
              </a:rPr>
              <a:t>chunk free memory </a:t>
            </a:r>
            <a:r>
              <a:rPr lang="en-US" dirty="0"/>
              <a:t>big enough to fit process is </a:t>
            </a:r>
            <a:r>
              <a:rPr lang="en-US" dirty="0">
                <a:solidFill>
                  <a:schemeClr val="accent6"/>
                </a:solidFill>
              </a:rPr>
              <a:t>found</a:t>
            </a:r>
            <a:r>
              <a:rPr lang="en-US" dirty="0"/>
              <a:t> and </a:t>
            </a:r>
            <a:r>
              <a:rPr lang="en-US" dirty="0">
                <a:solidFill>
                  <a:schemeClr val="accent6"/>
                </a:solidFill>
              </a:rPr>
              <a:t>allocated</a:t>
            </a:r>
            <a:r>
              <a:rPr lang="en-US" dirty="0"/>
              <a:t>. The </a:t>
            </a:r>
            <a:r>
              <a:rPr lang="en-US" dirty="0">
                <a:solidFill>
                  <a:schemeClr val="accent6"/>
                </a:solidFill>
              </a:rPr>
              <a:t>remaining space </a:t>
            </a:r>
            <a:r>
              <a:rPr lang="en-US" dirty="0"/>
              <a:t>is treated as </a:t>
            </a:r>
            <a:r>
              <a:rPr lang="en-US" dirty="0">
                <a:solidFill>
                  <a:schemeClr val="accent6"/>
                </a:solidFill>
              </a:rPr>
              <a:t>another free partition</a:t>
            </a:r>
            <a:r>
              <a:rPr lang="en-US" dirty="0"/>
              <a:t>.</a:t>
            </a:r>
          </a:p>
          <a:p>
            <a:r>
              <a:rPr lang="en-US" dirty="0"/>
              <a:t>If enough free </a:t>
            </a:r>
            <a:r>
              <a:rPr lang="en-US" dirty="0">
                <a:solidFill>
                  <a:schemeClr val="accent6"/>
                </a:solidFill>
              </a:rPr>
              <a:t>memory</a:t>
            </a:r>
            <a:r>
              <a:rPr lang="en-US" dirty="0"/>
              <a:t> is </a:t>
            </a:r>
            <a:r>
              <a:rPr lang="en-US" dirty="0">
                <a:solidFill>
                  <a:schemeClr val="accent6"/>
                </a:solidFill>
              </a:rPr>
              <a:t>not available</a:t>
            </a:r>
            <a:r>
              <a:rPr lang="en-US" dirty="0"/>
              <a:t>, then process needs to </a:t>
            </a:r>
            <a:r>
              <a:rPr lang="en-US" dirty="0">
                <a:solidFill>
                  <a:schemeClr val="accent6"/>
                </a:solidFill>
              </a:rPr>
              <a:t>wait</a:t>
            </a:r>
            <a:r>
              <a:rPr lang="en-US" dirty="0"/>
              <a:t> until </a:t>
            </a:r>
            <a:r>
              <a:rPr lang="en-US" dirty="0">
                <a:solidFill>
                  <a:schemeClr val="accent6"/>
                </a:solidFill>
              </a:rPr>
              <a:t>required memory </a:t>
            </a:r>
            <a:r>
              <a:rPr lang="en-US" dirty="0"/>
              <a:t>is </a:t>
            </a:r>
            <a:r>
              <a:rPr lang="en-US" dirty="0">
                <a:solidFill>
                  <a:schemeClr val="accent6"/>
                </a:solidFill>
              </a:rPr>
              <a:t>available</a:t>
            </a:r>
            <a:r>
              <a:rPr lang="en-US" dirty="0"/>
              <a:t>. </a:t>
            </a:r>
          </a:p>
          <a:p>
            <a:r>
              <a:rPr lang="en-US" dirty="0"/>
              <a:t>When </a:t>
            </a:r>
            <a:r>
              <a:rPr lang="en-US" dirty="0">
                <a:solidFill>
                  <a:schemeClr val="accent6"/>
                </a:solidFill>
              </a:rPr>
              <a:t>process</a:t>
            </a:r>
            <a:r>
              <a:rPr lang="en-US" dirty="0"/>
              <a:t> get </a:t>
            </a:r>
            <a:r>
              <a:rPr lang="en-US" dirty="0">
                <a:solidFill>
                  <a:schemeClr val="accent6"/>
                </a:solidFill>
              </a:rPr>
              <a:t>terminate</a:t>
            </a:r>
            <a:r>
              <a:rPr lang="en-US" dirty="0"/>
              <a:t>, it </a:t>
            </a:r>
            <a:r>
              <a:rPr lang="en-US" dirty="0">
                <a:solidFill>
                  <a:schemeClr val="accent6"/>
                </a:solidFill>
              </a:rPr>
              <a:t>release space </a:t>
            </a:r>
            <a:r>
              <a:rPr lang="en-US" dirty="0"/>
              <a:t>occupied. If </a:t>
            </a:r>
            <a:r>
              <a:rPr lang="en-US" dirty="0">
                <a:solidFill>
                  <a:schemeClr val="accent6"/>
                </a:solidFill>
              </a:rPr>
              <a:t>free space </a:t>
            </a:r>
            <a:r>
              <a:rPr lang="en-US" dirty="0"/>
              <a:t>is </a:t>
            </a:r>
            <a:r>
              <a:rPr lang="en-US" dirty="0">
                <a:solidFill>
                  <a:schemeClr val="accent6"/>
                </a:solidFill>
              </a:rPr>
              <a:t>contiguous</a:t>
            </a:r>
            <a:r>
              <a:rPr lang="en-US" dirty="0"/>
              <a:t> to </a:t>
            </a:r>
            <a:r>
              <a:rPr lang="en-US" dirty="0">
                <a:solidFill>
                  <a:schemeClr val="accent6"/>
                </a:solidFill>
              </a:rPr>
              <a:t>another</a:t>
            </a:r>
            <a:r>
              <a:rPr lang="en-US" dirty="0"/>
              <a:t> free partition</a:t>
            </a:r>
            <a:r>
              <a:rPr lang="en-US" dirty="0">
                <a:solidFill>
                  <a:schemeClr val="accent6"/>
                </a:solidFill>
              </a:rPr>
              <a:t>, both free partition </a:t>
            </a:r>
            <a:r>
              <a:rPr lang="en-US" dirty="0"/>
              <a:t>are </a:t>
            </a:r>
            <a:r>
              <a:rPr lang="en-US" dirty="0">
                <a:solidFill>
                  <a:schemeClr val="accent6"/>
                </a:solidFill>
              </a:rPr>
              <a:t>clubbed</a:t>
            </a:r>
            <a:r>
              <a:rPr lang="en-US" dirty="0"/>
              <a:t> together </a:t>
            </a:r>
            <a:r>
              <a:rPr lang="en-US" dirty="0">
                <a:solidFill>
                  <a:schemeClr val="accent6"/>
                </a:solidFill>
              </a:rPr>
              <a:t>into single </a:t>
            </a:r>
            <a:r>
              <a:rPr lang="en-US" dirty="0"/>
              <a:t>free partition.</a:t>
            </a:r>
          </a:p>
          <a:p>
            <a:r>
              <a:rPr lang="en-US" dirty="0"/>
              <a:t>Figure explains working of method : </a:t>
            </a:r>
          </a:p>
          <a:p>
            <a:pPr lvl="1"/>
            <a:r>
              <a:rPr lang="en-US" dirty="0"/>
              <a:t>Only an </a:t>
            </a:r>
            <a:r>
              <a:rPr lang="en-US" dirty="0">
                <a:solidFill>
                  <a:schemeClr val="accent6"/>
                </a:solidFill>
              </a:rPr>
              <a:t>OS</a:t>
            </a:r>
            <a:r>
              <a:rPr lang="en-US" dirty="0"/>
              <a:t> has been </a:t>
            </a:r>
            <a:r>
              <a:rPr lang="en-US" dirty="0">
                <a:solidFill>
                  <a:schemeClr val="accent6"/>
                </a:solidFill>
              </a:rPr>
              <a:t>loaded</a:t>
            </a:r>
            <a:r>
              <a:rPr lang="en-US" dirty="0"/>
              <a:t> in </a:t>
            </a:r>
            <a:r>
              <a:rPr lang="en-US" dirty="0">
                <a:solidFill>
                  <a:schemeClr val="accent6"/>
                </a:solidFill>
              </a:rPr>
              <a:t>memory</a:t>
            </a:r>
            <a:r>
              <a:rPr lang="en-US" dirty="0"/>
              <a:t>.</a:t>
            </a:r>
          </a:p>
          <a:p>
            <a:pPr lvl="1"/>
            <a:r>
              <a:rPr lang="en-US" dirty="0"/>
              <a:t>If </a:t>
            </a:r>
            <a:r>
              <a:rPr lang="en-US" dirty="0">
                <a:solidFill>
                  <a:schemeClr val="accent6"/>
                </a:solidFill>
              </a:rPr>
              <a:t>new process </a:t>
            </a:r>
            <a:r>
              <a:rPr lang="en-US" dirty="0"/>
              <a:t>comes, it will </a:t>
            </a:r>
            <a:r>
              <a:rPr lang="en-US" dirty="0">
                <a:solidFill>
                  <a:schemeClr val="accent6"/>
                </a:solidFill>
              </a:rPr>
              <a:t>allocated</a:t>
            </a:r>
            <a:r>
              <a:rPr lang="en-US" dirty="0"/>
              <a:t> into </a:t>
            </a:r>
            <a:r>
              <a:rPr lang="en-US" dirty="0">
                <a:solidFill>
                  <a:schemeClr val="accent6"/>
                </a:solidFill>
              </a:rPr>
              <a:t>memory</a:t>
            </a:r>
            <a:r>
              <a:rPr lang="en-US" dirty="0"/>
              <a:t>.</a:t>
            </a:r>
          </a:p>
          <a:p>
            <a:pPr lvl="1"/>
            <a:r>
              <a:rPr lang="en-US" dirty="0"/>
              <a:t>Same if any </a:t>
            </a:r>
            <a:r>
              <a:rPr lang="en-US" dirty="0">
                <a:solidFill>
                  <a:schemeClr val="accent6"/>
                </a:solidFill>
              </a:rPr>
              <a:t>process terminates</a:t>
            </a:r>
            <a:r>
              <a:rPr lang="en-US" dirty="0"/>
              <a:t>, </a:t>
            </a:r>
            <a:r>
              <a:rPr lang="en-US" dirty="0">
                <a:solidFill>
                  <a:schemeClr val="accent6"/>
                </a:solidFill>
              </a:rPr>
              <a:t>memory</a:t>
            </a:r>
            <a:r>
              <a:rPr lang="en-US" dirty="0"/>
              <a:t> is </a:t>
            </a:r>
            <a:r>
              <a:rPr lang="en-US" dirty="0">
                <a:solidFill>
                  <a:schemeClr val="accent6"/>
                </a:solidFill>
              </a:rPr>
              <a:t>released</a:t>
            </a:r>
            <a:r>
              <a:rPr lang="en-US" dirty="0"/>
              <a:t>. </a:t>
            </a:r>
          </a:p>
        </p:txBody>
      </p:sp>
    </p:spTree>
    <p:extLst>
      <p:ext uri="{BB962C8B-B14F-4D97-AF65-F5344CB8AC3E}">
        <p14:creationId xmlns:p14="http://schemas.microsoft.com/office/powerpoint/2010/main" val="3391579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Dynamic / Variable Partitions(Conti..)</a:t>
            </a:r>
          </a:p>
        </p:txBody>
      </p:sp>
      <p:sp>
        <p:nvSpPr>
          <p:cNvPr id="3" name="Content Placeholder 2"/>
          <p:cNvSpPr>
            <a:spLocks noGrp="1"/>
          </p:cNvSpPr>
          <p:nvPr>
            <p:ph idx="1"/>
          </p:nvPr>
        </p:nvSpPr>
        <p:spPr/>
        <p:txBody>
          <a:bodyPr/>
          <a:lstStyle/>
          <a:p>
            <a:r>
              <a:rPr lang="en-US" b="1" dirty="0"/>
              <a:t>Advantages</a:t>
            </a:r>
          </a:p>
          <a:p>
            <a:pPr lvl="1"/>
            <a:r>
              <a:rPr lang="en-US" dirty="0"/>
              <a:t>Better Utilization of memory</a:t>
            </a:r>
          </a:p>
          <a:p>
            <a:pPr lvl="1"/>
            <a:r>
              <a:rPr lang="en-US" dirty="0"/>
              <a:t>No internal Fragmentation</a:t>
            </a:r>
          </a:p>
          <a:p>
            <a:pPr lvl="1"/>
            <a:r>
              <a:rPr lang="en-US" dirty="0"/>
              <a:t>Degree of multiprogramming is not fixed</a:t>
            </a:r>
          </a:p>
          <a:p>
            <a:endParaRPr lang="en-US" dirty="0">
              <a:solidFill>
                <a:srgbClr val="FF0000"/>
              </a:solidFill>
            </a:endParaRPr>
          </a:p>
          <a:p>
            <a:r>
              <a:rPr lang="en-US" b="1" dirty="0"/>
              <a:t>Disadvantages</a:t>
            </a:r>
          </a:p>
          <a:p>
            <a:pPr lvl="1"/>
            <a:r>
              <a:rPr lang="en-US" dirty="0">
                <a:solidFill>
                  <a:schemeClr val="accent6"/>
                </a:solidFill>
              </a:rPr>
              <a:t>Memory is allocated when process enters in system, and released when it terminates. This operation creates holes in memory.</a:t>
            </a:r>
          </a:p>
          <a:p>
            <a:pPr lvl="1"/>
            <a:r>
              <a:rPr lang="en-US" dirty="0"/>
              <a:t>These holes will be so small that no any processes can be loaded in it. But, total size of all holes may be big enough to hold any process. But, as memory is allocated contiguously here, these holes can't be used. This type of memory wastage is called </a:t>
            </a:r>
            <a:r>
              <a:rPr lang="en-US" dirty="0">
                <a:solidFill>
                  <a:schemeClr val="accent6"/>
                </a:solidFill>
              </a:rPr>
              <a:t>external fragmentation</a:t>
            </a:r>
            <a:r>
              <a:rPr lang="en-US" dirty="0"/>
              <a:t>.</a:t>
            </a:r>
          </a:p>
        </p:txBody>
      </p:sp>
    </p:spTree>
    <p:extLst>
      <p:ext uri="{BB962C8B-B14F-4D97-AF65-F5344CB8AC3E}">
        <p14:creationId xmlns:p14="http://schemas.microsoft.com/office/powerpoint/2010/main" val="259965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Dynamic / Variable Partitions</a:t>
            </a:r>
          </a:p>
        </p:txBody>
      </p:sp>
      <p:sp>
        <p:nvSpPr>
          <p:cNvPr id="3" name="Content Placeholder 2"/>
          <p:cNvSpPr>
            <a:spLocks noGrp="1"/>
          </p:cNvSpPr>
          <p:nvPr>
            <p:ph idx="1"/>
          </p:nvPr>
        </p:nvSpPr>
        <p:spPr/>
        <p:txBody>
          <a:bodyPr/>
          <a:lstStyle/>
          <a:p>
            <a:r>
              <a:rPr lang="en-US" dirty="0"/>
              <a:t>This method allows </a:t>
            </a:r>
            <a:r>
              <a:rPr lang="en-US" dirty="0">
                <a:solidFill>
                  <a:schemeClr val="accent6"/>
                </a:solidFill>
              </a:rPr>
              <a:t>multiple process </a:t>
            </a:r>
            <a:r>
              <a:rPr lang="en-US" dirty="0"/>
              <a:t>to </a:t>
            </a:r>
            <a:r>
              <a:rPr lang="en-US" dirty="0">
                <a:solidFill>
                  <a:schemeClr val="accent6"/>
                </a:solidFill>
              </a:rPr>
              <a:t>execute</a:t>
            </a:r>
            <a:r>
              <a:rPr lang="en-US" dirty="0"/>
              <a:t> Simultaneously.</a:t>
            </a:r>
          </a:p>
          <a:p>
            <a:r>
              <a:rPr lang="en-US" dirty="0"/>
              <a:t>The memory is shared among OS and various running process simultaneously.</a:t>
            </a:r>
          </a:p>
          <a:p>
            <a:r>
              <a:rPr lang="en-US" dirty="0"/>
              <a:t>Memory is </a:t>
            </a:r>
            <a:r>
              <a:rPr lang="en-US" dirty="0">
                <a:solidFill>
                  <a:schemeClr val="accent6"/>
                </a:solidFill>
              </a:rPr>
              <a:t>not divides </a:t>
            </a:r>
            <a:r>
              <a:rPr lang="en-US" dirty="0"/>
              <a:t>in </a:t>
            </a:r>
            <a:r>
              <a:rPr lang="en-US" dirty="0">
                <a:solidFill>
                  <a:schemeClr val="accent6"/>
                </a:solidFill>
              </a:rPr>
              <a:t>fixed</a:t>
            </a:r>
            <a:r>
              <a:rPr lang="en-US" dirty="0"/>
              <a:t> partitions. Process  allocated </a:t>
            </a:r>
            <a:r>
              <a:rPr lang="en-US" dirty="0">
                <a:solidFill>
                  <a:schemeClr val="accent6"/>
                </a:solidFill>
              </a:rPr>
              <a:t>exactly</a:t>
            </a:r>
            <a:r>
              <a:rPr lang="en-US" dirty="0"/>
              <a:t> as much </a:t>
            </a:r>
            <a:r>
              <a:rPr lang="en-US" dirty="0">
                <a:solidFill>
                  <a:schemeClr val="accent6"/>
                </a:solidFill>
              </a:rPr>
              <a:t>memory required</a:t>
            </a:r>
            <a:r>
              <a:rPr lang="en-US" dirty="0"/>
              <a:t>.</a:t>
            </a:r>
          </a:p>
        </p:txBody>
      </p:sp>
      <p:sp>
        <p:nvSpPr>
          <p:cNvPr id="6" name="TextBox 5"/>
          <p:cNvSpPr txBox="1"/>
          <p:nvPr/>
        </p:nvSpPr>
        <p:spPr>
          <a:xfrm>
            <a:off x="411329" y="2914189"/>
            <a:ext cx="1307307" cy="3128962"/>
          </a:xfrm>
          <a:prstGeom prst="rect">
            <a:avLst/>
          </a:prstGeom>
          <a:noFill/>
          <a:ln>
            <a:solidFill>
              <a:schemeClr val="tx1"/>
            </a:solidFill>
          </a:ln>
        </p:spPr>
        <p:txBody>
          <a:bodyPr wrap="square" rtlCol="0">
            <a:spAutoFit/>
          </a:bodyPr>
          <a:lstStyle/>
          <a:p>
            <a:endParaRPr lang="en-US" dirty="0">
              <a:solidFill>
                <a:srgbClr val="212121"/>
              </a:solidFill>
            </a:endParaRPr>
          </a:p>
        </p:txBody>
      </p:sp>
      <p:sp>
        <p:nvSpPr>
          <p:cNvPr id="7" name="TextBox 6"/>
          <p:cNvSpPr txBox="1"/>
          <p:nvPr/>
        </p:nvSpPr>
        <p:spPr>
          <a:xfrm>
            <a:off x="411328" y="2267399"/>
            <a:ext cx="1307309" cy="646331"/>
          </a:xfrm>
          <a:prstGeom prst="rect">
            <a:avLst/>
          </a:prstGeom>
          <a:noFill/>
          <a:ln>
            <a:solidFill>
              <a:schemeClr val="tx1"/>
            </a:solidFill>
          </a:ln>
        </p:spPr>
        <p:txBody>
          <a:bodyPr wrap="square" rtlCol="0">
            <a:spAutoFit/>
          </a:bodyPr>
          <a:lstStyle/>
          <a:p>
            <a:pPr algn="ctr"/>
            <a:r>
              <a:rPr lang="en-US" dirty="0">
                <a:solidFill>
                  <a:srgbClr val="212121"/>
                </a:solidFill>
              </a:rPr>
              <a:t>Operating System</a:t>
            </a:r>
          </a:p>
        </p:txBody>
      </p:sp>
      <p:sp>
        <p:nvSpPr>
          <p:cNvPr id="8" name="TextBox 7"/>
          <p:cNvSpPr txBox="1"/>
          <p:nvPr/>
        </p:nvSpPr>
        <p:spPr>
          <a:xfrm>
            <a:off x="411328" y="6043151"/>
            <a:ext cx="1307306" cy="369332"/>
          </a:xfrm>
          <a:prstGeom prst="rect">
            <a:avLst/>
          </a:prstGeom>
          <a:noFill/>
          <a:ln>
            <a:noFill/>
          </a:ln>
        </p:spPr>
        <p:txBody>
          <a:bodyPr wrap="square" rtlCol="0">
            <a:spAutoFit/>
          </a:bodyPr>
          <a:lstStyle/>
          <a:p>
            <a:pPr algn="ctr"/>
            <a:r>
              <a:rPr lang="en-US" dirty="0">
                <a:solidFill>
                  <a:srgbClr val="212121"/>
                </a:solidFill>
              </a:rPr>
              <a:t>Initial State</a:t>
            </a:r>
          </a:p>
        </p:txBody>
      </p:sp>
      <p:sp>
        <p:nvSpPr>
          <p:cNvPr id="9" name="TextBox 8"/>
          <p:cNvSpPr txBox="1"/>
          <p:nvPr/>
        </p:nvSpPr>
        <p:spPr>
          <a:xfrm>
            <a:off x="2418584" y="2914189"/>
            <a:ext cx="1307307" cy="3128962"/>
          </a:xfrm>
          <a:prstGeom prst="rect">
            <a:avLst/>
          </a:prstGeom>
          <a:noFill/>
          <a:ln>
            <a:solidFill>
              <a:schemeClr val="tx1"/>
            </a:solidFill>
          </a:ln>
        </p:spPr>
        <p:txBody>
          <a:bodyPr wrap="square" rtlCol="0">
            <a:spAutoFit/>
          </a:bodyPr>
          <a:lstStyle/>
          <a:p>
            <a:endParaRPr lang="en-US" dirty="0">
              <a:solidFill>
                <a:srgbClr val="212121"/>
              </a:solidFill>
            </a:endParaRPr>
          </a:p>
        </p:txBody>
      </p:sp>
      <p:sp>
        <p:nvSpPr>
          <p:cNvPr id="10" name="TextBox 9"/>
          <p:cNvSpPr txBox="1"/>
          <p:nvPr/>
        </p:nvSpPr>
        <p:spPr>
          <a:xfrm>
            <a:off x="2418583" y="2267399"/>
            <a:ext cx="1307309" cy="646331"/>
          </a:xfrm>
          <a:prstGeom prst="rect">
            <a:avLst/>
          </a:prstGeom>
          <a:noFill/>
          <a:ln>
            <a:solidFill>
              <a:schemeClr val="tx1"/>
            </a:solidFill>
          </a:ln>
        </p:spPr>
        <p:txBody>
          <a:bodyPr wrap="square" rtlCol="0">
            <a:spAutoFit/>
          </a:bodyPr>
          <a:lstStyle/>
          <a:p>
            <a:pPr algn="ctr"/>
            <a:r>
              <a:rPr lang="en-US" dirty="0">
                <a:solidFill>
                  <a:srgbClr val="212121"/>
                </a:solidFill>
              </a:rPr>
              <a:t>Operating System</a:t>
            </a:r>
          </a:p>
        </p:txBody>
      </p:sp>
      <p:sp>
        <p:nvSpPr>
          <p:cNvPr id="11" name="TextBox 10"/>
          <p:cNvSpPr txBox="1"/>
          <p:nvPr/>
        </p:nvSpPr>
        <p:spPr>
          <a:xfrm>
            <a:off x="2418583" y="6043151"/>
            <a:ext cx="1307306" cy="646331"/>
          </a:xfrm>
          <a:prstGeom prst="rect">
            <a:avLst/>
          </a:prstGeom>
          <a:noFill/>
          <a:ln>
            <a:noFill/>
          </a:ln>
        </p:spPr>
        <p:txBody>
          <a:bodyPr wrap="square" rtlCol="0">
            <a:spAutoFit/>
          </a:bodyPr>
          <a:lstStyle/>
          <a:p>
            <a:pPr algn="ctr"/>
            <a:r>
              <a:rPr lang="en-US" dirty="0">
                <a:solidFill>
                  <a:srgbClr val="212121"/>
                </a:solidFill>
              </a:rPr>
              <a:t>Process 1 - Enters</a:t>
            </a:r>
          </a:p>
        </p:txBody>
      </p:sp>
      <p:sp>
        <p:nvSpPr>
          <p:cNvPr id="12" name="TextBox 11"/>
          <p:cNvSpPr txBox="1"/>
          <p:nvPr/>
        </p:nvSpPr>
        <p:spPr>
          <a:xfrm>
            <a:off x="4400054" y="2914648"/>
            <a:ext cx="1307307" cy="3128962"/>
          </a:xfrm>
          <a:prstGeom prst="rect">
            <a:avLst/>
          </a:prstGeom>
          <a:noFill/>
          <a:ln>
            <a:solidFill>
              <a:schemeClr val="tx1"/>
            </a:solidFill>
          </a:ln>
        </p:spPr>
        <p:txBody>
          <a:bodyPr wrap="square" rtlCol="0">
            <a:spAutoFit/>
          </a:bodyPr>
          <a:lstStyle/>
          <a:p>
            <a:endParaRPr lang="en-US" dirty="0">
              <a:solidFill>
                <a:srgbClr val="212121"/>
              </a:solidFill>
            </a:endParaRPr>
          </a:p>
        </p:txBody>
      </p:sp>
      <p:sp>
        <p:nvSpPr>
          <p:cNvPr id="13" name="TextBox 12"/>
          <p:cNvSpPr txBox="1"/>
          <p:nvPr/>
        </p:nvSpPr>
        <p:spPr>
          <a:xfrm>
            <a:off x="4400053" y="2267858"/>
            <a:ext cx="1307309" cy="646331"/>
          </a:xfrm>
          <a:prstGeom prst="rect">
            <a:avLst/>
          </a:prstGeom>
          <a:noFill/>
          <a:ln>
            <a:solidFill>
              <a:schemeClr val="tx1"/>
            </a:solidFill>
          </a:ln>
        </p:spPr>
        <p:txBody>
          <a:bodyPr wrap="square" rtlCol="0">
            <a:spAutoFit/>
          </a:bodyPr>
          <a:lstStyle/>
          <a:p>
            <a:pPr algn="ctr"/>
            <a:r>
              <a:rPr lang="en-US" dirty="0">
                <a:solidFill>
                  <a:srgbClr val="212121"/>
                </a:solidFill>
              </a:rPr>
              <a:t>Operating System</a:t>
            </a:r>
          </a:p>
        </p:txBody>
      </p:sp>
      <p:sp>
        <p:nvSpPr>
          <p:cNvPr id="14" name="TextBox 13"/>
          <p:cNvSpPr txBox="1"/>
          <p:nvPr/>
        </p:nvSpPr>
        <p:spPr>
          <a:xfrm>
            <a:off x="4400053" y="6043610"/>
            <a:ext cx="1307306" cy="646331"/>
          </a:xfrm>
          <a:prstGeom prst="rect">
            <a:avLst/>
          </a:prstGeom>
          <a:noFill/>
          <a:ln>
            <a:noFill/>
          </a:ln>
        </p:spPr>
        <p:txBody>
          <a:bodyPr wrap="square" rtlCol="0">
            <a:spAutoFit/>
          </a:bodyPr>
          <a:lstStyle/>
          <a:p>
            <a:pPr algn="ctr"/>
            <a:r>
              <a:rPr lang="en-US" dirty="0">
                <a:solidFill>
                  <a:srgbClr val="212121"/>
                </a:solidFill>
              </a:rPr>
              <a:t>Process 2 - Enters </a:t>
            </a:r>
          </a:p>
        </p:txBody>
      </p:sp>
      <p:sp>
        <p:nvSpPr>
          <p:cNvPr id="15" name="TextBox 14"/>
          <p:cNvSpPr txBox="1"/>
          <p:nvPr/>
        </p:nvSpPr>
        <p:spPr>
          <a:xfrm>
            <a:off x="6381522" y="2914189"/>
            <a:ext cx="1307307" cy="3128962"/>
          </a:xfrm>
          <a:prstGeom prst="rect">
            <a:avLst/>
          </a:prstGeom>
          <a:noFill/>
          <a:ln>
            <a:solidFill>
              <a:schemeClr val="tx1"/>
            </a:solidFill>
          </a:ln>
        </p:spPr>
        <p:txBody>
          <a:bodyPr wrap="square" rtlCol="0">
            <a:spAutoFit/>
          </a:bodyPr>
          <a:lstStyle/>
          <a:p>
            <a:endParaRPr lang="en-US" dirty="0">
              <a:solidFill>
                <a:srgbClr val="212121"/>
              </a:solidFill>
            </a:endParaRPr>
          </a:p>
        </p:txBody>
      </p:sp>
      <p:sp>
        <p:nvSpPr>
          <p:cNvPr id="16" name="TextBox 15"/>
          <p:cNvSpPr txBox="1"/>
          <p:nvPr/>
        </p:nvSpPr>
        <p:spPr>
          <a:xfrm>
            <a:off x="6381521" y="2267399"/>
            <a:ext cx="1307309" cy="646331"/>
          </a:xfrm>
          <a:prstGeom prst="rect">
            <a:avLst/>
          </a:prstGeom>
          <a:noFill/>
          <a:ln>
            <a:solidFill>
              <a:schemeClr val="tx1"/>
            </a:solidFill>
          </a:ln>
        </p:spPr>
        <p:txBody>
          <a:bodyPr wrap="square" rtlCol="0">
            <a:spAutoFit/>
          </a:bodyPr>
          <a:lstStyle/>
          <a:p>
            <a:pPr algn="ctr"/>
            <a:r>
              <a:rPr lang="en-US" dirty="0">
                <a:solidFill>
                  <a:srgbClr val="212121"/>
                </a:solidFill>
              </a:rPr>
              <a:t>Operating System</a:t>
            </a:r>
          </a:p>
        </p:txBody>
      </p:sp>
      <p:sp>
        <p:nvSpPr>
          <p:cNvPr id="17" name="TextBox 16"/>
          <p:cNvSpPr txBox="1"/>
          <p:nvPr/>
        </p:nvSpPr>
        <p:spPr>
          <a:xfrm>
            <a:off x="6381521" y="6043151"/>
            <a:ext cx="1307306" cy="646331"/>
          </a:xfrm>
          <a:prstGeom prst="rect">
            <a:avLst/>
          </a:prstGeom>
          <a:noFill/>
          <a:ln>
            <a:noFill/>
          </a:ln>
        </p:spPr>
        <p:txBody>
          <a:bodyPr wrap="square" rtlCol="0">
            <a:spAutoFit/>
          </a:bodyPr>
          <a:lstStyle/>
          <a:p>
            <a:pPr algn="ctr"/>
            <a:r>
              <a:rPr lang="en-US" dirty="0">
                <a:solidFill>
                  <a:srgbClr val="212121"/>
                </a:solidFill>
              </a:rPr>
              <a:t>Process 3 - Enters</a:t>
            </a:r>
          </a:p>
        </p:txBody>
      </p:sp>
      <p:sp>
        <p:nvSpPr>
          <p:cNvPr id="19" name="TextBox 18"/>
          <p:cNvSpPr txBox="1"/>
          <p:nvPr/>
        </p:nvSpPr>
        <p:spPr>
          <a:xfrm>
            <a:off x="1664201" y="2405898"/>
            <a:ext cx="473206" cy="369332"/>
          </a:xfrm>
          <a:prstGeom prst="rect">
            <a:avLst/>
          </a:prstGeom>
          <a:noFill/>
        </p:spPr>
        <p:txBody>
          <a:bodyPr wrap="none" rtlCol="0">
            <a:spAutoFit/>
          </a:bodyPr>
          <a:lstStyle/>
          <a:p>
            <a:r>
              <a:rPr lang="en-US" dirty="0">
                <a:solidFill>
                  <a:srgbClr val="C00000"/>
                </a:solidFill>
              </a:rPr>
              <a:t>8M</a:t>
            </a:r>
          </a:p>
        </p:txBody>
      </p:sp>
      <p:sp>
        <p:nvSpPr>
          <p:cNvPr id="20" name="TextBox 19"/>
          <p:cNvSpPr txBox="1"/>
          <p:nvPr/>
        </p:nvSpPr>
        <p:spPr>
          <a:xfrm>
            <a:off x="1664201" y="3993692"/>
            <a:ext cx="587020" cy="369332"/>
          </a:xfrm>
          <a:prstGeom prst="rect">
            <a:avLst/>
          </a:prstGeom>
          <a:noFill/>
        </p:spPr>
        <p:txBody>
          <a:bodyPr wrap="none" rtlCol="0">
            <a:spAutoFit/>
          </a:bodyPr>
          <a:lstStyle/>
          <a:p>
            <a:r>
              <a:rPr lang="en-US" dirty="0">
                <a:solidFill>
                  <a:srgbClr val="C00000"/>
                </a:solidFill>
              </a:rPr>
              <a:t>56M</a:t>
            </a:r>
          </a:p>
        </p:txBody>
      </p:sp>
      <p:sp>
        <p:nvSpPr>
          <p:cNvPr id="21" name="TextBox 20"/>
          <p:cNvSpPr txBox="1"/>
          <p:nvPr/>
        </p:nvSpPr>
        <p:spPr>
          <a:xfrm>
            <a:off x="3692684" y="2405439"/>
            <a:ext cx="473206" cy="369332"/>
          </a:xfrm>
          <a:prstGeom prst="rect">
            <a:avLst/>
          </a:prstGeom>
          <a:noFill/>
        </p:spPr>
        <p:txBody>
          <a:bodyPr wrap="none" rtlCol="0">
            <a:spAutoFit/>
          </a:bodyPr>
          <a:lstStyle/>
          <a:p>
            <a:r>
              <a:rPr lang="en-US" dirty="0">
                <a:solidFill>
                  <a:srgbClr val="C00000"/>
                </a:solidFill>
              </a:rPr>
              <a:t>8M</a:t>
            </a:r>
          </a:p>
        </p:txBody>
      </p:sp>
      <p:sp>
        <p:nvSpPr>
          <p:cNvPr id="22" name="TextBox 21"/>
          <p:cNvSpPr txBox="1"/>
          <p:nvPr/>
        </p:nvSpPr>
        <p:spPr>
          <a:xfrm>
            <a:off x="5675877" y="2405439"/>
            <a:ext cx="473206" cy="369332"/>
          </a:xfrm>
          <a:prstGeom prst="rect">
            <a:avLst/>
          </a:prstGeom>
          <a:noFill/>
        </p:spPr>
        <p:txBody>
          <a:bodyPr wrap="none" rtlCol="0">
            <a:spAutoFit/>
          </a:bodyPr>
          <a:lstStyle/>
          <a:p>
            <a:r>
              <a:rPr lang="en-US" dirty="0">
                <a:solidFill>
                  <a:srgbClr val="C00000"/>
                </a:solidFill>
              </a:rPr>
              <a:t>8M</a:t>
            </a:r>
          </a:p>
        </p:txBody>
      </p:sp>
      <p:sp>
        <p:nvSpPr>
          <p:cNvPr id="23" name="TextBox 22"/>
          <p:cNvSpPr txBox="1"/>
          <p:nvPr/>
        </p:nvSpPr>
        <p:spPr>
          <a:xfrm>
            <a:off x="7626260" y="2405439"/>
            <a:ext cx="473206" cy="369332"/>
          </a:xfrm>
          <a:prstGeom prst="rect">
            <a:avLst/>
          </a:prstGeom>
          <a:noFill/>
        </p:spPr>
        <p:txBody>
          <a:bodyPr wrap="none" rtlCol="0">
            <a:spAutoFit/>
          </a:bodyPr>
          <a:lstStyle/>
          <a:p>
            <a:r>
              <a:rPr lang="en-US" dirty="0">
                <a:solidFill>
                  <a:srgbClr val="C00000"/>
                </a:solidFill>
              </a:rPr>
              <a:t>8M</a:t>
            </a:r>
          </a:p>
        </p:txBody>
      </p:sp>
      <p:sp>
        <p:nvSpPr>
          <p:cNvPr id="24" name="TextBox 23"/>
          <p:cNvSpPr txBox="1"/>
          <p:nvPr/>
        </p:nvSpPr>
        <p:spPr>
          <a:xfrm>
            <a:off x="8358892" y="2913730"/>
            <a:ext cx="1307307" cy="3128962"/>
          </a:xfrm>
          <a:prstGeom prst="rect">
            <a:avLst/>
          </a:prstGeom>
          <a:noFill/>
          <a:ln>
            <a:solidFill>
              <a:schemeClr val="tx1"/>
            </a:solidFill>
          </a:ln>
        </p:spPr>
        <p:txBody>
          <a:bodyPr wrap="square" rtlCol="0">
            <a:spAutoFit/>
          </a:bodyPr>
          <a:lstStyle/>
          <a:p>
            <a:endParaRPr lang="en-US" dirty="0">
              <a:solidFill>
                <a:srgbClr val="212121"/>
              </a:solidFill>
            </a:endParaRPr>
          </a:p>
        </p:txBody>
      </p:sp>
      <p:sp>
        <p:nvSpPr>
          <p:cNvPr id="25" name="TextBox 24"/>
          <p:cNvSpPr txBox="1"/>
          <p:nvPr/>
        </p:nvSpPr>
        <p:spPr>
          <a:xfrm>
            <a:off x="8358891" y="2266940"/>
            <a:ext cx="1307309" cy="646331"/>
          </a:xfrm>
          <a:prstGeom prst="rect">
            <a:avLst/>
          </a:prstGeom>
          <a:noFill/>
          <a:ln>
            <a:solidFill>
              <a:schemeClr val="tx1"/>
            </a:solidFill>
          </a:ln>
        </p:spPr>
        <p:txBody>
          <a:bodyPr wrap="square" rtlCol="0">
            <a:spAutoFit/>
          </a:bodyPr>
          <a:lstStyle/>
          <a:p>
            <a:pPr algn="ctr"/>
            <a:r>
              <a:rPr lang="en-US" dirty="0">
                <a:solidFill>
                  <a:srgbClr val="212121"/>
                </a:solidFill>
              </a:rPr>
              <a:t>Operating System</a:t>
            </a:r>
          </a:p>
        </p:txBody>
      </p:sp>
      <p:sp>
        <p:nvSpPr>
          <p:cNvPr id="26" name="TextBox 25"/>
          <p:cNvSpPr txBox="1"/>
          <p:nvPr/>
        </p:nvSpPr>
        <p:spPr>
          <a:xfrm>
            <a:off x="8358891" y="6042692"/>
            <a:ext cx="1307306" cy="646331"/>
          </a:xfrm>
          <a:prstGeom prst="rect">
            <a:avLst/>
          </a:prstGeom>
          <a:noFill/>
          <a:ln>
            <a:noFill/>
          </a:ln>
        </p:spPr>
        <p:txBody>
          <a:bodyPr wrap="square" rtlCol="0">
            <a:spAutoFit/>
          </a:bodyPr>
          <a:lstStyle/>
          <a:p>
            <a:pPr algn="ctr"/>
            <a:r>
              <a:rPr lang="en-US" dirty="0">
                <a:solidFill>
                  <a:srgbClr val="212121"/>
                </a:solidFill>
              </a:rPr>
              <a:t>Process 2 - terminates</a:t>
            </a:r>
          </a:p>
        </p:txBody>
      </p:sp>
      <p:sp>
        <p:nvSpPr>
          <p:cNvPr id="27" name="TextBox 26"/>
          <p:cNvSpPr txBox="1"/>
          <p:nvPr/>
        </p:nvSpPr>
        <p:spPr>
          <a:xfrm>
            <a:off x="10344457" y="2913730"/>
            <a:ext cx="1307307" cy="3128962"/>
          </a:xfrm>
          <a:prstGeom prst="rect">
            <a:avLst/>
          </a:prstGeom>
          <a:noFill/>
          <a:ln>
            <a:solidFill>
              <a:schemeClr val="tx1"/>
            </a:solidFill>
          </a:ln>
        </p:spPr>
        <p:txBody>
          <a:bodyPr wrap="square" rtlCol="0">
            <a:spAutoFit/>
          </a:bodyPr>
          <a:lstStyle/>
          <a:p>
            <a:endParaRPr lang="en-US" dirty="0">
              <a:solidFill>
                <a:srgbClr val="212121"/>
              </a:solidFill>
            </a:endParaRPr>
          </a:p>
        </p:txBody>
      </p:sp>
      <p:sp>
        <p:nvSpPr>
          <p:cNvPr id="28" name="TextBox 27"/>
          <p:cNvSpPr txBox="1"/>
          <p:nvPr/>
        </p:nvSpPr>
        <p:spPr>
          <a:xfrm>
            <a:off x="10344456" y="2266940"/>
            <a:ext cx="1307309" cy="646331"/>
          </a:xfrm>
          <a:prstGeom prst="rect">
            <a:avLst/>
          </a:prstGeom>
          <a:noFill/>
          <a:ln>
            <a:solidFill>
              <a:schemeClr val="tx1"/>
            </a:solidFill>
          </a:ln>
        </p:spPr>
        <p:txBody>
          <a:bodyPr wrap="square" rtlCol="0">
            <a:spAutoFit/>
          </a:bodyPr>
          <a:lstStyle/>
          <a:p>
            <a:pPr algn="ctr"/>
            <a:r>
              <a:rPr lang="en-US" dirty="0">
                <a:solidFill>
                  <a:srgbClr val="212121"/>
                </a:solidFill>
              </a:rPr>
              <a:t>Operating System</a:t>
            </a:r>
          </a:p>
        </p:txBody>
      </p:sp>
      <p:sp>
        <p:nvSpPr>
          <p:cNvPr id="29" name="TextBox 28"/>
          <p:cNvSpPr txBox="1"/>
          <p:nvPr/>
        </p:nvSpPr>
        <p:spPr>
          <a:xfrm>
            <a:off x="10344456" y="6042692"/>
            <a:ext cx="1307306" cy="646331"/>
          </a:xfrm>
          <a:prstGeom prst="rect">
            <a:avLst/>
          </a:prstGeom>
          <a:noFill/>
          <a:ln>
            <a:noFill/>
          </a:ln>
        </p:spPr>
        <p:txBody>
          <a:bodyPr wrap="square" rtlCol="0">
            <a:spAutoFit/>
          </a:bodyPr>
          <a:lstStyle/>
          <a:p>
            <a:pPr algn="ctr"/>
            <a:r>
              <a:rPr lang="en-US" dirty="0">
                <a:solidFill>
                  <a:srgbClr val="212121"/>
                </a:solidFill>
              </a:rPr>
              <a:t>Process 4 - Enters</a:t>
            </a:r>
          </a:p>
        </p:txBody>
      </p:sp>
      <p:sp>
        <p:nvSpPr>
          <p:cNvPr id="30" name="TextBox 29"/>
          <p:cNvSpPr txBox="1"/>
          <p:nvPr/>
        </p:nvSpPr>
        <p:spPr>
          <a:xfrm>
            <a:off x="9626826" y="2403600"/>
            <a:ext cx="473206" cy="369332"/>
          </a:xfrm>
          <a:prstGeom prst="rect">
            <a:avLst/>
          </a:prstGeom>
          <a:noFill/>
        </p:spPr>
        <p:txBody>
          <a:bodyPr wrap="none" rtlCol="0">
            <a:spAutoFit/>
          </a:bodyPr>
          <a:lstStyle/>
          <a:p>
            <a:r>
              <a:rPr lang="en-US" dirty="0">
                <a:solidFill>
                  <a:srgbClr val="C00000"/>
                </a:solidFill>
              </a:rPr>
              <a:t>8M</a:t>
            </a:r>
          </a:p>
        </p:txBody>
      </p:sp>
      <p:sp>
        <p:nvSpPr>
          <p:cNvPr id="31" name="TextBox 30"/>
          <p:cNvSpPr txBox="1"/>
          <p:nvPr/>
        </p:nvSpPr>
        <p:spPr>
          <a:xfrm>
            <a:off x="11619690" y="2403600"/>
            <a:ext cx="473206" cy="369332"/>
          </a:xfrm>
          <a:prstGeom prst="rect">
            <a:avLst/>
          </a:prstGeom>
          <a:noFill/>
        </p:spPr>
        <p:txBody>
          <a:bodyPr wrap="none" rtlCol="0">
            <a:spAutoFit/>
          </a:bodyPr>
          <a:lstStyle/>
          <a:p>
            <a:r>
              <a:rPr lang="en-US" dirty="0">
                <a:solidFill>
                  <a:srgbClr val="C00000"/>
                </a:solidFill>
              </a:rPr>
              <a:t>8M</a:t>
            </a:r>
          </a:p>
        </p:txBody>
      </p:sp>
      <p:cxnSp>
        <p:nvCxnSpPr>
          <p:cNvPr id="43" name="Straight Connector 42"/>
          <p:cNvCxnSpPr/>
          <p:nvPr/>
        </p:nvCxnSpPr>
        <p:spPr>
          <a:xfrm>
            <a:off x="2414489" y="3995663"/>
            <a:ext cx="130730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4400052" y="3993692"/>
            <a:ext cx="130730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4400052" y="4742402"/>
            <a:ext cx="130730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6381520" y="3997058"/>
            <a:ext cx="130730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6381520" y="4722563"/>
            <a:ext cx="130730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6381521" y="5631074"/>
            <a:ext cx="130730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8358891" y="3995663"/>
            <a:ext cx="130730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8358891" y="4719183"/>
            <a:ext cx="130730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8358891" y="5628810"/>
            <a:ext cx="130730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10349885" y="3962762"/>
            <a:ext cx="130730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10349885" y="4704895"/>
            <a:ext cx="130730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10344455" y="5648401"/>
            <a:ext cx="130730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10339753" y="4412296"/>
            <a:ext cx="130730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TextBox 55"/>
          <p:cNvSpPr txBox="1"/>
          <p:nvPr/>
        </p:nvSpPr>
        <p:spPr>
          <a:xfrm>
            <a:off x="2526256" y="3324966"/>
            <a:ext cx="1091966" cy="369332"/>
          </a:xfrm>
          <a:prstGeom prst="rect">
            <a:avLst/>
          </a:prstGeom>
          <a:noFill/>
        </p:spPr>
        <p:txBody>
          <a:bodyPr wrap="none" rtlCol="0">
            <a:spAutoFit/>
          </a:bodyPr>
          <a:lstStyle/>
          <a:p>
            <a:r>
              <a:rPr lang="en-US" dirty="0">
                <a:solidFill>
                  <a:srgbClr val="00B050"/>
                </a:solidFill>
              </a:rPr>
              <a:t>Process 1</a:t>
            </a:r>
          </a:p>
        </p:txBody>
      </p:sp>
      <p:sp>
        <p:nvSpPr>
          <p:cNvPr id="57" name="TextBox 56"/>
          <p:cNvSpPr txBox="1"/>
          <p:nvPr/>
        </p:nvSpPr>
        <p:spPr>
          <a:xfrm>
            <a:off x="3693390" y="3153792"/>
            <a:ext cx="587020" cy="369332"/>
          </a:xfrm>
          <a:prstGeom prst="rect">
            <a:avLst/>
          </a:prstGeom>
          <a:noFill/>
        </p:spPr>
        <p:txBody>
          <a:bodyPr wrap="none" rtlCol="0">
            <a:spAutoFit/>
          </a:bodyPr>
          <a:lstStyle/>
          <a:p>
            <a:r>
              <a:rPr lang="en-US" dirty="0">
                <a:solidFill>
                  <a:srgbClr val="C00000"/>
                </a:solidFill>
              </a:rPr>
              <a:t>20M</a:t>
            </a:r>
          </a:p>
        </p:txBody>
      </p:sp>
      <p:sp>
        <p:nvSpPr>
          <p:cNvPr id="58" name="TextBox 57"/>
          <p:cNvSpPr txBox="1"/>
          <p:nvPr/>
        </p:nvSpPr>
        <p:spPr>
          <a:xfrm>
            <a:off x="5675877" y="3153792"/>
            <a:ext cx="587020" cy="369332"/>
          </a:xfrm>
          <a:prstGeom prst="rect">
            <a:avLst/>
          </a:prstGeom>
          <a:noFill/>
        </p:spPr>
        <p:txBody>
          <a:bodyPr wrap="none" rtlCol="0">
            <a:spAutoFit/>
          </a:bodyPr>
          <a:lstStyle/>
          <a:p>
            <a:r>
              <a:rPr lang="en-US" dirty="0">
                <a:solidFill>
                  <a:srgbClr val="C00000"/>
                </a:solidFill>
              </a:rPr>
              <a:t>20M</a:t>
            </a:r>
          </a:p>
        </p:txBody>
      </p:sp>
      <p:sp>
        <p:nvSpPr>
          <p:cNvPr id="59" name="TextBox 58"/>
          <p:cNvSpPr txBox="1"/>
          <p:nvPr/>
        </p:nvSpPr>
        <p:spPr>
          <a:xfrm>
            <a:off x="7640693" y="3324966"/>
            <a:ext cx="587020" cy="369332"/>
          </a:xfrm>
          <a:prstGeom prst="rect">
            <a:avLst/>
          </a:prstGeom>
          <a:noFill/>
        </p:spPr>
        <p:txBody>
          <a:bodyPr wrap="none" rtlCol="0">
            <a:spAutoFit/>
          </a:bodyPr>
          <a:lstStyle/>
          <a:p>
            <a:r>
              <a:rPr lang="en-US" dirty="0">
                <a:solidFill>
                  <a:srgbClr val="C00000"/>
                </a:solidFill>
              </a:rPr>
              <a:t>20M</a:t>
            </a:r>
          </a:p>
        </p:txBody>
      </p:sp>
      <p:sp>
        <p:nvSpPr>
          <p:cNvPr id="60" name="TextBox 59"/>
          <p:cNvSpPr txBox="1"/>
          <p:nvPr/>
        </p:nvSpPr>
        <p:spPr>
          <a:xfrm>
            <a:off x="9626826" y="3155774"/>
            <a:ext cx="587020" cy="369332"/>
          </a:xfrm>
          <a:prstGeom prst="rect">
            <a:avLst/>
          </a:prstGeom>
          <a:noFill/>
        </p:spPr>
        <p:txBody>
          <a:bodyPr wrap="none" rtlCol="0">
            <a:spAutoFit/>
          </a:bodyPr>
          <a:lstStyle/>
          <a:p>
            <a:r>
              <a:rPr lang="en-US" dirty="0">
                <a:solidFill>
                  <a:srgbClr val="C00000"/>
                </a:solidFill>
              </a:rPr>
              <a:t>20M</a:t>
            </a:r>
          </a:p>
        </p:txBody>
      </p:sp>
      <p:sp>
        <p:nvSpPr>
          <p:cNvPr id="61" name="TextBox 60"/>
          <p:cNvSpPr txBox="1"/>
          <p:nvPr/>
        </p:nvSpPr>
        <p:spPr>
          <a:xfrm>
            <a:off x="11604980" y="3150643"/>
            <a:ext cx="587020" cy="369332"/>
          </a:xfrm>
          <a:prstGeom prst="rect">
            <a:avLst/>
          </a:prstGeom>
          <a:noFill/>
        </p:spPr>
        <p:txBody>
          <a:bodyPr wrap="none" rtlCol="0">
            <a:spAutoFit/>
          </a:bodyPr>
          <a:lstStyle/>
          <a:p>
            <a:r>
              <a:rPr lang="en-US" dirty="0">
                <a:solidFill>
                  <a:srgbClr val="C00000"/>
                </a:solidFill>
              </a:rPr>
              <a:t>20M</a:t>
            </a:r>
          </a:p>
        </p:txBody>
      </p:sp>
      <p:sp>
        <p:nvSpPr>
          <p:cNvPr id="62" name="TextBox 61"/>
          <p:cNvSpPr txBox="1"/>
          <p:nvPr/>
        </p:nvSpPr>
        <p:spPr>
          <a:xfrm>
            <a:off x="11603958" y="3991698"/>
            <a:ext cx="587020" cy="369332"/>
          </a:xfrm>
          <a:prstGeom prst="rect">
            <a:avLst/>
          </a:prstGeom>
          <a:noFill/>
        </p:spPr>
        <p:txBody>
          <a:bodyPr wrap="none" rtlCol="0">
            <a:spAutoFit/>
          </a:bodyPr>
          <a:lstStyle/>
          <a:p>
            <a:r>
              <a:rPr lang="en-US" dirty="0">
                <a:solidFill>
                  <a:srgbClr val="C00000"/>
                </a:solidFill>
              </a:rPr>
              <a:t>11M</a:t>
            </a:r>
          </a:p>
        </p:txBody>
      </p:sp>
      <p:sp>
        <p:nvSpPr>
          <p:cNvPr id="63" name="TextBox 62"/>
          <p:cNvSpPr txBox="1"/>
          <p:nvPr/>
        </p:nvSpPr>
        <p:spPr>
          <a:xfrm>
            <a:off x="11618328" y="4415125"/>
            <a:ext cx="473206" cy="369332"/>
          </a:xfrm>
          <a:prstGeom prst="rect">
            <a:avLst/>
          </a:prstGeom>
          <a:noFill/>
        </p:spPr>
        <p:txBody>
          <a:bodyPr wrap="none" rtlCol="0">
            <a:spAutoFit/>
          </a:bodyPr>
          <a:lstStyle/>
          <a:p>
            <a:r>
              <a:rPr lang="en-US" dirty="0">
                <a:solidFill>
                  <a:srgbClr val="C00000"/>
                </a:solidFill>
              </a:rPr>
              <a:t>3M</a:t>
            </a:r>
          </a:p>
        </p:txBody>
      </p:sp>
      <p:sp>
        <p:nvSpPr>
          <p:cNvPr id="64" name="TextBox 63"/>
          <p:cNvSpPr txBox="1"/>
          <p:nvPr/>
        </p:nvSpPr>
        <p:spPr>
          <a:xfrm>
            <a:off x="11603958" y="4927068"/>
            <a:ext cx="587020" cy="369332"/>
          </a:xfrm>
          <a:prstGeom prst="rect">
            <a:avLst/>
          </a:prstGeom>
          <a:noFill/>
        </p:spPr>
        <p:txBody>
          <a:bodyPr wrap="none" rtlCol="0">
            <a:spAutoFit/>
          </a:bodyPr>
          <a:lstStyle/>
          <a:p>
            <a:r>
              <a:rPr lang="en-US" dirty="0">
                <a:solidFill>
                  <a:srgbClr val="C00000"/>
                </a:solidFill>
              </a:rPr>
              <a:t>18M</a:t>
            </a:r>
          </a:p>
        </p:txBody>
      </p:sp>
      <p:sp>
        <p:nvSpPr>
          <p:cNvPr id="65" name="TextBox 64"/>
          <p:cNvSpPr txBox="1"/>
          <p:nvPr/>
        </p:nvSpPr>
        <p:spPr>
          <a:xfrm>
            <a:off x="11602955" y="5707717"/>
            <a:ext cx="473206" cy="369332"/>
          </a:xfrm>
          <a:prstGeom prst="rect">
            <a:avLst/>
          </a:prstGeom>
          <a:noFill/>
        </p:spPr>
        <p:txBody>
          <a:bodyPr wrap="none" rtlCol="0">
            <a:spAutoFit/>
          </a:bodyPr>
          <a:lstStyle/>
          <a:p>
            <a:r>
              <a:rPr lang="en-US" dirty="0">
                <a:solidFill>
                  <a:srgbClr val="C00000"/>
                </a:solidFill>
              </a:rPr>
              <a:t>4M</a:t>
            </a:r>
          </a:p>
        </p:txBody>
      </p:sp>
      <p:sp>
        <p:nvSpPr>
          <p:cNvPr id="66" name="TextBox 65"/>
          <p:cNvSpPr txBox="1"/>
          <p:nvPr/>
        </p:nvSpPr>
        <p:spPr>
          <a:xfrm>
            <a:off x="9626826" y="5745378"/>
            <a:ext cx="473206" cy="369332"/>
          </a:xfrm>
          <a:prstGeom prst="rect">
            <a:avLst/>
          </a:prstGeom>
          <a:noFill/>
        </p:spPr>
        <p:txBody>
          <a:bodyPr wrap="none" rtlCol="0">
            <a:spAutoFit/>
          </a:bodyPr>
          <a:lstStyle/>
          <a:p>
            <a:r>
              <a:rPr lang="en-US" dirty="0">
                <a:solidFill>
                  <a:srgbClr val="C00000"/>
                </a:solidFill>
              </a:rPr>
              <a:t>4M</a:t>
            </a:r>
          </a:p>
        </p:txBody>
      </p:sp>
      <p:sp>
        <p:nvSpPr>
          <p:cNvPr id="67" name="TextBox 66"/>
          <p:cNvSpPr txBox="1"/>
          <p:nvPr/>
        </p:nvSpPr>
        <p:spPr>
          <a:xfrm>
            <a:off x="7625293" y="5588210"/>
            <a:ext cx="473206" cy="369332"/>
          </a:xfrm>
          <a:prstGeom prst="rect">
            <a:avLst/>
          </a:prstGeom>
          <a:noFill/>
        </p:spPr>
        <p:txBody>
          <a:bodyPr wrap="none" rtlCol="0">
            <a:spAutoFit/>
          </a:bodyPr>
          <a:lstStyle/>
          <a:p>
            <a:r>
              <a:rPr lang="en-US" dirty="0">
                <a:solidFill>
                  <a:srgbClr val="C00000"/>
                </a:solidFill>
              </a:rPr>
              <a:t>4M</a:t>
            </a:r>
          </a:p>
        </p:txBody>
      </p:sp>
      <p:sp>
        <p:nvSpPr>
          <p:cNvPr id="68" name="TextBox 67"/>
          <p:cNvSpPr txBox="1"/>
          <p:nvPr/>
        </p:nvSpPr>
        <p:spPr>
          <a:xfrm>
            <a:off x="5670760" y="3936491"/>
            <a:ext cx="587020" cy="369332"/>
          </a:xfrm>
          <a:prstGeom prst="rect">
            <a:avLst/>
          </a:prstGeom>
          <a:noFill/>
        </p:spPr>
        <p:txBody>
          <a:bodyPr wrap="none" rtlCol="0">
            <a:spAutoFit/>
          </a:bodyPr>
          <a:lstStyle/>
          <a:p>
            <a:r>
              <a:rPr lang="en-US" dirty="0">
                <a:solidFill>
                  <a:srgbClr val="C00000"/>
                </a:solidFill>
              </a:rPr>
              <a:t>14M</a:t>
            </a:r>
          </a:p>
        </p:txBody>
      </p:sp>
      <p:sp>
        <p:nvSpPr>
          <p:cNvPr id="69" name="TextBox 68"/>
          <p:cNvSpPr txBox="1"/>
          <p:nvPr/>
        </p:nvSpPr>
        <p:spPr>
          <a:xfrm>
            <a:off x="7625293" y="4117368"/>
            <a:ext cx="587020" cy="369332"/>
          </a:xfrm>
          <a:prstGeom prst="rect">
            <a:avLst/>
          </a:prstGeom>
          <a:noFill/>
        </p:spPr>
        <p:txBody>
          <a:bodyPr wrap="none" rtlCol="0">
            <a:spAutoFit/>
          </a:bodyPr>
          <a:lstStyle/>
          <a:p>
            <a:r>
              <a:rPr lang="en-US" dirty="0">
                <a:solidFill>
                  <a:srgbClr val="C00000"/>
                </a:solidFill>
              </a:rPr>
              <a:t>14M</a:t>
            </a:r>
          </a:p>
        </p:txBody>
      </p:sp>
      <p:sp>
        <p:nvSpPr>
          <p:cNvPr id="70" name="TextBox 69"/>
          <p:cNvSpPr txBox="1"/>
          <p:nvPr/>
        </p:nvSpPr>
        <p:spPr>
          <a:xfrm>
            <a:off x="9626256" y="4189686"/>
            <a:ext cx="587020" cy="369332"/>
          </a:xfrm>
          <a:prstGeom prst="rect">
            <a:avLst/>
          </a:prstGeom>
          <a:noFill/>
        </p:spPr>
        <p:txBody>
          <a:bodyPr wrap="none" rtlCol="0">
            <a:spAutoFit/>
          </a:bodyPr>
          <a:lstStyle/>
          <a:p>
            <a:r>
              <a:rPr lang="en-US" dirty="0">
                <a:solidFill>
                  <a:srgbClr val="C00000"/>
                </a:solidFill>
              </a:rPr>
              <a:t>14M</a:t>
            </a:r>
          </a:p>
        </p:txBody>
      </p:sp>
      <p:sp>
        <p:nvSpPr>
          <p:cNvPr id="71" name="TextBox 70"/>
          <p:cNvSpPr txBox="1"/>
          <p:nvPr/>
        </p:nvSpPr>
        <p:spPr>
          <a:xfrm>
            <a:off x="9633082" y="4932180"/>
            <a:ext cx="587020" cy="369332"/>
          </a:xfrm>
          <a:prstGeom prst="rect">
            <a:avLst/>
          </a:prstGeom>
          <a:noFill/>
        </p:spPr>
        <p:txBody>
          <a:bodyPr wrap="none" rtlCol="0">
            <a:spAutoFit/>
          </a:bodyPr>
          <a:lstStyle/>
          <a:p>
            <a:r>
              <a:rPr lang="en-US" dirty="0">
                <a:solidFill>
                  <a:srgbClr val="C00000"/>
                </a:solidFill>
              </a:rPr>
              <a:t>18M</a:t>
            </a:r>
          </a:p>
        </p:txBody>
      </p:sp>
      <p:sp>
        <p:nvSpPr>
          <p:cNvPr id="72" name="TextBox 71"/>
          <p:cNvSpPr txBox="1"/>
          <p:nvPr/>
        </p:nvSpPr>
        <p:spPr>
          <a:xfrm>
            <a:off x="7625293" y="4927068"/>
            <a:ext cx="587020" cy="369332"/>
          </a:xfrm>
          <a:prstGeom prst="rect">
            <a:avLst/>
          </a:prstGeom>
          <a:noFill/>
        </p:spPr>
        <p:txBody>
          <a:bodyPr wrap="none" rtlCol="0">
            <a:spAutoFit/>
          </a:bodyPr>
          <a:lstStyle/>
          <a:p>
            <a:r>
              <a:rPr lang="en-US" dirty="0">
                <a:solidFill>
                  <a:srgbClr val="C00000"/>
                </a:solidFill>
              </a:rPr>
              <a:t>18M</a:t>
            </a:r>
          </a:p>
        </p:txBody>
      </p:sp>
      <p:sp>
        <p:nvSpPr>
          <p:cNvPr id="73" name="TextBox 72"/>
          <p:cNvSpPr txBox="1"/>
          <p:nvPr/>
        </p:nvSpPr>
        <p:spPr>
          <a:xfrm>
            <a:off x="5654179" y="5116846"/>
            <a:ext cx="587020" cy="369332"/>
          </a:xfrm>
          <a:prstGeom prst="rect">
            <a:avLst/>
          </a:prstGeom>
          <a:noFill/>
        </p:spPr>
        <p:txBody>
          <a:bodyPr wrap="none" rtlCol="0">
            <a:spAutoFit/>
          </a:bodyPr>
          <a:lstStyle/>
          <a:p>
            <a:r>
              <a:rPr lang="en-US" dirty="0">
                <a:solidFill>
                  <a:srgbClr val="C00000"/>
                </a:solidFill>
              </a:rPr>
              <a:t>22M</a:t>
            </a:r>
          </a:p>
        </p:txBody>
      </p:sp>
      <p:sp>
        <p:nvSpPr>
          <p:cNvPr id="74" name="TextBox 73"/>
          <p:cNvSpPr txBox="1"/>
          <p:nvPr/>
        </p:nvSpPr>
        <p:spPr>
          <a:xfrm>
            <a:off x="3721796" y="4557736"/>
            <a:ext cx="587020" cy="369332"/>
          </a:xfrm>
          <a:prstGeom prst="rect">
            <a:avLst/>
          </a:prstGeom>
          <a:noFill/>
        </p:spPr>
        <p:txBody>
          <a:bodyPr wrap="none" rtlCol="0">
            <a:spAutoFit/>
          </a:bodyPr>
          <a:lstStyle/>
          <a:p>
            <a:r>
              <a:rPr lang="en-US" dirty="0">
                <a:solidFill>
                  <a:srgbClr val="C00000"/>
                </a:solidFill>
              </a:rPr>
              <a:t>36M</a:t>
            </a:r>
          </a:p>
        </p:txBody>
      </p:sp>
      <p:sp>
        <p:nvSpPr>
          <p:cNvPr id="75" name="TextBox 74"/>
          <p:cNvSpPr txBox="1"/>
          <p:nvPr/>
        </p:nvSpPr>
        <p:spPr>
          <a:xfrm>
            <a:off x="4521734" y="3333903"/>
            <a:ext cx="1091966" cy="369332"/>
          </a:xfrm>
          <a:prstGeom prst="rect">
            <a:avLst/>
          </a:prstGeom>
          <a:noFill/>
        </p:spPr>
        <p:txBody>
          <a:bodyPr wrap="none" rtlCol="0">
            <a:spAutoFit/>
          </a:bodyPr>
          <a:lstStyle/>
          <a:p>
            <a:r>
              <a:rPr lang="en-US" dirty="0">
                <a:solidFill>
                  <a:srgbClr val="00B050"/>
                </a:solidFill>
              </a:rPr>
              <a:t>Process 1</a:t>
            </a:r>
          </a:p>
        </p:txBody>
      </p:sp>
      <p:sp>
        <p:nvSpPr>
          <p:cNvPr id="76" name="TextBox 75"/>
          <p:cNvSpPr txBox="1"/>
          <p:nvPr/>
        </p:nvSpPr>
        <p:spPr>
          <a:xfrm>
            <a:off x="4513204" y="4145049"/>
            <a:ext cx="1091966" cy="369332"/>
          </a:xfrm>
          <a:prstGeom prst="rect">
            <a:avLst/>
          </a:prstGeom>
          <a:noFill/>
        </p:spPr>
        <p:txBody>
          <a:bodyPr wrap="none" rtlCol="0">
            <a:spAutoFit/>
          </a:bodyPr>
          <a:lstStyle/>
          <a:p>
            <a:r>
              <a:rPr lang="en-US" dirty="0">
                <a:solidFill>
                  <a:srgbClr val="00B050"/>
                </a:solidFill>
              </a:rPr>
              <a:t>Process 2</a:t>
            </a:r>
          </a:p>
        </p:txBody>
      </p:sp>
      <p:sp>
        <p:nvSpPr>
          <p:cNvPr id="77" name="TextBox 76"/>
          <p:cNvSpPr txBox="1"/>
          <p:nvPr/>
        </p:nvSpPr>
        <p:spPr>
          <a:xfrm>
            <a:off x="6485095" y="4145049"/>
            <a:ext cx="1091966" cy="369332"/>
          </a:xfrm>
          <a:prstGeom prst="rect">
            <a:avLst/>
          </a:prstGeom>
          <a:noFill/>
        </p:spPr>
        <p:txBody>
          <a:bodyPr wrap="none" rtlCol="0">
            <a:spAutoFit/>
          </a:bodyPr>
          <a:lstStyle/>
          <a:p>
            <a:r>
              <a:rPr lang="en-US" dirty="0">
                <a:solidFill>
                  <a:srgbClr val="00B050"/>
                </a:solidFill>
              </a:rPr>
              <a:t>Process 2</a:t>
            </a:r>
          </a:p>
        </p:txBody>
      </p:sp>
      <p:sp>
        <p:nvSpPr>
          <p:cNvPr id="78" name="TextBox 77"/>
          <p:cNvSpPr txBox="1"/>
          <p:nvPr/>
        </p:nvSpPr>
        <p:spPr>
          <a:xfrm>
            <a:off x="6491622" y="3333903"/>
            <a:ext cx="1091966" cy="369332"/>
          </a:xfrm>
          <a:prstGeom prst="rect">
            <a:avLst/>
          </a:prstGeom>
          <a:noFill/>
        </p:spPr>
        <p:txBody>
          <a:bodyPr wrap="none" rtlCol="0">
            <a:spAutoFit/>
          </a:bodyPr>
          <a:lstStyle/>
          <a:p>
            <a:r>
              <a:rPr lang="en-US" dirty="0">
                <a:solidFill>
                  <a:srgbClr val="00B050"/>
                </a:solidFill>
              </a:rPr>
              <a:t>Process 1</a:t>
            </a:r>
          </a:p>
        </p:txBody>
      </p:sp>
      <p:sp>
        <p:nvSpPr>
          <p:cNvPr id="80" name="TextBox 79"/>
          <p:cNvSpPr txBox="1"/>
          <p:nvPr/>
        </p:nvSpPr>
        <p:spPr>
          <a:xfrm>
            <a:off x="8468700" y="3327152"/>
            <a:ext cx="1091966" cy="369332"/>
          </a:xfrm>
          <a:prstGeom prst="rect">
            <a:avLst/>
          </a:prstGeom>
          <a:noFill/>
        </p:spPr>
        <p:txBody>
          <a:bodyPr wrap="none" rtlCol="0">
            <a:spAutoFit/>
          </a:bodyPr>
          <a:lstStyle/>
          <a:p>
            <a:r>
              <a:rPr lang="en-US" dirty="0">
                <a:solidFill>
                  <a:srgbClr val="00B050"/>
                </a:solidFill>
              </a:rPr>
              <a:t>Process 1</a:t>
            </a:r>
          </a:p>
        </p:txBody>
      </p:sp>
      <p:sp>
        <p:nvSpPr>
          <p:cNvPr id="81" name="TextBox 80"/>
          <p:cNvSpPr txBox="1"/>
          <p:nvPr/>
        </p:nvSpPr>
        <p:spPr>
          <a:xfrm>
            <a:off x="10447424" y="3149237"/>
            <a:ext cx="1091966" cy="369332"/>
          </a:xfrm>
          <a:prstGeom prst="rect">
            <a:avLst/>
          </a:prstGeom>
          <a:noFill/>
        </p:spPr>
        <p:txBody>
          <a:bodyPr wrap="none" rtlCol="0">
            <a:spAutoFit/>
          </a:bodyPr>
          <a:lstStyle/>
          <a:p>
            <a:r>
              <a:rPr lang="en-US" dirty="0">
                <a:solidFill>
                  <a:srgbClr val="00B050"/>
                </a:solidFill>
              </a:rPr>
              <a:t>Process 1</a:t>
            </a:r>
          </a:p>
        </p:txBody>
      </p:sp>
      <p:sp>
        <p:nvSpPr>
          <p:cNvPr id="82" name="TextBox 81"/>
          <p:cNvSpPr txBox="1"/>
          <p:nvPr/>
        </p:nvSpPr>
        <p:spPr>
          <a:xfrm>
            <a:off x="10457556" y="4002837"/>
            <a:ext cx="1091966" cy="369332"/>
          </a:xfrm>
          <a:prstGeom prst="rect">
            <a:avLst/>
          </a:prstGeom>
          <a:noFill/>
        </p:spPr>
        <p:txBody>
          <a:bodyPr wrap="none" rtlCol="0">
            <a:spAutoFit/>
          </a:bodyPr>
          <a:lstStyle/>
          <a:p>
            <a:r>
              <a:rPr lang="en-US" dirty="0">
                <a:solidFill>
                  <a:srgbClr val="00B050"/>
                </a:solidFill>
              </a:rPr>
              <a:t>Process 4</a:t>
            </a:r>
          </a:p>
        </p:txBody>
      </p:sp>
      <p:sp>
        <p:nvSpPr>
          <p:cNvPr id="83" name="TextBox 82"/>
          <p:cNvSpPr txBox="1"/>
          <p:nvPr/>
        </p:nvSpPr>
        <p:spPr>
          <a:xfrm>
            <a:off x="10457556" y="4927068"/>
            <a:ext cx="1091966" cy="369332"/>
          </a:xfrm>
          <a:prstGeom prst="rect">
            <a:avLst/>
          </a:prstGeom>
          <a:noFill/>
        </p:spPr>
        <p:txBody>
          <a:bodyPr wrap="none" rtlCol="0">
            <a:spAutoFit/>
          </a:bodyPr>
          <a:lstStyle/>
          <a:p>
            <a:r>
              <a:rPr lang="en-US" dirty="0">
                <a:solidFill>
                  <a:srgbClr val="00B050"/>
                </a:solidFill>
              </a:rPr>
              <a:t>Process 3</a:t>
            </a:r>
          </a:p>
        </p:txBody>
      </p:sp>
      <p:sp>
        <p:nvSpPr>
          <p:cNvPr id="84" name="TextBox 83"/>
          <p:cNvSpPr txBox="1"/>
          <p:nvPr/>
        </p:nvSpPr>
        <p:spPr>
          <a:xfrm>
            <a:off x="8468700" y="4923271"/>
            <a:ext cx="1091966" cy="369332"/>
          </a:xfrm>
          <a:prstGeom prst="rect">
            <a:avLst/>
          </a:prstGeom>
          <a:noFill/>
        </p:spPr>
        <p:txBody>
          <a:bodyPr wrap="none" rtlCol="0">
            <a:spAutoFit/>
          </a:bodyPr>
          <a:lstStyle/>
          <a:p>
            <a:r>
              <a:rPr lang="en-US" dirty="0">
                <a:solidFill>
                  <a:srgbClr val="00B050"/>
                </a:solidFill>
              </a:rPr>
              <a:t>Process 3</a:t>
            </a:r>
          </a:p>
        </p:txBody>
      </p:sp>
      <p:sp>
        <p:nvSpPr>
          <p:cNvPr id="85" name="TextBox 84"/>
          <p:cNvSpPr txBox="1"/>
          <p:nvPr/>
        </p:nvSpPr>
        <p:spPr>
          <a:xfrm>
            <a:off x="6485096" y="4920374"/>
            <a:ext cx="1091966" cy="369332"/>
          </a:xfrm>
          <a:prstGeom prst="rect">
            <a:avLst/>
          </a:prstGeom>
          <a:noFill/>
        </p:spPr>
        <p:txBody>
          <a:bodyPr wrap="none" rtlCol="0">
            <a:spAutoFit/>
          </a:bodyPr>
          <a:lstStyle/>
          <a:p>
            <a:r>
              <a:rPr lang="en-US" dirty="0">
                <a:solidFill>
                  <a:srgbClr val="00B050"/>
                </a:solidFill>
              </a:rPr>
              <a:t>Process 3</a:t>
            </a:r>
          </a:p>
        </p:txBody>
      </p:sp>
      <p:sp>
        <p:nvSpPr>
          <p:cNvPr id="108" name="TextBox 107"/>
          <p:cNvSpPr txBox="1"/>
          <p:nvPr/>
        </p:nvSpPr>
        <p:spPr>
          <a:xfrm>
            <a:off x="8477741" y="4143079"/>
            <a:ext cx="1091966" cy="369332"/>
          </a:xfrm>
          <a:prstGeom prst="rect">
            <a:avLst/>
          </a:prstGeom>
          <a:noFill/>
        </p:spPr>
        <p:txBody>
          <a:bodyPr wrap="none" rtlCol="0">
            <a:spAutoFit/>
          </a:bodyPr>
          <a:lstStyle/>
          <a:p>
            <a:r>
              <a:rPr lang="en-US" dirty="0">
                <a:solidFill>
                  <a:srgbClr val="00B050"/>
                </a:solidFill>
              </a:rPr>
              <a:t>Process 2</a:t>
            </a:r>
          </a:p>
        </p:txBody>
      </p:sp>
    </p:spTree>
    <p:extLst>
      <p:ext uri="{BB962C8B-B14F-4D97-AF65-F5344CB8AC3E}">
        <p14:creationId xmlns:p14="http://schemas.microsoft.com/office/powerpoint/2010/main" val="2558931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grpId="0" nodeType="after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1" fill="hold" grpId="0" nodeType="clickEffect">
                                  <p:stCondLst>
                                    <p:cond delay="0"/>
                                  </p:stCondLst>
                                  <p:childTnLst>
                                    <p:set>
                                      <p:cBhvr>
                                        <p:cTn id="42" dur="1" fill="hold">
                                          <p:stCondLst>
                                            <p:cond delay="0"/>
                                          </p:stCondLst>
                                        </p:cTn>
                                        <p:tgtEl>
                                          <p:spTgt spid="56"/>
                                        </p:tgtEl>
                                        <p:attrNameLst>
                                          <p:attrName>style.visibility</p:attrName>
                                        </p:attrNameLst>
                                      </p:cBhvr>
                                      <p:to>
                                        <p:strVal val="visible"/>
                                      </p:to>
                                    </p:set>
                                    <p:anim calcmode="lin" valueType="num">
                                      <p:cBhvr additive="base">
                                        <p:cTn id="43" dur="500" fill="hold"/>
                                        <p:tgtEl>
                                          <p:spTgt spid="56"/>
                                        </p:tgtEl>
                                        <p:attrNameLst>
                                          <p:attrName>ppt_x</p:attrName>
                                        </p:attrNameLst>
                                      </p:cBhvr>
                                      <p:tavLst>
                                        <p:tav tm="0">
                                          <p:val>
                                            <p:strVal val="#ppt_x"/>
                                          </p:val>
                                        </p:tav>
                                        <p:tav tm="100000">
                                          <p:val>
                                            <p:strVal val="#ppt_x"/>
                                          </p:val>
                                        </p:tav>
                                      </p:tavLst>
                                    </p:anim>
                                    <p:anim calcmode="lin" valueType="num">
                                      <p:cBhvr additive="base">
                                        <p:cTn id="44" dur="500" fill="hold"/>
                                        <p:tgtEl>
                                          <p:spTgt spid="56"/>
                                        </p:tgtEl>
                                        <p:attrNameLst>
                                          <p:attrName>ppt_y</p:attrName>
                                        </p:attrNameLst>
                                      </p:cBhvr>
                                      <p:tavLst>
                                        <p:tav tm="0">
                                          <p:val>
                                            <p:strVal val="0-#ppt_h/2"/>
                                          </p:val>
                                        </p:tav>
                                        <p:tav tm="100000">
                                          <p:val>
                                            <p:strVal val="#ppt_y"/>
                                          </p:val>
                                        </p:tav>
                                      </p:tavLst>
                                    </p:anim>
                                  </p:childTnLst>
                                </p:cTn>
                              </p:par>
                              <p:par>
                                <p:cTn id="45" presetID="1" presetClass="entr" presetSubtype="0" fill="hold" grpId="0" nodeType="withEffect">
                                  <p:stCondLst>
                                    <p:cond delay="0"/>
                                  </p:stCondLst>
                                  <p:childTnLst>
                                    <p:set>
                                      <p:cBhvr>
                                        <p:cTn id="46" dur="1" fill="hold">
                                          <p:stCondLst>
                                            <p:cond delay="0"/>
                                          </p:stCondLst>
                                        </p:cTn>
                                        <p:tgtEl>
                                          <p:spTgt spid="5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7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childTnLst>
                                </p:cTn>
                              </p:par>
                            </p:childTnLst>
                          </p:cTn>
                        </p:par>
                        <p:par>
                          <p:cTn id="57" fill="hold">
                            <p:stCondLst>
                              <p:cond delay="0"/>
                            </p:stCondLst>
                            <p:childTnLst>
                              <p:par>
                                <p:cTn id="58" presetID="1" presetClass="entr" presetSubtype="0" fill="hold" grpId="0" nodeType="afterEffect">
                                  <p:stCondLst>
                                    <p:cond delay="0"/>
                                  </p:stCondLst>
                                  <p:childTnLst>
                                    <p:set>
                                      <p:cBhvr>
                                        <p:cTn id="59" dur="1" fill="hold">
                                          <p:stCondLst>
                                            <p:cond delay="0"/>
                                          </p:stCondLst>
                                        </p:cTn>
                                        <p:tgtEl>
                                          <p:spTgt spid="13"/>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22"/>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12"/>
                                        </p:tgtEl>
                                        <p:attrNameLst>
                                          <p:attrName>style.visibility</p:attrName>
                                        </p:attrNameLst>
                                      </p:cBhvr>
                                      <p:to>
                                        <p:strVal val="visible"/>
                                      </p:to>
                                    </p:set>
                                  </p:childTnLst>
                                </p:cTn>
                              </p:par>
                              <p:par>
                                <p:cTn id="64" presetID="1" presetClass="entr" presetSubtype="0" fill="hold" nodeType="withEffect">
                                  <p:stCondLst>
                                    <p:cond delay="0"/>
                                  </p:stCondLst>
                                  <p:childTnLst>
                                    <p:set>
                                      <p:cBhvr>
                                        <p:cTn id="65" dur="1" fill="hold">
                                          <p:stCondLst>
                                            <p:cond delay="0"/>
                                          </p:stCondLst>
                                        </p:cTn>
                                        <p:tgtEl>
                                          <p:spTgt spid="44"/>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75"/>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58"/>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2" presetClass="entr" presetSubtype="1" fill="hold" grpId="0" nodeType="clickEffect">
                                  <p:stCondLst>
                                    <p:cond delay="0"/>
                                  </p:stCondLst>
                                  <p:childTnLst>
                                    <p:set>
                                      <p:cBhvr>
                                        <p:cTn id="73" dur="1" fill="hold">
                                          <p:stCondLst>
                                            <p:cond delay="0"/>
                                          </p:stCondLst>
                                        </p:cTn>
                                        <p:tgtEl>
                                          <p:spTgt spid="76"/>
                                        </p:tgtEl>
                                        <p:attrNameLst>
                                          <p:attrName>style.visibility</p:attrName>
                                        </p:attrNameLst>
                                      </p:cBhvr>
                                      <p:to>
                                        <p:strVal val="visible"/>
                                      </p:to>
                                    </p:set>
                                    <p:anim calcmode="lin" valueType="num">
                                      <p:cBhvr additive="base">
                                        <p:cTn id="74" dur="500" fill="hold"/>
                                        <p:tgtEl>
                                          <p:spTgt spid="76"/>
                                        </p:tgtEl>
                                        <p:attrNameLst>
                                          <p:attrName>ppt_x</p:attrName>
                                        </p:attrNameLst>
                                      </p:cBhvr>
                                      <p:tavLst>
                                        <p:tav tm="0">
                                          <p:val>
                                            <p:strVal val="#ppt_x"/>
                                          </p:val>
                                        </p:tav>
                                        <p:tav tm="100000">
                                          <p:val>
                                            <p:strVal val="#ppt_x"/>
                                          </p:val>
                                        </p:tav>
                                      </p:tavLst>
                                    </p:anim>
                                    <p:anim calcmode="lin" valueType="num">
                                      <p:cBhvr additive="base">
                                        <p:cTn id="75" dur="500" fill="hold"/>
                                        <p:tgtEl>
                                          <p:spTgt spid="76"/>
                                        </p:tgtEl>
                                        <p:attrNameLst>
                                          <p:attrName>ppt_y</p:attrName>
                                        </p:attrNameLst>
                                      </p:cBhvr>
                                      <p:tavLst>
                                        <p:tav tm="0">
                                          <p:val>
                                            <p:strVal val="0-#ppt_h/2"/>
                                          </p:val>
                                        </p:tav>
                                        <p:tav tm="100000">
                                          <p:val>
                                            <p:strVal val="#ppt_y"/>
                                          </p:val>
                                        </p:tav>
                                      </p:tavLst>
                                    </p:anim>
                                  </p:childTnLst>
                                </p:cTn>
                              </p:par>
                              <p:par>
                                <p:cTn id="76" presetID="1" presetClass="entr" presetSubtype="0" fill="hold" nodeType="withEffect">
                                  <p:stCondLst>
                                    <p:cond delay="0"/>
                                  </p:stCondLst>
                                  <p:childTnLst>
                                    <p:set>
                                      <p:cBhvr>
                                        <p:cTn id="77" dur="1" fill="hold">
                                          <p:stCondLst>
                                            <p:cond delay="0"/>
                                          </p:stCondLst>
                                        </p:cTn>
                                        <p:tgtEl>
                                          <p:spTgt spid="45"/>
                                        </p:tgtEl>
                                        <p:attrNameLst>
                                          <p:attrName>style.visibility</p:attrName>
                                        </p:attrNameLst>
                                      </p:cBhvr>
                                      <p:to>
                                        <p:strVal val="visible"/>
                                      </p:to>
                                    </p:set>
                                  </p:childTnLst>
                                </p:cTn>
                              </p:par>
                            </p:childTnLst>
                          </p:cTn>
                        </p:par>
                        <p:par>
                          <p:cTn id="78" fill="hold">
                            <p:stCondLst>
                              <p:cond delay="500"/>
                            </p:stCondLst>
                            <p:childTnLst>
                              <p:par>
                                <p:cTn id="79" presetID="1" presetClass="entr" presetSubtype="0" fill="hold" grpId="0" nodeType="afterEffect">
                                  <p:stCondLst>
                                    <p:cond delay="0"/>
                                  </p:stCondLst>
                                  <p:childTnLst>
                                    <p:set>
                                      <p:cBhvr>
                                        <p:cTn id="80" dur="1" fill="hold">
                                          <p:stCondLst>
                                            <p:cond delay="0"/>
                                          </p:stCondLst>
                                        </p:cTn>
                                        <p:tgtEl>
                                          <p:spTgt spid="68"/>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73"/>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17"/>
                                        </p:tgtEl>
                                        <p:attrNameLst>
                                          <p:attrName>style.visibility</p:attrName>
                                        </p:attrNameLst>
                                      </p:cBhvr>
                                      <p:to>
                                        <p:strVal val="visible"/>
                                      </p:to>
                                    </p:set>
                                  </p:childTnLst>
                                </p:cTn>
                              </p:par>
                            </p:childTnLst>
                          </p:cTn>
                        </p:par>
                        <p:par>
                          <p:cTn id="89" fill="hold">
                            <p:stCondLst>
                              <p:cond delay="0"/>
                            </p:stCondLst>
                            <p:childTnLst>
                              <p:par>
                                <p:cTn id="90" presetID="1" presetClass="entr" presetSubtype="0" fill="hold" grpId="0" nodeType="afterEffect">
                                  <p:stCondLst>
                                    <p:cond delay="0"/>
                                  </p:stCondLst>
                                  <p:childTnLst>
                                    <p:set>
                                      <p:cBhvr>
                                        <p:cTn id="91" dur="1" fill="hold">
                                          <p:stCondLst>
                                            <p:cond delay="0"/>
                                          </p:stCondLst>
                                        </p:cTn>
                                        <p:tgtEl>
                                          <p:spTgt spid="16"/>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15"/>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78"/>
                                        </p:tgtEl>
                                        <p:attrNameLst>
                                          <p:attrName>style.visibility</p:attrName>
                                        </p:attrNameLst>
                                      </p:cBhvr>
                                      <p:to>
                                        <p:strVal val="visible"/>
                                      </p:to>
                                    </p:set>
                                  </p:childTnLst>
                                </p:cTn>
                              </p:par>
                              <p:par>
                                <p:cTn id="96" presetID="1" presetClass="entr" presetSubtype="0" fill="hold" nodeType="withEffect">
                                  <p:stCondLst>
                                    <p:cond delay="0"/>
                                  </p:stCondLst>
                                  <p:childTnLst>
                                    <p:set>
                                      <p:cBhvr>
                                        <p:cTn id="97" dur="1" fill="hold">
                                          <p:stCondLst>
                                            <p:cond delay="0"/>
                                          </p:stCondLst>
                                        </p:cTn>
                                        <p:tgtEl>
                                          <p:spTgt spid="46"/>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77"/>
                                        </p:tgtEl>
                                        <p:attrNameLst>
                                          <p:attrName>style.visibility</p:attrName>
                                        </p:attrNameLst>
                                      </p:cBhvr>
                                      <p:to>
                                        <p:strVal val="visible"/>
                                      </p:to>
                                    </p:set>
                                  </p:childTnLst>
                                </p:cTn>
                              </p:par>
                              <p:par>
                                <p:cTn id="100" presetID="1" presetClass="entr" presetSubtype="0" fill="hold" nodeType="withEffect">
                                  <p:stCondLst>
                                    <p:cond delay="0"/>
                                  </p:stCondLst>
                                  <p:childTnLst>
                                    <p:set>
                                      <p:cBhvr>
                                        <p:cTn id="101" dur="1" fill="hold">
                                          <p:stCondLst>
                                            <p:cond delay="0"/>
                                          </p:stCondLst>
                                        </p:cTn>
                                        <p:tgtEl>
                                          <p:spTgt spid="47"/>
                                        </p:tgtEl>
                                        <p:attrNameLst>
                                          <p:attrName>style.visibility</p:attrName>
                                        </p:attrNameLst>
                                      </p:cBhvr>
                                      <p:to>
                                        <p:strVal val="visible"/>
                                      </p:to>
                                    </p:set>
                                  </p:childTnLst>
                                </p:cTn>
                              </p:par>
                              <p:par>
                                <p:cTn id="102" presetID="1" presetClass="entr" presetSubtype="0" fill="hold" grpId="0" nodeType="withEffect">
                                  <p:stCondLst>
                                    <p:cond delay="0"/>
                                  </p:stCondLst>
                                  <p:childTnLst>
                                    <p:set>
                                      <p:cBhvr>
                                        <p:cTn id="103" dur="1" fill="hold">
                                          <p:stCondLst>
                                            <p:cond delay="0"/>
                                          </p:stCondLst>
                                        </p:cTn>
                                        <p:tgtEl>
                                          <p:spTgt spid="23"/>
                                        </p:tgtEl>
                                        <p:attrNameLst>
                                          <p:attrName>style.visibility</p:attrName>
                                        </p:attrNameLst>
                                      </p:cBhvr>
                                      <p:to>
                                        <p:strVal val="visible"/>
                                      </p:to>
                                    </p:set>
                                  </p:childTnLst>
                                </p:cTn>
                              </p:par>
                              <p:par>
                                <p:cTn id="104" presetID="1" presetClass="entr" presetSubtype="0" fill="hold" grpId="0" nodeType="withEffect">
                                  <p:stCondLst>
                                    <p:cond delay="0"/>
                                  </p:stCondLst>
                                  <p:childTnLst>
                                    <p:set>
                                      <p:cBhvr>
                                        <p:cTn id="105" dur="1" fill="hold">
                                          <p:stCondLst>
                                            <p:cond delay="0"/>
                                          </p:stCondLst>
                                        </p:cTn>
                                        <p:tgtEl>
                                          <p:spTgt spid="59"/>
                                        </p:tgtEl>
                                        <p:attrNameLst>
                                          <p:attrName>style.visibility</p:attrName>
                                        </p:attrNameLst>
                                      </p:cBhvr>
                                      <p:to>
                                        <p:strVal val="visible"/>
                                      </p:to>
                                    </p:set>
                                  </p:childTnLst>
                                </p:cTn>
                              </p:par>
                              <p:par>
                                <p:cTn id="106" presetID="1" presetClass="entr" presetSubtype="0" fill="hold" grpId="0" nodeType="withEffect">
                                  <p:stCondLst>
                                    <p:cond delay="0"/>
                                  </p:stCondLst>
                                  <p:childTnLst>
                                    <p:set>
                                      <p:cBhvr>
                                        <p:cTn id="107" dur="1" fill="hold">
                                          <p:stCondLst>
                                            <p:cond delay="0"/>
                                          </p:stCondLst>
                                        </p:cTn>
                                        <p:tgtEl>
                                          <p:spTgt spid="69"/>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2" presetClass="entr" presetSubtype="1" fill="hold" grpId="0" nodeType="clickEffect">
                                  <p:stCondLst>
                                    <p:cond delay="0"/>
                                  </p:stCondLst>
                                  <p:childTnLst>
                                    <p:set>
                                      <p:cBhvr>
                                        <p:cTn id="111" dur="1" fill="hold">
                                          <p:stCondLst>
                                            <p:cond delay="0"/>
                                          </p:stCondLst>
                                        </p:cTn>
                                        <p:tgtEl>
                                          <p:spTgt spid="85"/>
                                        </p:tgtEl>
                                        <p:attrNameLst>
                                          <p:attrName>style.visibility</p:attrName>
                                        </p:attrNameLst>
                                      </p:cBhvr>
                                      <p:to>
                                        <p:strVal val="visible"/>
                                      </p:to>
                                    </p:set>
                                    <p:anim calcmode="lin" valueType="num">
                                      <p:cBhvr additive="base">
                                        <p:cTn id="112" dur="500" fill="hold"/>
                                        <p:tgtEl>
                                          <p:spTgt spid="85"/>
                                        </p:tgtEl>
                                        <p:attrNameLst>
                                          <p:attrName>ppt_x</p:attrName>
                                        </p:attrNameLst>
                                      </p:cBhvr>
                                      <p:tavLst>
                                        <p:tav tm="0">
                                          <p:val>
                                            <p:strVal val="#ppt_x"/>
                                          </p:val>
                                        </p:tav>
                                        <p:tav tm="100000">
                                          <p:val>
                                            <p:strVal val="#ppt_x"/>
                                          </p:val>
                                        </p:tav>
                                      </p:tavLst>
                                    </p:anim>
                                    <p:anim calcmode="lin" valueType="num">
                                      <p:cBhvr additive="base">
                                        <p:cTn id="113" dur="500" fill="hold"/>
                                        <p:tgtEl>
                                          <p:spTgt spid="85"/>
                                        </p:tgtEl>
                                        <p:attrNameLst>
                                          <p:attrName>ppt_y</p:attrName>
                                        </p:attrNameLst>
                                      </p:cBhvr>
                                      <p:tavLst>
                                        <p:tav tm="0">
                                          <p:val>
                                            <p:strVal val="0-#ppt_h/2"/>
                                          </p:val>
                                        </p:tav>
                                        <p:tav tm="100000">
                                          <p:val>
                                            <p:strVal val="#ppt_y"/>
                                          </p:val>
                                        </p:tav>
                                      </p:tavLst>
                                    </p:anim>
                                  </p:childTnLst>
                                </p:cTn>
                              </p:par>
                              <p:par>
                                <p:cTn id="114" presetID="1" presetClass="entr" presetSubtype="0" fill="hold" nodeType="withEffect">
                                  <p:stCondLst>
                                    <p:cond delay="0"/>
                                  </p:stCondLst>
                                  <p:childTnLst>
                                    <p:set>
                                      <p:cBhvr>
                                        <p:cTn id="115" dur="1" fill="hold">
                                          <p:stCondLst>
                                            <p:cond delay="0"/>
                                          </p:stCondLst>
                                        </p:cTn>
                                        <p:tgtEl>
                                          <p:spTgt spid="48"/>
                                        </p:tgtEl>
                                        <p:attrNameLst>
                                          <p:attrName>style.visibility</p:attrName>
                                        </p:attrNameLst>
                                      </p:cBhvr>
                                      <p:to>
                                        <p:strVal val="visible"/>
                                      </p:to>
                                    </p:set>
                                  </p:childTnLst>
                                </p:cTn>
                              </p:par>
                              <p:par>
                                <p:cTn id="116" presetID="1" presetClass="entr" presetSubtype="0" fill="hold" grpId="0" nodeType="withEffect">
                                  <p:stCondLst>
                                    <p:cond delay="0"/>
                                  </p:stCondLst>
                                  <p:childTnLst>
                                    <p:set>
                                      <p:cBhvr>
                                        <p:cTn id="117" dur="1" fill="hold">
                                          <p:stCondLst>
                                            <p:cond delay="0"/>
                                          </p:stCondLst>
                                        </p:cTn>
                                        <p:tgtEl>
                                          <p:spTgt spid="72"/>
                                        </p:tgtEl>
                                        <p:attrNameLst>
                                          <p:attrName>style.visibility</p:attrName>
                                        </p:attrNameLst>
                                      </p:cBhvr>
                                      <p:to>
                                        <p:strVal val="visible"/>
                                      </p:to>
                                    </p:set>
                                  </p:childTnLst>
                                </p:cTn>
                              </p:par>
                            </p:childTnLst>
                          </p:cTn>
                        </p:par>
                      </p:childTnLst>
                    </p:cTn>
                  </p:par>
                  <p:par>
                    <p:cTn id="118" fill="hold">
                      <p:stCondLst>
                        <p:cond delay="indefinite"/>
                      </p:stCondLst>
                      <p:childTnLst>
                        <p:par>
                          <p:cTn id="119" fill="hold">
                            <p:stCondLst>
                              <p:cond delay="0"/>
                            </p:stCondLst>
                            <p:childTnLst>
                              <p:par>
                                <p:cTn id="120" presetID="1" presetClass="entr" presetSubtype="0" fill="hold" grpId="0" nodeType="clickEffect">
                                  <p:stCondLst>
                                    <p:cond delay="0"/>
                                  </p:stCondLst>
                                  <p:childTnLst>
                                    <p:set>
                                      <p:cBhvr>
                                        <p:cTn id="121" dur="1" fill="hold">
                                          <p:stCondLst>
                                            <p:cond delay="0"/>
                                          </p:stCondLst>
                                        </p:cTn>
                                        <p:tgtEl>
                                          <p:spTgt spid="67"/>
                                        </p:tgtEl>
                                        <p:attrNameLst>
                                          <p:attrName>style.visibility</p:attrName>
                                        </p:attrNameLst>
                                      </p:cBhvr>
                                      <p:to>
                                        <p:strVal val="visible"/>
                                      </p:to>
                                    </p:set>
                                  </p:childTnLst>
                                </p:cTn>
                              </p:par>
                            </p:childTnLst>
                          </p:cTn>
                        </p:par>
                      </p:childTnLst>
                    </p:cTn>
                  </p:par>
                  <p:par>
                    <p:cTn id="122" fill="hold">
                      <p:stCondLst>
                        <p:cond delay="indefinite"/>
                      </p:stCondLst>
                      <p:childTnLst>
                        <p:par>
                          <p:cTn id="123" fill="hold">
                            <p:stCondLst>
                              <p:cond delay="0"/>
                            </p:stCondLst>
                            <p:childTnLst>
                              <p:par>
                                <p:cTn id="124" presetID="1" presetClass="entr" presetSubtype="0" fill="hold" grpId="0" nodeType="clickEffect">
                                  <p:stCondLst>
                                    <p:cond delay="0"/>
                                  </p:stCondLst>
                                  <p:childTnLst>
                                    <p:set>
                                      <p:cBhvr>
                                        <p:cTn id="125" dur="1" fill="hold">
                                          <p:stCondLst>
                                            <p:cond delay="0"/>
                                          </p:stCondLst>
                                        </p:cTn>
                                        <p:tgtEl>
                                          <p:spTgt spid="26"/>
                                        </p:tgtEl>
                                        <p:attrNameLst>
                                          <p:attrName>style.visibility</p:attrName>
                                        </p:attrNameLst>
                                      </p:cBhvr>
                                      <p:to>
                                        <p:strVal val="visible"/>
                                      </p:to>
                                    </p:set>
                                  </p:childTnLst>
                                </p:cTn>
                              </p:par>
                            </p:childTnLst>
                          </p:cTn>
                        </p:par>
                      </p:childTnLst>
                    </p:cTn>
                  </p:par>
                  <p:par>
                    <p:cTn id="126" fill="hold">
                      <p:stCondLst>
                        <p:cond delay="indefinite"/>
                      </p:stCondLst>
                      <p:childTnLst>
                        <p:par>
                          <p:cTn id="127" fill="hold">
                            <p:stCondLst>
                              <p:cond delay="0"/>
                            </p:stCondLst>
                            <p:childTnLst>
                              <p:par>
                                <p:cTn id="128" presetID="1" presetClass="entr" presetSubtype="0" fill="hold" grpId="0" nodeType="clickEffect">
                                  <p:stCondLst>
                                    <p:cond delay="0"/>
                                  </p:stCondLst>
                                  <p:childTnLst>
                                    <p:set>
                                      <p:cBhvr>
                                        <p:cTn id="129" dur="1" fill="hold">
                                          <p:stCondLst>
                                            <p:cond delay="0"/>
                                          </p:stCondLst>
                                        </p:cTn>
                                        <p:tgtEl>
                                          <p:spTgt spid="80"/>
                                        </p:tgtEl>
                                        <p:attrNameLst>
                                          <p:attrName>style.visibility</p:attrName>
                                        </p:attrNameLst>
                                      </p:cBhvr>
                                      <p:to>
                                        <p:strVal val="visible"/>
                                      </p:to>
                                    </p:set>
                                  </p:childTnLst>
                                </p:cTn>
                              </p:par>
                              <p:par>
                                <p:cTn id="130" presetID="1" presetClass="entr" presetSubtype="0" fill="hold" grpId="0" nodeType="withEffect">
                                  <p:stCondLst>
                                    <p:cond delay="0"/>
                                  </p:stCondLst>
                                  <p:childTnLst>
                                    <p:set>
                                      <p:cBhvr>
                                        <p:cTn id="131" dur="1" fill="hold">
                                          <p:stCondLst>
                                            <p:cond delay="0"/>
                                          </p:stCondLst>
                                        </p:cTn>
                                        <p:tgtEl>
                                          <p:spTgt spid="108"/>
                                        </p:tgtEl>
                                        <p:attrNameLst>
                                          <p:attrName>style.visibility</p:attrName>
                                        </p:attrNameLst>
                                      </p:cBhvr>
                                      <p:to>
                                        <p:strVal val="visible"/>
                                      </p:to>
                                    </p:set>
                                  </p:childTnLst>
                                </p:cTn>
                              </p:par>
                              <p:par>
                                <p:cTn id="132" presetID="1" presetClass="entr" presetSubtype="0" fill="hold" grpId="0" nodeType="withEffect">
                                  <p:stCondLst>
                                    <p:cond delay="0"/>
                                  </p:stCondLst>
                                  <p:childTnLst>
                                    <p:set>
                                      <p:cBhvr>
                                        <p:cTn id="133" dur="1" fill="hold">
                                          <p:stCondLst>
                                            <p:cond delay="0"/>
                                          </p:stCondLst>
                                        </p:cTn>
                                        <p:tgtEl>
                                          <p:spTgt spid="84"/>
                                        </p:tgtEl>
                                        <p:attrNameLst>
                                          <p:attrName>style.visibility</p:attrName>
                                        </p:attrNameLst>
                                      </p:cBhvr>
                                      <p:to>
                                        <p:strVal val="visible"/>
                                      </p:to>
                                    </p:set>
                                  </p:childTnLst>
                                </p:cTn>
                              </p:par>
                              <p:par>
                                <p:cTn id="134" presetID="1" presetClass="entr" presetSubtype="0" fill="hold" grpId="0" nodeType="withEffect">
                                  <p:stCondLst>
                                    <p:cond delay="0"/>
                                  </p:stCondLst>
                                  <p:childTnLst>
                                    <p:set>
                                      <p:cBhvr>
                                        <p:cTn id="135" dur="1" fill="hold">
                                          <p:stCondLst>
                                            <p:cond delay="0"/>
                                          </p:stCondLst>
                                        </p:cTn>
                                        <p:tgtEl>
                                          <p:spTgt spid="24"/>
                                        </p:tgtEl>
                                        <p:attrNameLst>
                                          <p:attrName>style.visibility</p:attrName>
                                        </p:attrNameLst>
                                      </p:cBhvr>
                                      <p:to>
                                        <p:strVal val="visible"/>
                                      </p:to>
                                    </p:set>
                                  </p:childTnLst>
                                </p:cTn>
                              </p:par>
                            </p:childTnLst>
                          </p:cTn>
                        </p:par>
                        <p:par>
                          <p:cTn id="136" fill="hold">
                            <p:stCondLst>
                              <p:cond delay="0"/>
                            </p:stCondLst>
                            <p:childTnLst>
                              <p:par>
                                <p:cTn id="137" presetID="1" presetClass="entr" presetSubtype="0" fill="hold" grpId="0" nodeType="afterEffect">
                                  <p:stCondLst>
                                    <p:cond delay="0"/>
                                  </p:stCondLst>
                                  <p:childTnLst>
                                    <p:set>
                                      <p:cBhvr>
                                        <p:cTn id="138" dur="1" fill="hold">
                                          <p:stCondLst>
                                            <p:cond delay="0"/>
                                          </p:stCondLst>
                                        </p:cTn>
                                        <p:tgtEl>
                                          <p:spTgt spid="25"/>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49"/>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50"/>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51"/>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30"/>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60"/>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70"/>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71"/>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66"/>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2" presetClass="exit" presetSubtype="4" fill="hold" grpId="1" nodeType="clickEffect">
                                  <p:stCondLst>
                                    <p:cond delay="0"/>
                                  </p:stCondLst>
                                  <p:childTnLst>
                                    <p:anim calcmode="lin" valueType="num">
                                      <p:cBhvr additive="base">
                                        <p:cTn id="158" dur="500"/>
                                        <p:tgtEl>
                                          <p:spTgt spid="108"/>
                                        </p:tgtEl>
                                        <p:attrNameLst>
                                          <p:attrName>ppt_x</p:attrName>
                                        </p:attrNameLst>
                                      </p:cBhvr>
                                      <p:tavLst>
                                        <p:tav tm="0">
                                          <p:val>
                                            <p:strVal val="ppt_x"/>
                                          </p:val>
                                        </p:tav>
                                        <p:tav tm="100000">
                                          <p:val>
                                            <p:strVal val="ppt_x"/>
                                          </p:val>
                                        </p:tav>
                                      </p:tavLst>
                                    </p:anim>
                                    <p:anim calcmode="lin" valueType="num">
                                      <p:cBhvr additive="base">
                                        <p:cTn id="159" dur="500"/>
                                        <p:tgtEl>
                                          <p:spTgt spid="108"/>
                                        </p:tgtEl>
                                        <p:attrNameLst>
                                          <p:attrName>ppt_y</p:attrName>
                                        </p:attrNameLst>
                                      </p:cBhvr>
                                      <p:tavLst>
                                        <p:tav tm="0">
                                          <p:val>
                                            <p:strVal val="ppt_y"/>
                                          </p:val>
                                        </p:tav>
                                        <p:tav tm="100000">
                                          <p:val>
                                            <p:strVal val="1+ppt_h/2"/>
                                          </p:val>
                                        </p:tav>
                                      </p:tavLst>
                                    </p:anim>
                                    <p:set>
                                      <p:cBhvr>
                                        <p:cTn id="160" dur="1" fill="hold">
                                          <p:stCondLst>
                                            <p:cond delay="499"/>
                                          </p:stCondLst>
                                        </p:cTn>
                                        <p:tgtEl>
                                          <p:spTgt spid="108"/>
                                        </p:tgtEl>
                                        <p:attrNameLst>
                                          <p:attrName>style.visibility</p:attrName>
                                        </p:attrNameLst>
                                      </p:cBhvr>
                                      <p:to>
                                        <p:strVal val="hidden"/>
                                      </p:to>
                                    </p:se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grpId="0" nodeType="clickEffect">
                                  <p:stCondLst>
                                    <p:cond delay="0"/>
                                  </p:stCondLst>
                                  <p:childTnLst>
                                    <p:set>
                                      <p:cBhvr>
                                        <p:cTn id="164" dur="1" fill="hold">
                                          <p:stCondLst>
                                            <p:cond delay="0"/>
                                          </p:stCondLst>
                                        </p:cTn>
                                        <p:tgtEl>
                                          <p:spTgt spid="29"/>
                                        </p:tgtEl>
                                        <p:attrNameLst>
                                          <p:attrName>style.visibility</p:attrName>
                                        </p:attrNameLst>
                                      </p:cBhvr>
                                      <p:to>
                                        <p:strVal val="visible"/>
                                      </p:to>
                                    </p:set>
                                  </p:childTnLst>
                                </p:cTn>
                              </p:par>
                            </p:childTnLst>
                          </p:cTn>
                        </p:par>
                        <p:par>
                          <p:cTn id="165" fill="hold">
                            <p:stCondLst>
                              <p:cond delay="0"/>
                            </p:stCondLst>
                            <p:childTnLst>
                              <p:par>
                                <p:cTn id="166" presetID="1" presetClass="entr" presetSubtype="0" fill="hold" grpId="0" nodeType="afterEffect">
                                  <p:stCondLst>
                                    <p:cond delay="0"/>
                                  </p:stCondLst>
                                  <p:childTnLst>
                                    <p:set>
                                      <p:cBhvr>
                                        <p:cTn id="167" dur="1" fill="hold">
                                          <p:stCondLst>
                                            <p:cond delay="0"/>
                                          </p:stCondLst>
                                        </p:cTn>
                                        <p:tgtEl>
                                          <p:spTgt spid="28"/>
                                        </p:tgtEl>
                                        <p:attrNameLst>
                                          <p:attrName>style.visibility</p:attrName>
                                        </p:attrNameLst>
                                      </p:cBhvr>
                                      <p:to>
                                        <p:strVal val="visible"/>
                                      </p:to>
                                    </p:set>
                                  </p:childTnLst>
                                </p:cTn>
                              </p:par>
                              <p:par>
                                <p:cTn id="168" presetID="1" presetClass="entr" presetSubtype="0" fill="hold" grpId="0" nodeType="withEffect">
                                  <p:stCondLst>
                                    <p:cond delay="0"/>
                                  </p:stCondLst>
                                  <p:childTnLst>
                                    <p:set>
                                      <p:cBhvr>
                                        <p:cTn id="169" dur="1" fill="hold">
                                          <p:stCondLst>
                                            <p:cond delay="0"/>
                                          </p:stCondLst>
                                        </p:cTn>
                                        <p:tgtEl>
                                          <p:spTgt spid="81"/>
                                        </p:tgtEl>
                                        <p:attrNameLst>
                                          <p:attrName>style.visibility</p:attrName>
                                        </p:attrNameLst>
                                      </p:cBhvr>
                                      <p:to>
                                        <p:strVal val="visible"/>
                                      </p:to>
                                    </p:set>
                                  </p:childTnLst>
                                </p:cTn>
                              </p:par>
                              <p:par>
                                <p:cTn id="170" presetID="1" presetClass="entr" presetSubtype="0" fill="hold" grpId="0" nodeType="withEffect">
                                  <p:stCondLst>
                                    <p:cond delay="0"/>
                                  </p:stCondLst>
                                  <p:childTnLst>
                                    <p:set>
                                      <p:cBhvr>
                                        <p:cTn id="171" dur="1" fill="hold">
                                          <p:stCondLst>
                                            <p:cond delay="0"/>
                                          </p:stCondLst>
                                        </p:cTn>
                                        <p:tgtEl>
                                          <p:spTgt spid="27"/>
                                        </p:tgtEl>
                                        <p:attrNameLst>
                                          <p:attrName>style.visibility</p:attrName>
                                        </p:attrNameLst>
                                      </p:cBhvr>
                                      <p:to>
                                        <p:strVal val="visible"/>
                                      </p:to>
                                    </p:set>
                                  </p:childTnLst>
                                </p:cTn>
                              </p:par>
                              <p:par>
                                <p:cTn id="172" presetID="1" presetClass="entr" presetSubtype="0" fill="hold" grpId="0" nodeType="withEffect">
                                  <p:stCondLst>
                                    <p:cond delay="0"/>
                                  </p:stCondLst>
                                  <p:childTnLst>
                                    <p:set>
                                      <p:cBhvr>
                                        <p:cTn id="173" dur="1" fill="hold">
                                          <p:stCondLst>
                                            <p:cond delay="0"/>
                                          </p:stCondLst>
                                        </p:cTn>
                                        <p:tgtEl>
                                          <p:spTgt spid="83"/>
                                        </p:tgtEl>
                                        <p:attrNameLst>
                                          <p:attrName>style.visibility</p:attrName>
                                        </p:attrNameLst>
                                      </p:cBhvr>
                                      <p:to>
                                        <p:strVal val="visible"/>
                                      </p:to>
                                    </p:set>
                                  </p:childTnLst>
                                </p:cTn>
                              </p:par>
                              <p:par>
                                <p:cTn id="174" presetID="1" presetClass="entr" presetSubtype="0" fill="hold" nodeType="withEffect">
                                  <p:stCondLst>
                                    <p:cond delay="0"/>
                                  </p:stCondLst>
                                  <p:childTnLst>
                                    <p:set>
                                      <p:cBhvr>
                                        <p:cTn id="175" dur="1" fill="hold">
                                          <p:stCondLst>
                                            <p:cond delay="0"/>
                                          </p:stCondLst>
                                        </p:cTn>
                                        <p:tgtEl>
                                          <p:spTgt spid="54"/>
                                        </p:tgtEl>
                                        <p:attrNameLst>
                                          <p:attrName>style.visibility</p:attrName>
                                        </p:attrNameLst>
                                      </p:cBhvr>
                                      <p:to>
                                        <p:strVal val="visible"/>
                                      </p:to>
                                    </p:set>
                                  </p:childTnLst>
                                </p:cTn>
                              </p:par>
                              <p:par>
                                <p:cTn id="176" presetID="1" presetClass="entr" presetSubtype="0" fill="hold" nodeType="withEffect">
                                  <p:stCondLst>
                                    <p:cond delay="0"/>
                                  </p:stCondLst>
                                  <p:childTnLst>
                                    <p:set>
                                      <p:cBhvr>
                                        <p:cTn id="177" dur="1" fill="hold">
                                          <p:stCondLst>
                                            <p:cond delay="0"/>
                                          </p:stCondLst>
                                        </p:cTn>
                                        <p:tgtEl>
                                          <p:spTgt spid="52"/>
                                        </p:tgtEl>
                                        <p:attrNameLst>
                                          <p:attrName>style.visibility</p:attrName>
                                        </p:attrNameLst>
                                      </p:cBhvr>
                                      <p:to>
                                        <p:strVal val="visible"/>
                                      </p:to>
                                    </p:set>
                                  </p:childTnLst>
                                </p:cTn>
                              </p:par>
                              <p:par>
                                <p:cTn id="178" presetID="1" presetClass="entr" presetSubtype="0" fill="hold" grpId="0" nodeType="withEffect">
                                  <p:stCondLst>
                                    <p:cond delay="0"/>
                                  </p:stCondLst>
                                  <p:childTnLst>
                                    <p:set>
                                      <p:cBhvr>
                                        <p:cTn id="179" dur="1" fill="hold">
                                          <p:stCondLst>
                                            <p:cond delay="0"/>
                                          </p:stCondLst>
                                        </p:cTn>
                                        <p:tgtEl>
                                          <p:spTgt spid="31"/>
                                        </p:tgtEl>
                                        <p:attrNameLst>
                                          <p:attrName>style.visibility</p:attrName>
                                        </p:attrNameLst>
                                      </p:cBhvr>
                                      <p:to>
                                        <p:strVal val="visible"/>
                                      </p:to>
                                    </p:set>
                                  </p:childTnLst>
                                </p:cTn>
                              </p:par>
                              <p:par>
                                <p:cTn id="180" presetID="1" presetClass="entr" presetSubtype="0" fill="hold" grpId="0" nodeType="withEffect">
                                  <p:stCondLst>
                                    <p:cond delay="0"/>
                                  </p:stCondLst>
                                  <p:childTnLst>
                                    <p:set>
                                      <p:cBhvr>
                                        <p:cTn id="181" dur="1" fill="hold">
                                          <p:stCondLst>
                                            <p:cond delay="0"/>
                                          </p:stCondLst>
                                        </p:cTn>
                                        <p:tgtEl>
                                          <p:spTgt spid="61"/>
                                        </p:tgtEl>
                                        <p:attrNameLst>
                                          <p:attrName>style.visibility</p:attrName>
                                        </p:attrNameLst>
                                      </p:cBhvr>
                                      <p:to>
                                        <p:strVal val="visible"/>
                                      </p:to>
                                    </p:set>
                                  </p:childTnLst>
                                </p:cTn>
                              </p:par>
                              <p:par>
                                <p:cTn id="182" presetID="1" presetClass="entr" presetSubtype="0" fill="hold" grpId="0" nodeType="withEffect">
                                  <p:stCondLst>
                                    <p:cond delay="0"/>
                                  </p:stCondLst>
                                  <p:childTnLst>
                                    <p:set>
                                      <p:cBhvr>
                                        <p:cTn id="183" dur="1" fill="hold">
                                          <p:stCondLst>
                                            <p:cond delay="0"/>
                                          </p:stCondLst>
                                        </p:cTn>
                                        <p:tgtEl>
                                          <p:spTgt spid="64"/>
                                        </p:tgtEl>
                                        <p:attrNameLst>
                                          <p:attrName>style.visibility</p:attrName>
                                        </p:attrNameLst>
                                      </p:cBhvr>
                                      <p:to>
                                        <p:strVal val="visible"/>
                                      </p:to>
                                    </p:set>
                                  </p:childTnLst>
                                </p:cTn>
                              </p:par>
                              <p:par>
                                <p:cTn id="184" presetID="1" presetClass="entr" presetSubtype="0" fill="hold" grpId="0" nodeType="withEffect">
                                  <p:stCondLst>
                                    <p:cond delay="0"/>
                                  </p:stCondLst>
                                  <p:childTnLst>
                                    <p:set>
                                      <p:cBhvr>
                                        <p:cTn id="185" dur="1" fill="hold">
                                          <p:stCondLst>
                                            <p:cond delay="0"/>
                                          </p:stCondLst>
                                        </p:cTn>
                                        <p:tgtEl>
                                          <p:spTgt spid="65"/>
                                        </p:tgtEl>
                                        <p:attrNameLst>
                                          <p:attrName>style.visibility</p:attrName>
                                        </p:attrNameLst>
                                      </p:cBhvr>
                                      <p:to>
                                        <p:strVal val="visible"/>
                                      </p:to>
                                    </p:set>
                                  </p:childTnLst>
                                </p:cTn>
                              </p:par>
                              <p:par>
                                <p:cTn id="186" presetID="1" presetClass="entr" presetSubtype="0" fill="hold" nodeType="withEffect">
                                  <p:stCondLst>
                                    <p:cond delay="0"/>
                                  </p:stCondLst>
                                  <p:childTnLst>
                                    <p:set>
                                      <p:cBhvr>
                                        <p:cTn id="187" dur="1" fill="hold">
                                          <p:stCondLst>
                                            <p:cond delay="0"/>
                                          </p:stCondLst>
                                        </p:cTn>
                                        <p:tgtEl>
                                          <p:spTgt spid="53"/>
                                        </p:tgtEl>
                                        <p:attrNameLst>
                                          <p:attrName>style.visibility</p:attrName>
                                        </p:attrNameLst>
                                      </p:cBhvr>
                                      <p:to>
                                        <p:strVal val="visible"/>
                                      </p:to>
                                    </p:set>
                                  </p:childTnLst>
                                </p:cTn>
                              </p:par>
                            </p:childTnLst>
                          </p:cTn>
                        </p:par>
                      </p:childTnLst>
                    </p:cTn>
                  </p:par>
                  <p:par>
                    <p:cTn id="188" fill="hold">
                      <p:stCondLst>
                        <p:cond delay="indefinite"/>
                      </p:stCondLst>
                      <p:childTnLst>
                        <p:par>
                          <p:cTn id="189" fill="hold">
                            <p:stCondLst>
                              <p:cond delay="0"/>
                            </p:stCondLst>
                            <p:childTnLst>
                              <p:par>
                                <p:cTn id="190" presetID="2" presetClass="entr" presetSubtype="1" fill="hold" grpId="0" nodeType="clickEffect">
                                  <p:stCondLst>
                                    <p:cond delay="0"/>
                                  </p:stCondLst>
                                  <p:childTnLst>
                                    <p:set>
                                      <p:cBhvr>
                                        <p:cTn id="191" dur="1" fill="hold">
                                          <p:stCondLst>
                                            <p:cond delay="0"/>
                                          </p:stCondLst>
                                        </p:cTn>
                                        <p:tgtEl>
                                          <p:spTgt spid="82"/>
                                        </p:tgtEl>
                                        <p:attrNameLst>
                                          <p:attrName>style.visibility</p:attrName>
                                        </p:attrNameLst>
                                      </p:cBhvr>
                                      <p:to>
                                        <p:strVal val="visible"/>
                                      </p:to>
                                    </p:set>
                                    <p:anim calcmode="lin" valueType="num">
                                      <p:cBhvr additive="base">
                                        <p:cTn id="192" dur="500" fill="hold"/>
                                        <p:tgtEl>
                                          <p:spTgt spid="82"/>
                                        </p:tgtEl>
                                        <p:attrNameLst>
                                          <p:attrName>ppt_x</p:attrName>
                                        </p:attrNameLst>
                                      </p:cBhvr>
                                      <p:tavLst>
                                        <p:tav tm="0">
                                          <p:val>
                                            <p:strVal val="#ppt_x"/>
                                          </p:val>
                                        </p:tav>
                                        <p:tav tm="100000">
                                          <p:val>
                                            <p:strVal val="#ppt_x"/>
                                          </p:val>
                                        </p:tav>
                                      </p:tavLst>
                                    </p:anim>
                                    <p:anim calcmode="lin" valueType="num">
                                      <p:cBhvr additive="base">
                                        <p:cTn id="193" dur="500" fill="hold"/>
                                        <p:tgtEl>
                                          <p:spTgt spid="82"/>
                                        </p:tgtEl>
                                        <p:attrNameLst>
                                          <p:attrName>ppt_y</p:attrName>
                                        </p:attrNameLst>
                                      </p:cBhvr>
                                      <p:tavLst>
                                        <p:tav tm="0">
                                          <p:val>
                                            <p:strVal val="0-#ppt_h/2"/>
                                          </p:val>
                                        </p:tav>
                                        <p:tav tm="100000">
                                          <p:val>
                                            <p:strVal val="#ppt_y"/>
                                          </p:val>
                                        </p:tav>
                                      </p:tavLst>
                                    </p:anim>
                                  </p:childTnLst>
                                </p:cTn>
                              </p:par>
                              <p:par>
                                <p:cTn id="194" presetID="1" presetClass="entr" presetSubtype="0" fill="hold" nodeType="withEffect">
                                  <p:stCondLst>
                                    <p:cond delay="0"/>
                                  </p:stCondLst>
                                  <p:childTnLst>
                                    <p:set>
                                      <p:cBhvr>
                                        <p:cTn id="195" dur="1" fill="hold">
                                          <p:stCondLst>
                                            <p:cond delay="0"/>
                                          </p:stCondLst>
                                        </p:cTn>
                                        <p:tgtEl>
                                          <p:spTgt spid="55"/>
                                        </p:tgtEl>
                                        <p:attrNameLst>
                                          <p:attrName>style.visibility</p:attrName>
                                        </p:attrNameLst>
                                      </p:cBhvr>
                                      <p:to>
                                        <p:strVal val="visible"/>
                                      </p:to>
                                    </p:set>
                                  </p:childTnLst>
                                </p:cTn>
                              </p:par>
                              <p:par>
                                <p:cTn id="196" presetID="1" presetClass="entr" presetSubtype="0" fill="hold" grpId="0" nodeType="withEffect">
                                  <p:stCondLst>
                                    <p:cond delay="0"/>
                                  </p:stCondLst>
                                  <p:childTnLst>
                                    <p:set>
                                      <p:cBhvr>
                                        <p:cTn id="197" dur="1" fill="hold">
                                          <p:stCondLst>
                                            <p:cond delay="0"/>
                                          </p:stCondLst>
                                        </p:cTn>
                                        <p:tgtEl>
                                          <p:spTgt spid="62"/>
                                        </p:tgtEl>
                                        <p:attrNameLst>
                                          <p:attrName>style.visibility</p:attrName>
                                        </p:attrNameLst>
                                      </p:cBhvr>
                                      <p:to>
                                        <p:strVal val="visible"/>
                                      </p:to>
                                    </p:set>
                                  </p:childTnLst>
                                </p:cTn>
                              </p:par>
                              <p:par>
                                <p:cTn id="198" presetID="1" presetClass="entr" presetSubtype="0" fill="hold" grpId="0" nodeType="withEffect">
                                  <p:stCondLst>
                                    <p:cond delay="0"/>
                                  </p:stCondLst>
                                  <p:childTnLst>
                                    <p:set>
                                      <p:cBhvr>
                                        <p:cTn id="199"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animBg="1"/>
      <p:bldP spid="10" grpId="0" animBg="1"/>
      <p:bldP spid="11" grpId="0"/>
      <p:bldP spid="12" grpId="0" animBg="1"/>
      <p:bldP spid="13" grpId="0" animBg="1"/>
      <p:bldP spid="14" grpId="0"/>
      <p:bldP spid="15" grpId="0" animBg="1"/>
      <p:bldP spid="16" grpId="0" animBg="1"/>
      <p:bldP spid="17" grpId="0"/>
      <p:bldP spid="19" grpId="0"/>
      <p:bldP spid="20" grpId="0"/>
      <p:bldP spid="21" grpId="0"/>
      <p:bldP spid="22" grpId="0"/>
      <p:bldP spid="23" grpId="0"/>
      <p:bldP spid="24" grpId="0" animBg="1"/>
      <p:bldP spid="25" grpId="0" animBg="1"/>
      <p:bldP spid="26" grpId="0"/>
      <p:bldP spid="27" grpId="0" animBg="1"/>
      <p:bldP spid="28" grpId="0" animBg="1"/>
      <p:bldP spid="29" grpId="0"/>
      <p:bldP spid="30" grpId="0"/>
      <p:bldP spid="31" grpId="0"/>
      <p:bldP spid="56" grpId="0"/>
      <p:bldP spid="57" grpId="0"/>
      <p:bldP spid="58" grpId="0"/>
      <p:bldP spid="59" grpId="0"/>
      <p:bldP spid="60" grpId="0"/>
      <p:bldP spid="61" grpId="0"/>
      <p:bldP spid="62" grpId="0"/>
      <p:bldP spid="63" grpId="0"/>
      <p:bldP spid="64" grpId="0"/>
      <p:bldP spid="65" grpId="0"/>
      <p:bldP spid="66" grpId="0"/>
      <p:bldP spid="67" grpId="0"/>
      <p:bldP spid="68" grpId="0"/>
      <p:bldP spid="69" grpId="0"/>
      <p:bldP spid="70" grpId="0"/>
      <p:bldP spid="71" grpId="0"/>
      <p:bldP spid="72" grpId="0"/>
      <p:bldP spid="73" grpId="0"/>
      <p:bldP spid="74" grpId="0"/>
      <p:bldP spid="75" grpId="0"/>
      <p:bldP spid="76" grpId="0"/>
      <p:bldP spid="77" grpId="0"/>
      <p:bldP spid="78" grpId="0"/>
      <p:bldP spid="80" grpId="0"/>
      <p:bldP spid="81" grpId="0"/>
      <p:bldP spid="82" grpId="0"/>
      <p:bldP spid="83" grpId="0"/>
      <p:bldP spid="84" grpId="0"/>
      <p:bldP spid="85" grpId="0"/>
      <p:bldP spid="108" grpId="0"/>
      <p:bldP spid="108" grpId="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lstStyle/>
          <a:p>
            <a:r>
              <a:rPr lang="en-US" dirty="0"/>
              <a:t>Swapping</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3.2.3</a:t>
            </a:r>
          </a:p>
        </p:txBody>
      </p:sp>
    </p:spTree>
    <p:extLst>
      <p:ext uri="{BB962C8B-B14F-4D97-AF65-F5344CB8AC3E}">
        <p14:creationId xmlns:p14="http://schemas.microsoft.com/office/powerpoint/2010/main" val="16702849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Swapping </a:t>
            </a:r>
          </a:p>
        </p:txBody>
      </p:sp>
      <p:sp>
        <p:nvSpPr>
          <p:cNvPr id="3" name="Content Placeholder 2"/>
          <p:cNvSpPr>
            <a:spLocks noGrp="1"/>
          </p:cNvSpPr>
          <p:nvPr>
            <p:ph idx="1"/>
          </p:nvPr>
        </p:nvSpPr>
        <p:spPr/>
        <p:txBody>
          <a:bodyPr/>
          <a:lstStyle/>
          <a:p>
            <a:r>
              <a:rPr lang="en-US" dirty="0"/>
              <a:t>Consider that system has physical memory of size – 32 MB.</a:t>
            </a:r>
          </a:p>
          <a:p>
            <a:r>
              <a:rPr lang="en-US" dirty="0"/>
              <a:t>Now suppose, there are </a:t>
            </a:r>
            <a:r>
              <a:rPr lang="en-US" dirty="0">
                <a:solidFill>
                  <a:schemeClr val="accent6"/>
                </a:solidFill>
              </a:rPr>
              <a:t>5 processes </a:t>
            </a:r>
            <a:r>
              <a:rPr lang="en-US" dirty="0"/>
              <a:t>each </a:t>
            </a:r>
            <a:r>
              <a:rPr lang="en-US" dirty="0">
                <a:solidFill>
                  <a:schemeClr val="accent6"/>
                </a:solidFill>
              </a:rPr>
              <a:t>having size </a:t>
            </a:r>
            <a:r>
              <a:rPr lang="en-US" dirty="0"/>
              <a:t>of </a:t>
            </a:r>
            <a:r>
              <a:rPr lang="en-US" dirty="0">
                <a:solidFill>
                  <a:schemeClr val="accent6"/>
                </a:solidFill>
              </a:rPr>
              <a:t>8MB</a:t>
            </a:r>
            <a:r>
              <a:rPr lang="en-US" dirty="0"/>
              <a:t>. They all want to be executed simultaneously. These </a:t>
            </a:r>
            <a:r>
              <a:rPr lang="en-US" dirty="0">
                <a:solidFill>
                  <a:schemeClr val="accent6"/>
                </a:solidFill>
              </a:rPr>
              <a:t>5 process </a:t>
            </a:r>
            <a:r>
              <a:rPr lang="en-US" dirty="0"/>
              <a:t>need total </a:t>
            </a:r>
            <a:r>
              <a:rPr lang="en-US" dirty="0">
                <a:solidFill>
                  <a:schemeClr val="accent6"/>
                </a:solidFill>
              </a:rPr>
              <a:t>40 – MB of memory </a:t>
            </a:r>
            <a:r>
              <a:rPr lang="en-US" dirty="0"/>
              <a:t>to be resident in memory. By using </a:t>
            </a:r>
            <a:r>
              <a:rPr lang="en-US" dirty="0">
                <a:solidFill>
                  <a:schemeClr val="accent6"/>
                </a:solidFill>
              </a:rPr>
              <a:t>Swapping, its possible.</a:t>
            </a:r>
          </a:p>
          <a:p>
            <a:r>
              <a:rPr lang="en-US" dirty="0"/>
              <a:t>Swapping is a technique in which </a:t>
            </a:r>
            <a:r>
              <a:rPr lang="en-US" dirty="0">
                <a:solidFill>
                  <a:schemeClr val="accent6"/>
                </a:solidFill>
              </a:rPr>
              <a:t>processes are moved between main memory</a:t>
            </a:r>
            <a:r>
              <a:rPr lang="en-US" dirty="0">
                <a:solidFill>
                  <a:srgbClr val="FF0000"/>
                </a:solidFill>
              </a:rPr>
              <a:t> </a:t>
            </a:r>
            <a:r>
              <a:rPr lang="en-US" dirty="0"/>
              <a:t>and</a:t>
            </a:r>
            <a:r>
              <a:rPr lang="en-US" dirty="0">
                <a:solidFill>
                  <a:srgbClr val="FF0000"/>
                </a:solidFill>
              </a:rPr>
              <a:t> </a:t>
            </a:r>
            <a:r>
              <a:rPr lang="en-US" dirty="0">
                <a:solidFill>
                  <a:schemeClr val="accent6"/>
                </a:solidFill>
              </a:rPr>
              <a:t>disk.</a:t>
            </a:r>
          </a:p>
          <a:p>
            <a:r>
              <a:rPr lang="en-US" dirty="0"/>
              <a:t>Sometimes, there is </a:t>
            </a:r>
            <a:r>
              <a:rPr lang="en-US" dirty="0">
                <a:solidFill>
                  <a:schemeClr val="accent6"/>
                </a:solidFill>
              </a:rPr>
              <a:t>not enough space </a:t>
            </a:r>
            <a:r>
              <a:rPr lang="en-US" dirty="0"/>
              <a:t>in</a:t>
            </a:r>
            <a:r>
              <a:rPr lang="en-US" dirty="0">
                <a:solidFill>
                  <a:srgbClr val="FF0000"/>
                </a:solidFill>
              </a:rPr>
              <a:t> </a:t>
            </a:r>
            <a:r>
              <a:rPr lang="en-US" dirty="0"/>
              <a:t>main</a:t>
            </a:r>
            <a:r>
              <a:rPr lang="en-US" dirty="0">
                <a:solidFill>
                  <a:srgbClr val="FF0000"/>
                </a:solidFill>
              </a:rPr>
              <a:t> </a:t>
            </a:r>
            <a:r>
              <a:rPr lang="en-US" dirty="0">
                <a:solidFill>
                  <a:schemeClr val="accent6"/>
                </a:solidFill>
              </a:rPr>
              <a:t>memory</a:t>
            </a:r>
            <a:r>
              <a:rPr lang="en-US" dirty="0">
                <a:solidFill>
                  <a:srgbClr val="FF0000"/>
                </a:solidFill>
              </a:rPr>
              <a:t> </a:t>
            </a:r>
            <a:r>
              <a:rPr lang="en-US" dirty="0"/>
              <a:t>to</a:t>
            </a:r>
            <a:r>
              <a:rPr lang="en-US" dirty="0">
                <a:solidFill>
                  <a:srgbClr val="FF0000"/>
                </a:solidFill>
              </a:rPr>
              <a:t> </a:t>
            </a:r>
            <a:r>
              <a:rPr lang="en-US" dirty="0"/>
              <a:t>hold</a:t>
            </a:r>
            <a:r>
              <a:rPr lang="en-US" dirty="0">
                <a:solidFill>
                  <a:srgbClr val="FF0000"/>
                </a:solidFill>
              </a:rPr>
              <a:t> </a:t>
            </a:r>
            <a:r>
              <a:rPr lang="en-US" dirty="0">
                <a:solidFill>
                  <a:schemeClr val="accent6"/>
                </a:solidFill>
              </a:rPr>
              <a:t>all current active process</a:t>
            </a:r>
            <a:r>
              <a:rPr lang="en-US" dirty="0"/>
              <a:t>. So, process must</a:t>
            </a:r>
            <a:r>
              <a:rPr lang="en-US" dirty="0">
                <a:solidFill>
                  <a:srgbClr val="FF0000"/>
                </a:solidFill>
              </a:rPr>
              <a:t> </a:t>
            </a:r>
            <a:r>
              <a:rPr lang="en-US" dirty="0">
                <a:solidFill>
                  <a:schemeClr val="accent6"/>
                </a:solidFill>
              </a:rPr>
              <a:t>kept</a:t>
            </a:r>
            <a:r>
              <a:rPr lang="en-US" dirty="0">
                <a:solidFill>
                  <a:srgbClr val="FF0000"/>
                </a:solidFill>
              </a:rPr>
              <a:t> </a:t>
            </a:r>
            <a:r>
              <a:rPr lang="en-US" dirty="0"/>
              <a:t>on</a:t>
            </a:r>
            <a:r>
              <a:rPr lang="en-US" dirty="0">
                <a:solidFill>
                  <a:srgbClr val="FF0000"/>
                </a:solidFill>
              </a:rPr>
              <a:t> </a:t>
            </a:r>
            <a:r>
              <a:rPr lang="en-US" dirty="0">
                <a:solidFill>
                  <a:schemeClr val="accent6"/>
                </a:solidFill>
              </a:rPr>
              <a:t>disk</a:t>
            </a:r>
            <a:r>
              <a:rPr lang="en-US" dirty="0">
                <a:solidFill>
                  <a:srgbClr val="FF0000"/>
                </a:solidFill>
              </a:rPr>
              <a:t> </a:t>
            </a:r>
            <a:r>
              <a:rPr lang="en-US" dirty="0"/>
              <a:t>and</a:t>
            </a:r>
            <a:r>
              <a:rPr lang="en-US" dirty="0">
                <a:solidFill>
                  <a:srgbClr val="FF0000"/>
                </a:solidFill>
              </a:rPr>
              <a:t> </a:t>
            </a:r>
            <a:r>
              <a:rPr lang="en-US" dirty="0">
                <a:solidFill>
                  <a:schemeClr val="accent6"/>
                </a:solidFill>
              </a:rPr>
              <a:t>brought</a:t>
            </a:r>
            <a:r>
              <a:rPr lang="en-US" dirty="0">
                <a:solidFill>
                  <a:srgbClr val="FF0000"/>
                </a:solidFill>
              </a:rPr>
              <a:t> </a:t>
            </a:r>
            <a:r>
              <a:rPr lang="en-US" dirty="0"/>
              <a:t>into</a:t>
            </a:r>
            <a:r>
              <a:rPr lang="en-US" dirty="0">
                <a:solidFill>
                  <a:srgbClr val="FF0000"/>
                </a:solidFill>
              </a:rPr>
              <a:t> </a:t>
            </a:r>
            <a:r>
              <a:rPr lang="en-US" dirty="0">
                <a:solidFill>
                  <a:schemeClr val="accent6"/>
                </a:solidFill>
              </a:rPr>
              <a:t>memory to run dynamically. </a:t>
            </a:r>
          </a:p>
          <a:p>
            <a:r>
              <a:rPr lang="en-US" dirty="0"/>
              <a:t>Process is </a:t>
            </a:r>
            <a:r>
              <a:rPr lang="en-US" dirty="0">
                <a:solidFill>
                  <a:schemeClr val="accent6"/>
                </a:solidFill>
              </a:rPr>
              <a:t>moved</a:t>
            </a:r>
            <a:r>
              <a:rPr lang="en-US" dirty="0"/>
              <a:t> in its entire </a:t>
            </a:r>
            <a:r>
              <a:rPr lang="en-US" dirty="0">
                <a:solidFill>
                  <a:schemeClr val="accent6"/>
                </a:solidFill>
              </a:rPr>
              <a:t>between memory or disk.</a:t>
            </a:r>
          </a:p>
          <a:p>
            <a:r>
              <a:rPr lang="en-US" dirty="0"/>
              <a:t>Swapping uses some of portion of secondary storage (disk) as backing storage. This is known as </a:t>
            </a:r>
            <a:r>
              <a:rPr lang="en-US" dirty="0">
                <a:solidFill>
                  <a:schemeClr val="accent6"/>
                </a:solidFill>
              </a:rPr>
              <a:t>Swap Area.</a:t>
            </a:r>
          </a:p>
          <a:p>
            <a:pPr marL="0" indent="0">
              <a:buNone/>
            </a:pPr>
            <a:endParaRPr lang="en-US" dirty="0">
              <a:solidFill>
                <a:srgbClr val="FF0000"/>
              </a:solidFill>
            </a:endParaRPr>
          </a:p>
        </p:txBody>
      </p:sp>
    </p:spTree>
    <p:extLst>
      <p:ext uri="{BB962C8B-B14F-4D97-AF65-F5344CB8AC3E}">
        <p14:creationId xmlns:p14="http://schemas.microsoft.com/office/powerpoint/2010/main" val="1918200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Swapping(Conti..) </a:t>
            </a:r>
          </a:p>
        </p:txBody>
      </p:sp>
      <p:sp>
        <p:nvSpPr>
          <p:cNvPr id="3" name="Content Placeholder 2"/>
          <p:cNvSpPr>
            <a:spLocks noGrp="1"/>
          </p:cNvSpPr>
          <p:nvPr>
            <p:ph idx="1"/>
          </p:nvPr>
        </p:nvSpPr>
        <p:spPr/>
        <p:txBody>
          <a:bodyPr/>
          <a:lstStyle/>
          <a:p>
            <a:pPr marL="0" indent="0">
              <a:buNone/>
            </a:pPr>
            <a:endParaRPr lang="en-US" dirty="0">
              <a:solidFill>
                <a:srgbClr val="FF0000"/>
              </a:solidFill>
            </a:endParaRPr>
          </a:p>
          <a:p>
            <a:pPr marL="0" indent="0">
              <a:buNone/>
            </a:pPr>
            <a:endParaRPr lang="en-US" dirty="0">
              <a:solidFill>
                <a:srgbClr val="FF0000"/>
              </a:solidFill>
            </a:endParaRPr>
          </a:p>
        </p:txBody>
      </p:sp>
      <p:sp>
        <p:nvSpPr>
          <p:cNvPr id="4" name="TextBox 3">
            <a:extLst>
              <a:ext uri="{FF2B5EF4-FFF2-40B4-BE49-F238E27FC236}">
                <a16:creationId xmlns:a16="http://schemas.microsoft.com/office/drawing/2014/main" id="{8645D6B5-A584-4354-93F1-0E9479D7A401}"/>
              </a:ext>
            </a:extLst>
          </p:cNvPr>
          <p:cNvSpPr txBox="1"/>
          <p:nvPr/>
        </p:nvSpPr>
        <p:spPr>
          <a:xfrm>
            <a:off x="4040773" y="3100731"/>
            <a:ext cx="1828800" cy="707886"/>
          </a:xfrm>
          <a:prstGeom prst="rect">
            <a:avLst/>
          </a:prstGeom>
          <a:noFill/>
          <a:ln>
            <a:solidFill>
              <a:schemeClr val="tx1"/>
            </a:solidFill>
          </a:ln>
        </p:spPr>
        <p:txBody>
          <a:bodyPr wrap="square" rtlCol="0">
            <a:spAutoFit/>
          </a:bodyPr>
          <a:lstStyle/>
          <a:p>
            <a:pPr algn="ctr"/>
            <a:r>
              <a:rPr lang="en-US" sz="2000" dirty="0">
                <a:solidFill>
                  <a:srgbClr val="212121"/>
                </a:solidFill>
              </a:rPr>
              <a:t>Operating System</a:t>
            </a:r>
          </a:p>
        </p:txBody>
      </p:sp>
      <p:sp>
        <p:nvSpPr>
          <p:cNvPr id="5" name="TextBox 4">
            <a:extLst>
              <a:ext uri="{FF2B5EF4-FFF2-40B4-BE49-F238E27FC236}">
                <a16:creationId xmlns:a16="http://schemas.microsoft.com/office/drawing/2014/main" id="{5FF2D5D2-C774-49C9-B45F-EF25461DFC11}"/>
              </a:ext>
            </a:extLst>
          </p:cNvPr>
          <p:cNvSpPr txBox="1"/>
          <p:nvPr/>
        </p:nvSpPr>
        <p:spPr>
          <a:xfrm>
            <a:off x="4040773" y="3808617"/>
            <a:ext cx="1828800" cy="2039720"/>
          </a:xfrm>
          <a:prstGeom prst="rect">
            <a:avLst/>
          </a:prstGeom>
          <a:noFill/>
          <a:ln>
            <a:solidFill>
              <a:schemeClr val="tx1"/>
            </a:solidFill>
          </a:ln>
        </p:spPr>
        <p:txBody>
          <a:bodyPr wrap="square" rtlCol="0">
            <a:spAutoFit/>
          </a:bodyPr>
          <a:lstStyle/>
          <a:p>
            <a:endParaRPr lang="en-US" dirty="0">
              <a:solidFill>
                <a:srgbClr val="212121"/>
              </a:solidFill>
            </a:endParaRPr>
          </a:p>
        </p:txBody>
      </p:sp>
      <p:sp>
        <p:nvSpPr>
          <p:cNvPr id="6" name="Flowchart: Magnetic Disk 5">
            <a:extLst>
              <a:ext uri="{FF2B5EF4-FFF2-40B4-BE49-F238E27FC236}">
                <a16:creationId xmlns:a16="http://schemas.microsoft.com/office/drawing/2014/main" id="{C40D8617-06FA-4D5A-BC3F-F09AC399101D}"/>
              </a:ext>
            </a:extLst>
          </p:cNvPr>
          <p:cNvSpPr/>
          <p:nvPr/>
        </p:nvSpPr>
        <p:spPr>
          <a:xfrm>
            <a:off x="7715250" y="2926477"/>
            <a:ext cx="3028950" cy="2857500"/>
          </a:xfrm>
          <a:prstGeom prst="flowChartMagneticDisk">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 name="TextBox 6">
            <a:extLst>
              <a:ext uri="{FF2B5EF4-FFF2-40B4-BE49-F238E27FC236}">
                <a16:creationId xmlns:a16="http://schemas.microsoft.com/office/drawing/2014/main" id="{148D8A81-7914-4D2D-9EE6-FEB6B2B36F7B}"/>
              </a:ext>
            </a:extLst>
          </p:cNvPr>
          <p:cNvSpPr txBox="1"/>
          <p:nvPr/>
        </p:nvSpPr>
        <p:spPr>
          <a:xfrm>
            <a:off x="8233032" y="4032061"/>
            <a:ext cx="925253" cy="646331"/>
          </a:xfrm>
          <a:prstGeom prst="rect">
            <a:avLst/>
          </a:prstGeom>
          <a:noFill/>
          <a:ln>
            <a:solidFill>
              <a:schemeClr val="tx1"/>
            </a:solidFill>
          </a:ln>
        </p:spPr>
        <p:txBody>
          <a:bodyPr wrap="none" rtlCol="0">
            <a:spAutoFit/>
          </a:bodyPr>
          <a:lstStyle/>
          <a:p>
            <a:pPr algn="ctr"/>
            <a:r>
              <a:rPr lang="en-US" dirty="0">
                <a:solidFill>
                  <a:srgbClr val="212121"/>
                </a:solidFill>
              </a:rPr>
              <a:t>Process</a:t>
            </a:r>
          </a:p>
          <a:p>
            <a:pPr algn="ctr"/>
            <a:r>
              <a:rPr lang="en-US" dirty="0">
                <a:solidFill>
                  <a:srgbClr val="212121"/>
                </a:solidFill>
              </a:rPr>
              <a:t>P1</a:t>
            </a:r>
          </a:p>
        </p:txBody>
      </p:sp>
      <p:sp>
        <p:nvSpPr>
          <p:cNvPr id="8" name="TextBox 7">
            <a:extLst>
              <a:ext uri="{FF2B5EF4-FFF2-40B4-BE49-F238E27FC236}">
                <a16:creationId xmlns:a16="http://schemas.microsoft.com/office/drawing/2014/main" id="{6DE88D2D-1B88-49F8-82BE-227651D9BC3D}"/>
              </a:ext>
            </a:extLst>
          </p:cNvPr>
          <p:cNvSpPr txBox="1"/>
          <p:nvPr/>
        </p:nvSpPr>
        <p:spPr>
          <a:xfrm>
            <a:off x="9272589" y="4828477"/>
            <a:ext cx="925253" cy="646331"/>
          </a:xfrm>
          <a:prstGeom prst="rect">
            <a:avLst/>
          </a:prstGeom>
          <a:noFill/>
          <a:ln>
            <a:solidFill>
              <a:schemeClr val="tx1"/>
            </a:solidFill>
          </a:ln>
        </p:spPr>
        <p:txBody>
          <a:bodyPr wrap="none" rtlCol="0">
            <a:spAutoFit/>
          </a:bodyPr>
          <a:lstStyle/>
          <a:p>
            <a:pPr algn="ctr"/>
            <a:r>
              <a:rPr lang="en-US" dirty="0">
                <a:solidFill>
                  <a:srgbClr val="212121"/>
                </a:solidFill>
              </a:rPr>
              <a:t>Process</a:t>
            </a:r>
          </a:p>
          <a:p>
            <a:pPr algn="ctr"/>
            <a:r>
              <a:rPr lang="en-US" dirty="0">
                <a:solidFill>
                  <a:srgbClr val="212121"/>
                </a:solidFill>
              </a:rPr>
              <a:t>P2</a:t>
            </a:r>
          </a:p>
        </p:txBody>
      </p:sp>
      <p:sp>
        <p:nvSpPr>
          <p:cNvPr id="9" name="TextBox 8">
            <a:extLst>
              <a:ext uri="{FF2B5EF4-FFF2-40B4-BE49-F238E27FC236}">
                <a16:creationId xmlns:a16="http://schemas.microsoft.com/office/drawing/2014/main" id="{68B12139-AAF1-477D-9707-22CA10F566A6}"/>
              </a:ext>
            </a:extLst>
          </p:cNvPr>
          <p:cNvSpPr txBox="1"/>
          <p:nvPr/>
        </p:nvSpPr>
        <p:spPr>
          <a:xfrm>
            <a:off x="4348511" y="5461402"/>
            <a:ext cx="1196161" cy="369332"/>
          </a:xfrm>
          <a:prstGeom prst="rect">
            <a:avLst/>
          </a:prstGeom>
          <a:noFill/>
          <a:ln>
            <a:noFill/>
          </a:ln>
        </p:spPr>
        <p:txBody>
          <a:bodyPr wrap="none" rtlCol="0">
            <a:spAutoFit/>
          </a:bodyPr>
          <a:lstStyle/>
          <a:p>
            <a:pPr algn="ctr"/>
            <a:r>
              <a:rPr lang="en-US" dirty="0">
                <a:solidFill>
                  <a:srgbClr val="212121"/>
                </a:solidFill>
              </a:rPr>
              <a:t>User space</a:t>
            </a:r>
          </a:p>
        </p:txBody>
      </p:sp>
      <p:sp>
        <p:nvSpPr>
          <p:cNvPr id="10" name="TextBox 9">
            <a:extLst>
              <a:ext uri="{FF2B5EF4-FFF2-40B4-BE49-F238E27FC236}">
                <a16:creationId xmlns:a16="http://schemas.microsoft.com/office/drawing/2014/main" id="{78B2BCE2-EA5E-4AF4-8FEA-C64E85937C5A}"/>
              </a:ext>
            </a:extLst>
          </p:cNvPr>
          <p:cNvSpPr txBox="1"/>
          <p:nvPr/>
        </p:nvSpPr>
        <p:spPr>
          <a:xfrm>
            <a:off x="4242478" y="5934254"/>
            <a:ext cx="1425390" cy="369332"/>
          </a:xfrm>
          <a:prstGeom prst="rect">
            <a:avLst/>
          </a:prstGeom>
          <a:noFill/>
          <a:ln>
            <a:noFill/>
          </a:ln>
        </p:spPr>
        <p:txBody>
          <a:bodyPr wrap="none" rtlCol="0">
            <a:spAutoFit/>
          </a:bodyPr>
          <a:lstStyle/>
          <a:p>
            <a:pPr algn="ctr"/>
            <a:r>
              <a:rPr lang="en-US" dirty="0">
                <a:solidFill>
                  <a:srgbClr val="212121"/>
                </a:solidFill>
              </a:rPr>
              <a:t>Main Memory</a:t>
            </a:r>
          </a:p>
        </p:txBody>
      </p:sp>
      <p:sp>
        <p:nvSpPr>
          <p:cNvPr id="11" name="TextBox 10">
            <a:extLst>
              <a:ext uri="{FF2B5EF4-FFF2-40B4-BE49-F238E27FC236}">
                <a16:creationId xmlns:a16="http://schemas.microsoft.com/office/drawing/2014/main" id="{31B37BBE-D7FB-4D75-8B9F-84033336CA82}"/>
              </a:ext>
            </a:extLst>
          </p:cNvPr>
          <p:cNvSpPr txBox="1"/>
          <p:nvPr/>
        </p:nvSpPr>
        <p:spPr>
          <a:xfrm>
            <a:off x="7824757" y="5948059"/>
            <a:ext cx="1447832" cy="369332"/>
          </a:xfrm>
          <a:prstGeom prst="rect">
            <a:avLst/>
          </a:prstGeom>
          <a:noFill/>
          <a:ln>
            <a:noFill/>
          </a:ln>
        </p:spPr>
        <p:txBody>
          <a:bodyPr wrap="none" rtlCol="0">
            <a:spAutoFit/>
          </a:bodyPr>
          <a:lstStyle/>
          <a:p>
            <a:pPr algn="ctr"/>
            <a:r>
              <a:rPr lang="en-US" dirty="0">
                <a:solidFill>
                  <a:srgbClr val="212121"/>
                </a:solidFill>
              </a:rPr>
              <a:t>Backing Store</a:t>
            </a:r>
          </a:p>
        </p:txBody>
      </p:sp>
      <p:cxnSp>
        <p:nvCxnSpPr>
          <p:cNvPr id="12" name="Straight Arrow Connector 11">
            <a:extLst>
              <a:ext uri="{FF2B5EF4-FFF2-40B4-BE49-F238E27FC236}">
                <a16:creationId xmlns:a16="http://schemas.microsoft.com/office/drawing/2014/main" id="{B1FD11C2-1BF4-4203-8D5A-88A6AA5F19FB}"/>
              </a:ext>
            </a:extLst>
          </p:cNvPr>
          <p:cNvCxnSpPr>
            <a:endCxn id="7" idx="1"/>
          </p:cNvCxnSpPr>
          <p:nvPr/>
        </p:nvCxnSpPr>
        <p:spPr>
          <a:xfrm flipV="1">
            <a:off x="5440318" y="4355227"/>
            <a:ext cx="2792714" cy="203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78ECCF9-F0A0-417B-848B-EE2A9918AF29}"/>
              </a:ext>
            </a:extLst>
          </p:cNvPr>
          <p:cNvCxnSpPr>
            <a:stCxn id="8" idx="1"/>
          </p:cNvCxnSpPr>
          <p:nvPr/>
        </p:nvCxnSpPr>
        <p:spPr>
          <a:xfrm flipH="1" flipV="1">
            <a:off x="5440318" y="5151642"/>
            <a:ext cx="3832271"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DBE3137C-B02C-42DE-A052-F09B3B45661A}"/>
              </a:ext>
            </a:extLst>
          </p:cNvPr>
          <p:cNvSpPr txBox="1"/>
          <p:nvPr/>
        </p:nvSpPr>
        <p:spPr>
          <a:xfrm>
            <a:off x="6295458" y="3977941"/>
            <a:ext cx="1051891" cy="369332"/>
          </a:xfrm>
          <a:prstGeom prst="rect">
            <a:avLst/>
          </a:prstGeom>
          <a:noFill/>
          <a:ln>
            <a:noFill/>
          </a:ln>
        </p:spPr>
        <p:txBody>
          <a:bodyPr wrap="none" rtlCol="0">
            <a:spAutoFit/>
          </a:bodyPr>
          <a:lstStyle/>
          <a:p>
            <a:pPr algn="ctr"/>
            <a:r>
              <a:rPr lang="en-US" dirty="0">
                <a:solidFill>
                  <a:srgbClr val="212121"/>
                </a:solidFill>
              </a:rPr>
              <a:t>Swap Out</a:t>
            </a:r>
          </a:p>
        </p:txBody>
      </p:sp>
      <p:sp>
        <p:nvSpPr>
          <p:cNvPr id="15" name="TextBox 14">
            <a:extLst>
              <a:ext uri="{FF2B5EF4-FFF2-40B4-BE49-F238E27FC236}">
                <a16:creationId xmlns:a16="http://schemas.microsoft.com/office/drawing/2014/main" id="{3E598C9F-E972-42AE-85CC-A43FECB4011A}"/>
              </a:ext>
            </a:extLst>
          </p:cNvPr>
          <p:cNvSpPr txBox="1"/>
          <p:nvPr/>
        </p:nvSpPr>
        <p:spPr>
          <a:xfrm>
            <a:off x="6295458" y="4795888"/>
            <a:ext cx="902812" cy="369332"/>
          </a:xfrm>
          <a:prstGeom prst="rect">
            <a:avLst/>
          </a:prstGeom>
          <a:noFill/>
          <a:ln>
            <a:noFill/>
          </a:ln>
        </p:spPr>
        <p:txBody>
          <a:bodyPr wrap="none" rtlCol="0">
            <a:spAutoFit/>
          </a:bodyPr>
          <a:lstStyle/>
          <a:p>
            <a:pPr algn="ctr"/>
            <a:r>
              <a:rPr lang="en-US" dirty="0">
                <a:solidFill>
                  <a:srgbClr val="212121"/>
                </a:solidFill>
              </a:rPr>
              <a:t>Swap In</a:t>
            </a:r>
          </a:p>
        </p:txBody>
      </p:sp>
      <p:sp>
        <p:nvSpPr>
          <p:cNvPr id="16" name="TextBox 15">
            <a:extLst>
              <a:ext uri="{FF2B5EF4-FFF2-40B4-BE49-F238E27FC236}">
                <a16:creationId xmlns:a16="http://schemas.microsoft.com/office/drawing/2014/main" id="{241F4C79-0D9C-42C0-B2E1-B71490BCC343}"/>
              </a:ext>
            </a:extLst>
          </p:cNvPr>
          <p:cNvSpPr txBox="1"/>
          <p:nvPr/>
        </p:nvSpPr>
        <p:spPr>
          <a:xfrm>
            <a:off x="498257" y="1160694"/>
            <a:ext cx="3967726" cy="2585323"/>
          </a:xfrm>
          <a:prstGeom prst="rect">
            <a:avLst/>
          </a:prstGeom>
          <a:noFill/>
        </p:spPr>
        <p:txBody>
          <a:bodyPr wrap="square" rtlCol="0">
            <a:spAutoFit/>
          </a:bodyPr>
          <a:lstStyle/>
          <a:p>
            <a:r>
              <a:rPr lang="en-US" dirty="0">
                <a:solidFill>
                  <a:srgbClr val="00B050"/>
                </a:solidFill>
              </a:rPr>
              <a:t>Step -1 : When any process goes in blocked state and there is not enough space in memory to run all process, then that process is moved to swap area</a:t>
            </a:r>
          </a:p>
          <a:p>
            <a:endParaRPr lang="en-US" dirty="0">
              <a:solidFill>
                <a:srgbClr val="00B050"/>
              </a:solidFill>
            </a:endParaRPr>
          </a:p>
          <a:p>
            <a:r>
              <a:rPr lang="en-US" dirty="0">
                <a:solidFill>
                  <a:srgbClr val="00B050"/>
                </a:solidFill>
              </a:rPr>
              <a:t>Process will remain until it became ready to run and process will brought in memory</a:t>
            </a:r>
          </a:p>
          <a:p>
            <a:endParaRPr lang="en-US" dirty="0">
              <a:solidFill>
                <a:srgbClr val="00B050"/>
              </a:solidFill>
            </a:endParaRPr>
          </a:p>
        </p:txBody>
      </p:sp>
      <p:sp>
        <p:nvSpPr>
          <p:cNvPr id="18" name="TextBox 17">
            <a:extLst>
              <a:ext uri="{FF2B5EF4-FFF2-40B4-BE49-F238E27FC236}">
                <a16:creationId xmlns:a16="http://schemas.microsoft.com/office/drawing/2014/main" id="{A74FDB80-27F9-4971-954C-A064018338D3}"/>
              </a:ext>
            </a:extLst>
          </p:cNvPr>
          <p:cNvSpPr txBox="1"/>
          <p:nvPr/>
        </p:nvSpPr>
        <p:spPr>
          <a:xfrm>
            <a:off x="8695658" y="1157341"/>
            <a:ext cx="3201384" cy="923330"/>
          </a:xfrm>
          <a:prstGeom prst="rect">
            <a:avLst/>
          </a:prstGeom>
          <a:noFill/>
        </p:spPr>
        <p:txBody>
          <a:bodyPr wrap="square" rtlCol="0">
            <a:spAutoFit/>
          </a:bodyPr>
          <a:lstStyle/>
          <a:p>
            <a:r>
              <a:rPr lang="en-US" dirty="0">
                <a:solidFill>
                  <a:srgbClr val="00B050"/>
                </a:solidFill>
              </a:rPr>
              <a:t>Step – 3 : Operation of moving process from memory to swap area is called </a:t>
            </a:r>
            <a:r>
              <a:rPr lang="en-US" dirty="0">
                <a:solidFill>
                  <a:srgbClr val="B84742"/>
                </a:solidFill>
              </a:rPr>
              <a:t>Swap Out</a:t>
            </a:r>
          </a:p>
        </p:txBody>
      </p:sp>
      <p:sp>
        <p:nvSpPr>
          <p:cNvPr id="19" name="TextBox 18">
            <a:extLst>
              <a:ext uri="{FF2B5EF4-FFF2-40B4-BE49-F238E27FC236}">
                <a16:creationId xmlns:a16="http://schemas.microsoft.com/office/drawing/2014/main" id="{219C171E-E119-4766-BD0B-CE56442160E2}"/>
              </a:ext>
            </a:extLst>
          </p:cNvPr>
          <p:cNvSpPr txBox="1"/>
          <p:nvPr/>
        </p:nvSpPr>
        <p:spPr>
          <a:xfrm>
            <a:off x="5248308" y="1192707"/>
            <a:ext cx="3201384" cy="923330"/>
          </a:xfrm>
          <a:prstGeom prst="rect">
            <a:avLst/>
          </a:prstGeom>
          <a:noFill/>
        </p:spPr>
        <p:txBody>
          <a:bodyPr wrap="square" rtlCol="0">
            <a:spAutoFit/>
          </a:bodyPr>
          <a:lstStyle/>
          <a:p>
            <a:r>
              <a:rPr lang="en-US" dirty="0">
                <a:solidFill>
                  <a:srgbClr val="00B050"/>
                </a:solidFill>
              </a:rPr>
              <a:t>Step – 2 : Operation of moving process from swap area to memory is called </a:t>
            </a:r>
            <a:r>
              <a:rPr lang="en-US" dirty="0">
                <a:solidFill>
                  <a:srgbClr val="B84742"/>
                </a:solidFill>
              </a:rPr>
              <a:t>Swap In</a:t>
            </a:r>
          </a:p>
        </p:txBody>
      </p:sp>
      <p:sp>
        <p:nvSpPr>
          <p:cNvPr id="20" name="TextBox 19">
            <a:extLst>
              <a:ext uri="{FF2B5EF4-FFF2-40B4-BE49-F238E27FC236}">
                <a16:creationId xmlns:a16="http://schemas.microsoft.com/office/drawing/2014/main" id="{9A7BAA6E-77B9-461D-B695-FDC08C151B68}"/>
              </a:ext>
            </a:extLst>
          </p:cNvPr>
          <p:cNvSpPr txBox="1"/>
          <p:nvPr/>
        </p:nvSpPr>
        <p:spPr>
          <a:xfrm>
            <a:off x="152535" y="4907404"/>
            <a:ext cx="3796673" cy="1754326"/>
          </a:xfrm>
          <a:prstGeom prst="rect">
            <a:avLst/>
          </a:prstGeom>
          <a:noFill/>
        </p:spPr>
        <p:txBody>
          <a:bodyPr wrap="square" rtlCol="0">
            <a:spAutoFit/>
          </a:bodyPr>
          <a:lstStyle/>
          <a:p>
            <a:r>
              <a:rPr lang="en-US" dirty="0">
                <a:solidFill>
                  <a:srgbClr val="00B050"/>
                </a:solidFill>
              </a:rPr>
              <a:t>Step – 4 : When process brought back to memory then it may be loaded on different location rather then original one.</a:t>
            </a:r>
          </a:p>
          <a:p>
            <a:endParaRPr lang="en-US" dirty="0">
              <a:solidFill>
                <a:srgbClr val="00B050"/>
              </a:solidFill>
            </a:endParaRPr>
          </a:p>
          <a:p>
            <a:r>
              <a:rPr lang="en-US" dirty="0">
                <a:solidFill>
                  <a:srgbClr val="00B050"/>
                </a:solidFill>
              </a:rPr>
              <a:t>So, there is need of </a:t>
            </a:r>
            <a:r>
              <a:rPr lang="en-US" dirty="0">
                <a:solidFill>
                  <a:srgbClr val="B84742"/>
                </a:solidFill>
              </a:rPr>
              <a:t>Memory Relocation</a:t>
            </a:r>
            <a:r>
              <a:rPr lang="en-US" dirty="0">
                <a:solidFill>
                  <a:srgbClr val="00B050"/>
                </a:solidFill>
              </a:rPr>
              <a:t>.</a:t>
            </a:r>
            <a:endParaRPr lang="en-US" dirty="0">
              <a:solidFill>
                <a:srgbClr val="FF0000"/>
              </a:solidFill>
            </a:endParaRPr>
          </a:p>
        </p:txBody>
      </p:sp>
      <p:sp>
        <p:nvSpPr>
          <p:cNvPr id="21" name="TextBox 20">
            <a:extLst>
              <a:ext uri="{FF2B5EF4-FFF2-40B4-BE49-F238E27FC236}">
                <a16:creationId xmlns:a16="http://schemas.microsoft.com/office/drawing/2014/main" id="{C480971A-07B7-463D-A7CB-C7FA407AC85C}"/>
              </a:ext>
            </a:extLst>
          </p:cNvPr>
          <p:cNvSpPr txBox="1"/>
          <p:nvPr/>
        </p:nvSpPr>
        <p:spPr>
          <a:xfrm>
            <a:off x="7377899" y="2731398"/>
            <a:ext cx="3744803" cy="3099335"/>
          </a:xfrm>
          <a:prstGeom prst="rect">
            <a:avLst/>
          </a:prstGeom>
          <a:noFill/>
          <a:ln>
            <a:solidFill>
              <a:srgbClr val="FF0000"/>
            </a:solidFill>
          </a:ln>
        </p:spPr>
        <p:txBody>
          <a:bodyPr wrap="square" rtlCol="0">
            <a:spAutoFit/>
          </a:bodyPr>
          <a:lstStyle/>
          <a:p>
            <a:endParaRPr lang="en-US" dirty="0">
              <a:solidFill>
                <a:srgbClr val="212121"/>
              </a:solidFill>
            </a:endParaRPr>
          </a:p>
        </p:txBody>
      </p:sp>
      <p:sp>
        <p:nvSpPr>
          <p:cNvPr id="22" name="TextBox 21">
            <a:extLst>
              <a:ext uri="{FF2B5EF4-FFF2-40B4-BE49-F238E27FC236}">
                <a16:creationId xmlns:a16="http://schemas.microsoft.com/office/drawing/2014/main" id="{842B69D5-6D25-4038-BF01-A5BC4C9B0EF4}"/>
              </a:ext>
            </a:extLst>
          </p:cNvPr>
          <p:cNvSpPr txBox="1"/>
          <p:nvPr/>
        </p:nvSpPr>
        <p:spPr>
          <a:xfrm>
            <a:off x="10945965" y="4024107"/>
            <a:ext cx="1028175" cy="646331"/>
          </a:xfrm>
          <a:prstGeom prst="rect">
            <a:avLst/>
          </a:prstGeom>
          <a:noFill/>
        </p:spPr>
        <p:txBody>
          <a:bodyPr wrap="square" rtlCol="0">
            <a:spAutoFit/>
          </a:bodyPr>
          <a:lstStyle/>
          <a:p>
            <a:pPr algn="ctr"/>
            <a:r>
              <a:rPr lang="en-US" dirty="0">
                <a:solidFill>
                  <a:srgbClr val="002060"/>
                </a:solidFill>
              </a:rPr>
              <a:t>Swap Area</a:t>
            </a:r>
          </a:p>
        </p:txBody>
      </p:sp>
      <p:sp>
        <p:nvSpPr>
          <p:cNvPr id="23" name="TextBox 22">
            <a:extLst>
              <a:ext uri="{FF2B5EF4-FFF2-40B4-BE49-F238E27FC236}">
                <a16:creationId xmlns:a16="http://schemas.microsoft.com/office/drawing/2014/main" id="{32BD158B-CC7E-4163-AB3C-2E81548EC39C}"/>
              </a:ext>
            </a:extLst>
          </p:cNvPr>
          <p:cNvSpPr txBox="1"/>
          <p:nvPr/>
        </p:nvSpPr>
        <p:spPr>
          <a:xfrm>
            <a:off x="6184516" y="3954017"/>
            <a:ext cx="1328968" cy="486131"/>
          </a:xfrm>
          <a:prstGeom prst="rect">
            <a:avLst/>
          </a:prstGeom>
          <a:noFill/>
          <a:ln>
            <a:solidFill>
              <a:srgbClr val="FF0000"/>
            </a:solidFill>
          </a:ln>
        </p:spPr>
        <p:txBody>
          <a:bodyPr wrap="square" rtlCol="0">
            <a:spAutoFit/>
          </a:bodyPr>
          <a:lstStyle/>
          <a:p>
            <a:endParaRPr lang="en-US" dirty="0">
              <a:solidFill>
                <a:srgbClr val="212121"/>
              </a:solidFill>
            </a:endParaRPr>
          </a:p>
        </p:txBody>
      </p:sp>
      <p:sp>
        <p:nvSpPr>
          <p:cNvPr id="24" name="TextBox 23">
            <a:extLst>
              <a:ext uri="{FF2B5EF4-FFF2-40B4-BE49-F238E27FC236}">
                <a16:creationId xmlns:a16="http://schemas.microsoft.com/office/drawing/2014/main" id="{4CF1EF82-494B-4484-99B9-A9986A12C7E8}"/>
              </a:ext>
            </a:extLst>
          </p:cNvPr>
          <p:cNvSpPr txBox="1"/>
          <p:nvPr/>
        </p:nvSpPr>
        <p:spPr>
          <a:xfrm>
            <a:off x="6156918" y="4776360"/>
            <a:ext cx="1328969" cy="453018"/>
          </a:xfrm>
          <a:prstGeom prst="rect">
            <a:avLst/>
          </a:prstGeom>
          <a:noFill/>
          <a:ln>
            <a:solidFill>
              <a:srgbClr val="FF0000"/>
            </a:solidFill>
          </a:ln>
        </p:spPr>
        <p:txBody>
          <a:bodyPr wrap="square" rtlCol="0">
            <a:spAutoFit/>
          </a:bodyPr>
          <a:lstStyle/>
          <a:p>
            <a:endParaRPr lang="en-US" dirty="0">
              <a:solidFill>
                <a:srgbClr val="212121"/>
              </a:solidFill>
            </a:endParaRPr>
          </a:p>
        </p:txBody>
      </p:sp>
      <p:sp>
        <p:nvSpPr>
          <p:cNvPr id="25" name="TextBox 24">
            <a:extLst>
              <a:ext uri="{FF2B5EF4-FFF2-40B4-BE49-F238E27FC236}">
                <a16:creationId xmlns:a16="http://schemas.microsoft.com/office/drawing/2014/main" id="{F975E892-9975-4004-9599-11D45BC1810A}"/>
              </a:ext>
            </a:extLst>
          </p:cNvPr>
          <p:cNvSpPr txBox="1"/>
          <p:nvPr/>
        </p:nvSpPr>
        <p:spPr>
          <a:xfrm>
            <a:off x="5916415" y="3973332"/>
            <a:ext cx="314510" cy="400110"/>
          </a:xfrm>
          <a:prstGeom prst="rect">
            <a:avLst/>
          </a:prstGeom>
          <a:noFill/>
        </p:spPr>
        <p:txBody>
          <a:bodyPr wrap="none" rtlCol="0">
            <a:spAutoFit/>
          </a:bodyPr>
          <a:lstStyle/>
          <a:p>
            <a:r>
              <a:rPr lang="en-US" sz="2000" b="1" dirty="0">
                <a:solidFill>
                  <a:srgbClr val="FF0000"/>
                </a:solidFill>
              </a:rPr>
              <a:t>1</a:t>
            </a:r>
          </a:p>
        </p:txBody>
      </p:sp>
      <p:sp>
        <p:nvSpPr>
          <p:cNvPr id="26" name="TextBox 25">
            <a:extLst>
              <a:ext uri="{FF2B5EF4-FFF2-40B4-BE49-F238E27FC236}">
                <a16:creationId xmlns:a16="http://schemas.microsoft.com/office/drawing/2014/main" id="{2D89B53B-9345-4FB7-B54C-132BC4CF6C81}"/>
              </a:ext>
            </a:extLst>
          </p:cNvPr>
          <p:cNvSpPr txBox="1"/>
          <p:nvPr/>
        </p:nvSpPr>
        <p:spPr>
          <a:xfrm>
            <a:off x="5914543" y="4802814"/>
            <a:ext cx="314510" cy="400110"/>
          </a:xfrm>
          <a:prstGeom prst="rect">
            <a:avLst/>
          </a:prstGeom>
          <a:noFill/>
        </p:spPr>
        <p:txBody>
          <a:bodyPr wrap="none" rtlCol="0">
            <a:spAutoFit/>
          </a:bodyPr>
          <a:lstStyle/>
          <a:p>
            <a:r>
              <a:rPr lang="en-US" sz="2000" b="1" dirty="0">
                <a:solidFill>
                  <a:srgbClr val="FF0000"/>
                </a:solidFill>
              </a:rPr>
              <a:t>2</a:t>
            </a:r>
          </a:p>
        </p:txBody>
      </p:sp>
      <p:sp>
        <p:nvSpPr>
          <p:cNvPr id="27" name="TextBox 26">
            <a:extLst>
              <a:ext uri="{FF2B5EF4-FFF2-40B4-BE49-F238E27FC236}">
                <a16:creationId xmlns:a16="http://schemas.microsoft.com/office/drawing/2014/main" id="{06EB5425-E23F-42D7-A505-1A347B0D9932}"/>
              </a:ext>
            </a:extLst>
          </p:cNvPr>
          <p:cNvSpPr txBox="1"/>
          <p:nvPr/>
        </p:nvSpPr>
        <p:spPr>
          <a:xfrm>
            <a:off x="3901407" y="3001808"/>
            <a:ext cx="2072815" cy="2976231"/>
          </a:xfrm>
          <a:prstGeom prst="rect">
            <a:avLst/>
          </a:prstGeom>
          <a:noFill/>
          <a:ln>
            <a:solidFill>
              <a:srgbClr val="FF0000"/>
            </a:solidFill>
          </a:ln>
        </p:spPr>
        <p:txBody>
          <a:bodyPr wrap="square" rtlCol="0">
            <a:spAutoFit/>
          </a:bodyPr>
          <a:lstStyle/>
          <a:p>
            <a:endParaRPr lang="en-US" dirty="0">
              <a:solidFill>
                <a:srgbClr val="212121"/>
              </a:solidFill>
            </a:endParaRPr>
          </a:p>
        </p:txBody>
      </p:sp>
    </p:spTree>
    <p:extLst>
      <p:ext uri="{BB962C8B-B14F-4D97-AF65-F5344CB8AC3E}">
        <p14:creationId xmlns:p14="http://schemas.microsoft.com/office/powerpoint/2010/main" val="4220179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26" presetClass="emph" presetSubtype="0" repeatCount="indefinite" fill="hold" grpId="1" nodeType="withEffect">
                                  <p:stCondLst>
                                    <p:cond delay="0"/>
                                  </p:stCondLst>
                                  <p:endCondLst>
                                    <p:cond evt="onNext" delay="0">
                                      <p:tgtEl>
                                        <p:sldTgt/>
                                      </p:tgtEl>
                                    </p:cond>
                                  </p:endCondLst>
                                  <p:childTnLst>
                                    <p:animEffect transition="out" filter="fade">
                                      <p:cBhvr>
                                        <p:cTn id="38" dur="500" tmFilter="0, 0; .2, .5; .8, .5; 1, 0"/>
                                        <p:tgtEl>
                                          <p:spTgt spid="21"/>
                                        </p:tgtEl>
                                      </p:cBhvr>
                                    </p:animEffect>
                                    <p:animScale>
                                      <p:cBhvr>
                                        <p:cTn id="39" dur="250" autoRev="1" fill="hold"/>
                                        <p:tgtEl>
                                          <p:spTgt spid="21"/>
                                        </p:tgtEl>
                                      </p:cBhvr>
                                      <p:by x="105000" y="105000"/>
                                    </p:animScale>
                                  </p:childTnLst>
                                </p:cTn>
                              </p:par>
                              <p:par>
                                <p:cTn id="40" presetID="1"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xit" presetSubtype="0" fill="hold" grpId="2" nodeType="clickEffect">
                                  <p:stCondLst>
                                    <p:cond delay="0"/>
                                  </p:stCondLst>
                                  <p:childTnLst>
                                    <p:set>
                                      <p:cBhvr>
                                        <p:cTn id="47" dur="1" fill="hold">
                                          <p:stCondLst>
                                            <p:cond delay="0"/>
                                          </p:stCondLst>
                                        </p:cTn>
                                        <p:tgtEl>
                                          <p:spTgt spid="21"/>
                                        </p:tgtEl>
                                        <p:attrNameLst>
                                          <p:attrName>style.visibility</p:attrName>
                                        </p:attrNameLst>
                                      </p:cBhvr>
                                      <p:to>
                                        <p:strVal val="hidden"/>
                                      </p:to>
                                    </p:set>
                                  </p:childTnLst>
                                </p:cTn>
                              </p:par>
                              <p:par>
                                <p:cTn id="48" presetID="1" presetClass="entr" presetSubtype="0" fill="hold" grpId="3" nodeType="withEffect">
                                  <p:stCondLst>
                                    <p:cond delay="0"/>
                                  </p:stCondLst>
                                  <p:childTnLst>
                                    <p:set>
                                      <p:cBhvr>
                                        <p:cTn id="49" dur="1" fill="hold">
                                          <p:stCondLst>
                                            <p:cond delay="0"/>
                                          </p:stCondLst>
                                        </p:cTn>
                                        <p:tgtEl>
                                          <p:spTgt spid="21"/>
                                        </p:tgtEl>
                                        <p:attrNameLst>
                                          <p:attrName>style.visibility</p:attrName>
                                        </p:attrNameLst>
                                      </p:cBhvr>
                                      <p:to>
                                        <p:strVal val="visible"/>
                                      </p:to>
                                    </p:set>
                                  </p:childTnLst>
                                </p:cTn>
                              </p:par>
                              <p:par>
                                <p:cTn id="50" presetID="26" presetClass="emph" presetSubtype="0" repeatCount="indefinite" fill="hold" grpId="4" nodeType="withEffect">
                                  <p:stCondLst>
                                    <p:cond delay="0"/>
                                  </p:stCondLst>
                                  <p:endCondLst>
                                    <p:cond evt="onNext" delay="0">
                                      <p:tgtEl>
                                        <p:sldTgt/>
                                      </p:tgtEl>
                                    </p:cond>
                                  </p:endCondLst>
                                  <p:childTnLst>
                                    <p:animEffect transition="out" filter="fade">
                                      <p:cBhvr>
                                        <p:cTn id="51" dur="500" tmFilter="0, 0; .2, .5; .8, .5; 1, 0"/>
                                        <p:tgtEl>
                                          <p:spTgt spid="21"/>
                                        </p:tgtEl>
                                      </p:cBhvr>
                                    </p:animEffect>
                                    <p:animScale>
                                      <p:cBhvr>
                                        <p:cTn id="52" dur="250" autoRev="1" fill="hold"/>
                                        <p:tgtEl>
                                          <p:spTgt spid="21"/>
                                        </p:tgtEl>
                                      </p:cBhvr>
                                      <p:by x="105000" y="105000"/>
                                    </p:animScale>
                                  </p:childTnLst>
                                </p:cTn>
                              </p:par>
                            </p:childTnLst>
                          </p:cTn>
                        </p:par>
                      </p:childTnLst>
                    </p:cTn>
                  </p:par>
                  <p:par>
                    <p:cTn id="53" fill="hold">
                      <p:stCondLst>
                        <p:cond delay="indefinite"/>
                      </p:stCondLst>
                      <p:childTnLst>
                        <p:par>
                          <p:cTn id="54" fill="hold">
                            <p:stCondLst>
                              <p:cond delay="0"/>
                            </p:stCondLst>
                            <p:childTnLst>
                              <p:par>
                                <p:cTn id="55" presetID="1" presetClass="exit" presetSubtype="0" fill="hold" grpId="5" nodeType="clickEffect">
                                  <p:stCondLst>
                                    <p:cond delay="0"/>
                                  </p:stCondLst>
                                  <p:childTnLst>
                                    <p:set>
                                      <p:cBhvr>
                                        <p:cTn id="56" dur="1" fill="hold">
                                          <p:stCondLst>
                                            <p:cond delay="0"/>
                                          </p:stCondLst>
                                        </p:cTn>
                                        <p:tgtEl>
                                          <p:spTgt spid="21"/>
                                        </p:tgtEl>
                                        <p:attrNameLst>
                                          <p:attrName>style.visibility</p:attrName>
                                        </p:attrNameLst>
                                      </p:cBhvr>
                                      <p:to>
                                        <p:strVal val="hidden"/>
                                      </p:to>
                                    </p:set>
                                  </p:childTnLst>
                                </p:cTn>
                              </p:par>
                              <p:par>
                                <p:cTn id="57" presetID="1" presetClass="entr" presetSubtype="0" fill="hold" grpId="0" nodeType="withEffect">
                                  <p:stCondLst>
                                    <p:cond delay="0"/>
                                  </p:stCondLst>
                                  <p:childTnLst>
                                    <p:set>
                                      <p:cBhvr>
                                        <p:cTn id="58" dur="1" fill="hold">
                                          <p:stCondLst>
                                            <p:cond delay="0"/>
                                          </p:stCondLst>
                                        </p:cTn>
                                        <p:tgtEl>
                                          <p:spTgt spid="24"/>
                                        </p:tgtEl>
                                        <p:attrNameLst>
                                          <p:attrName>style.visibility</p:attrName>
                                        </p:attrNameLst>
                                      </p:cBhvr>
                                      <p:to>
                                        <p:strVal val="visible"/>
                                      </p:to>
                                    </p:set>
                                  </p:childTnLst>
                                </p:cTn>
                              </p:par>
                              <p:par>
                                <p:cTn id="59" presetID="26" presetClass="emph" presetSubtype="0" repeatCount="indefinite" fill="hold" grpId="1" nodeType="withEffect">
                                  <p:stCondLst>
                                    <p:cond delay="0"/>
                                  </p:stCondLst>
                                  <p:endCondLst>
                                    <p:cond evt="onNext" delay="0">
                                      <p:tgtEl>
                                        <p:sldTgt/>
                                      </p:tgtEl>
                                    </p:cond>
                                  </p:endCondLst>
                                  <p:childTnLst>
                                    <p:animEffect transition="out" filter="fade">
                                      <p:cBhvr>
                                        <p:cTn id="60" dur="500" tmFilter="0, 0; .2, .5; .8, .5; 1, 0"/>
                                        <p:tgtEl>
                                          <p:spTgt spid="24"/>
                                        </p:tgtEl>
                                      </p:cBhvr>
                                    </p:animEffect>
                                    <p:animScale>
                                      <p:cBhvr>
                                        <p:cTn id="61" dur="250" autoRev="1" fill="hold"/>
                                        <p:tgtEl>
                                          <p:spTgt spid="24"/>
                                        </p:tgtEl>
                                      </p:cBhvr>
                                      <p:by x="105000" y="105000"/>
                                    </p:animScale>
                                  </p:childTnLst>
                                </p:cTn>
                              </p:par>
                              <p:par>
                                <p:cTn id="62" presetID="1" presetClass="entr" presetSubtype="0" fill="hold" grpId="0" nodeType="withEffect">
                                  <p:stCondLst>
                                    <p:cond delay="0"/>
                                  </p:stCondLst>
                                  <p:childTnLst>
                                    <p:set>
                                      <p:cBhvr>
                                        <p:cTn id="63" dur="1" fill="hold">
                                          <p:stCondLst>
                                            <p:cond delay="0"/>
                                          </p:stCondLst>
                                        </p:cTn>
                                        <p:tgtEl>
                                          <p:spTgt spid="19"/>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xit" presetSubtype="0" fill="hold" grpId="2" nodeType="clickEffect">
                                  <p:stCondLst>
                                    <p:cond delay="0"/>
                                  </p:stCondLst>
                                  <p:childTnLst>
                                    <p:set>
                                      <p:cBhvr>
                                        <p:cTn id="67" dur="1" fill="hold">
                                          <p:stCondLst>
                                            <p:cond delay="0"/>
                                          </p:stCondLst>
                                        </p:cTn>
                                        <p:tgtEl>
                                          <p:spTgt spid="24"/>
                                        </p:tgtEl>
                                        <p:attrNameLst>
                                          <p:attrName>style.visibility</p:attrName>
                                        </p:attrNameLst>
                                      </p:cBhvr>
                                      <p:to>
                                        <p:strVal val="hidden"/>
                                      </p:to>
                                    </p:set>
                                  </p:childTnLst>
                                </p:cTn>
                              </p:par>
                              <p:par>
                                <p:cTn id="68" presetID="1" presetClass="entr" presetSubtype="0" fill="hold" grpId="0" nodeType="withEffect">
                                  <p:stCondLst>
                                    <p:cond delay="0"/>
                                  </p:stCondLst>
                                  <p:childTnLst>
                                    <p:set>
                                      <p:cBhvr>
                                        <p:cTn id="69" dur="1" fill="hold">
                                          <p:stCondLst>
                                            <p:cond delay="0"/>
                                          </p:stCondLst>
                                        </p:cTn>
                                        <p:tgtEl>
                                          <p:spTgt spid="18"/>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23"/>
                                        </p:tgtEl>
                                        <p:attrNameLst>
                                          <p:attrName>style.visibility</p:attrName>
                                        </p:attrNameLst>
                                      </p:cBhvr>
                                      <p:to>
                                        <p:strVal val="visible"/>
                                      </p:to>
                                    </p:set>
                                  </p:childTnLst>
                                </p:cTn>
                              </p:par>
                              <p:par>
                                <p:cTn id="72" presetID="26" presetClass="emph" presetSubtype="0" repeatCount="indefinite" fill="hold" grpId="1" nodeType="withEffect">
                                  <p:stCondLst>
                                    <p:cond delay="0"/>
                                  </p:stCondLst>
                                  <p:endCondLst>
                                    <p:cond evt="onNext" delay="0">
                                      <p:tgtEl>
                                        <p:sldTgt/>
                                      </p:tgtEl>
                                    </p:cond>
                                  </p:endCondLst>
                                  <p:childTnLst>
                                    <p:animEffect transition="out" filter="fade">
                                      <p:cBhvr>
                                        <p:cTn id="73" dur="500" tmFilter="0, 0; .2, .5; .8, .5; 1, 0"/>
                                        <p:tgtEl>
                                          <p:spTgt spid="23"/>
                                        </p:tgtEl>
                                      </p:cBhvr>
                                    </p:animEffect>
                                    <p:animScale>
                                      <p:cBhvr>
                                        <p:cTn id="74" dur="250" autoRev="1" fill="hold"/>
                                        <p:tgtEl>
                                          <p:spTgt spid="23"/>
                                        </p:tgtEl>
                                      </p:cBhvr>
                                      <p:by x="105000" y="105000"/>
                                    </p:animScale>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grpId="2" nodeType="clickEffect">
                                  <p:stCondLst>
                                    <p:cond delay="0"/>
                                  </p:stCondLst>
                                  <p:childTnLst>
                                    <p:set>
                                      <p:cBhvr>
                                        <p:cTn id="78" dur="1" fill="hold">
                                          <p:stCondLst>
                                            <p:cond delay="0"/>
                                          </p:stCondLst>
                                        </p:cTn>
                                        <p:tgtEl>
                                          <p:spTgt spid="23"/>
                                        </p:tgtEl>
                                        <p:attrNameLst>
                                          <p:attrName>style.visibility</p:attrName>
                                        </p:attrNameLst>
                                      </p:cBhvr>
                                      <p:to>
                                        <p:strVal val="hidden"/>
                                      </p:to>
                                    </p:set>
                                  </p:childTnLst>
                                </p:cTn>
                              </p:par>
                              <p:par>
                                <p:cTn id="79" presetID="1" presetClass="entr" presetSubtype="0" fill="hold" grpId="0" nodeType="withEffect">
                                  <p:stCondLst>
                                    <p:cond delay="0"/>
                                  </p:stCondLst>
                                  <p:childTnLst>
                                    <p:set>
                                      <p:cBhvr>
                                        <p:cTn id="80" dur="1" fill="hold">
                                          <p:stCondLst>
                                            <p:cond delay="0"/>
                                          </p:stCondLst>
                                        </p:cTn>
                                        <p:tgtEl>
                                          <p:spTgt spid="20"/>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27"/>
                                        </p:tgtEl>
                                        <p:attrNameLst>
                                          <p:attrName>style.visibility</p:attrName>
                                        </p:attrNameLst>
                                      </p:cBhvr>
                                      <p:to>
                                        <p:strVal val="visible"/>
                                      </p:to>
                                    </p:set>
                                  </p:childTnLst>
                                </p:cTn>
                              </p:par>
                              <p:par>
                                <p:cTn id="83" presetID="26" presetClass="emph" presetSubtype="0" repeatCount="indefinite" fill="hold" grpId="1" nodeType="withEffect">
                                  <p:stCondLst>
                                    <p:cond delay="0"/>
                                  </p:stCondLst>
                                  <p:endCondLst>
                                    <p:cond evt="onNext" delay="0">
                                      <p:tgtEl>
                                        <p:sldTgt/>
                                      </p:tgtEl>
                                    </p:cond>
                                  </p:endCondLst>
                                  <p:childTnLst>
                                    <p:animEffect transition="out" filter="fade">
                                      <p:cBhvr>
                                        <p:cTn id="84" dur="500" tmFilter="0, 0; .2, .5; .8, .5; 1, 0"/>
                                        <p:tgtEl>
                                          <p:spTgt spid="27"/>
                                        </p:tgtEl>
                                      </p:cBhvr>
                                    </p:animEffect>
                                    <p:animScale>
                                      <p:cBhvr>
                                        <p:cTn id="85" dur="250" autoRev="1" fill="hold"/>
                                        <p:tgtEl>
                                          <p:spTgt spid="27"/>
                                        </p:tgtEl>
                                      </p:cBhvr>
                                      <p:by x="105000" y="105000"/>
                                    </p:animScale>
                                  </p:childTnLst>
                                </p:cTn>
                              </p:par>
                            </p:childTnLst>
                          </p:cTn>
                        </p:par>
                      </p:childTnLst>
                    </p:cTn>
                  </p:par>
                  <p:par>
                    <p:cTn id="86" fill="hold">
                      <p:stCondLst>
                        <p:cond delay="indefinite"/>
                      </p:stCondLst>
                      <p:childTnLst>
                        <p:par>
                          <p:cTn id="87" fill="hold">
                            <p:stCondLst>
                              <p:cond delay="0"/>
                            </p:stCondLst>
                            <p:childTnLst>
                              <p:par>
                                <p:cTn id="88" presetID="1" presetClass="exit" presetSubtype="0" fill="hold" grpId="2" nodeType="clickEffect">
                                  <p:stCondLst>
                                    <p:cond delay="0"/>
                                  </p:stCondLst>
                                  <p:childTnLst>
                                    <p:set>
                                      <p:cBhvr>
                                        <p:cTn id="89" dur="1" fill="hold">
                                          <p:stCondLst>
                                            <p:cond delay="0"/>
                                          </p:stCondLst>
                                        </p:cTn>
                                        <p:tgtEl>
                                          <p:spTgt spid="2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p:bldP spid="10" grpId="0"/>
      <p:bldP spid="11" grpId="0"/>
      <p:bldP spid="14" grpId="0"/>
      <p:bldP spid="15" grpId="0"/>
      <p:bldP spid="16" grpId="0"/>
      <p:bldP spid="18" grpId="0"/>
      <p:bldP spid="19" grpId="0"/>
      <p:bldP spid="20" grpId="0"/>
      <p:bldP spid="21" grpId="0" animBg="1"/>
      <p:bldP spid="21" grpId="1" animBg="1"/>
      <p:bldP spid="21" grpId="2" animBg="1"/>
      <p:bldP spid="21" grpId="3" animBg="1"/>
      <p:bldP spid="21" grpId="4" animBg="1"/>
      <p:bldP spid="21" grpId="5" animBg="1"/>
      <p:bldP spid="22" grpId="0"/>
      <p:bldP spid="23" grpId="0" animBg="1"/>
      <p:bldP spid="23" grpId="1" animBg="1"/>
      <p:bldP spid="23" grpId="2" animBg="1"/>
      <p:bldP spid="24" grpId="0" animBg="1"/>
      <p:bldP spid="24" grpId="1" animBg="1"/>
      <p:bldP spid="24" grpId="2" animBg="1"/>
      <p:bldP spid="25" grpId="0"/>
      <p:bldP spid="26" grpId="0"/>
      <p:bldP spid="27" grpId="0" animBg="1"/>
      <p:bldP spid="27" grpId="1" animBg="1"/>
      <p:bldP spid="27" grpId="2" animBg="1"/>
    </p:bldLst>
  </p:timing>
</p:sld>
</file>

<file path=ppt/slides/slide2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t>Non-Contiguous Memory Allocation</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3.2</a:t>
            </a:r>
          </a:p>
        </p:txBody>
      </p:sp>
    </p:spTree>
    <p:extLst>
      <p:ext uri="{BB962C8B-B14F-4D97-AF65-F5344CB8AC3E}">
        <p14:creationId xmlns:p14="http://schemas.microsoft.com/office/powerpoint/2010/main" val="3297134007"/>
      </p:ext>
    </p:extLst>
  </p:cSld>
  <p:clrMapOvr>
    <a:overrideClrMapping bg1="lt1" tx1="dk1" bg2="lt2" tx2="dk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Non-Contiguous Memory Allocation</a:t>
            </a:r>
          </a:p>
        </p:txBody>
      </p:sp>
      <p:sp>
        <p:nvSpPr>
          <p:cNvPr id="3" name="Content Placeholder 2"/>
          <p:cNvSpPr>
            <a:spLocks noGrp="1"/>
          </p:cNvSpPr>
          <p:nvPr>
            <p:ph idx="1"/>
          </p:nvPr>
        </p:nvSpPr>
        <p:spPr/>
        <p:txBody>
          <a:bodyPr/>
          <a:lstStyle/>
          <a:p>
            <a:r>
              <a:rPr lang="en-US" dirty="0"/>
              <a:t>This method is used by Modern OS.</a:t>
            </a:r>
          </a:p>
          <a:p>
            <a:r>
              <a:rPr lang="en-US" dirty="0">
                <a:solidFill>
                  <a:schemeClr val="accent6"/>
                </a:solidFill>
              </a:rPr>
              <a:t>Logical address </a:t>
            </a:r>
            <a:r>
              <a:rPr lang="en-US" dirty="0"/>
              <a:t>space is </a:t>
            </a:r>
            <a:r>
              <a:rPr lang="en-US" dirty="0">
                <a:solidFill>
                  <a:schemeClr val="accent6"/>
                </a:solidFill>
              </a:rPr>
              <a:t>divided</a:t>
            </a:r>
            <a:r>
              <a:rPr lang="en-US" dirty="0"/>
              <a:t> into </a:t>
            </a:r>
            <a:r>
              <a:rPr lang="en-US" dirty="0">
                <a:solidFill>
                  <a:schemeClr val="accent6"/>
                </a:solidFill>
              </a:rPr>
              <a:t>partitions</a:t>
            </a:r>
            <a:r>
              <a:rPr lang="en-US" dirty="0"/>
              <a:t>. For each partition </a:t>
            </a:r>
            <a:r>
              <a:rPr lang="en-US" dirty="0">
                <a:solidFill>
                  <a:schemeClr val="accent6"/>
                </a:solidFill>
              </a:rPr>
              <a:t>contiguous</a:t>
            </a:r>
            <a:r>
              <a:rPr lang="en-US" dirty="0"/>
              <a:t> chuck of </a:t>
            </a:r>
            <a:r>
              <a:rPr lang="en-US" dirty="0">
                <a:solidFill>
                  <a:schemeClr val="accent6"/>
                </a:solidFill>
              </a:rPr>
              <a:t>free memory</a:t>
            </a:r>
            <a:r>
              <a:rPr lang="en-US" dirty="0"/>
              <a:t> is </a:t>
            </a:r>
            <a:r>
              <a:rPr lang="en-US" dirty="0">
                <a:solidFill>
                  <a:schemeClr val="accent6"/>
                </a:solidFill>
              </a:rPr>
              <a:t>allocated</a:t>
            </a:r>
            <a:r>
              <a:rPr lang="en-US" dirty="0"/>
              <a:t>.</a:t>
            </a:r>
          </a:p>
          <a:p>
            <a:r>
              <a:rPr lang="en-US" dirty="0"/>
              <a:t>Physical Address space will not be contiguous.</a:t>
            </a:r>
          </a:p>
          <a:p>
            <a:r>
              <a:rPr lang="en-US" dirty="0"/>
              <a:t>Logical address space of process is divided 3 partition A, B, C.</a:t>
            </a:r>
          </a:p>
          <a:p>
            <a:r>
              <a:rPr lang="en-US" dirty="0">
                <a:solidFill>
                  <a:schemeClr val="accent6"/>
                </a:solidFill>
              </a:rPr>
              <a:t>Each partition is allocated separate chunk of memory in physical memory.</a:t>
            </a:r>
          </a:p>
        </p:txBody>
      </p:sp>
      <p:sp>
        <p:nvSpPr>
          <p:cNvPr id="4" name="TextBox 3"/>
          <p:cNvSpPr txBox="1"/>
          <p:nvPr/>
        </p:nvSpPr>
        <p:spPr>
          <a:xfrm>
            <a:off x="2843213" y="4197979"/>
            <a:ext cx="2492083" cy="369332"/>
          </a:xfrm>
          <a:prstGeom prst="rect">
            <a:avLst/>
          </a:prstGeom>
          <a:solidFill>
            <a:schemeClr val="accent5">
              <a:lumMod val="40000"/>
              <a:lumOff val="60000"/>
            </a:schemeClr>
          </a:solidFill>
          <a:ln>
            <a:solidFill>
              <a:schemeClr val="tx1"/>
            </a:solidFill>
          </a:ln>
        </p:spPr>
        <p:txBody>
          <a:bodyPr wrap="square" rtlCol="0">
            <a:spAutoFit/>
          </a:bodyPr>
          <a:lstStyle/>
          <a:p>
            <a:pPr algn="ctr"/>
            <a:r>
              <a:rPr lang="en-US" b="1" dirty="0">
                <a:solidFill>
                  <a:srgbClr val="212121"/>
                </a:solidFill>
              </a:rPr>
              <a:t>A</a:t>
            </a:r>
          </a:p>
        </p:txBody>
      </p:sp>
      <p:sp>
        <p:nvSpPr>
          <p:cNvPr id="5" name="TextBox 4"/>
          <p:cNvSpPr txBox="1"/>
          <p:nvPr/>
        </p:nvSpPr>
        <p:spPr>
          <a:xfrm>
            <a:off x="2843213" y="4567311"/>
            <a:ext cx="2492083" cy="369332"/>
          </a:xfrm>
          <a:prstGeom prst="rect">
            <a:avLst/>
          </a:prstGeom>
          <a:solidFill>
            <a:schemeClr val="accent2">
              <a:lumMod val="40000"/>
              <a:lumOff val="60000"/>
            </a:schemeClr>
          </a:solidFill>
          <a:ln>
            <a:solidFill>
              <a:schemeClr val="tx1"/>
            </a:solidFill>
          </a:ln>
        </p:spPr>
        <p:txBody>
          <a:bodyPr wrap="square" rtlCol="0">
            <a:spAutoFit/>
          </a:bodyPr>
          <a:lstStyle/>
          <a:p>
            <a:pPr algn="ctr"/>
            <a:r>
              <a:rPr lang="en-US" b="1" dirty="0">
                <a:solidFill>
                  <a:srgbClr val="212121"/>
                </a:solidFill>
              </a:rPr>
              <a:t>B</a:t>
            </a:r>
          </a:p>
        </p:txBody>
      </p:sp>
      <p:sp>
        <p:nvSpPr>
          <p:cNvPr id="6" name="TextBox 5"/>
          <p:cNvSpPr txBox="1"/>
          <p:nvPr/>
        </p:nvSpPr>
        <p:spPr>
          <a:xfrm>
            <a:off x="2843213" y="4936643"/>
            <a:ext cx="2492083" cy="369332"/>
          </a:xfrm>
          <a:prstGeom prst="rect">
            <a:avLst/>
          </a:prstGeom>
          <a:solidFill>
            <a:schemeClr val="accent3">
              <a:lumMod val="60000"/>
              <a:lumOff val="40000"/>
            </a:schemeClr>
          </a:solidFill>
          <a:ln>
            <a:solidFill>
              <a:schemeClr val="tx1"/>
            </a:solidFill>
          </a:ln>
        </p:spPr>
        <p:txBody>
          <a:bodyPr wrap="square" rtlCol="0">
            <a:spAutoFit/>
          </a:bodyPr>
          <a:lstStyle/>
          <a:p>
            <a:pPr algn="ctr"/>
            <a:r>
              <a:rPr lang="en-US" b="1" dirty="0">
                <a:solidFill>
                  <a:srgbClr val="212121"/>
                </a:solidFill>
              </a:rPr>
              <a:t>C</a:t>
            </a:r>
          </a:p>
        </p:txBody>
      </p:sp>
      <p:sp>
        <p:nvSpPr>
          <p:cNvPr id="10" name="TextBox 9"/>
          <p:cNvSpPr txBox="1"/>
          <p:nvPr/>
        </p:nvSpPr>
        <p:spPr>
          <a:xfrm>
            <a:off x="6609054" y="3459315"/>
            <a:ext cx="2492083" cy="369332"/>
          </a:xfrm>
          <a:prstGeom prst="rect">
            <a:avLst/>
          </a:prstGeom>
          <a:noFill/>
          <a:ln>
            <a:solidFill>
              <a:schemeClr val="tx1"/>
            </a:solidFill>
          </a:ln>
        </p:spPr>
        <p:txBody>
          <a:bodyPr wrap="square" rtlCol="0">
            <a:spAutoFit/>
          </a:bodyPr>
          <a:lstStyle/>
          <a:p>
            <a:pPr algn="ctr"/>
            <a:r>
              <a:rPr lang="en-US" dirty="0">
                <a:solidFill>
                  <a:srgbClr val="212121"/>
                </a:solidFill>
              </a:rPr>
              <a:t>……….</a:t>
            </a:r>
          </a:p>
        </p:txBody>
      </p:sp>
      <p:sp>
        <p:nvSpPr>
          <p:cNvPr id="11" name="TextBox 10"/>
          <p:cNvSpPr txBox="1"/>
          <p:nvPr/>
        </p:nvSpPr>
        <p:spPr>
          <a:xfrm>
            <a:off x="6609054" y="3828647"/>
            <a:ext cx="2492083" cy="369332"/>
          </a:xfrm>
          <a:prstGeom prst="rect">
            <a:avLst/>
          </a:prstGeom>
          <a:solidFill>
            <a:schemeClr val="accent2">
              <a:lumMod val="40000"/>
              <a:lumOff val="60000"/>
            </a:schemeClr>
          </a:solidFill>
          <a:ln>
            <a:solidFill>
              <a:schemeClr val="tx1"/>
            </a:solidFill>
          </a:ln>
        </p:spPr>
        <p:txBody>
          <a:bodyPr wrap="square" rtlCol="0">
            <a:spAutoFit/>
          </a:bodyPr>
          <a:lstStyle/>
          <a:p>
            <a:pPr algn="ctr"/>
            <a:r>
              <a:rPr lang="en-US" b="1" dirty="0">
                <a:solidFill>
                  <a:srgbClr val="212121"/>
                </a:solidFill>
              </a:rPr>
              <a:t>B</a:t>
            </a:r>
          </a:p>
        </p:txBody>
      </p:sp>
      <p:sp>
        <p:nvSpPr>
          <p:cNvPr id="12" name="TextBox 11"/>
          <p:cNvSpPr txBox="1"/>
          <p:nvPr/>
        </p:nvSpPr>
        <p:spPr>
          <a:xfrm>
            <a:off x="6609054" y="4197979"/>
            <a:ext cx="2492083" cy="369332"/>
          </a:xfrm>
          <a:prstGeom prst="rect">
            <a:avLst/>
          </a:prstGeom>
          <a:noFill/>
          <a:ln>
            <a:solidFill>
              <a:schemeClr val="tx1"/>
            </a:solidFill>
          </a:ln>
        </p:spPr>
        <p:txBody>
          <a:bodyPr wrap="square" rtlCol="0">
            <a:spAutoFit/>
          </a:bodyPr>
          <a:lstStyle/>
          <a:p>
            <a:pPr algn="ctr"/>
            <a:r>
              <a:rPr lang="en-US" dirty="0">
                <a:solidFill>
                  <a:srgbClr val="212121"/>
                </a:solidFill>
              </a:rPr>
              <a:t>……….</a:t>
            </a:r>
          </a:p>
        </p:txBody>
      </p:sp>
      <p:sp>
        <p:nvSpPr>
          <p:cNvPr id="13" name="TextBox 12"/>
          <p:cNvSpPr txBox="1"/>
          <p:nvPr/>
        </p:nvSpPr>
        <p:spPr>
          <a:xfrm>
            <a:off x="6609054" y="4567311"/>
            <a:ext cx="2492083" cy="369332"/>
          </a:xfrm>
          <a:prstGeom prst="rect">
            <a:avLst/>
          </a:prstGeom>
          <a:solidFill>
            <a:schemeClr val="accent5">
              <a:lumMod val="40000"/>
              <a:lumOff val="60000"/>
            </a:schemeClr>
          </a:solidFill>
          <a:ln>
            <a:solidFill>
              <a:schemeClr val="tx1"/>
            </a:solidFill>
          </a:ln>
        </p:spPr>
        <p:txBody>
          <a:bodyPr wrap="square" rtlCol="0">
            <a:spAutoFit/>
          </a:bodyPr>
          <a:lstStyle/>
          <a:p>
            <a:pPr algn="ctr"/>
            <a:r>
              <a:rPr lang="en-US" b="1" dirty="0">
                <a:solidFill>
                  <a:srgbClr val="212121"/>
                </a:solidFill>
              </a:rPr>
              <a:t>A</a:t>
            </a:r>
          </a:p>
        </p:txBody>
      </p:sp>
      <p:sp>
        <p:nvSpPr>
          <p:cNvPr id="14" name="TextBox 13"/>
          <p:cNvSpPr txBox="1"/>
          <p:nvPr/>
        </p:nvSpPr>
        <p:spPr>
          <a:xfrm>
            <a:off x="6609054" y="4938911"/>
            <a:ext cx="2492083" cy="369332"/>
          </a:xfrm>
          <a:prstGeom prst="rect">
            <a:avLst/>
          </a:prstGeom>
          <a:noFill/>
          <a:ln>
            <a:solidFill>
              <a:schemeClr val="tx1"/>
            </a:solidFill>
          </a:ln>
        </p:spPr>
        <p:txBody>
          <a:bodyPr wrap="square" rtlCol="0">
            <a:spAutoFit/>
          </a:bodyPr>
          <a:lstStyle/>
          <a:p>
            <a:pPr algn="ctr"/>
            <a:r>
              <a:rPr lang="en-US" dirty="0">
                <a:solidFill>
                  <a:srgbClr val="212121"/>
                </a:solidFill>
              </a:rPr>
              <a:t>……….</a:t>
            </a:r>
          </a:p>
        </p:txBody>
      </p:sp>
      <p:sp>
        <p:nvSpPr>
          <p:cNvPr id="15" name="TextBox 14"/>
          <p:cNvSpPr txBox="1"/>
          <p:nvPr/>
        </p:nvSpPr>
        <p:spPr>
          <a:xfrm>
            <a:off x="6609054" y="5305975"/>
            <a:ext cx="2492083" cy="369332"/>
          </a:xfrm>
          <a:prstGeom prst="rect">
            <a:avLst/>
          </a:prstGeom>
          <a:solidFill>
            <a:schemeClr val="accent3">
              <a:lumMod val="60000"/>
              <a:lumOff val="40000"/>
            </a:schemeClr>
          </a:solidFill>
          <a:ln>
            <a:solidFill>
              <a:schemeClr val="tx1"/>
            </a:solidFill>
          </a:ln>
        </p:spPr>
        <p:txBody>
          <a:bodyPr wrap="square" rtlCol="0">
            <a:spAutoFit/>
          </a:bodyPr>
          <a:lstStyle/>
          <a:p>
            <a:pPr algn="ctr"/>
            <a:r>
              <a:rPr lang="en-US" b="1" dirty="0">
                <a:solidFill>
                  <a:srgbClr val="212121"/>
                </a:solidFill>
              </a:rPr>
              <a:t>C</a:t>
            </a:r>
          </a:p>
        </p:txBody>
      </p:sp>
      <p:sp>
        <p:nvSpPr>
          <p:cNvPr id="16" name="TextBox 15"/>
          <p:cNvSpPr txBox="1"/>
          <p:nvPr/>
        </p:nvSpPr>
        <p:spPr>
          <a:xfrm>
            <a:off x="6609054" y="5668314"/>
            <a:ext cx="2492083" cy="369332"/>
          </a:xfrm>
          <a:prstGeom prst="rect">
            <a:avLst/>
          </a:prstGeom>
          <a:noFill/>
          <a:ln>
            <a:solidFill>
              <a:schemeClr val="tx1"/>
            </a:solidFill>
          </a:ln>
        </p:spPr>
        <p:txBody>
          <a:bodyPr wrap="square" rtlCol="0">
            <a:spAutoFit/>
          </a:bodyPr>
          <a:lstStyle/>
          <a:p>
            <a:pPr algn="ctr"/>
            <a:r>
              <a:rPr lang="en-US" dirty="0">
                <a:solidFill>
                  <a:srgbClr val="212121"/>
                </a:solidFill>
              </a:rPr>
              <a:t>……….</a:t>
            </a:r>
          </a:p>
        </p:txBody>
      </p:sp>
      <p:cxnSp>
        <p:nvCxnSpPr>
          <p:cNvPr id="20" name="Straight Arrow Connector 19"/>
          <p:cNvCxnSpPr>
            <a:stCxn id="4" idx="3"/>
            <a:endCxn id="13" idx="1"/>
          </p:cNvCxnSpPr>
          <p:nvPr/>
        </p:nvCxnSpPr>
        <p:spPr>
          <a:xfrm>
            <a:off x="5335296" y="4382645"/>
            <a:ext cx="1273758" cy="369332"/>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6" idx="3"/>
            <a:endCxn id="15" idx="1"/>
          </p:cNvCxnSpPr>
          <p:nvPr/>
        </p:nvCxnSpPr>
        <p:spPr>
          <a:xfrm>
            <a:off x="5335296" y="5121309"/>
            <a:ext cx="1273758" cy="369332"/>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5" idx="3"/>
            <a:endCxn id="11" idx="1"/>
          </p:cNvCxnSpPr>
          <p:nvPr/>
        </p:nvCxnSpPr>
        <p:spPr>
          <a:xfrm flipV="1">
            <a:off x="5335296" y="4013313"/>
            <a:ext cx="1273758" cy="738664"/>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1986571" y="5420425"/>
            <a:ext cx="3985604" cy="369332"/>
          </a:xfrm>
          <a:prstGeom prst="rect">
            <a:avLst/>
          </a:prstGeom>
          <a:noFill/>
        </p:spPr>
        <p:txBody>
          <a:bodyPr wrap="square" rtlCol="0">
            <a:spAutoFit/>
          </a:bodyPr>
          <a:lstStyle/>
          <a:p>
            <a:pPr algn="ctr"/>
            <a:r>
              <a:rPr lang="en-US" dirty="0">
                <a:solidFill>
                  <a:srgbClr val="212121"/>
                </a:solidFill>
              </a:rPr>
              <a:t>Logical Address Space</a:t>
            </a:r>
          </a:p>
        </p:txBody>
      </p:sp>
      <p:sp>
        <p:nvSpPr>
          <p:cNvPr id="26" name="TextBox 25"/>
          <p:cNvSpPr txBox="1"/>
          <p:nvPr/>
        </p:nvSpPr>
        <p:spPr>
          <a:xfrm>
            <a:off x="7042836" y="6061161"/>
            <a:ext cx="1624517" cy="369332"/>
          </a:xfrm>
          <a:prstGeom prst="rect">
            <a:avLst/>
          </a:prstGeom>
          <a:noFill/>
        </p:spPr>
        <p:txBody>
          <a:bodyPr wrap="square" rtlCol="0">
            <a:spAutoFit/>
          </a:bodyPr>
          <a:lstStyle/>
          <a:p>
            <a:pPr algn="ctr"/>
            <a:r>
              <a:rPr lang="en-US" dirty="0">
                <a:solidFill>
                  <a:srgbClr val="212121"/>
                </a:solidFill>
              </a:rPr>
              <a:t>Memory</a:t>
            </a:r>
          </a:p>
        </p:txBody>
      </p:sp>
    </p:spTree>
    <p:extLst>
      <p:ext uri="{BB962C8B-B14F-4D97-AF65-F5344CB8AC3E}">
        <p14:creationId xmlns:p14="http://schemas.microsoft.com/office/powerpoint/2010/main" val="2708787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10" grpId="0" animBg="1"/>
      <p:bldP spid="11" grpId="0" animBg="1"/>
      <p:bldP spid="12" grpId="0" animBg="1"/>
      <p:bldP spid="13" grpId="0" animBg="1"/>
      <p:bldP spid="14" grpId="0" animBg="1"/>
      <p:bldP spid="15" grpId="0" animBg="1"/>
      <p:bldP spid="16" grpId="0" animBg="1"/>
      <p:bldP spid="25" grpId="0"/>
      <p:bldP spid="2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Non-Contiguous Memory Allocation(Conti..)</a:t>
            </a:r>
          </a:p>
        </p:txBody>
      </p:sp>
      <p:sp>
        <p:nvSpPr>
          <p:cNvPr id="3" name="Content Placeholder 2"/>
          <p:cNvSpPr>
            <a:spLocks noGrp="1"/>
          </p:cNvSpPr>
          <p:nvPr>
            <p:ph idx="1"/>
          </p:nvPr>
        </p:nvSpPr>
        <p:spPr/>
        <p:txBody>
          <a:bodyPr/>
          <a:lstStyle/>
          <a:p>
            <a:r>
              <a:rPr lang="en-US" b="1" dirty="0"/>
              <a:t>Advantage</a:t>
            </a:r>
          </a:p>
          <a:p>
            <a:pPr lvl="1"/>
            <a:r>
              <a:rPr lang="en-US" dirty="0"/>
              <a:t>Having better Memory Utilization</a:t>
            </a:r>
          </a:p>
          <a:p>
            <a:endParaRPr lang="en-US" dirty="0">
              <a:solidFill>
                <a:srgbClr val="FF0000"/>
              </a:solidFill>
            </a:endParaRPr>
          </a:p>
          <a:p>
            <a:r>
              <a:rPr lang="en-US" b="1" dirty="0"/>
              <a:t>Disadvantage</a:t>
            </a:r>
          </a:p>
          <a:p>
            <a:pPr lvl="1"/>
            <a:r>
              <a:rPr lang="en-US" dirty="0"/>
              <a:t>It is complex to implement</a:t>
            </a:r>
          </a:p>
        </p:txBody>
      </p:sp>
    </p:spTree>
    <p:extLst>
      <p:ext uri="{BB962C8B-B14F-4D97-AF65-F5344CB8AC3E}">
        <p14:creationId xmlns:p14="http://schemas.microsoft.com/office/powerpoint/2010/main" val="3980768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t>Paging</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3.2.1</a:t>
            </a:r>
          </a:p>
        </p:txBody>
      </p:sp>
    </p:spTree>
    <p:extLst>
      <p:ext uri="{BB962C8B-B14F-4D97-AF65-F5344CB8AC3E}">
        <p14:creationId xmlns:p14="http://schemas.microsoft.com/office/powerpoint/2010/main" val="231577882"/>
      </p:ext>
    </p:extLst>
  </p:cSld>
  <p:clrMapOvr>
    <a:overrideClrMapping bg1="lt1" tx1="dk1" bg2="lt2" tx2="dk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Paging</a:t>
            </a:r>
          </a:p>
        </p:txBody>
      </p:sp>
      <p:sp>
        <p:nvSpPr>
          <p:cNvPr id="3" name="Content Placeholder 2"/>
          <p:cNvSpPr>
            <a:spLocks noGrp="1"/>
          </p:cNvSpPr>
          <p:nvPr>
            <p:ph idx="1"/>
          </p:nvPr>
        </p:nvSpPr>
        <p:spPr/>
        <p:txBody>
          <a:bodyPr/>
          <a:lstStyle/>
          <a:p>
            <a:r>
              <a:rPr lang="en-US" dirty="0"/>
              <a:t>The Process of </a:t>
            </a:r>
            <a:r>
              <a:rPr lang="en-US" b="1" dirty="0">
                <a:solidFill>
                  <a:srgbClr val="B84742"/>
                </a:solidFill>
              </a:rPr>
              <a:t>Retrieving</a:t>
            </a:r>
            <a:r>
              <a:rPr lang="en-US" dirty="0"/>
              <a:t> processes in the form of </a:t>
            </a:r>
            <a:r>
              <a:rPr lang="en-US" b="1" dirty="0">
                <a:solidFill>
                  <a:srgbClr val="B84742"/>
                </a:solidFill>
              </a:rPr>
              <a:t>pages</a:t>
            </a:r>
            <a:r>
              <a:rPr lang="en-US" dirty="0"/>
              <a:t> from secondary storage into the main memory is known as paging.</a:t>
            </a:r>
          </a:p>
          <a:p>
            <a:r>
              <a:rPr lang="en-US" dirty="0"/>
              <a:t>Logical address space is divided into </a:t>
            </a:r>
            <a:r>
              <a:rPr lang="en-US" dirty="0">
                <a:solidFill>
                  <a:schemeClr val="accent6"/>
                </a:solidFill>
              </a:rPr>
              <a:t>partitions</a:t>
            </a:r>
            <a:r>
              <a:rPr lang="en-US" dirty="0"/>
              <a:t>. </a:t>
            </a:r>
          </a:p>
          <a:p>
            <a:r>
              <a:rPr lang="en-US" dirty="0"/>
              <a:t>For each partition contiguous memory is allocated in physical memory.</a:t>
            </a:r>
          </a:p>
          <a:p>
            <a:r>
              <a:rPr lang="en-US" dirty="0"/>
              <a:t>Physical address space of </a:t>
            </a:r>
            <a:r>
              <a:rPr lang="en-US" dirty="0">
                <a:solidFill>
                  <a:schemeClr val="accent6"/>
                </a:solidFill>
              </a:rPr>
              <a:t>process</a:t>
            </a:r>
            <a:r>
              <a:rPr lang="en-US" dirty="0"/>
              <a:t> </a:t>
            </a:r>
            <a:r>
              <a:rPr lang="en-US" dirty="0">
                <a:solidFill>
                  <a:schemeClr val="accent6"/>
                </a:solidFill>
              </a:rPr>
              <a:t>will</a:t>
            </a:r>
            <a:r>
              <a:rPr lang="en-US" dirty="0"/>
              <a:t> </a:t>
            </a:r>
            <a:r>
              <a:rPr lang="en-US" dirty="0">
                <a:solidFill>
                  <a:schemeClr val="accent6"/>
                </a:solidFill>
              </a:rPr>
              <a:t>not</a:t>
            </a:r>
            <a:r>
              <a:rPr lang="en-US" dirty="0"/>
              <a:t> be </a:t>
            </a:r>
            <a:r>
              <a:rPr lang="en-US" dirty="0">
                <a:solidFill>
                  <a:schemeClr val="accent6"/>
                </a:solidFill>
              </a:rPr>
              <a:t>contiguous</a:t>
            </a:r>
            <a:r>
              <a:rPr lang="en-US" dirty="0"/>
              <a:t>.</a:t>
            </a:r>
          </a:p>
          <a:p>
            <a:r>
              <a:rPr lang="en-US" dirty="0"/>
              <a:t>OS maintain table known as</a:t>
            </a:r>
            <a:r>
              <a:rPr lang="en-US" dirty="0">
                <a:solidFill>
                  <a:srgbClr val="FF0000"/>
                </a:solidFill>
              </a:rPr>
              <a:t> </a:t>
            </a:r>
            <a:r>
              <a:rPr lang="en-US" dirty="0">
                <a:solidFill>
                  <a:schemeClr val="accent6"/>
                </a:solidFill>
              </a:rPr>
              <a:t>Page</a:t>
            </a:r>
            <a:r>
              <a:rPr lang="en-US" dirty="0">
                <a:solidFill>
                  <a:srgbClr val="FF0000"/>
                </a:solidFill>
              </a:rPr>
              <a:t> </a:t>
            </a:r>
            <a:r>
              <a:rPr lang="en-US" dirty="0">
                <a:solidFill>
                  <a:schemeClr val="accent6"/>
                </a:solidFill>
              </a:rPr>
              <a:t>Table,</a:t>
            </a:r>
            <a:r>
              <a:rPr lang="en-US" dirty="0">
                <a:solidFill>
                  <a:srgbClr val="FF0000"/>
                </a:solidFill>
              </a:rPr>
              <a:t> </a:t>
            </a:r>
            <a:r>
              <a:rPr lang="en-US" dirty="0"/>
              <a:t>for each process. Page table contains page number and frame number.</a:t>
            </a:r>
          </a:p>
          <a:p>
            <a:r>
              <a:rPr lang="en-US" dirty="0"/>
              <a:t>Frame number indicates </a:t>
            </a:r>
            <a:r>
              <a:rPr lang="en-US" b="1" dirty="0">
                <a:solidFill>
                  <a:srgbClr val="B84742"/>
                </a:solidFill>
              </a:rPr>
              <a:t>actual frame </a:t>
            </a:r>
            <a:r>
              <a:rPr lang="en-US" dirty="0"/>
              <a:t>on physical address </a:t>
            </a:r>
          </a:p>
          <a:p>
            <a:r>
              <a:rPr lang="en-US" dirty="0"/>
              <a:t>Page table Contains </a:t>
            </a:r>
            <a:r>
              <a:rPr lang="en-US" b="1" dirty="0">
                <a:solidFill>
                  <a:srgbClr val="B84742"/>
                </a:solidFill>
              </a:rPr>
              <a:t>page</a:t>
            </a:r>
            <a:r>
              <a:rPr lang="en-US" dirty="0"/>
              <a:t> </a:t>
            </a:r>
            <a:r>
              <a:rPr lang="en-US" b="1" dirty="0">
                <a:solidFill>
                  <a:srgbClr val="B84742"/>
                </a:solidFill>
              </a:rPr>
              <a:t>number</a:t>
            </a:r>
            <a:r>
              <a:rPr lang="en-US" dirty="0"/>
              <a:t> and </a:t>
            </a:r>
            <a:r>
              <a:rPr lang="en-US" b="1" dirty="0">
                <a:solidFill>
                  <a:srgbClr val="B84742"/>
                </a:solidFill>
              </a:rPr>
              <a:t>frame number </a:t>
            </a:r>
          </a:p>
          <a:p>
            <a:r>
              <a:rPr lang="en-US" dirty="0"/>
              <a:t>Page number used to </a:t>
            </a:r>
            <a:r>
              <a:rPr lang="en-US" b="1" dirty="0">
                <a:solidFill>
                  <a:srgbClr val="B84742"/>
                </a:solidFill>
              </a:rPr>
              <a:t>search</a:t>
            </a:r>
            <a:r>
              <a:rPr lang="en-US" dirty="0"/>
              <a:t> Page table.</a:t>
            </a:r>
          </a:p>
          <a:p>
            <a:endParaRPr lang="en-US" dirty="0">
              <a:solidFill>
                <a:srgbClr val="7030A0"/>
              </a:solidFill>
            </a:endParaRPr>
          </a:p>
          <a:p>
            <a:endParaRPr lang="en-US" dirty="0"/>
          </a:p>
          <a:p>
            <a:pPr marL="0" indent="0">
              <a:buNone/>
            </a:pPr>
            <a:endParaRPr lang="en-US" dirty="0"/>
          </a:p>
        </p:txBody>
      </p:sp>
    </p:spTree>
    <p:extLst>
      <p:ext uri="{BB962C8B-B14F-4D97-AF65-F5344CB8AC3E}">
        <p14:creationId xmlns:p14="http://schemas.microsoft.com/office/powerpoint/2010/main" val="3431793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711200"/>
          </a:xfrm>
        </p:spPr>
        <p:txBody>
          <a:bodyPr/>
          <a:lstStyle/>
          <a:p>
            <a:r>
              <a:rPr lang="en-US" dirty="0"/>
              <a:t>Address Translation in Paging</a:t>
            </a:r>
          </a:p>
        </p:txBody>
      </p:sp>
      <p:graphicFrame>
        <p:nvGraphicFramePr>
          <p:cNvPr id="87" name="Content Placeholder 86"/>
          <p:cNvGraphicFramePr>
            <a:graphicFrameLocks noGrp="1"/>
          </p:cNvGraphicFramePr>
          <p:nvPr>
            <p:ph idx="1"/>
            <p:extLst>
              <p:ext uri="{D42A27DB-BD31-4B8C-83A1-F6EECF244321}">
                <p14:modId xmlns:p14="http://schemas.microsoft.com/office/powerpoint/2010/main" val="1982987560"/>
              </p:ext>
            </p:extLst>
          </p:nvPr>
        </p:nvGraphicFramePr>
        <p:xfrm>
          <a:off x="6904509" y="2972069"/>
          <a:ext cx="1363645" cy="2595880"/>
        </p:xfrm>
        <a:graphic>
          <a:graphicData uri="http://schemas.openxmlformats.org/drawingml/2006/table">
            <a:tbl>
              <a:tblPr firstRow="1" bandRow="1">
                <a:tableStyleId>{5940675A-B579-460E-94D1-54222C63F5DA}</a:tableStyleId>
              </a:tblPr>
              <a:tblGrid>
                <a:gridCol w="1363645">
                  <a:extLst>
                    <a:ext uri="{9D8B030D-6E8A-4147-A177-3AD203B41FA5}">
                      <a16:colId xmlns:a16="http://schemas.microsoft.com/office/drawing/2014/main" val="20000"/>
                    </a:ext>
                  </a:extLst>
                </a:gridCol>
              </a:tblGrid>
              <a:tr h="370840">
                <a:tc>
                  <a:txBody>
                    <a:bodyPr/>
                    <a:lstStyle/>
                    <a:p>
                      <a:pPr algn="ctr"/>
                      <a:r>
                        <a:rPr lang="en-US" dirty="0"/>
                        <a:t>0</a:t>
                      </a:r>
                      <a:endParaRPr lang="en-IN" dirty="0"/>
                    </a:p>
                  </a:txBody>
                  <a:tcPr/>
                </a:tc>
                <a:extLst>
                  <a:ext uri="{0D108BD9-81ED-4DB2-BD59-A6C34878D82A}">
                    <a16:rowId xmlns:a16="http://schemas.microsoft.com/office/drawing/2014/main" val="10000"/>
                  </a:ext>
                </a:extLst>
              </a:tr>
              <a:tr h="370840">
                <a:tc>
                  <a:txBody>
                    <a:bodyPr/>
                    <a:lstStyle/>
                    <a:p>
                      <a:pPr algn="ctr"/>
                      <a:r>
                        <a:rPr lang="en-US" dirty="0"/>
                        <a:t>1</a:t>
                      </a:r>
                      <a:endParaRPr lang="en-IN" dirty="0"/>
                    </a:p>
                  </a:txBody>
                  <a:tcPr/>
                </a:tc>
                <a:extLst>
                  <a:ext uri="{0D108BD9-81ED-4DB2-BD59-A6C34878D82A}">
                    <a16:rowId xmlns:a16="http://schemas.microsoft.com/office/drawing/2014/main" val="10001"/>
                  </a:ext>
                </a:extLst>
              </a:tr>
              <a:tr h="370840">
                <a:tc>
                  <a:txBody>
                    <a:bodyPr/>
                    <a:lstStyle/>
                    <a:p>
                      <a:pPr algn="ctr"/>
                      <a:r>
                        <a:rPr lang="en-US" dirty="0"/>
                        <a:t>2</a:t>
                      </a:r>
                      <a:endParaRPr lang="en-IN" dirty="0"/>
                    </a:p>
                  </a:txBody>
                  <a:tcPr/>
                </a:tc>
                <a:extLst>
                  <a:ext uri="{0D108BD9-81ED-4DB2-BD59-A6C34878D82A}">
                    <a16:rowId xmlns:a16="http://schemas.microsoft.com/office/drawing/2014/main" val="10002"/>
                  </a:ext>
                </a:extLst>
              </a:tr>
              <a:tr h="370840">
                <a:tc>
                  <a:txBody>
                    <a:bodyPr/>
                    <a:lstStyle/>
                    <a:p>
                      <a:pPr algn="ctr"/>
                      <a:r>
                        <a:rPr lang="en-US" dirty="0"/>
                        <a:t>3</a:t>
                      </a:r>
                      <a:endParaRPr lang="en-IN" dirty="0"/>
                    </a:p>
                  </a:txBody>
                  <a:tcPr/>
                </a:tc>
                <a:extLst>
                  <a:ext uri="{0D108BD9-81ED-4DB2-BD59-A6C34878D82A}">
                    <a16:rowId xmlns:a16="http://schemas.microsoft.com/office/drawing/2014/main" val="10003"/>
                  </a:ext>
                </a:extLst>
              </a:tr>
              <a:tr h="370840">
                <a:tc>
                  <a:txBody>
                    <a:bodyPr/>
                    <a:lstStyle/>
                    <a:p>
                      <a:pPr algn="ctr"/>
                      <a:r>
                        <a:rPr lang="en-US" dirty="0"/>
                        <a:t>4</a:t>
                      </a:r>
                      <a:endParaRPr lang="en-IN" dirty="0"/>
                    </a:p>
                  </a:txBody>
                  <a:tcPr/>
                </a:tc>
                <a:extLst>
                  <a:ext uri="{0D108BD9-81ED-4DB2-BD59-A6C34878D82A}">
                    <a16:rowId xmlns:a16="http://schemas.microsoft.com/office/drawing/2014/main" val="10004"/>
                  </a:ext>
                </a:extLst>
              </a:tr>
              <a:tr h="370840">
                <a:tc>
                  <a:txBody>
                    <a:bodyPr/>
                    <a:lstStyle/>
                    <a:p>
                      <a:pPr algn="ctr"/>
                      <a:r>
                        <a:rPr lang="en-US" dirty="0"/>
                        <a:t>5</a:t>
                      </a:r>
                      <a:endParaRPr lang="en-IN" dirty="0"/>
                    </a:p>
                  </a:txBody>
                  <a:tcPr/>
                </a:tc>
                <a:extLst>
                  <a:ext uri="{0D108BD9-81ED-4DB2-BD59-A6C34878D82A}">
                    <a16:rowId xmlns:a16="http://schemas.microsoft.com/office/drawing/2014/main" val="10005"/>
                  </a:ext>
                </a:extLst>
              </a:tr>
              <a:tr h="370840">
                <a:tc>
                  <a:txBody>
                    <a:bodyPr/>
                    <a:lstStyle/>
                    <a:p>
                      <a:pPr algn="ctr"/>
                      <a:r>
                        <a:rPr lang="en-US" dirty="0"/>
                        <a:t>6</a:t>
                      </a:r>
                      <a:endParaRPr lang="en-IN" dirty="0"/>
                    </a:p>
                  </a:txBody>
                  <a:tcPr/>
                </a:tc>
                <a:extLst>
                  <a:ext uri="{0D108BD9-81ED-4DB2-BD59-A6C34878D82A}">
                    <a16:rowId xmlns:a16="http://schemas.microsoft.com/office/drawing/2014/main" val="10006"/>
                  </a:ext>
                </a:extLst>
              </a:tr>
            </a:tbl>
          </a:graphicData>
        </a:graphic>
      </p:graphicFrame>
      <p:sp>
        <p:nvSpPr>
          <p:cNvPr id="4" name="TextBox 3"/>
          <p:cNvSpPr txBox="1"/>
          <p:nvPr/>
        </p:nvSpPr>
        <p:spPr>
          <a:xfrm>
            <a:off x="15814" y="1960306"/>
            <a:ext cx="1209955" cy="830997"/>
          </a:xfrm>
          <a:prstGeom prst="rect">
            <a:avLst/>
          </a:prstGeom>
          <a:noFill/>
          <a:ln>
            <a:noFill/>
          </a:ln>
        </p:spPr>
        <p:txBody>
          <a:bodyPr wrap="square" rtlCol="0">
            <a:spAutoFit/>
          </a:bodyPr>
          <a:lstStyle/>
          <a:p>
            <a:pPr algn="ctr"/>
            <a:r>
              <a:rPr lang="en-US" sz="2400" dirty="0">
                <a:solidFill>
                  <a:srgbClr val="212121"/>
                </a:solidFill>
              </a:rPr>
              <a:t>Logical Address </a:t>
            </a:r>
          </a:p>
        </p:txBody>
      </p:sp>
      <p:sp>
        <p:nvSpPr>
          <p:cNvPr id="5" name="TextBox 4"/>
          <p:cNvSpPr txBox="1"/>
          <p:nvPr/>
        </p:nvSpPr>
        <p:spPr>
          <a:xfrm>
            <a:off x="7207592" y="1574029"/>
            <a:ext cx="1356716" cy="707886"/>
          </a:xfrm>
          <a:prstGeom prst="rect">
            <a:avLst/>
          </a:prstGeom>
          <a:noFill/>
          <a:ln>
            <a:noFill/>
          </a:ln>
        </p:spPr>
        <p:txBody>
          <a:bodyPr wrap="square" rtlCol="0">
            <a:spAutoFit/>
          </a:bodyPr>
          <a:lstStyle/>
          <a:p>
            <a:pPr algn="ctr"/>
            <a:r>
              <a:rPr lang="en-US" sz="2000" dirty="0">
                <a:solidFill>
                  <a:srgbClr val="212121"/>
                </a:solidFill>
              </a:rPr>
              <a:t>Physical Address</a:t>
            </a:r>
          </a:p>
        </p:txBody>
      </p:sp>
      <p:sp>
        <p:nvSpPr>
          <p:cNvPr id="7" name="TextBox 6"/>
          <p:cNvSpPr txBox="1"/>
          <p:nvPr/>
        </p:nvSpPr>
        <p:spPr>
          <a:xfrm>
            <a:off x="728356" y="1449862"/>
            <a:ext cx="1254120" cy="400110"/>
          </a:xfrm>
          <a:prstGeom prst="rect">
            <a:avLst/>
          </a:prstGeom>
          <a:noFill/>
          <a:ln>
            <a:solidFill>
              <a:schemeClr val="tx1"/>
            </a:solidFill>
          </a:ln>
        </p:spPr>
        <p:txBody>
          <a:bodyPr wrap="square" rtlCol="0">
            <a:spAutoFit/>
          </a:bodyPr>
          <a:lstStyle/>
          <a:p>
            <a:pPr algn="ctr"/>
            <a:r>
              <a:rPr lang="en-US" sz="2000" dirty="0"/>
              <a:t>Page no-2</a:t>
            </a:r>
          </a:p>
        </p:txBody>
      </p:sp>
      <p:sp>
        <p:nvSpPr>
          <p:cNvPr id="8" name="TextBox 7"/>
          <p:cNvSpPr txBox="1"/>
          <p:nvPr/>
        </p:nvSpPr>
        <p:spPr>
          <a:xfrm>
            <a:off x="1982475" y="1449862"/>
            <a:ext cx="1149608" cy="400110"/>
          </a:xfrm>
          <a:prstGeom prst="rect">
            <a:avLst/>
          </a:prstGeom>
          <a:noFill/>
          <a:ln>
            <a:solidFill>
              <a:schemeClr val="tx1"/>
            </a:solidFill>
          </a:ln>
        </p:spPr>
        <p:txBody>
          <a:bodyPr wrap="square" rtlCol="0">
            <a:spAutoFit/>
          </a:bodyPr>
          <a:lstStyle/>
          <a:p>
            <a:pPr algn="ctr"/>
            <a:r>
              <a:rPr lang="en-US" sz="2000" dirty="0"/>
              <a:t>3</a:t>
            </a:r>
            <a:r>
              <a:rPr lang="en-US" sz="2000" baseline="30000" dirty="0"/>
              <a:t>rd</a:t>
            </a:r>
            <a:r>
              <a:rPr lang="en-US" sz="2000" dirty="0"/>
              <a:t> byte</a:t>
            </a:r>
          </a:p>
        </p:txBody>
      </p:sp>
      <p:sp>
        <p:nvSpPr>
          <p:cNvPr id="16" name="TextBox 15"/>
          <p:cNvSpPr txBox="1"/>
          <p:nvPr/>
        </p:nvSpPr>
        <p:spPr>
          <a:xfrm>
            <a:off x="6520745" y="1888209"/>
            <a:ext cx="814647" cy="400110"/>
          </a:xfrm>
          <a:prstGeom prst="rect">
            <a:avLst/>
          </a:prstGeom>
          <a:noFill/>
        </p:spPr>
        <p:txBody>
          <a:bodyPr wrap="none" rtlCol="0">
            <a:spAutoFit/>
          </a:bodyPr>
          <a:lstStyle/>
          <a:p>
            <a:r>
              <a:rPr lang="en-US" sz="2000" dirty="0">
                <a:solidFill>
                  <a:srgbClr val="212121"/>
                </a:solidFill>
              </a:rPr>
              <a:t>Offset</a:t>
            </a:r>
          </a:p>
        </p:txBody>
      </p:sp>
      <p:sp>
        <p:nvSpPr>
          <p:cNvPr id="17" name="TextBox 16"/>
          <p:cNvSpPr txBox="1"/>
          <p:nvPr/>
        </p:nvSpPr>
        <p:spPr>
          <a:xfrm>
            <a:off x="3632638" y="2962326"/>
            <a:ext cx="1714500" cy="2671763"/>
          </a:xfrm>
          <a:prstGeom prst="rect">
            <a:avLst/>
          </a:prstGeom>
          <a:noFill/>
          <a:ln w="19050">
            <a:solidFill>
              <a:schemeClr val="tx1"/>
            </a:solidFill>
          </a:ln>
        </p:spPr>
        <p:txBody>
          <a:bodyPr wrap="square" rtlCol="0">
            <a:spAutoFit/>
          </a:bodyPr>
          <a:lstStyle/>
          <a:p>
            <a:endParaRPr lang="en-US" dirty="0">
              <a:solidFill>
                <a:srgbClr val="212121"/>
              </a:solidFill>
            </a:endParaRPr>
          </a:p>
        </p:txBody>
      </p:sp>
      <p:sp>
        <p:nvSpPr>
          <p:cNvPr id="18" name="TextBox 17"/>
          <p:cNvSpPr txBox="1"/>
          <p:nvPr/>
        </p:nvSpPr>
        <p:spPr>
          <a:xfrm>
            <a:off x="3760734" y="2560471"/>
            <a:ext cx="1544012" cy="461665"/>
          </a:xfrm>
          <a:prstGeom prst="rect">
            <a:avLst/>
          </a:prstGeom>
          <a:noFill/>
        </p:spPr>
        <p:txBody>
          <a:bodyPr wrap="none" rtlCol="0">
            <a:spAutoFit/>
          </a:bodyPr>
          <a:lstStyle/>
          <a:p>
            <a:r>
              <a:rPr lang="en-US" sz="2400" dirty="0">
                <a:solidFill>
                  <a:srgbClr val="212121"/>
                </a:solidFill>
              </a:rPr>
              <a:t>Page Table</a:t>
            </a:r>
          </a:p>
        </p:txBody>
      </p:sp>
      <p:cxnSp>
        <p:nvCxnSpPr>
          <p:cNvPr id="20" name="Straight Connector 19"/>
          <p:cNvCxnSpPr/>
          <p:nvPr/>
        </p:nvCxnSpPr>
        <p:spPr>
          <a:xfrm>
            <a:off x="3632638" y="3390951"/>
            <a:ext cx="17145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3624578" y="3743376"/>
            <a:ext cx="17145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3646926" y="4100564"/>
            <a:ext cx="17145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3646926" y="4472040"/>
            <a:ext cx="17145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3646926" y="4867326"/>
            <a:ext cx="17145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3646926" y="5248324"/>
            <a:ext cx="17145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3861839" y="2953302"/>
            <a:ext cx="1178528" cy="461665"/>
          </a:xfrm>
          <a:prstGeom prst="rect">
            <a:avLst/>
          </a:prstGeom>
          <a:noFill/>
        </p:spPr>
        <p:txBody>
          <a:bodyPr wrap="none" rtlCol="0">
            <a:spAutoFit/>
          </a:bodyPr>
          <a:lstStyle>
            <a:defPPr>
              <a:defRPr lang="en-US"/>
            </a:defPPr>
            <a:lvl1pPr>
              <a:defRPr sz="2400" b="1"/>
            </a:lvl1pPr>
          </a:lstStyle>
          <a:p>
            <a:r>
              <a:rPr lang="en-US" dirty="0"/>
              <a:t>Frame 2</a:t>
            </a:r>
          </a:p>
        </p:txBody>
      </p:sp>
      <p:cxnSp>
        <p:nvCxnSpPr>
          <p:cNvPr id="31" name="Elbow Connector 30"/>
          <p:cNvCxnSpPr/>
          <p:nvPr/>
        </p:nvCxnSpPr>
        <p:spPr>
          <a:xfrm rot="5400000" flipH="1" flipV="1">
            <a:off x="4598406" y="2642524"/>
            <a:ext cx="2087072" cy="564624"/>
          </a:xfrm>
          <a:prstGeom prst="bentConnector3">
            <a:avLst>
              <a:gd name="adj1" fmla="val 26"/>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5901237" y="2006315"/>
            <a:ext cx="461665" cy="1437253"/>
          </a:xfrm>
          <a:prstGeom prst="rect">
            <a:avLst/>
          </a:prstGeom>
          <a:noFill/>
        </p:spPr>
        <p:txBody>
          <a:bodyPr vert="vert270" wrap="none" rtlCol="0">
            <a:spAutoFit/>
          </a:bodyPr>
          <a:lstStyle/>
          <a:p>
            <a:r>
              <a:rPr lang="en-US" dirty="0">
                <a:solidFill>
                  <a:srgbClr val="212121"/>
                </a:solidFill>
              </a:rPr>
              <a:t>Frame Number</a:t>
            </a:r>
          </a:p>
        </p:txBody>
      </p:sp>
      <p:cxnSp>
        <p:nvCxnSpPr>
          <p:cNvPr id="39" name="Straight Arrow Connector 38"/>
          <p:cNvCxnSpPr/>
          <p:nvPr/>
        </p:nvCxnSpPr>
        <p:spPr>
          <a:xfrm flipV="1">
            <a:off x="183864" y="1645106"/>
            <a:ext cx="568948" cy="178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85" idx="3"/>
          </p:cNvCxnSpPr>
          <p:nvPr/>
        </p:nvCxnSpPr>
        <p:spPr>
          <a:xfrm flipV="1">
            <a:off x="7466029" y="1641897"/>
            <a:ext cx="676099" cy="319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99581" y="1219089"/>
            <a:ext cx="308098" cy="400110"/>
          </a:xfrm>
          <a:prstGeom prst="rect">
            <a:avLst/>
          </a:prstGeom>
          <a:noFill/>
        </p:spPr>
        <p:txBody>
          <a:bodyPr wrap="none" rtlCol="0">
            <a:spAutoFit/>
          </a:bodyPr>
          <a:lstStyle/>
          <a:p>
            <a:r>
              <a:rPr lang="en-US" sz="2000" b="1" dirty="0">
                <a:solidFill>
                  <a:srgbClr val="212121"/>
                </a:solidFill>
              </a:rPr>
              <a:t>L</a:t>
            </a:r>
          </a:p>
        </p:txBody>
      </p:sp>
      <p:sp>
        <p:nvSpPr>
          <p:cNvPr id="43" name="TextBox 42"/>
          <p:cNvSpPr txBox="1"/>
          <p:nvPr/>
        </p:nvSpPr>
        <p:spPr>
          <a:xfrm>
            <a:off x="7617177" y="1233204"/>
            <a:ext cx="330540" cy="400110"/>
          </a:xfrm>
          <a:prstGeom prst="rect">
            <a:avLst/>
          </a:prstGeom>
          <a:noFill/>
        </p:spPr>
        <p:txBody>
          <a:bodyPr wrap="none" rtlCol="0">
            <a:spAutoFit/>
          </a:bodyPr>
          <a:lstStyle/>
          <a:p>
            <a:r>
              <a:rPr lang="en-US" sz="2000" b="1" dirty="0">
                <a:solidFill>
                  <a:srgbClr val="212121"/>
                </a:solidFill>
              </a:rPr>
              <a:t>P</a:t>
            </a:r>
          </a:p>
        </p:txBody>
      </p:sp>
      <p:sp>
        <p:nvSpPr>
          <p:cNvPr id="64" name="TextBox 63"/>
          <p:cNvSpPr txBox="1"/>
          <p:nvPr/>
        </p:nvSpPr>
        <p:spPr>
          <a:xfrm rot="5400000">
            <a:off x="4128204" y="5262637"/>
            <a:ext cx="461665" cy="1405193"/>
          </a:xfrm>
          <a:prstGeom prst="rect">
            <a:avLst/>
          </a:prstGeom>
          <a:noFill/>
        </p:spPr>
        <p:txBody>
          <a:bodyPr vert="vert270" wrap="none" rtlCol="0">
            <a:spAutoFit/>
          </a:bodyPr>
          <a:lstStyle/>
          <a:p>
            <a:r>
              <a:rPr lang="en-US" dirty="0">
                <a:solidFill>
                  <a:srgbClr val="212121"/>
                </a:solidFill>
              </a:rPr>
              <a:t>Page Table P1</a:t>
            </a:r>
          </a:p>
        </p:txBody>
      </p:sp>
      <p:sp>
        <p:nvSpPr>
          <p:cNvPr id="38" name="TextBox 37"/>
          <p:cNvSpPr txBox="1"/>
          <p:nvPr/>
        </p:nvSpPr>
        <p:spPr>
          <a:xfrm>
            <a:off x="3318312" y="4128712"/>
            <a:ext cx="298480" cy="369332"/>
          </a:xfrm>
          <a:prstGeom prst="rect">
            <a:avLst/>
          </a:prstGeom>
          <a:noFill/>
        </p:spPr>
        <p:txBody>
          <a:bodyPr wrap="none" rtlCol="0">
            <a:spAutoFit/>
          </a:bodyPr>
          <a:lstStyle/>
          <a:p>
            <a:r>
              <a:rPr lang="en-US" dirty="0">
                <a:solidFill>
                  <a:srgbClr val="212121"/>
                </a:solidFill>
              </a:rPr>
              <a:t>3</a:t>
            </a:r>
          </a:p>
        </p:txBody>
      </p:sp>
      <p:sp>
        <p:nvSpPr>
          <p:cNvPr id="51" name="TextBox 50"/>
          <p:cNvSpPr txBox="1"/>
          <p:nvPr/>
        </p:nvSpPr>
        <p:spPr>
          <a:xfrm>
            <a:off x="3316278" y="4464957"/>
            <a:ext cx="298480" cy="369332"/>
          </a:xfrm>
          <a:prstGeom prst="rect">
            <a:avLst/>
          </a:prstGeom>
          <a:noFill/>
        </p:spPr>
        <p:txBody>
          <a:bodyPr wrap="none" rtlCol="0">
            <a:spAutoFit/>
          </a:bodyPr>
          <a:lstStyle/>
          <a:p>
            <a:r>
              <a:rPr lang="en-US" dirty="0">
                <a:solidFill>
                  <a:srgbClr val="212121"/>
                </a:solidFill>
              </a:rPr>
              <a:t>4</a:t>
            </a:r>
          </a:p>
        </p:txBody>
      </p:sp>
      <p:sp>
        <p:nvSpPr>
          <p:cNvPr id="52" name="TextBox 51"/>
          <p:cNvSpPr txBox="1"/>
          <p:nvPr/>
        </p:nvSpPr>
        <p:spPr>
          <a:xfrm>
            <a:off x="3327051" y="4890753"/>
            <a:ext cx="298480" cy="369332"/>
          </a:xfrm>
          <a:prstGeom prst="rect">
            <a:avLst/>
          </a:prstGeom>
          <a:noFill/>
        </p:spPr>
        <p:txBody>
          <a:bodyPr wrap="none" rtlCol="0">
            <a:spAutoFit/>
          </a:bodyPr>
          <a:lstStyle/>
          <a:p>
            <a:r>
              <a:rPr lang="en-US" dirty="0">
                <a:solidFill>
                  <a:srgbClr val="212121"/>
                </a:solidFill>
              </a:rPr>
              <a:t>5</a:t>
            </a:r>
          </a:p>
        </p:txBody>
      </p:sp>
      <p:sp>
        <p:nvSpPr>
          <p:cNvPr id="53" name="TextBox 52"/>
          <p:cNvSpPr txBox="1"/>
          <p:nvPr/>
        </p:nvSpPr>
        <p:spPr>
          <a:xfrm>
            <a:off x="3312209" y="5260085"/>
            <a:ext cx="298480" cy="369332"/>
          </a:xfrm>
          <a:prstGeom prst="rect">
            <a:avLst/>
          </a:prstGeom>
          <a:noFill/>
        </p:spPr>
        <p:txBody>
          <a:bodyPr wrap="none" rtlCol="0">
            <a:spAutoFit/>
          </a:bodyPr>
          <a:lstStyle/>
          <a:p>
            <a:r>
              <a:rPr lang="en-US" dirty="0">
                <a:solidFill>
                  <a:srgbClr val="212121"/>
                </a:solidFill>
              </a:rPr>
              <a:t>6</a:t>
            </a:r>
          </a:p>
        </p:txBody>
      </p:sp>
      <p:sp>
        <p:nvSpPr>
          <p:cNvPr id="54" name="TextBox 53"/>
          <p:cNvSpPr txBox="1"/>
          <p:nvPr/>
        </p:nvSpPr>
        <p:spPr>
          <a:xfrm>
            <a:off x="3323699" y="3003880"/>
            <a:ext cx="298480" cy="369332"/>
          </a:xfrm>
          <a:prstGeom prst="rect">
            <a:avLst/>
          </a:prstGeom>
          <a:noFill/>
        </p:spPr>
        <p:txBody>
          <a:bodyPr wrap="none" rtlCol="0">
            <a:spAutoFit/>
          </a:bodyPr>
          <a:lstStyle/>
          <a:p>
            <a:r>
              <a:rPr lang="en-US" dirty="0">
                <a:solidFill>
                  <a:srgbClr val="212121"/>
                </a:solidFill>
              </a:rPr>
              <a:t>0</a:t>
            </a:r>
          </a:p>
        </p:txBody>
      </p:sp>
      <p:sp>
        <p:nvSpPr>
          <p:cNvPr id="55" name="TextBox 54"/>
          <p:cNvSpPr txBox="1"/>
          <p:nvPr/>
        </p:nvSpPr>
        <p:spPr>
          <a:xfrm>
            <a:off x="3333161" y="3403552"/>
            <a:ext cx="298480" cy="369332"/>
          </a:xfrm>
          <a:prstGeom prst="rect">
            <a:avLst/>
          </a:prstGeom>
          <a:noFill/>
        </p:spPr>
        <p:txBody>
          <a:bodyPr wrap="none" rtlCol="0">
            <a:spAutoFit/>
          </a:bodyPr>
          <a:lstStyle/>
          <a:p>
            <a:r>
              <a:rPr lang="en-US" dirty="0">
                <a:solidFill>
                  <a:srgbClr val="212121"/>
                </a:solidFill>
              </a:rPr>
              <a:t>1</a:t>
            </a:r>
          </a:p>
        </p:txBody>
      </p:sp>
      <p:sp>
        <p:nvSpPr>
          <p:cNvPr id="56" name="TextBox 55"/>
          <p:cNvSpPr txBox="1"/>
          <p:nvPr/>
        </p:nvSpPr>
        <p:spPr>
          <a:xfrm>
            <a:off x="3318314" y="3756353"/>
            <a:ext cx="298480" cy="369332"/>
          </a:xfrm>
          <a:prstGeom prst="rect">
            <a:avLst/>
          </a:prstGeom>
          <a:noFill/>
        </p:spPr>
        <p:txBody>
          <a:bodyPr wrap="none" rtlCol="0">
            <a:spAutoFit/>
          </a:bodyPr>
          <a:lstStyle/>
          <a:p>
            <a:r>
              <a:rPr lang="en-US" dirty="0">
                <a:solidFill>
                  <a:srgbClr val="212121"/>
                </a:solidFill>
              </a:rPr>
              <a:t>2</a:t>
            </a:r>
          </a:p>
        </p:txBody>
      </p:sp>
      <p:cxnSp>
        <p:nvCxnSpPr>
          <p:cNvPr id="50" name="Straight Arrow Connector 49"/>
          <p:cNvCxnSpPr>
            <a:stCxn id="7" idx="2"/>
            <a:endCxn id="57" idx="0"/>
          </p:cNvCxnSpPr>
          <p:nvPr/>
        </p:nvCxnSpPr>
        <p:spPr>
          <a:xfrm>
            <a:off x="1355416" y="1849972"/>
            <a:ext cx="20239" cy="151697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Oval 56"/>
          <p:cNvSpPr/>
          <p:nvPr/>
        </p:nvSpPr>
        <p:spPr>
          <a:xfrm>
            <a:off x="1096376" y="3366948"/>
            <a:ext cx="558558" cy="483622"/>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a:t>
            </a:r>
            <a:endParaRPr lang="en-IN" sz="2200" b="1" dirty="0">
              <a:solidFill>
                <a:schemeClr val="tx1"/>
              </a:solidFill>
            </a:endParaRPr>
          </a:p>
        </p:txBody>
      </p:sp>
      <p:cxnSp>
        <p:nvCxnSpPr>
          <p:cNvPr id="61" name="Straight Arrow Connector 60"/>
          <p:cNvCxnSpPr/>
          <p:nvPr/>
        </p:nvCxnSpPr>
        <p:spPr>
          <a:xfrm flipV="1">
            <a:off x="1367699" y="3853204"/>
            <a:ext cx="0" cy="161949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2" name="Rectangle 61"/>
          <p:cNvSpPr/>
          <p:nvPr/>
        </p:nvSpPr>
        <p:spPr>
          <a:xfrm>
            <a:off x="859310" y="5468747"/>
            <a:ext cx="1215957" cy="531308"/>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Frame 10</a:t>
            </a:r>
            <a:endParaRPr lang="en-IN" dirty="0">
              <a:solidFill>
                <a:schemeClr val="tx1"/>
              </a:solidFill>
            </a:endParaRPr>
          </a:p>
        </p:txBody>
      </p:sp>
      <p:sp>
        <p:nvSpPr>
          <p:cNvPr id="65" name="TextBox 64"/>
          <p:cNvSpPr txBox="1"/>
          <p:nvPr/>
        </p:nvSpPr>
        <p:spPr>
          <a:xfrm>
            <a:off x="3864920" y="3323899"/>
            <a:ext cx="1178528" cy="461665"/>
          </a:xfrm>
          <a:prstGeom prst="rect">
            <a:avLst/>
          </a:prstGeom>
          <a:noFill/>
        </p:spPr>
        <p:txBody>
          <a:bodyPr wrap="none" rtlCol="0">
            <a:spAutoFit/>
          </a:bodyPr>
          <a:lstStyle/>
          <a:p>
            <a:r>
              <a:rPr lang="en-US" sz="2400" b="1" dirty="0"/>
              <a:t>Frame 3</a:t>
            </a:r>
            <a:endParaRPr lang="en-US" sz="2000" b="1" dirty="0"/>
          </a:p>
        </p:txBody>
      </p:sp>
      <p:sp>
        <p:nvSpPr>
          <p:cNvPr id="66" name="TextBox 65"/>
          <p:cNvSpPr txBox="1"/>
          <p:nvPr/>
        </p:nvSpPr>
        <p:spPr>
          <a:xfrm>
            <a:off x="3875882" y="3695637"/>
            <a:ext cx="1178528" cy="461665"/>
          </a:xfrm>
          <a:prstGeom prst="rect">
            <a:avLst/>
          </a:prstGeom>
          <a:noFill/>
        </p:spPr>
        <p:txBody>
          <a:bodyPr wrap="none" rtlCol="0">
            <a:spAutoFit/>
          </a:bodyPr>
          <a:lstStyle/>
          <a:p>
            <a:r>
              <a:rPr lang="en-US" sz="2400" b="1" dirty="0"/>
              <a:t>Frame</a:t>
            </a:r>
            <a:r>
              <a:rPr lang="en-US" sz="2400" b="1" dirty="0">
                <a:solidFill>
                  <a:srgbClr val="00B050"/>
                </a:solidFill>
              </a:rPr>
              <a:t> </a:t>
            </a:r>
            <a:r>
              <a:rPr lang="en-US" sz="2400" b="1" dirty="0"/>
              <a:t>4</a:t>
            </a:r>
          </a:p>
        </p:txBody>
      </p:sp>
      <p:sp>
        <p:nvSpPr>
          <p:cNvPr id="67" name="TextBox 66"/>
          <p:cNvSpPr txBox="1"/>
          <p:nvPr/>
        </p:nvSpPr>
        <p:spPr>
          <a:xfrm>
            <a:off x="3861839" y="4067374"/>
            <a:ext cx="1178528" cy="461665"/>
          </a:xfrm>
          <a:prstGeom prst="rect">
            <a:avLst/>
          </a:prstGeom>
          <a:noFill/>
        </p:spPr>
        <p:txBody>
          <a:bodyPr wrap="none" rtlCol="0">
            <a:spAutoFit/>
          </a:bodyPr>
          <a:lstStyle/>
          <a:p>
            <a:r>
              <a:rPr lang="en-US" sz="2400" b="1" dirty="0"/>
              <a:t>Frame 5</a:t>
            </a:r>
          </a:p>
        </p:txBody>
      </p:sp>
      <p:sp>
        <p:nvSpPr>
          <p:cNvPr id="68" name="TextBox 67"/>
          <p:cNvSpPr txBox="1"/>
          <p:nvPr/>
        </p:nvSpPr>
        <p:spPr>
          <a:xfrm>
            <a:off x="3875882" y="4439112"/>
            <a:ext cx="1178528" cy="461665"/>
          </a:xfrm>
          <a:prstGeom prst="rect">
            <a:avLst/>
          </a:prstGeom>
          <a:noFill/>
        </p:spPr>
        <p:txBody>
          <a:bodyPr wrap="none" rtlCol="0">
            <a:spAutoFit/>
          </a:bodyPr>
          <a:lstStyle/>
          <a:p>
            <a:r>
              <a:rPr lang="en-US" sz="2400" b="1" dirty="0"/>
              <a:t>Frame</a:t>
            </a:r>
            <a:r>
              <a:rPr lang="en-US" sz="2400" b="1" dirty="0">
                <a:solidFill>
                  <a:srgbClr val="00B050"/>
                </a:solidFill>
              </a:rPr>
              <a:t> </a:t>
            </a:r>
            <a:r>
              <a:rPr lang="en-US" sz="2400" b="1" dirty="0"/>
              <a:t>6</a:t>
            </a:r>
          </a:p>
        </p:txBody>
      </p:sp>
      <p:sp>
        <p:nvSpPr>
          <p:cNvPr id="69" name="TextBox 68"/>
          <p:cNvSpPr txBox="1"/>
          <p:nvPr/>
        </p:nvSpPr>
        <p:spPr>
          <a:xfrm>
            <a:off x="3862836" y="4836196"/>
            <a:ext cx="1178528" cy="461665"/>
          </a:xfrm>
          <a:prstGeom prst="rect">
            <a:avLst/>
          </a:prstGeom>
          <a:noFill/>
        </p:spPr>
        <p:txBody>
          <a:bodyPr wrap="none" rtlCol="0">
            <a:spAutoFit/>
          </a:bodyPr>
          <a:lstStyle/>
          <a:p>
            <a:r>
              <a:rPr lang="en-US" sz="2400" b="1" dirty="0"/>
              <a:t>Frame</a:t>
            </a:r>
            <a:r>
              <a:rPr lang="en-US" sz="2400" b="1" dirty="0">
                <a:solidFill>
                  <a:srgbClr val="00B050"/>
                </a:solidFill>
              </a:rPr>
              <a:t> </a:t>
            </a:r>
            <a:r>
              <a:rPr lang="en-US" sz="2400" b="1" dirty="0"/>
              <a:t>7</a:t>
            </a:r>
          </a:p>
        </p:txBody>
      </p:sp>
      <p:sp>
        <p:nvSpPr>
          <p:cNvPr id="70" name="TextBox 69"/>
          <p:cNvSpPr txBox="1"/>
          <p:nvPr/>
        </p:nvSpPr>
        <p:spPr>
          <a:xfrm>
            <a:off x="3835520" y="5210578"/>
            <a:ext cx="1178528" cy="461665"/>
          </a:xfrm>
          <a:prstGeom prst="rect">
            <a:avLst/>
          </a:prstGeom>
          <a:noFill/>
        </p:spPr>
        <p:txBody>
          <a:bodyPr wrap="none" rtlCol="0">
            <a:spAutoFit/>
          </a:bodyPr>
          <a:lstStyle/>
          <a:p>
            <a:r>
              <a:rPr lang="en-US" sz="2400" b="1" dirty="0"/>
              <a:t>Frame</a:t>
            </a:r>
            <a:r>
              <a:rPr lang="en-US" sz="2400" b="1" dirty="0">
                <a:solidFill>
                  <a:srgbClr val="00B050"/>
                </a:solidFill>
              </a:rPr>
              <a:t> </a:t>
            </a:r>
            <a:r>
              <a:rPr lang="en-US" sz="2400" b="1" dirty="0"/>
              <a:t>8</a:t>
            </a:r>
          </a:p>
        </p:txBody>
      </p:sp>
      <p:sp>
        <p:nvSpPr>
          <p:cNvPr id="84" name="TextBox 83"/>
          <p:cNvSpPr txBox="1"/>
          <p:nvPr/>
        </p:nvSpPr>
        <p:spPr>
          <a:xfrm>
            <a:off x="5062302" y="1445038"/>
            <a:ext cx="1254120" cy="400110"/>
          </a:xfrm>
          <a:prstGeom prst="rect">
            <a:avLst/>
          </a:prstGeom>
          <a:noFill/>
          <a:ln>
            <a:solidFill>
              <a:schemeClr val="tx1"/>
            </a:solidFill>
          </a:ln>
        </p:spPr>
        <p:txBody>
          <a:bodyPr wrap="square" rtlCol="0">
            <a:spAutoFit/>
          </a:bodyPr>
          <a:lstStyle/>
          <a:p>
            <a:pPr algn="ctr"/>
            <a:r>
              <a:rPr lang="en-US" sz="2000" dirty="0"/>
              <a:t>Frame 4</a:t>
            </a:r>
          </a:p>
        </p:txBody>
      </p:sp>
      <p:sp>
        <p:nvSpPr>
          <p:cNvPr id="85" name="TextBox 84"/>
          <p:cNvSpPr txBox="1"/>
          <p:nvPr/>
        </p:nvSpPr>
        <p:spPr>
          <a:xfrm>
            <a:off x="6316421" y="1445038"/>
            <a:ext cx="1149608" cy="400110"/>
          </a:xfrm>
          <a:prstGeom prst="rect">
            <a:avLst/>
          </a:prstGeom>
          <a:noFill/>
          <a:ln>
            <a:solidFill>
              <a:schemeClr val="tx1"/>
            </a:solidFill>
          </a:ln>
        </p:spPr>
        <p:txBody>
          <a:bodyPr wrap="square" rtlCol="0">
            <a:spAutoFit/>
          </a:bodyPr>
          <a:lstStyle/>
          <a:p>
            <a:pPr algn="ctr"/>
            <a:r>
              <a:rPr lang="en-US" sz="2000" dirty="0"/>
              <a:t>3</a:t>
            </a:r>
            <a:r>
              <a:rPr lang="en-US" sz="2000" baseline="30000" dirty="0"/>
              <a:t>rd</a:t>
            </a:r>
            <a:r>
              <a:rPr lang="en-US" sz="2000" dirty="0"/>
              <a:t> byte</a:t>
            </a:r>
          </a:p>
        </p:txBody>
      </p:sp>
      <p:sp>
        <p:nvSpPr>
          <p:cNvPr id="88" name="TextBox 87"/>
          <p:cNvSpPr txBox="1"/>
          <p:nvPr/>
        </p:nvSpPr>
        <p:spPr>
          <a:xfrm rot="5400000">
            <a:off x="7369510" y="5443791"/>
            <a:ext cx="461665" cy="832920"/>
          </a:xfrm>
          <a:prstGeom prst="rect">
            <a:avLst/>
          </a:prstGeom>
          <a:noFill/>
        </p:spPr>
        <p:txBody>
          <a:bodyPr vert="vert270" wrap="none" rtlCol="0">
            <a:spAutoFit/>
          </a:bodyPr>
          <a:lstStyle/>
          <a:p>
            <a:r>
              <a:rPr lang="en-US" dirty="0">
                <a:solidFill>
                  <a:srgbClr val="212121"/>
                </a:solidFill>
              </a:rPr>
              <a:t>Process</a:t>
            </a:r>
          </a:p>
        </p:txBody>
      </p:sp>
      <p:graphicFrame>
        <p:nvGraphicFramePr>
          <p:cNvPr id="89" name="Content Placeholder 86"/>
          <p:cNvGraphicFramePr>
            <a:graphicFrameLocks/>
          </p:cNvGraphicFramePr>
          <p:nvPr>
            <p:extLst>
              <p:ext uri="{D42A27DB-BD31-4B8C-83A1-F6EECF244321}">
                <p14:modId xmlns:p14="http://schemas.microsoft.com/office/powerpoint/2010/main" val="3663656593"/>
              </p:ext>
            </p:extLst>
          </p:nvPr>
        </p:nvGraphicFramePr>
        <p:xfrm>
          <a:off x="9458045" y="1831500"/>
          <a:ext cx="1836962" cy="3708400"/>
        </p:xfrm>
        <a:graphic>
          <a:graphicData uri="http://schemas.openxmlformats.org/drawingml/2006/table">
            <a:tbl>
              <a:tblPr firstRow="1" bandRow="1">
                <a:tableStyleId>{5940675A-B579-460E-94D1-54222C63F5DA}</a:tableStyleId>
              </a:tblPr>
              <a:tblGrid>
                <a:gridCol w="1836962">
                  <a:extLst>
                    <a:ext uri="{9D8B030D-6E8A-4147-A177-3AD203B41FA5}">
                      <a16:colId xmlns:a16="http://schemas.microsoft.com/office/drawing/2014/main" val="20000"/>
                    </a:ext>
                  </a:extLst>
                </a:gridCol>
              </a:tblGrid>
              <a:tr h="370840">
                <a:tc>
                  <a:txBody>
                    <a:bodyPr/>
                    <a:lstStyle/>
                    <a:p>
                      <a:pPr algn="ctr"/>
                      <a:r>
                        <a:rPr lang="en-US" dirty="0"/>
                        <a:t>OS</a:t>
                      </a:r>
                      <a:endParaRPr lang="en-IN" dirty="0"/>
                    </a:p>
                  </a:txBody>
                  <a:tcPr/>
                </a:tc>
                <a:extLst>
                  <a:ext uri="{0D108BD9-81ED-4DB2-BD59-A6C34878D82A}">
                    <a16:rowId xmlns:a16="http://schemas.microsoft.com/office/drawing/2014/main" val="10000"/>
                  </a:ext>
                </a:extLst>
              </a:tr>
              <a:tr h="370840">
                <a:tc>
                  <a:txBody>
                    <a:bodyPr/>
                    <a:lstStyle/>
                    <a:p>
                      <a:pPr algn="ctr"/>
                      <a:r>
                        <a:rPr lang="en-US" dirty="0"/>
                        <a:t>P1(0)</a:t>
                      </a:r>
                      <a:endParaRPr lang="en-IN" dirty="0"/>
                    </a:p>
                  </a:txBody>
                  <a:tcPr/>
                </a:tc>
                <a:extLst>
                  <a:ext uri="{0D108BD9-81ED-4DB2-BD59-A6C34878D82A}">
                    <a16:rowId xmlns:a16="http://schemas.microsoft.com/office/drawing/2014/main" val="10001"/>
                  </a:ext>
                </a:extLst>
              </a:tr>
              <a:tr h="370840">
                <a:tc>
                  <a:txBody>
                    <a:bodyPr/>
                    <a:lstStyle/>
                    <a:p>
                      <a:pPr algn="ctr"/>
                      <a:r>
                        <a:rPr lang="en-US" dirty="0"/>
                        <a:t>P1(1)</a:t>
                      </a:r>
                      <a:endParaRPr lang="en-IN" dirty="0"/>
                    </a:p>
                  </a:txBody>
                  <a:tcPr/>
                </a:tc>
                <a:extLst>
                  <a:ext uri="{0D108BD9-81ED-4DB2-BD59-A6C34878D82A}">
                    <a16:rowId xmlns:a16="http://schemas.microsoft.com/office/drawing/2014/main" val="10002"/>
                  </a:ext>
                </a:extLst>
              </a:tr>
              <a:tr h="370840">
                <a:tc>
                  <a:txBody>
                    <a:bodyPr/>
                    <a:lstStyle/>
                    <a:p>
                      <a:pPr algn="ctr"/>
                      <a:r>
                        <a:rPr lang="en-US" dirty="0"/>
                        <a:t>P1(2)</a:t>
                      </a:r>
                      <a:endParaRPr lang="en-IN" dirty="0"/>
                    </a:p>
                  </a:txBody>
                  <a:tcPr/>
                </a:tc>
                <a:extLst>
                  <a:ext uri="{0D108BD9-81ED-4DB2-BD59-A6C34878D82A}">
                    <a16:rowId xmlns:a16="http://schemas.microsoft.com/office/drawing/2014/main" val="10003"/>
                  </a:ext>
                </a:extLst>
              </a:tr>
              <a:tr h="370840">
                <a:tc>
                  <a:txBody>
                    <a:bodyPr/>
                    <a:lstStyle/>
                    <a:p>
                      <a:pPr algn="ctr"/>
                      <a:r>
                        <a:rPr lang="en-US" dirty="0"/>
                        <a:t>P1(3)</a:t>
                      </a:r>
                      <a:endParaRPr lang="en-IN" dirty="0"/>
                    </a:p>
                  </a:txBody>
                  <a:tcPr/>
                </a:tc>
                <a:extLst>
                  <a:ext uri="{0D108BD9-81ED-4DB2-BD59-A6C34878D82A}">
                    <a16:rowId xmlns:a16="http://schemas.microsoft.com/office/drawing/2014/main" val="10004"/>
                  </a:ext>
                </a:extLst>
              </a:tr>
              <a:tr h="370840">
                <a:tc>
                  <a:txBody>
                    <a:bodyPr/>
                    <a:lstStyle/>
                    <a:p>
                      <a:pPr algn="ctr"/>
                      <a:r>
                        <a:rPr lang="en-US" dirty="0"/>
                        <a:t>P1(4)</a:t>
                      </a:r>
                      <a:endParaRPr lang="en-IN" dirty="0"/>
                    </a:p>
                  </a:txBody>
                  <a:tcPr/>
                </a:tc>
                <a:extLst>
                  <a:ext uri="{0D108BD9-81ED-4DB2-BD59-A6C34878D82A}">
                    <a16:rowId xmlns:a16="http://schemas.microsoft.com/office/drawing/2014/main" val="10005"/>
                  </a:ext>
                </a:extLst>
              </a:tr>
              <a:tr h="370840">
                <a:tc>
                  <a:txBody>
                    <a:bodyPr/>
                    <a:lstStyle/>
                    <a:p>
                      <a:pPr algn="ctr"/>
                      <a:r>
                        <a:rPr lang="en-US" dirty="0"/>
                        <a:t>P1(5)</a:t>
                      </a:r>
                      <a:endParaRPr lang="en-IN" dirty="0"/>
                    </a:p>
                  </a:txBody>
                  <a:tcPr/>
                </a:tc>
                <a:extLst>
                  <a:ext uri="{0D108BD9-81ED-4DB2-BD59-A6C34878D82A}">
                    <a16:rowId xmlns:a16="http://schemas.microsoft.com/office/drawing/2014/main" val="1000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P1(6)</a:t>
                      </a:r>
                      <a:endParaRPr lang="en-IN" dirty="0"/>
                    </a:p>
                  </a:txBody>
                  <a:tcPr/>
                </a:tc>
                <a:extLst>
                  <a:ext uri="{0D108BD9-81ED-4DB2-BD59-A6C34878D82A}">
                    <a16:rowId xmlns:a16="http://schemas.microsoft.com/office/drawing/2014/main" val="10007"/>
                  </a:ext>
                </a:extLst>
              </a:tr>
              <a:tr h="370840">
                <a:tc>
                  <a:txBody>
                    <a:bodyPr/>
                    <a:lstStyle/>
                    <a:p>
                      <a:pPr algn="ctr"/>
                      <a:endParaRPr lang="en-IN" dirty="0"/>
                    </a:p>
                  </a:txBody>
                  <a:tcPr/>
                </a:tc>
                <a:extLst>
                  <a:ext uri="{0D108BD9-81ED-4DB2-BD59-A6C34878D82A}">
                    <a16:rowId xmlns:a16="http://schemas.microsoft.com/office/drawing/2014/main" val="1000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P1(Page</a:t>
                      </a:r>
                      <a:r>
                        <a:rPr lang="en-US" baseline="0" dirty="0"/>
                        <a:t> Table</a:t>
                      </a:r>
                      <a:r>
                        <a:rPr lang="en-US" dirty="0"/>
                        <a:t>)</a:t>
                      </a:r>
                      <a:endParaRPr lang="en-IN" dirty="0"/>
                    </a:p>
                  </a:txBody>
                  <a:tcPr/>
                </a:tc>
                <a:extLst>
                  <a:ext uri="{0D108BD9-81ED-4DB2-BD59-A6C34878D82A}">
                    <a16:rowId xmlns:a16="http://schemas.microsoft.com/office/drawing/2014/main" val="10009"/>
                  </a:ext>
                </a:extLst>
              </a:tr>
            </a:tbl>
          </a:graphicData>
        </a:graphic>
      </p:graphicFrame>
      <p:sp>
        <p:nvSpPr>
          <p:cNvPr id="90" name="TextBox 89"/>
          <p:cNvSpPr txBox="1"/>
          <p:nvPr/>
        </p:nvSpPr>
        <p:spPr>
          <a:xfrm rot="5400000">
            <a:off x="10261221" y="5067872"/>
            <a:ext cx="461665" cy="1333057"/>
          </a:xfrm>
          <a:prstGeom prst="rect">
            <a:avLst/>
          </a:prstGeom>
          <a:noFill/>
        </p:spPr>
        <p:txBody>
          <a:bodyPr vert="vert270" wrap="none" rtlCol="0">
            <a:spAutoFit/>
          </a:bodyPr>
          <a:lstStyle/>
          <a:p>
            <a:r>
              <a:rPr lang="en-US" dirty="0">
                <a:solidFill>
                  <a:srgbClr val="212121"/>
                </a:solidFill>
              </a:rPr>
              <a:t>Main Memory</a:t>
            </a:r>
          </a:p>
        </p:txBody>
      </p:sp>
      <p:cxnSp>
        <p:nvCxnSpPr>
          <p:cNvPr id="125" name="Elbow Connector 124"/>
          <p:cNvCxnSpPr>
            <a:endCxn id="85" idx="0"/>
          </p:cNvCxnSpPr>
          <p:nvPr/>
        </p:nvCxnSpPr>
        <p:spPr>
          <a:xfrm>
            <a:off x="2571296" y="959660"/>
            <a:ext cx="4319929" cy="485378"/>
          </a:xfrm>
          <a:prstGeom prst="bentConnector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0" name="TextBox 139"/>
          <p:cNvSpPr txBox="1"/>
          <p:nvPr/>
        </p:nvSpPr>
        <p:spPr>
          <a:xfrm rot="5400000">
            <a:off x="7386344" y="2526811"/>
            <a:ext cx="461665" cy="334387"/>
          </a:xfrm>
          <a:prstGeom prst="rect">
            <a:avLst/>
          </a:prstGeom>
          <a:noFill/>
        </p:spPr>
        <p:txBody>
          <a:bodyPr vert="vert270" wrap="none" rtlCol="0">
            <a:spAutoFit/>
          </a:bodyPr>
          <a:lstStyle/>
          <a:p>
            <a:r>
              <a:rPr lang="en-US" dirty="0">
                <a:solidFill>
                  <a:srgbClr val="212121"/>
                </a:solidFill>
              </a:rPr>
              <a:t>P1</a:t>
            </a:r>
          </a:p>
        </p:txBody>
      </p:sp>
      <p:sp>
        <p:nvSpPr>
          <p:cNvPr id="144" name="TextBox 143"/>
          <p:cNvSpPr txBox="1"/>
          <p:nvPr/>
        </p:nvSpPr>
        <p:spPr>
          <a:xfrm>
            <a:off x="9119430" y="2596572"/>
            <a:ext cx="298480" cy="369332"/>
          </a:xfrm>
          <a:prstGeom prst="rect">
            <a:avLst/>
          </a:prstGeom>
          <a:noFill/>
        </p:spPr>
        <p:txBody>
          <a:bodyPr wrap="none" rtlCol="0">
            <a:spAutoFit/>
          </a:bodyPr>
          <a:lstStyle/>
          <a:p>
            <a:r>
              <a:rPr lang="en-US" dirty="0">
                <a:solidFill>
                  <a:srgbClr val="212121"/>
                </a:solidFill>
              </a:rPr>
              <a:t>3</a:t>
            </a:r>
          </a:p>
        </p:txBody>
      </p:sp>
      <p:sp>
        <p:nvSpPr>
          <p:cNvPr id="145" name="TextBox 144"/>
          <p:cNvSpPr txBox="1"/>
          <p:nvPr/>
        </p:nvSpPr>
        <p:spPr>
          <a:xfrm>
            <a:off x="9119430" y="2961617"/>
            <a:ext cx="298480" cy="369332"/>
          </a:xfrm>
          <a:prstGeom prst="rect">
            <a:avLst/>
          </a:prstGeom>
          <a:noFill/>
        </p:spPr>
        <p:txBody>
          <a:bodyPr wrap="none" rtlCol="0">
            <a:spAutoFit/>
          </a:bodyPr>
          <a:lstStyle/>
          <a:p>
            <a:r>
              <a:rPr lang="en-US" dirty="0">
                <a:solidFill>
                  <a:srgbClr val="212121"/>
                </a:solidFill>
              </a:rPr>
              <a:t>4</a:t>
            </a:r>
          </a:p>
        </p:txBody>
      </p:sp>
      <p:sp>
        <p:nvSpPr>
          <p:cNvPr id="146" name="TextBox 145"/>
          <p:cNvSpPr txBox="1"/>
          <p:nvPr/>
        </p:nvSpPr>
        <p:spPr>
          <a:xfrm>
            <a:off x="9100173" y="3387021"/>
            <a:ext cx="298480" cy="369332"/>
          </a:xfrm>
          <a:prstGeom prst="rect">
            <a:avLst/>
          </a:prstGeom>
          <a:noFill/>
        </p:spPr>
        <p:txBody>
          <a:bodyPr wrap="none" rtlCol="0">
            <a:spAutoFit/>
          </a:bodyPr>
          <a:lstStyle/>
          <a:p>
            <a:r>
              <a:rPr lang="en-US" dirty="0">
                <a:solidFill>
                  <a:srgbClr val="212121"/>
                </a:solidFill>
              </a:rPr>
              <a:t>5</a:t>
            </a:r>
          </a:p>
        </p:txBody>
      </p:sp>
      <p:sp>
        <p:nvSpPr>
          <p:cNvPr id="147" name="TextBox 146"/>
          <p:cNvSpPr txBox="1"/>
          <p:nvPr/>
        </p:nvSpPr>
        <p:spPr>
          <a:xfrm>
            <a:off x="9129869" y="3753127"/>
            <a:ext cx="298480" cy="369332"/>
          </a:xfrm>
          <a:prstGeom prst="rect">
            <a:avLst/>
          </a:prstGeom>
          <a:noFill/>
        </p:spPr>
        <p:txBody>
          <a:bodyPr wrap="none" rtlCol="0">
            <a:spAutoFit/>
          </a:bodyPr>
          <a:lstStyle/>
          <a:p>
            <a:r>
              <a:rPr lang="en-US" dirty="0">
                <a:solidFill>
                  <a:srgbClr val="212121"/>
                </a:solidFill>
              </a:rPr>
              <a:t>6</a:t>
            </a:r>
          </a:p>
        </p:txBody>
      </p:sp>
      <p:sp>
        <p:nvSpPr>
          <p:cNvPr id="148" name="TextBox 147"/>
          <p:cNvSpPr txBox="1"/>
          <p:nvPr/>
        </p:nvSpPr>
        <p:spPr>
          <a:xfrm>
            <a:off x="9081012" y="1655363"/>
            <a:ext cx="298480" cy="369332"/>
          </a:xfrm>
          <a:prstGeom prst="rect">
            <a:avLst/>
          </a:prstGeom>
          <a:noFill/>
        </p:spPr>
        <p:txBody>
          <a:bodyPr wrap="none" rtlCol="0">
            <a:spAutoFit/>
          </a:bodyPr>
          <a:lstStyle/>
          <a:p>
            <a:r>
              <a:rPr lang="en-US" dirty="0">
                <a:solidFill>
                  <a:srgbClr val="212121"/>
                </a:solidFill>
              </a:rPr>
              <a:t>0</a:t>
            </a:r>
          </a:p>
        </p:txBody>
      </p:sp>
      <p:sp>
        <p:nvSpPr>
          <p:cNvPr id="149" name="TextBox 148"/>
          <p:cNvSpPr txBox="1"/>
          <p:nvPr/>
        </p:nvSpPr>
        <p:spPr>
          <a:xfrm>
            <a:off x="9104252" y="1945447"/>
            <a:ext cx="298480" cy="369332"/>
          </a:xfrm>
          <a:prstGeom prst="rect">
            <a:avLst/>
          </a:prstGeom>
          <a:noFill/>
        </p:spPr>
        <p:txBody>
          <a:bodyPr wrap="none" rtlCol="0">
            <a:spAutoFit/>
          </a:bodyPr>
          <a:lstStyle/>
          <a:p>
            <a:r>
              <a:rPr lang="en-US" dirty="0">
                <a:solidFill>
                  <a:srgbClr val="212121"/>
                </a:solidFill>
              </a:rPr>
              <a:t>1</a:t>
            </a:r>
          </a:p>
        </p:txBody>
      </p:sp>
      <p:sp>
        <p:nvSpPr>
          <p:cNvPr id="150" name="TextBox 149"/>
          <p:cNvSpPr txBox="1"/>
          <p:nvPr/>
        </p:nvSpPr>
        <p:spPr>
          <a:xfrm>
            <a:off x="9105990" y="2236448"/>
            <a:ext cx="298480" cy="369332"/>
          </a:xfrm>
          <a:prstGeom prst="rect">
            <a:avLst/>
          </a:prstGeom>
          <a:noFill/>
        </p:spPr>
        <p:txBody>
          <a:bodyPr wrap="none" rtlCol="0">
            <a:spAutoFit/>
          </a:bodyPr>
          <a:lstStyle/>
          <a:p>
            <a:r>
              <a:rPr lang="en-US" dirty="0">
                <a:solidFill>
                  <a:srgbClr val="212121"/>
                </a:solidFill>
              </a:rPr>
              <a:t>2</a:t>
            </a:r>
          </a:p>
        </p:txBody>
      </p:sp>
      <p:sp>
        <p:nvSpPr>
          <p:cNvPr id="151" name="TextBox 150"/>
          <p:cNvSpPr txBox="1"/>
          <p:nvPr/>
        </p:nvSpPr>
        <p:spPr>
          <a:xfrm>
            <a:off x="9144717" y="4865316"/>
            <a:ext cx="298480" cy="369332"/>
          </a:xfrm>
          <a:prstGeom prst="rect">
            <a:avLst/>
          </a:prstGeom>
          <a:noFill/>
        </p:spPr>
        <p:txBody>
          <a:bodyPr wrap="none" rtlCol="0">
            <a:spAutoFit/>
          </a:bodyPr>
          <a:lstStyle/>
          <a:p>
            <a:r>
              <a:rPr lang="en-US" dirty="0">
                <a:solidFill>
                  <a:srgbClr val="212121"/>
                </a:solidFill>
              </a:rPr>
              <a:t>9</a:t>
            </a:r>
          </a:p>
        </p:txBody>
      </p:sp>
      <p:sp>
        <p:nvSpPr>
          <p:cNvPr id="152" name="TextBox 151"/>
          <p:cNvSpPr txBox="1"/>
          <p:nvPr/>
        </p:nvSpPr>
        <p:spPr>
          <a:xfrm>
            <a:off x="9087811" y="5201022"/>
            <a:ext cx="412292" cy="369332"/>
          </a:xfrm>
          <a:prstGeom prst="rect">
            <a:avLst/>
          </a:prstGeom>
          <a:noFill/>
        </p:spPr>
        <p:txBody>
          <a:bodyPr wrap="none" rtlCol="0">
            <a:spAutoFit/>
          </a:bodyPr>
          <a:lstStyle/>
          <a:p>
            <a:r>
              <a:rPr lang="en-US" dirty="0">
                <a:solidFill>
                  <a:srgbClr val="212121"/>
                </a:solidFill>
              </a:rPr>
              <a:t>10</a:t>
            </a:r>
          </a:p>
        </p:txBody>
      </p:sp>
      <p:sp>
        <p:nvSpPr>
          <p:cNvPr id="156" name="TextBox 155"/>
          <p:cNvSpPr txBox="1"/>
          <p:nvPr/>
        </p:nvSpPr>
        <p:spPr>
          <a:xfrm>
            <a:off x="9129869" y="4126785"/>
            <a:ext cx="298480" cy="369332"/>
          </a:xfrm>
          <a:prstGeom prst="rect">
            <a:avLst/>
          </a:prstGeom>
          <a:noFill/>
        </p:spPr>
        <p:txBody>
          <a:bodyPr wrap="none" rtlCol="0">
            <a:spAutoFit/>
          </a:bodyPr>
          <a:lstStyle/>
          <a:p>
            <a:r>
              <a:rPr lang="en-US" dirty="0">
                <a:solidFill>
                  <a:srgbClr val="212121"/>
                </a:solidFill>
              </a:rPr>
              <a:t>7</a:t>
            </a:r>
          </a:p>
        </p:txBody>
      </p:sp>
      <p:sp>
        <p:nvSpPr>
          <p:cNvPr id="157" name="TextBox 156"/>
          <p:cNvSpPr txBox="1"/>
          <p:nvPr/>
        </p:nvSpPr>
        <p:spPr>
          <a:xfrm>
            <a:off x="9129869" y="4478286"/>
            <a:ext cx="298480" cy="369332"/>
          </a:xfrm>
          <a:prstGeom prst="rect">
            <a:avLst/>
          </a:prstGeom>
          <a:noFill/>
        </p:spPr>
        <p:txBody>
          <a:bodyPr wrap="none" rtlCol="0">
            <a:spAutoFit/>
          </a:bodyPr>
          <a:lstStyle/>
          <a:p>
            <a:r>
              <a:rPr lang="en-US" dirty="0">
                <a:solidFill>
                  <a:srgbClr val="212121"/>
                </a:solidFill>
              </a:rPr>
              <a:t>8</a:t>
            </a:r>
          </a:p>
        </p:txBody>
      </p:sp>
      <p:cxnSp>
        <p:nvCxnSpPr>
          <p:cNvPr id="19" name="Straight Connector 18"/>
          <p:cNvCxnSpPr/>
          <p:nvPr/>
        </p:nvCxnSpPr>
        <p:spPr>
          <a:xfrm>
            <a:off x="2557279" y="962659"/>
            <a:ext cx="1" cy="470600"/>
          </a:xfrm>
          <a:prstGeom prst="line">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7" name="TextBox 76"/>
          <p:cNvSpPr txBox="1"/>
          <p:nvPr/>
        </p:nvSpPr>
        <p:spPr>
          <a:xfrm rot="5400000">
            <a:off x="1303358" y="5114874"/>
            <a:ext cx="461665" cy="2415085"/>
          </a:xfrm>
          <a:prstGeom prst="rect">
            <a:avLst/>
          </a:prstGeom>
          <a:noFill/>
        </p:spPr>
        <p:txBody>
          <a:bodyPr vert="vert270" wrap="none" rtlCol="0">
            <a:spAutoFit/>
          </a:bodyPr>
          <a:lstStyle/>
          <a:p>
            <a:r>
              <a:rPr lang="en-US" dirty="0">
                <a:solidFill>
                  <a:srgbClr val="212121"/>
                </a:solidFill>
              </a:rPr>
              <a:t>Page Table Base Register</a:t>
            </a:r>
          </a:p>
        </p:txBody>
      </p:sp>
      <p:sp>
        <p:nvSpPr>
          <p:cNvPr id="78" name="TextBox 77"/>
          <p:cNvSpPr txBox="1"/>
          <p:nvPr/>
        </p:nvSpPr>
        <p:spPr>
          <a:xfrm>
            <a:off x="1100569" y="1056509"/>
            <a:ext cx="600485" cy="338554"/>
          </a:xfrm>
          <a:prstGeom prst="rect">
            <a:avLst/>
          </a:prstGeom>
          <a:noFill/>
          <a:ln>
            <a:noFill/>
          </a:ln>
        </p:spPr>
        <p:txBody>
          <a:bodyPr wrap="square" rtlCol="0">
            <a:spAutoFit/>
          </a:bodyPr>
          <a:lstStyle/>
          <a:p>
            <a:pPr algn="ctr"/>
            <a:r>
              <a:rPr lang="en-US" sz="1600" dirty="0">
                <a:solidFill>
                  <a:srgbClr val="212121"/>
                </a:solidFill>
              </a:rPr>
              <a:t>page</a:t>
            </a:r>
          </a:p>
        </p:txBody>
      </p:sp>
      <p:sp>
        <p:nvSpPr>
          <p:cNvPr id="81" name="TextBox 80"/>
          <p:cNvSpPr txBox="1"/>
          <p:nvPr/>
        </p:nvSpPr>
        <p:spPr>
          <a:xfrm>
            <a:off x="2145672" y="1920423"/>
            <a:ext cx="814647" cy="400110"/>
          </a:xfrm>
          <a:prstGeom prst="rect">
            <a:avLst/>
          </a:prstGeom>
          <a:noFill/>
        </p:spPr>
        <p:txBody>
          <a:bodyPr wrap="none" rtlCol="0">
            <a:spAutoFit/>
          </a:bodyPr>
          <a:lstStyle/>
          <a:p>
            <a:r>
              <a:rPr lang="en-US" sz="2000" dirty="0">
                <a:solidFill>
                  <a:srgbClr val="212121"/>
                </a:solidFill>
              </a:rPr>
              <a:t>Offset</a:t>
            </a:r>
          </a:p>
        </p:txBody>
      </p:sp>
      <p:sp>
        <p:nvSpPr>
          <p:cNvPr id="35" name="Rectangle 34"/>
          <p:cNvSpPr/>
          <p:nvPr/>
        </p:nvSpPr>
        <p:spPr>
          <a:xfrm>
            <a:off x="1666352" y="2213678"/>
            <a:ext cx="3281668" cy="369332"/>
          </a:xfrm>
          <a:prstGeom prst="rect">
            <a:avLst/>
          </a:prstGeom>
        </p:spPr>
        <p:txBody>
          <a:bodyPr wrap="none">
            <a:spAutoFit/>
          </a:bodyPr>
          <a:lstStyle/>
          <a:p>
            <a:r>
              <a:rPr lang="en-US" dirty="0"/>
              <a:t> Gives Actual location within Page</a:t>
            </a:r>
          </a:p>
        </p:txBody>
      </p:sp>
      <p:cxnSp>
        <p:nvCxnSpPr>
          <p:cNvPr id="71" name="Straight Arrow Connector 70"/>
          <p:cNvCxnSpPr>
            <a:cxnSpLocks/>
          </p:cNvCxnSpPr>
          <p:nvPr/>
        </p:nvCxnSpPr>
        <p:spPr>
          <a:xfrm flipV="1">
            <a:off x="8269620" y="2421112"/>
            <a:ext cx="835796" cy="76302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cxnSpLocks/>
            <a:endCxn id="144" idx="1"/>
          </p:cNvCxnSpPr>
          <p:nvPr/>
        </p:nvCxnSpPr>
        <p:spPr>
          <a:xfrm flipV="1">
            <a:off x="8253871" y="2781238"/>
            <a:ext cx="865559" cy="76152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a:cxnSpLocks/>
            <a:endCxn id="145" idx="1"/>
          </p:cNvCxnSpPr>
          <p:nvPr/>
        </p:nvCxnSpPr>
        <p:spPr>
          <a:xfrm flipV="1">
            <a:off x="8274475" y="3146283"/>
            <a:ext cx="844955" cy="77456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a:cxnSpLocks/>
            <a:stCxn id="87" idx="3"/>
            <a:endCxn id="146" idx="1"/>
          </p:cNvCxnSpPr>
          <p:nvPr/>
        </p:nvCxnSpPr>
        <p:spPr>
          <a:xfrm flipV="1">
            <a:off x="8268154" y="3571687"/>
            <a:ext cx="832019" cy="69832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5940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6"/>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5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57"/>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6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62"/>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65"/>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66"/>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67"/>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68"/>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69"/>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70"/>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84"/>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85"/>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88"/>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89"/>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90"/>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125"/>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40"/>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44"/>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145"/>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46"/>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47"/>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48"/>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49"/>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50"/>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51"/>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52"/>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156"/>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57"/>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19"/>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77"/>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78"/>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81"/>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35"/>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71"/>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72"/>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73"/>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animBg="1"/>
      <p:bldP spid="8" grpId="0" animBg="1"/>
      <p:bldP spid="16" grpId="0"/>
      <p:bldP spid="17" grpId="0" animBg="1"/>
      <p:bldP spid="18" grpId="0"/>
      <p:bldP spid="27" grpId="0"/>
      <p:bldP spid="37" grpId="0"/>
      <p:bldP spid="42" grpId="0"/>
      <p:bldP spid="43" grpId="0"/>
      <p:bldP spid="64" grpId="0"/>
      <p:bldP spid="38" grpId="0"/>
      <p:bldP spid="51" grpId="0"/>
      <p:bldP spid="52" grpId="0"/>
      <p:bldP spid="53" grpId="0"/>
      <p:bldP spid="54" grpId="0"/>
      <p:bldP spid="55" grpId="0"/>
      <p:bldP spid="56" grpId="0"/>
      <p:bldP spid="57" grpId="0" animBg="1"/>
      <p:bldP spid="62" grpId="0" animBg="1"/>
      <p:bldP spid="65" grpId="0"/>
      <p:bldP spid="66" grpId="0"/>
      <p:bldP spid="67" grpId="0"/>
      <p:bldP spid="68" grpId="0"/>
      <p:bldP spid="69" grpId="0"/>
      <p:bldP spid="70" grpId="0"/>
      <p:bldP spid="84" grpId="0" animBg="1"/>
      <p:bldP spid="85" grpId="0" animBg="1"/>
      <p:bldP spid="88" grpId="0"/>
      <p:bldP spid="90" grpId="0"/>
      <p:bldP spid="140" grpId="0"/>
      <p:bldP spid="144" grpId="0"/>
      <p:bldP spid="145" grpId="0"/>
      <p:bldP spid="146" grpId="0"/>
      <p:bldP spid="147" grpId="0"/>
      <p:bldP spid="148" grpId="0"/>
      <p:bldP spid="149" grpId="0"/>
      <p:bldP spid="150" grpId="0"/>
      <p:bldP spid="151" grpId="0"/>
      <p:bldP spid="152" grpId="0"/>
      <p:bldP spid="156" grpId="0"/>
      <p:bldP spid="157" grpId="0"/>
      <p:bldP spid="77" grpId="0"/>
      <p:bldP spid="78" grpId="0"/>
      <p:bldP spid="81" grpId="0"/>
      <p:bldP spid="3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Paging</a:t>
            </a:r>
          </a:p>
        </p:txBody>
      </p:sp>
      <p:sp>
        <p:nvSpPr>
          <p:cNvPr id="5" name="Content Placeholder 4"/>
          <p:cNvSpPr>
            <a:spLocks noGrp="1"/>
          </p:cNvSpPr>
          <p:nvPr>
            <p:ph idx="1"/>
          </p:nvPr>
        </p:nvSpPr>
        <p:spPr>
          <a:xfrm>
            <a:off x="131179" y="834867"/>
            <a:ext cx="11929641" cy="5649046"/>
          </a:xfrm>
        </p:spPr>
        <p:txBody>
          <a:bodyPr/>
          <a:lstStyle/>
          <a:p>
            <a:pPr>
              <a:lnSpc>
                <a:spcPts val="1700"/>
              </a:lnSpc>
            </a:pPr>
            <a:r>
              <a:rPr lang="en-US" b="1" dirty="0"/>
              <a:t>Advantages </a:t>
            </a:r>
          </a:p>
          <a:p>
            <a:pPr marL="1001712" lvl="1" indent="-457200">
              <a:lnSpc>
                <a:spcPts val="1700"/>
              </a:lnSpc>
              <a:buFont typeface="+mj-lt"/>
              <a:buAutoNum type="arabicPeriod"/>
            </a:pPr>
            <a:r>
              <a:rPr lang="en-US" dirty="0">
                <a:solidFill>
                  <a:srgbClr val="C00000"/>
                </a:solidFill>
              </a:rPr>
              <a:t>Allocation and De-allocation</a:t>
            </a:r>
          </a:p>
          <a:p>
            <a:pPr marL="1792287" lvl="3" indent="-457200">
              <a:lnSpc>
                <a:spcPts val="1700"/>
              </a:lnSpc>
              <a:buFont typeface="Wingdings" panose="05000000000000000000" pitchFamily="2" charset="2"/>
              <a:buChar char="§"/>
            </a:pPr>
            <a:r>
              <a:rPr lang="en-US" dirty="0"/>
              <a:t>of memory is very fast. List of free frame need to be maintained.</a:t>
            </a:r>
          </a:p>
          <a:p>
            <a:pPr marL="1001712" lvl="1" indent="-457200">
              <a:lnSpc>
                <a:spcPts val="1700"/>
              </a:lnSpc>
              <a:buFont typeface="+mj-lt"/>
              <a:buAutoNum type="arabicPeriod"/>
            </a:pPr>
            <a:r>
              <a:rPr lang="en-US" dirty="0">
                <a:solidFill>
                  <a:srgbClr val="C00000"/>
                </a:solidFill>
              </a:rPr>
              <a:t>No external Fragmentation</a:t>
            </a:r>
          </a:p>
          <a:p>
            <a:pPr marL="1620837" lvl="3" indent="-285750">
              <a:lnSpc>
                <a:spcPts val="1700"/>
              </a:lnSpc>
            </a:pPr>
            <a:r>
              <a:rPr lang="en-US" dirty="0"/>
              <a:t>Each and every frame memory can be allocated.</a:t>
            </a:r>
          </a:p>
          <a:p>
            <a:pPr>
              <a:lnSpc>
                <a:spcPts val="1700"/>
              </a:lnSpc>
            </a:pPr>
            <a:r>
              <a:rPr lang="en-US" b="1" dirty="0"/>
              <a:t>Disadvantage</a:t>
            </a:r>
          </a:p>
          <a:p>
            <a:pPr marL="1001712" lvl="1" indent="-457200">
              <a:lnSpc>
                <a:spcPts val="1700"/>
              </a:lnSpc>
              <a:buFont typeface="+mj-lt"/>
              <a:buAutoNum type="arabicPeriod"/>
            </a:pPr>
            <a:r>
              <a:rPr lang="en-US" dirty="0">
                <a:solidFill>
                  <a:srgbClr val="C00000"/>
                </a:solidFill>
              </a:rPr>
              <a:t>Additional memory required </a:t>
            </a:r>
          </a:p>
          <a:p>
            <a:pPr marL="1792287" lvl="3" indent="-457200">
              <a:lnSpc>
                <a:spcPts val="1700"/>
              </a:lnSpc>
            </a:pPr>
            <a:r>
              <a:rPr lang="en-US" dirty="0"/>
              <a:t>To read information from page table</a:t>
            </a:r>
          </a:p>
          <a:p>
            <a:pPr marL="1792287" lvl="3" indent="-457200">
              <a:lnSpc>
                <a:spcPts val="1700"/>
              </a:lnSpc>
            </a:pPr>
            <a:r>
              <a:rPr lang="en-US" dirty="0"/>
              <a:t>Every Instruction require two memory : for Page table and for Data</a:t>
            </a:r>
          </a:p>
          <a:p>
            <a:pPr marL="1001712" lvl="1" indent="-457200">
              <a:lnSpc>
                <a:spcPts val="1700"/>
              </a:lnSpc>
              <a:buFont typeface="+mj-lt"/>
              <a:buAutoNum type="arabicPeriod"/>
            </a:pPr>
            <a:r>
              <a:rPr lang="en-US" dirty="0">
                <a:solidFill>
                  <a:srgbClr val="C00000"/>
                </a:solidFill>
              </a:rPr>
              <a:t>Internal Fragmentation</a:t>
            </a:r>
          </a:p>
          <a:p>
            <a:pPr marL="1792287" lvl="3" indent="-457200">
              <a:lnSpc>
                <a:spcPts val="1700"/>
              </a:lnSpc>
            </a:pPr>
            <a:r>
              <a:rPr lang="en-US" dirty="0"/>
              <a:t>Process size is may not be exact multiple of page size.</a:t>
            </a:r>
          </a:p>
          <a:p>
            <a:pPr marL="1792287" lvl="3" indent="-457200">
              <a:lnSpc>
                <a:spcPts val="1700"/>
              </a:lnSpc>
            </a:pPr>
            <a:r>
              <a:rPr lang="en-US" dirty="0"/>
              <a:t>So some Space remain unoccupied.</a:t>
            </a:r>
          </a:p>
          <a:p>
            <a:pPr marL="1001712" lvl="1" indent="-457200">
              <a:lnSpc>
                <a:spcPts val="1700"/>
              </a:lnSpc>
              <a:buFont typeface="+mj-lt"/>
              <a:buAutoNum type="arabicPeriod"/>
            </a:pPr>
            <a:r>
              <a:rPr lang="en-US" dirty="0">
                <a:solidFill>
                  <a:srgbClr val="C00000"/>
                </a:solidFill>
              </a:rPr>
              <a:t>Size of Page Table</a:t>
            </a:r>
          </a:p>
          <a:p>
            <a:pPr marL="1792287" lvl="3" indent="-457200">
              <a:lnSpc>
                <a:spcPts val="1700"/>
              </a:lnSpc>
            </a:pPr>
            <a:r>
              <a:rPr lang="en-US" dirty="0"/>
              <a:t>May be too large to keep in main memory.</a:t>
            </a:r>
          </a:p>
          <a:p>
            <a:pPr marL="1792287" lvl="3" indent="-457200">
              <a:lnSpc>
                <a:spcPts val="1700"/>
              </a:lnSpc>
            </a:pPr>
            <a:r>
              <a:rPr lang="en-US" dirty="0"/>
              <a:t>Page table contains entry for all pages in logical address space. </a:t>
            </a:r>
          </a:p>
        </p:txBody>
      </p:sp>
    </p:spTree>
    <p:extLst>
      <p:ext uri="{BB962C8B-B14F-4D97-AF65-F5344CB8AC3E}">
        <p14:creationId xmlns:p14="http://schemas.microsoft.com/office/powerpoint/2010/main" val="2276424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t>Segmentation</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3.2.2</a:t>
            </a:r>
          </a:p>
        </p:txBody>
      </p:sp>
    </p:spTree>
    <p:extLst>
      <p:ext uri="{BB962C8B-B14F-4D97-AF65-F5344CB8AC3E}">
        <p14:creationId xmlns:p14="http://schemas.microsoft.com/office/powerpoint/2010/main" val="1191406345"/>
      </p:ext>
    </p:extLst>
  </p:cSld>
  <p:clrMapOvr>
    <a:overrideClrMapping bg1="lt1" tx1="dk1" bg2="lt2" tx2="dk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Segmentation</a:t>
            </a:r>
          </a:p>
        </p:txBody>
      </p:sp>
      <p:sp>
        <p:nvSpPr>
          <p:cNvPr id="3" name="Content Placeholder 2"/>
          <p:cNvSpPr>
            <a:spLocks noGrp="1"/>
          </p:cNvSpPr>
          <p:nvPr>
            <p:ph idx="1"/>
          </p:nvPr>
        </p:nvSpPr>
        <p:spPr/>
        <p:txBody>
          <a:bodyPr/>
          <a:lstStyle/>
          <a:p>
            <a:r>
              <a:rPr lang="en-US" dirty="0"/>
              <a:t>The Logical address space of any process is collection of </a:t>
            </a:r>
            <a:r>
              <a:rPr lang="en-US" dirty="0">
                <a:solidFill>
                  <a:schemeClr val="accent6"/>
                </a:solidFill>
              </a:rPr>
              <a:t>code, stack, data.</a:t>
            </a:r>
          </a:p>
          <a:p>
            <a:r>
              <a:rPr lang="en-US" dirty="0"/>
              <a:t>The logical address space of a</a:t>
            </a:r>
            <a:r>
              <a:rPr lang="en-US" dirty="0">
                <a:solidFill>
                  <a:srgbClr val="FF0000"/>
                </a:solidFill>
              </a:rPr>
              <a:t> </a:t>
            </a:r>
            <a:r>
              <a:rPr lang="en-US" dirty="0">
                <a:solidFill>
                  <a:schemeClr val="accent6"/>
                </a:solidFill>
              </a:rPr>
              <a:t>process</a:t>
            </a:r>
            <a:r>
              <a:rPr lang="en-US" dirty="0">
                <a:solidFill>
                  <a:srgbClr val="FF0000"/>
                </a:solidFill>
              </a:rPr>
              <a:t> </a:t>
            </a:r>
            <a:r>
              <a:rPr lang="en-US" dirty="0"/>
              <a:t>is</a:t>
            </a:r>
            <a:r>
              <a:rPr lang="en-US" dirty="0">
                <a:solidFill>
                  <a:srgbClr val="FF0000"/>
                </a:solidFill>
              </a:rPr>
              <a:t> </a:t>
            </a:r>
            <a:r>
              <a:rPr lang="en-US" dirty="0">
                <a:solidFill>
                  <a:schemeClr val="accent6"/>
                </a:solidFill>
              </a:rPr>
              <a:t>divided</a:t>
            </a:r>
            <a:r>
              <a:rPr lang="en-US" dirty="0">
                <a:solidFill>
                  <a:srgbClr val="FF0000"/>
                </a:solidFill>
              </a:rPr>
              <a:t> </a:t>
            </a:r>
            <a:r>
              <a:rPr lang="en-US" dirty="0"/>
              <a:t>into</a:t>
            </a:r>
            <a:r>
              <a:rPr lang="en-US" dirty="0">
                <a:solidFill>
                  <a:srgbClr val="FF0000"/>
                </a:solidFill>
              </a:rPr>
              <a:t> </a:t>
            </a:r>
            <a:r>
              <a:rPr lang="en-US" dirty="0">
                <a:solidFill>
                  <a:schemeClr val="accent6"/>
                </a:solidFill>
              </a:rPr>
              <a:t>blocks</a:t>
            </a:r>
            <a:r>
              <a:rPr lang="en-US" dirty="0">
                <a:solidFill>
                  <a:srgbClr val="FF0000"/>
                </a:solidFill>
              </a:rPr>
              <a:t> </a:t>
            </a:r>
            <a:r>
              <a:rPr lang="en-US" dirty="0"/>
              <a:t>of varying size </a:t>
            </a:r>
            <a:r>
              <a:rPr lang="en-US" dirty="0">
                <a:solidFill>
                  <a:schemeClr val="accent6"/>
                </a:solidFill>
              </a:rPr>
              <a:t>, called segment.</a:t>
            </a:r>
          </a:p>
          <a:p>
            <a:r>
              <a:rPr lang="en-US" dirty="0"/>
              <a:t>Each segment contains a logical unit of process. </a:t>
            </a:r>
            <a:r>
              <a:rPr lang="en-US" dirty="0">
                <a:solidFill>
                  <a:schemeClr val="accent6"/>
                </a:solidFill>
              </a:rPr>
              <a:t>Logical unit </a:t>
            </a:r>
            <a:r>
              <a:rPr lang="en-US" dirty="0"/>
              <a:t>can be</a:t>
            </a:r>
            <a:r>
              <a:rPr lang="en-US" dirty="0">
                <a:solidFill>
                  <a:srgbClr val="FF0000"/>
                </a:solidFill>
              </a:rPr>
              <a:t> </a:t>
            </a:r>
            <a:r>
              <a:rPr lang="en-US" dirty="0">
                <a:solidFill>
                  <a:schemeClr val="accent6"/>
                </a:solidFill>
              </a:rPr>
              <a:t>main function, other function or procedure, stack, array, symbol </a:t>
            </a:r>
            <a:r>
              <a:rPr lang="en-US" dirty="0"/>
              <a:t>etc.</a:t>
            </a:r>
          </a:p>
          <a:p>
            <a:r>
              <a:rPr lang="en-US" dirty="0"/>
              <a:t>Operating system maintains a table called, </a:t>
            </a:r>
            <a:r>
              <a:rPr lang="en-US" dirty="0">
                <a:solidFill>
                  <a:schemeClr val="accent6"/>
                </a:solidFill>
              </a:rPr>
              <a:t>segment table </a:t>
            </a:r>
            <a:r>
              <a:rPr lang="en-US" dirty="0"/>
              <a:t>for each process.</a:t>
            </a:r>
          </a:p>
          <a:p>
            <a:r>
              <a:rPr lang="en-US" dirty="0"/>
              <a:t>The logical address is divided into two parts : </a:t>
            </a:r>
          </a:p>
          <a:p>
            <a:pPr marL="1001712" lvl="1" indent="-457200">
              <a:buFont typeface="+mj-lt"/>
              <a:buAutoNum type="arabicPeriod"/>
            </a:pPr>
            <a:r>
              <a:rPr lang="en-US" dirty="0">
                <a:solidFill>
                  <a:schemeClr val="accent6"/>
                </a:solidFill>
              </a:rPr>
              <a:t>Segment number : </a:t>
            </a:r>
            <a:r>
              <a:rPr lang="en-US" dirty="0">
                <a:solidFill>
                  <a:srgbClr val="00B050"/>
                </a:solidFill>
              </a:rPr>
              <a:t>Which identifies a segment</a:t>
            </a:r>
          </a:p>
          <a:p>
            <a:pPr marL="1001712" lvl="1" indent="-457200">
              <a:buFont typeface="+mj-lt"/>
              <a:buAutoNum type="arabicPeriod"/>
            </a:pPr>
            <a:r>
              <a:rPr lang="en-US" dirty="0">
                <a:solidFill>
                  <a:schemeClr val="accent6"/>
                </a:solidFill>
              </a:rPr>
              <a:t>Offset : </a:t>
            </a:r>
            <a:r>
              <a:rPr lang="en-US" dirty="0">
                <a:solidFill>
                  <a:srgbClr val="00B050"/>
                </a:solidFill>
              </a:rPr>
              <a:t>Gives actual location within segment</a:t>
            </a:r>
          </a:p>
          <a:p>
            <a:pPr marL="0" indent="0">
              <a:buNone/>
            </a:pPr>
            <a:endParaRPr lang="en-US" dirty="0">
              <a:solidFill>
                <a:srgbClr val="00B050"/>
              </a:solidFill>
            </a:endParaRPr>
          </a:p>
        </p:txBody>
      </p:sp>
    </p:spTree>
    <p:extLst>
      <p:ext uri="{BB962C8B-B14F-4D97-AF65-F5344CB8AC3E}">
        <p14:creationId xmlns:p14="http://schemas.microsoft.com/office/powerpoint/2010/main" val="3781225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Segmentation(Conti..)</a:t>
            </a:r>
          </a:p>
        </p:txBody>
      </p:sp>
      <p:sp>
        <p:nvSpPr>
          <p:cNvPr id="5" name="TextBox 4"/>
          <p:cNvSpPr txBox="1"/>
          <p:nvPr/>
        </p:nvSpPr>
        <p:spPr>
          <a:xfrm>
            <a:off x="9581569" y="967851"/>
            <a:ext cx="2214562" cy="728663"/>
          </a:xfrm>
          <a:prstGeom prst="rect">
            <a:avLst/>
          </a:prstGeom>
          <a:solidFill>
            <a:schemeClr val="accent1">
              <a:lumMod val="40000"/>
              <a:lumOff val="60000"/>
            </a:schemeClr>
          </a:solidFill>
          <a:ln>
            <a:solidFill>
              <a:schemeClr val="tx1"/>
            </a:solidFill>
          </a:ln>
        </p:spPr>
        <p:txBody>
          <a:bodyPr wrap="square" rtlCol="0">
            <a:spAutoFit/>
          </a:bodyPr>
          <a:lstStyle/>
          <a:p>
            <a:endParaRPr lang="en-US">
              <a:solidFill>
                <a:srgbClr val="212121"/>
              </a:solidFill>
            </a:endParaRPr>
          </a:p>
        </p:txBody>
      </p:sp>
      <p:sp>
        <p:nvSpPr>
          <p:cNvPr id="6" name="TextBox 5"/>
          <p:cNvSpPr txBox="1"/>
          <p:nvPr/>
        </p:nvSpPr>
        <p:spPr>
          <a:xfrm>
            <a:off x="9581569" y="1696514"/>
            <a:ext cx="2214562" cy="728663"/>
          </a:xfrm>
          <a:prstGeom prst="rect">
            <a:avLst/>
          </a:prstGeom>
          <a:noFill/>
          <a:ln>
            <a:solidFill>
              <a:schemeClr val="tx1"/>
            </a:solidFill>
          </a:ln>
        </p:spPr>
        <p:txBody>
          <a:bodyPr wrap="square" rtlCol="0">
            <a:spAutoFit/>
          </a:bodyPr>
          <a:lstStyle/>
          <a:p>
            <a:endParaRPr lang="en-US">
              <a:solidFill>
                <a:srgbClr val="212121"/>
              </a:solidFill>
            </a:endParaRPr>
          </a:p>
        </p:txBody>
      </p:sp>
      <p:sp>
        <p:nvSpPr>
          <p:cNvPr id="7" name="TextBox 6"/>
          <p:cNvSpPr txBox="1"/>
          <p:nvPr/>
        </p:nvSpPr>
        <p:spPr>
          <a:xfrm>
            <a:off x="9581569" y="2425177"/>
            <a:ext cx="2214562" cy="547688"/>
          </a:xfrm>
          <a:prstGeom prst="rect">
            <a:avLst/>
          </a:prstGeom>
          <a:solidFill>
            <a:schemeClr val="accent1">
              <a:lumMod val="40000"/>
              <a:lumOff val="60000"/>
            </a:schemeClr>
          </a:solidFill>
          <a:ln>
            <a:solidFill>
              <a:schemeClr val="tx1"/>
            </a:solidFill>
          </a:ln>
        </p:spPr>
        <p:txBody>
          <a:bodyPr wrap="square" rtlCol="0">
            <a:spAutoFit/>
          </a:bodyPr>
          <a:lstStyle/>
          <a:p>
            <a:endParaRPr lang="en-US">
              <a:solidFill>
                <a:srgbClr val="212121"/>
              </a:solidFill>
            </a:endParaRPr>
          </a:p>
        </p:txBody>
      </p:sp>
      <p:sp>
        <p:nvSpPr>
          <p:cNvPr id="8" name="TextBox 7"/>
          <p:cNvSpPr txBox="1"/>
          <p:nvPr/>
        </p:nvSpPr>
        <p:spPr>
          <a:xfrm>
            <a:off x="9581569" y="2972865"/>
            <a:ext cx="2214562" cy="728663"/>
          </a:xfrm>
          <a:prstGeom prst="rect">
            <a:avLst/>
          </a:prstGeom>
          <a:noFill/>
          <a:ln>
            <a:solidFill>
              <a:schemeClr val="tx1"/>
            </a:solidFill>
          </a:ln>
        </p:spPr>
        <p:txBody>
          <a:bodyPr wrap="square" rtlCol="0">
            <a:spAutoFit/>
          </a:bodyPr>
          <a:lstStyle/>
          <a:p>
            <a:endParaRPr lang="en-US">
              <a:solidFill>
                <a:srgbClr val="212121"/>
              </a:solidFill>
            </a:endParaRPr>
          </a:p>
        </p:txBody>
      </p:sp>
      <p:sp>
        <p:nvSpPr>
          <p:cNvPr id="9" name="TextBox 8"/>
          <p:cNvSpPr txBox="1"/>
          <p:nvPr/>
        </p:nvSpPr>
        <p:spPr>
          <a:xfrm>
            <a:off x="9581569" y="3701528"/>
            <a:ext cx="2214562" cy="728663"/>
          </a:xfrm>
          <a:prstGeom prst="rect">
            <a:avLst/>
          </a:prstGeom>
          <a:noFill/>
          <a:ln>
            <a:solidFill>
              <a:schemeClr val="tx1"/>
            </a:solidFill>
          </a:ln>
        </p:spPr>
        <p:txBody>
          <a:bodyPr wrap="square" rtlCol="0">
            <a:spAutoFit/>
          </a:bodyPr>
          <a:lstStyle/>
          <a:p>
            <a:endParaRPr lang="en-US">
              <a:solidFill>
                <a:srgbClr val="212121"/>
              </a:solidFill>
            </a:endParaRPr>
          </a:p>
        </p:txBody>
      </p:sp>
      <p:sp>
        <p:nvSpPr>
          <p:cNvPr id="10" name="TextBox 9"/>
          <p:cNvSpPr txBox="1"/>
          <p:nvPr/>
        </p:nvSpPr>
        <p:spPr>
          <a:xfrm>
            <a:off x="9581569" y="4430191"/>
            <a:ext cx="2214562" cy="547688"/>
          </a:xfrm>
          <a:prstGeom prst="rect">
            <a:avLst/>
          </a:prstGeom>
          <a:solidFill>
            <a:schemeClr val="accent1">
              <a:lumMod val="40000"/>
              <a:lumOff val="60000"/>
            </a:schemeClr>
          </a:solidFill>
          <a:ln>
            <a:solidFill>
              <a:schemeClr val="tx1"/>
            </a:solidFill>
          </a:ln>
        </p:spPr>
        <p:txBody>
          <a:bodyPr wrap="square" rtlCol="0">
            <a:spAutoFit/>
          </a:bodyPr>
          <a:lstStyle/>
          <a:p>
            <a:endParaRPr lang="en-US">
              <a:solidFill>
                <a:srgbClr val="212121"/>
              </a:solidFill>
            </a:endParaRPr>
          </a:p>
        </p:txBody>
      </p:sp>
      <p:sp>
        <p:nvSpPr>
          <p:cNvPr id="11" name="TextBox 10"/>
          <p:cNvSpPr txBox="1"/>
          <p:nvPr/>
        </p:nvSpPr>
        <p:spPr>
          <a:xfrm>
            <a:off x="9581569" y="4977879"/>
            <a:ext cx="2214562" cy="547688"/>
          </a:xfrm>
          <a:prstGeom prst="rect">
            <a:avLst/>
          </a:prstGeom>
          <a:noFill/>
          <a:ln>
            <a:solidFill>
              <a:schemeClr val="tx1"/>
            </a:solidFill>
          </a:ln>
        </p:spPr>
        <p:txBody>
          <a:bodyPr wrap="square" rtlCol="0">
            <a:spAutoFit/>
          </a:bodyPr>
          <a:lstStyle/>
          <a:p>
            <a:endParaRPr lang="en-US" dirty="0">
              <a:solidFill>
                <a:srgbClr val="212121"/>
              </a:solidFill>
            </a:endParaRPr>
          </a:p>
        </p:txBody>
      </p:sp>
      <p:sp>
        <p:nvSpPr>
          <p:cNvPr id="12" name="TextBox 11"/>
          <p:cNvSpPr txBox="1"/>
          <p:nvPr/>
        </p:nvSpPr>
        <p:spPr>
          <a:xfrm>
            <a:off x="10111606" y="1874870"/>
            <a:ext cx="1154483" cy="369332"/>
          </a:xfrm>
          <a:prstGeom prst="rect">
            <a:avLst/>
          </a:prstGeom>
          <a:noFill/>
        </p:spPr>
        <p:txBody>
          <a:bodyPr wrap="none" rtlCol="0">
            <a:spAutoFit/>
          </a:bodyPr>
          <a:lstStyle/>
          <a:p>
            <a:r>
              <a:rPr lang="en-US" dirty="0">
                <a:solidFill>
                  <a:srgbClr val="212121"/>
                </a:solidFill>
              </a:rPr>
              <a:t>Segment 0</a:t>
            </a:r>
          </a:p>
        </p:txBody>
      </p:sp>
      <p:sp>
        <p:nvSpPr>
          <p:cNvPr id="13" name="TextBox 12"/>
          <p:cNvSpPr txBox="1"/>
          <p:nvPr/>
        </p:nvSpPr>
        <p:spPr>
          <a:xfrm>
            <a:off x="10111606" y="3151221"/>
            <a:ext cx="1154483" cy="369332"/>
          </a:xfrm>
          <a:prstGeom prst="rect">
            <a:avLst/>
          </a:prstGeom>
          <a:noFill/>
        </p:spPr>
        <p:txBody>
          <a:bodyPr wrap="none" rtlCol="0">
            <a:spAutoFit/>
          </a:bodyPr>
          <a:lstStyle/>
          <a:p>
            <a:r>
              <a:rPr lang="en-US" dirty="0">
                <a:solidFill>
                  <a:srgbClr val="212121"/>
                </a:solidFill>
              </a:rPr>
              <a:t>Segment 2</a:t>
            </a:r>
          </a:p>
        </p:txBody>
      </p:sp>
      <p:sp>
        <p:nvSpPr>
          <p:cNvPr id="14" name="TextBox 13"/>
          <p:cNvSpPr txBox="1"/>
          <p:nvPr/>
        </p:nvSpPr>
        <p:spPr>
          <a:xfrm>
            <a:off x="10111606" y="3881193"/>
            <a:ext cx="1154483" cy="369332"/>
          </a:xfrm>
          <a:prstGeom prst="rect">
            <a:avLst/>
          </a:prstGeom>
          <a:noFill/>
        </p:spPr>
        <p:txBody>
          <a:bodyPr wrap="none" rtlCol="0">
            <a:spAutoFit/>
          </a:bodyPr>
          <a:lstStyle/>
          <a:p>
            <a:r>
              <a:rPr lang="en-US" dirty="0">
                <a:solidFill>
                  <a:srgbClr val="212121"/>
                </a:solidFill>
              </a:rPr>
              <a:t>Segment 3</a:t>
            </a:r>
          </a:p>
        </p:txBody>
      </p:sp>
      <p:sp>
        <p:nvSpPr>
          <p:cNvPr id="15" name="TextBox 14"/>
          <p:cNvSpPr txBox="1"/>
          <p:nvPr/>
        </p:nvSpPr>
        <p:spPr>
          <a:xfrm>
            <a:off x="10111606" y="5067057"/>
            <a:ext cx="1154483" cy="369332"/>
          </a:xfrm>
          <a:prstGeom prst="rect">
            <a:avLst/>
          </a:prstGeom>
          <a:noFill/>
        </p:spPr>
        <p:txBody>
          <a:bodyPr wrap="none" rtlCol="0">
            <a:spAutoFit/>
          </a:bodyPr>
          <a:lstStyle/>
          <a:p>
            <a:r>
              <a:rPr lang="en-US" dirty="0">
                <a:solidFill>
                  <a:srgbClr val="212121"/>
                </a:solidFill>
              </a:rPr>
              <a:t>Segment 1</a:t>
            </a:r>
          </a:p>
        </p:txBody>
      </p:sp>
      <p:sp>
        <p:nvSpPr>
          <p:cNvPr id="19" name="TextBox 18"/>
          <p:cNvSpPr txBox="1"/>
          <p:nvPr/>
        </p:nvSpPr>
        <p:spPr>
          <a:xfrm>
            <a:off x="9818256" y="5606371"/>
            <a:ext cx="1741182" cy="369332"/>
          </a:xfrm>
          <a:prstGeom prst="rect">
            <a:avLst/>
          </a:prstGeom>
          <a:noFill/>
        </p:spPr>
        <p:txBody>
          <a:bodyPr wrap="none" rtlCol="0">
            <a:spAutoFit/>
          </a:bodyPr>
          <a:lstStyle/>
          <a:p>
            <a:r>
              <a:rPr lang="en-US" dirty="0">
                <a:solidFill>
                  <a:srgbClr val="212121"/>
                </a:solidFill>
              </a:rPr>
              <a:t>Physical Memory</a:t>
            </a:r>
          </a:p>
        </p:txBody>
      </p:sp>
      <p:sp>
        <p:nvSpPr>
          <p:cNvPr id="20" name="TextBox 19"/>
          <p:cNvSpPr txBox="1"/>
          <p:nvPr/>
        </p:nvSpPr>
        <p:spPr>
          <a:xfrm>
            <a:off x="8886707" y="880324"/>
            <a:ext cx="639919" cy="369332"/>
          </a:xfrm>
          <a:prstGeom prst="rect">
            <a:avLst/>
          </a:prstGeom>
          <a:noFill/>
        </p:spPr>
        <p:txBody>
          <a:bodyPr wrap="none" rtlCol="0">
            <a:spAutoFit/>
          </a:bodyPr>
          <a:lstStyle/>
          <a:p>
            <a:r>
              <a:rPr lang="en-US" dirty="0">
                <a:solidFill>
                  <a:srgbClr val="7030A0"/>
                </a:solidFill>
              </a:rPr>
              <a:t>0000</a:t>
            </a:r>
          </a:p>
        </p:txBody>
      </p:sp>
      <p:sp>
        <p:nvSpPr>
          <p:cNvPr id="21" name="TextBox 20"/>
          <p:cNvSpPr txBox="1"/>
          <p:nvPr/>
        </p:nvSpPr>
        <p:spPr>
          <a:xfrm>
            <a:off x="8886709" y="1526136"/>
            <a:ext cx="639919" cy="369332"/>
          </a:xfrm>
          <a:prstGeom prst="rect">
            <a:avLst/>
          </a:prstGeom>
          <a:noFill/>
        </p:spPr>
        <p:txBody>
          <a:bodyPr wrap="none" rtlCol="0">
            <a:spAutoFit/>
          </a:bodyPr>
          <a:lstStyle/>
          <a:p>
            <a:r>
              <a:rPr lang="en-US" dirty="0">
                <a:solidFill>
                  <a:srgbClr val="7030A0"/>
                </a:solidFill>
              </a:rPr>
              <a:t>1200</a:t>
            </a:r>
          </a:p>
        </p:txBody>
      </p:sp>
      <p:sp>
        <p:nvSpPr>
          <p:cNvPr id="22" name="TextBox 21"/>
          <p:cNvSpPr txBox="1"/>
          <p:nvPr/>
        </p:nvSpPr>
        <p:spPr>
          <a:xfrm>
            <a:off x="8886705" y="2266718"/>
            <a:ext cx="639919" cy="369332"/>
          </a:xfrm>
          <a:prstGeom prst="rect">
            <a:avLst/>
          </a:prstGeom>
          <a:noFill/>
        </p:spPr>
        <p:txBody>
          <a:bodyPr wrap="none" rtlCol="0">
            <a:spAutoFit/>
          </a:bodyPr>
          <a:lstStyle/>
          <a:p>
            <a:r>
              <a:rPr lang="en-US" dirty="0">
                <a:solidFill>
                  <a:srgbClr val="7030A0"/>
                </a:solidFill>
              </a:rPr>
              <a:t>2200</a:t>
            </a:r>
          </a:p>
        </p:txBody>
      </p:sp>
      <p:sp>
        <p:nvSpPr>
          <p:cNvPr id="23" name="TextBox 22"/>
          <p:cNvSpPr txBox="1"/>
          <p:nvPr/>
        </p:nvSpPr>
        <p:spPr>
          <a:xfrm>
            <a:off x="8886705" y="2806601"/>
            <a:ext cx="639919" cy="369332"/>
          </a:xfrm>
          <a:prstGeom prst="rect">
            <a:avLst/>
          </a:prstGeom>
          <a:noFill/>
        </p:spPr>
        <p:txBody>
          <a:bodyPr wrap="none" rtlCol="0">
            <a:spAutoFit/>
          </a:bodyPr>
          <a:lstStyle/>
          <a:p>
            <a:r>
              <a:rPr lang="en-US" dirty="0">
                <a:solidFill>
                  <a:srgbClr val="7030A0"/>
                </a:solidFill>
              </a:rPr>
              <a:t>3000</a:t>
            </a:r>
          </a:p>
        </p:txBody>
      </p:sp>
      <p:sp>
        <p:nvSpPr>
          <p:cNvPr id="24" name="TextBox 23"/>
          <p:cNvSpPr txBox="1"/>
          <p:nvPr/>
        </p:nvSpPr>
        <p:spPr>
          <a:xfrm>
            <a:off x="8886705" y="3559726"/>
            <a:ext cx="639919" cy="369332"/>
          </a:xfrm>
          <a:prstGeom prst="rect">
            <a:avLst/>
          </a:prstGeom>
          <a:noFill/>
        </p:spPr>
        <p:txBody>
          <a:bodyPr wrap="none" rtlCol="0">
            <a:spAutoFit/>
          </a:bodyPr>
          <a:lstStyle/>
          <a:p>
            <a:r>
              <a:rPr lang="en-US" dirty="0">
                <a:solidFill>
                  <a:srgbClr val="7030A0"/>
                </a:solidFill>
              </a:rPr>
              <a:t>3300</a:t>
            </a:r>
          </a:p>
        </p:txBody>
      </p:sp>
      <p:sp>
        <p:nvSpPr>
          <p:cNvPr id="25" name="TextBox 24"/>
          <p:cNvSpPr txBox="1"/>
          <p:nvPr/>
        </p:nvSpPr>
        <p:spPr>
          <a:xfrm>
            <a:off x="8886705" y="4293122"/>
            <a:ext cx="639919" cy="369332"/>
          </a:xfrm>
          <a:prstGeom prst="rect">
            <a:avLst/>
          </a:prstGeom>
          <a:noFill/>
        </p:spPr>
        <p:txBody>
          <a:bodyPr wrap="none" rtlCol="0">
            <a:spAutoFit/>
          </a:bodyPr>
          <a:lstStyle/>
          <a:p>
            <a:r>
              <a:rPr lang="en-US" dirty="0">
                <a:solidFill>
                  <a:srgbClr val="7030A0"/>
                </a:solidFill>
              </a:rPr>
              <a:t>4100</a:t>
            </a:r>
          </a:p>
        </p:txBody>
      </p:sp>
      <p:sp>
        <p:nvSpPr>
          <p:cNvPr id="26" name="TextBox 25"/>
          <p:cNvSpPr txBox="1"/>
          <p:nvPr/>
        </p:nvSpPr>
        <p:spPr>
          <a:xfrm>
            <a:off x="8886704" y="4789963"/>
            <a:ext cx="639919" cy="369332"/>
          </a:xfrm>
          <a:prstGeom prst="rect">
            <a:avLst/>
          </a:prstGeom>
          <a:noFill/>
        </p:spPr>
        <p:txBody>
          <a:bodyPr wrap="none" rtlCol="0">
            <a:spAutoFit/>
          </a:bodyPr>
          <a:lstStyle/>
          <a:p>
            <a:r>
              <a:rPr lang="en-US" dirty="0">
                <a:solidFill>
                  <a:srgbClr val="7030A0"/>
                </a:solidFill>
              </a:rPr>
              <a:t>4300</a:t>
            </a:r>
          </a:p>
        </p:txBody>
      </p:sp>
      <p:sp>
        <p:nvSpPr>
          <p:cNvPr id="27" name="TextBox 26"/>
          <p:cNvSpPr txBox="1"/>
          <p:nvPr/>
        </p:nvSpPr>
        <p:spPr>
          <a:xfrm>
            <a:off x="8886703" y="5286804"/>
            <a:ext cx="639919" cy="369332"/>
          </a:xfrm>
          <a:prstGeom prst="rect">
            <a:avLst/>
          </a:prstGeom>
          <a:noFill/>
        </p:spPr>
        <p:txBody>
          <a:bodyPr wrap="none" rtlCol="0">
            <a:spAutoFit/>
          </a:bodyPr>
          <a:lstStyle/>
          <a:p>
            <a:r>
              <a:rPr lang="en-US" dirty="0">
                <a:solidFill>
                  <a:srgbClr val="7030A0"/>
                </a:solidFill>
              </a:rPr>
              <a:t>4800</a:t>
            </a:r>
          </a:p>
        </p:txBody>
      </p:sp>
      <p:sp>
        <p:nvSpPr>
          <p:cNvPr id="28" name="TextBox 27"/>
          <p:cNvSpPr txBox="1"/>
          <p:nvPr/>
        </p:nvSpPr>
        <p:spPr>
          <a:xfrm>
            <a:off x="6141635" y="3388216"/>
            <a:ext cx="772119" cy="369332"/>
          </a:xfrm>
          <a:prstGeom prst="rect">
            <a:avLst/>
          </a:prstGeom>
          <a:noFill/>
          <a:ln>
            <a:solidFill>
              <a:schemeClr val="tx1"/>
            </a:solidFill>
          </a:ln>
        </p:spPr>
        <p:txBody>
          <a:bodyPr wrap="square" rtlCol="0">
            <a:spAutoFit/>
          </a:bodyPr>
          <a:lstStyle/>
          <a:p>
            <a:pPr algn="ctr"/>
            <a:r>
              <a:rPr lang="en-US" dirty="0">
                <a:solidFill>
                  <a:srgbClr val="212121"/>
                </a:solidFill>
              </a:rPr>
              <a:t>Limit</a:t>
            </a:r>
          </a:p>
        </p:txBody>
      </p:sp>
      <p:sp>
        <p:nvSpPr>
          <p:cNvPr id="29" name="TextBox 28"/>
          <p:cNvSpPr txBox="1"/>
          <p:nvPr/>
        </p:nvSpPr>
        <p:spPr>
          <a:xfrm>
            <a:off x="6913754" y="3388216"/>
            <a:ext cx="764402" cy="369332"/>
          </a:xfrm>
          <a:prstGeom prst="rect">
            <a:avLst/>
          </a:prstGeom>
          <a:noFill/>
          <a:ln>
            <a:solidFill>
              <a:schemeClr val="tx1"/>
            </a:solidFill>
          </a:ln>
        </p:spPr>
        <p:txBody>
          <a:bodyPr wrap="square" rtlCol="0">
            <a:spAutoFit/>
          </a:bodyPr>
          <a:lstStyle/>
          <a:p>
            <a:pPr algn="ctr"/>
            <a:r>
              <a:rPr lang="en-US" dirty="0">
                <a:solidFill>
                  <a:srgbClr val="212121"/>
                </a:solidFill>
              </a:rPr>
              <a:t>Base</a:t>
            </a:r>
          </a:p>
        </p:txBody>
      </p:sp>
      <p:sp>
        <p:nvSpPr>
          <p:cNvPr id="36" name="TextBox 35"/>
          <p:cNvSpPr txBox="1"/>
          <p:nvPr/>
        </p:nvSpPr>
        <p:spPr>
          <a:xfrm>
            <a:off x="6141635" y="3753857"/>
            <a:ext cx="772119" cy="369332"/>
          </a:xfrm>
          <a:prstGeom prst="rect">
            <a:avLst/>
          </a:prstGeom>
          <a:noFill/>
          <a:ln>
            <a:solidFill>
              <a:schemeClr val="tx1"/>
            </a:solidFill>
          </a:ln>
        </p:spPr>
        <p:txBody>
          <a:bodyPr wrap="square" rtlCol="0">
            <a:spAutoFit/>
          </a:bodyPr>
          <a:lstStyle/>
          <a:p>
            <a:pPr algn="ctr"/>
            <a:r>
              <a:rPr lang="en-US" dirty="0">
                <a:solidFill>
                  <a:srgbClr val="212121"/>
                </a:solidFill>
              </a:rPr>
              <a:t>1000</a:t>
            </a:r>
          </a:p>
        </p:txBody>
      </p:sp>
      <p:sp>
        <p:nvSpPr>
          <p:cNvPr id="37" name="TextBox 36"/>
          <p:cNvSpPr txBox="1"/>
          <p:nvPr/>
        </p:nvSpPr>
        <p:spPr>
          <a:xfrm>
            <a:off x="6913754" y="3753857"/>
            <a:ext cx="764402" cy="369332"/>
          </a:xfrm>
          <a:prstGeom prst="rect">
            <a:avLst/>
          </a:prstGeom>
          <a:noFill/>
          <a:ln>
            <a:solidFill>
              <a:schemeClr val="tx1"/>
            </a:solidFill>
          </a:ln>
        </p:spPr>
        <p:txBody>
          <a:bodyPr wrap="square" rtlCol="0">
            <a:spAutoFit/>
          </a:bodyPr>
          <a:lstStyle/>
          <a:p>
            <a:pPr algn="ctr"/>
            <a:r>
              <a:rPr lang="en-US" dirty="0">
                <a:solidFill>
                  <a:srgbClr val="212121"/>
                </a:solidFill>
              </a:rPr>
              <a:t>1200</a:t>
            </a:r>
          </a:p>
        </p:txBody>
      </p:sp>
      <p:sp>
        <p:nvSpPr>
          <p:cNvPr id="38" name="TextBox 37"/>
          <p:cNvSpPr txBox="1"/>
          <p:nvPr/>
        </p:nvSpPr>
        <p:spPr>
          <a:xfrm>
            <a:off x="6141635" y="4123189"/>
            <a:ext cx="772119" cy="369332"/>
          </a:xfrm>
          <a:prstGeom prst="rect">
            <a:avLst/>
          </a:prstGeom>
          <a:noFill/>
          <a:ln>
            <a:solidFill>
              <a:schemeClr val="tx1"/>
            </a:solidFill>
          </a:ln>
        </p:spPr>
        <p:txBody>
          <a:bodyPr wrap="square" rtlCol="0">
            <a:spAutoFit/>
          </a:bodyPr>
          <a:lstStyle/>
          <a:p>
            <a:pPr algn="ctr"/>
            <a:r>
              <a:rPr lang="en-US" dirty="0">
                <a:solidFill>
                  <a:srgbClr val="212121"/>
                </a:solidFill>
              </a:rPr>
              <a:t>500</a:t>
            </a:r>
          </a:p>
        </p:txBody>
      </p:sp>
      <p:sp>
        <p:nvSpPr>
          <p:cNvPr id="39" name="TextBox 38"/>
          <p:cNvSpPr txBox="1"/>
          <p:nvPr/>
        </p:nvSpPr>
        <p:spPr>
          <a:xfrm>
            <a:off x="6913754" y="4123189"/>
            <a:ext cx="764402" cy="369332"/>
          </a:xfrm>
          <a:prstGeom prst="rect">
            <a:avLst/>
          </a:prstGeom>
          <a:noFill/>
          <a:ln>
            <a:solidFill>
              <a:schemeClr val="tx1"/>
            </a:solidFill>
          </a:ln>
        </p:spPr>
        <p:txBody>
          <a:bodyPr wrap="square" rtlCol="0">
            <a:spAutoFit/>
          </a:bodyPr>
          <a:lstStyle/>
          <a:p>
            <a:pPr algn="ctr"/>
            <a:r>
              <a:rPr lang="en-US" dirty="0">
                <a:solidFill>
                  <a:srgbClr val="212121"/>
                </a:solidFill>
              </a:rPr>
              <a:t>4300</a:t>
            </a:r>
          </a:p>
        </p:txBody>
      </p:sp>
      <p:sp>
        <p:nvSpPr>
          <p:cNvPr id="40" name="TextBox 39"/>
          <p:cNvSpPr txBox="1"/>
          <p:nvPr/>
        </p:nvSpPr>
        <p:spPr>
          <a:xfrm>
            <a:off x="6141635" y="4498780"/>
            <a:ext cx="772119" cy="369332"/>
          </a:xfrm>
          <a:prstGeom prst="rect">
            <a:avLst/>
          </a:prstGeom>
          <a:noFill/>
          <a:ln>
            <a:solidFill>
              <a:schemeClr val="tx1"/>
            </a:solidFill>
          </a:ln>
        </p:spPr>
        <p:txBody>
          <a:bodyPr wrap="square" rtlCol="0">
            <a:spAutoFit/>
          </a:bodyPr>
          <a:lstStyle/>
          <a:p>
            <a:pPr algn="ctr"/>
            <a:r>
              <a:rPr lang="en-US" dirty="0">
                <a:solidFill>
                  <a:srgbClr val="212121"/>
                </a:solidFill>
              </a:rPr>
              <a:t>300</a:t>
            </a:r>
          </a:p>
        </p:txBody>
      </p:sp>
      <p:sp>
        <p:nvSpPr>
          <p:cNvPr id="41" name="TextBox 40"/>
          <p:cNvSpPr txBox="1"/>
          <p:nvPr/>
        </p:nvSpPr>
        <p:spPr>
          <a:xfrm>
            <a:off x="6913754" y="4498780"/>
            <a:ext cx="764402" cy="369332"/>
          </a:xfrm>
          <a:prstGeom prst="rect">
            <a:avLst/>
          </a:prstGeom>
          <a:noFill/>
          <a:ln>
            <a:solidFill>
              <a:schemeClr val="tx1"/>
            </a:solidFill>
          </a:ln>
        </p:spPr>
        <p:txBody>
          <a:bodyPr wrap="square" rtlCol="0">
            <a:spAutoFit/>
          </a:bodyPr>
          <a:lstStyle/>
          <a:p>
            <a:pPr algn="ctr"/>
            <a:r>
              <a:rPr lang="en-US" dirty="0">
                <a:solidFill>
                  <a:srgbClr val="212121"/>
                </a:solidFill>
              </a:rPr>
              <a:t>3000</a:t>
            </a:r>
          </a:p>
        </p:txBody>
      </p:sp>
      <p:sp>
        <p:nvSpPr>
          <p:cNvPr id="42" name="TextBox 41"/>
          <p:cNvSpPr txBox="1"/>
          <p:nvPr/>
        </p:nvSpPr>
        <p:spPr>
          <a:xfrm>
            <a:off x="6141635" y="4868112"/>
            <a:ext cx="772119" cy="369332"/>
          </a:xfrm>
          <a:prstGeom prst="rect">
            <a:avLst/>
          </a:prstGeom>
          <a:noFill/>
          <a:ln>
            <a:solidFill>
              <a:schemeClr val="tx1"/>
            </a:solidFill>
          </a:ln>
        </p:spPr>
        <p:txBody>
          <a:bodyPr wrap="square" rtlCol="0">
            <a:spAutoFit/>
          </a:bodyPr>
          <a:lstStyle/>
          <a:p>
            <a:pPr algn="ctr"/>
            <a:r>
              <a:rPr lang="en-US" dirty="0">
                <a:solidFill>
                  <a:srgbClr val="212121"/>
                </a:solidFill>
              </a:rPr>
              <a:t>800</a:t>
            </a:r>
          </a:p>
        </p:txBody>
      </p:sp>
      <p:sp>
        <p:nvSpPr>
          <p:cNvPr id="43" name="TextBox 42"/>
          <p:cNvSpPr txBox="1"/>
          <p:nvPr/>
        </p:nvSpPr>
        <p:spPr>
          <a:xfrm>
            <a:off x="6913754" y="4868112"/>
            <a:ext cx="764402" cy="369332"/>
          </a:xfrm>
          <a:prstGeom prst="rect">
            <a:avLst/>
          </a:prstGeom>
          <a:noFill/>
          <a:ln>
            <a:solidFill>
              <a:schemeClr val="tx1"/>
            </a:solidFill>
          </a:ln>
        </p:spPr>
        <p:txBody>
          <a:bodyPr wrap="square" rtlCol="0">
            <a:spAutoFit/>
          </a:bodyPr>
          <a:lstStyle/>
          <a:p>
            <a:pPr algn="ctr"/>
            <a:r>
              <a:rPr lang="en-US" dirty="0">
                <a:solidFill>
                  <a:srgbClr val="212121"/>
                </a:solidFill>
              </a:rPr>
              <a:t>3300</a:t>
            </a:r>
          </a:p>
        </p:txBody>
      </p:sp>
      <p:sp>
        <p:nvSpPr>
          <p:cNvPr id="44" name="TextBox 43"/>
          <p:cNvSpPr txBox="1"/>
          <p:nvPr/>
        </p:nvSpPr>
        <p:spPr>
          <a:xfrm>
            <a:off x="5786215" y="3802590"/>
            <a:ext cx="298480" cy="369332"/>
          </a:xfrm>
          <a:prstGeom prst="rect">
            <a:avLst/>
          </a:prstGeom>
          <a:noFill/>
        </p:spPr>
        <p:txBody>
          <a:bodyPr wrap="none" rtlCol="0">
            <a:spAutoFit/>
          </a:bodyPr>
          <a:lstStyle/>
          <a:p>
            <a:r>
              <a:rPr lang="en-US" dirty="0">
                <a:solidFill>
                  <a:srgbClr val="212121"/>
                </a:solidFill>
              </a:rPr>
              <a:t>0</a:t>
            </a:r>
          </a:p>
        </p:txBody>
      </p:sp>
      <p:sp>
        <p:nvSpPr>
          <p:cNvPr id="45" name="TextBox 44"/>
          <p:cNvSpPr txBox="1"/>
          <p:nvPr/>
        </p:nvSpPr>
        <p:spPr>
          <a:xfrm>
            <a:off x="5786215" y="4166969"/>
            <a:ext cx="298480" cy="369332"/>
          </a:xfrm>
          <a:prstGeom prst="rect">
            <a:avLst/>
          </a:prstGeom>
          <a:noFill/>
        </p:spPr>
        <p:txBody>
          <a:bodyPr wrap="none" rtlCol="0">
            <a:spAutoFit/>
          </a:bodyPr>
          <a:lstStyle/>
          <a:p>
            <a:r>
              <a:rPr lang="en-US" dirty="0">
                <a:solidFill>
                  <a:srgbClr val="212121"/>
                </a:solidFill>
              </a:rPr>
              <a:t>1</a:t>
            </a:r>
          </a:p>
        </p:txBody>
      </p:sp>
      <p:sp>
        <p:nvSpPr>
          <p:cNvPr id="46" name="TextBox 45"/>
          <p:cNvSpPr txBox="1"/>
          <p:nvPr/>
        </p:nvSpPr>
        <p:spPr>
          <a:xfrm>
            <a:off x="5786215" y="4537563"/>
            <a:ext cx="298480" cy="369332"/>
          </a:xfrm>
          <a:prstGeom prst="rect">
            <a:avLst/>
          </a:prstGeom>
          <a:noFill/>
        </p:spPr>
        <p:txBody>
          <a:bodyPr wrap="none" rtlCol="0">
            <a:spAutoFit/>
          </a:bodyPr>
          <a:lstStyle/>
          <a:p>
            <a:r>
              <a:rPr lang="en-US" dirty="0">
                <a:solidFill>
                  <a:srgbClr val="212121"/>
                </a:solidFill>
              </a:rPr>
              <a:t>2</a:t>
            </a:r>
          </a:p>
        </p:txBody>
      </p:sp>
      <p:sp>
        <p:nvSpPr>
          <p:cNvPr id="47" name="TextBox 46"/>
          <p:cNvSpPr txBox="1"/>
          <p:nvPr/>
        </p:nvSpPr>
        <p:spPr>
          <a:xfrm>
            <a:off x="5786215" y="4913154"/>
            <a:ext cx="298480" cy="369332"/>
          </a:xfrm>
          <a:prstGeom prst="rect">
            <a:avLst/>
          </a:prstGeom>
          <a:noFill/>
        </p:spPr>
        <p:txBody>
          <a:bodyPr wrap="none" rtlCol="0">
            <a:spAutoFit/>
          </a:bodyPr>
          <a:lstStyle/>
          <a:p>
            <a:r>
              <a:rPr lang="en-US" dirty="0">
                <a:solidFill>
                  <a:srgbClr val="212121"/>
                </a:solidFill>
              </a:rPr>
              <a:t>3</a:t>
            </a:r>
          </a:p>
        </p:txBody>
      </p:sp>
      <p:sp>
        <p:nvSpPr>
          <p:cNvPr id="49" name="Oval 48"/>
          <p:cNvSpPr/>
          <p:nvPr/>
        </p:nvSpPr>
        <p:spPr>
          <a:xfrm>
            <a:off x="161563" y="870777"/>
            <a:ext cx="4629739" cy="4040615"/>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0" name="TextBox 49"/>
          <p:cNvSpPr txBox="1"/>
          <p:nvPr/>
        </p:nvSpPr>
        <p:spPr>
          <a:xfrm>
            <a:off x="1096005" y="1612679"/>
            <a:ext cx="985837" cy="646331"/>
          </a:xfrm>
          <a:prstGeom prst="rect">
            <a:avLst/>
          </a:prstGeom>
          <a:noFill/>
          <a:ln>
            <a:solidFill>
              <a:schemeClr val="tx1"/>
            </a:solidFill>
          </a:ln>
        </p:spPr>
        <p:txBody>
          <a:bodyPr wrap="square" rtlCol="0">
            <a:spAutoFit/>
          </a:bodyPr>
          <a:lstStyle/>
          <a:p>
            <a:pPr algn="ctr"/>
            <a:r>
              <a:rPr lang="en-US" dirty="0">
                <a:solidFill>
                  <a:srgbClr val="212121"/>
                </a:solidFill>
              </a:rPr>
              <a:t>Main Function</a:t>
            </a:r>
          </a:p>
        </p:txBody>
      </p:sp>
      <p:sp>
        <p:nvSpPr>
          <p:cNvPr id="51" name="TextBox 50"/>
          <p:cNvSpPr txBox="1"/>
          <p:nvPr/>
        </p:nvSpPr>
        <p:spPr>
          <a:xfrm>
            <a:off x="2915077" y="1751178"/>
            <a:ext cx="985837" cy="369332"/>
          </a:xfrm>
          <a:prstGeom prst="rect">
            <a:avLst/>
          </a:prstGeom>
          <a:noFill/>
          <a:ln>
            <a:solidFill>
              <a:schemeClr val="tx1"/>
            </a:solidFill>
          </a:ln>
        </p:spPr>
        <p:txBody>
          <a:bodyPr wrap="square" rtlCol="0">
            <a:spAutoFit/>
          </a:bodyPr>
          <a:lstStyle/>
          <a:p>
            <a:pPr algn="ctr"/>
            <a:r>
              <a:rPr lang="en-US" dirty="0">
                <a:solidFill>
                  <a:srgbClr val="212121"/>
                </a:solidFill>
              </a:rPr>
              <a:t>Code</a:t>
            </a:r>
          </a:p>
        </p:txBody>
      </p:sp>
      <p:sp>
        <p:nvSpPr>
          <p:cNvPr id="52" name="TextBox 51"/>
          <p:cNvSpPr txBox="1"/>
          <p:nvPr/>
        </p:nvSpPr>
        <p:spPr>
          <a:xfrm>
            <a:off x="1081717" y="2889030"/>
            <a:ext cx="985837" cy="923330"/>
          </a:xfrm>
          <a:prstGeom prst="rect">
            <a:avLst/>
          </a:prstGeom>
          <a:noFill/>
          <a:ln>
            <a:solidFill>
              <a:schemeClr val="tx1"/>
            </a:solidFill>
          </a:ln>
        </p:spPr>
        <p:txBody>
          <a:bodyPr wrap="square" rtlCol="0">
            <a:spAutoFit/>
          </a:bodyPr>
          <a:lstStyle/>
          <a:p>
            <a:pPr algn="ctr"/>
            <a:r>
              <a:rPr lang="en-US" dirty="0">
                <a:solidFill>
                  <a:srgbClr val="212121"/>
                </a:solidFill>
              </a:rPr>
              <a:t>User Define Function</a:t>
            </a:r>
          </a:p>
        </p:txBody>
      </p:sp>
      <p:sp>
        <p:nvSpPr>
          <p:cNvPr id="53" name="TextBox 52"/>
          <p:cNvSpPr txBox="1"/>
          <p:nvPr/>
        </p:nvSpPr>
        <p:spPr>
          <a:xfrm>
            <a:off x="2914288" y="3249670"/>
            <a:ext cx="985837" cy="369332"/>
          </a:xfrm>
          <a:prstGeom prst="rect">
            <a:avLst/>
          </a:prstGeom>
          <a:noFill/>
          <a:ln>
            <a:solidFill>
              <a:schemeClr val="tx1"/>
            </a:solidFill>
          </a:ln>
        </p:spPr>
        <p:txBody>
          <a:bodyPr wrap="square" rtlCol="0">
            <a:spAutoFit/>
          </a:bodyPr>
          <a:lstStyle/>
          <a:p>
            <a:pPr algn="ctr"/>
            <a:r>
              <a:rPr lang="en-US" dirty="0">
                <a:solidFill>
                  <a:srgbClr val="212121"/>
                </a:solidFill>
              </a:rPr>
              <a:t>Stack</a:t>
            </a:r>
          </a:p>
        </p:txBody>
      </p:sp>
      <p:sp>
        <p:nvSpPr>
          <p:cNvPr id="54" name="TextBox 53"/>
          <p:cNvSpPr txBox="1"/>
          <p:nvPr/>
        </p:nvSpPr>
        <p:spPr>
          <a:xfrm>
            <a:off x="967416" y="2284190"/>
            <a:ext cx="1306102" cy="369332"/>
          </a:xfrm>
          <a:prstGeom prst="rect">
            <a:avLst/>
          </a:prstGeom>
          <a:noFill/>
        </p:spPr>
        <p:txBody>
          <a:bodyPr wrap="square" rtlCol="0">
            <a:spAutoFit/>
          </a:bodyPr>
          <a:lstStyle/>
          <a:p>
            <a:pPr algn="ctr"/>
            <a:r>
              <a:rPr lang="en-US" dirty="0">
                <a:solidFill>
                  <a:srgbClr val="212121"/>
                </a:solidFill>
              </a:rPr>
              <a:t>Segment 0</a:t>
            </a:r>
          </a:p>
        </p:txBody>
      </p:sp>
      <p:sp>
        <p:nvSpPr>
          <p:cNvPr id="55" name="TextBox 54"/>
          <p:cNvSpPr txBox="1"/>
          <p:nvPr/>
        </p:nvSpPr>
        <p:spPr>
          <a:xfrm>
            <a:off x="2754155" y="2284190"/>
            <a:ext cx="1306102" cy="369332"/>
          </a:xfrm>
          <a:prstGeom prst="rect">
            <a:avLst/>
          </a:prstGeom>
          <a:noFill/>
        </p:spPr>
        <p:txBody>
          <a:bodyPr wrap="square" rtlCol="0">
            <a:spAutoFit/>
          </a:bodyPr>
          <a:lstStyle/>
          <a:p>
            <a:pPr algn="ctr"/>
            <a:r>
              <a:rPr lang="en-US" dirty="0">
                <a:solidFill>
                  <a:srgbClr val="212121"/>
                </a:solidFill>
              </a:rPr>
              <a:t>Segment 2</a:t>
            </a:r>
          </a:p>
        </p:txBody>
      </p:sp>
      <p:sp>
        <p:nvSpPr>
          <p:cNvPr id="56" name="TextBox 55"/>
          <p:cNvSpPr txBox="1"/>
          <p:nvPr/>
        </p:nvSpPr>
        <p:spPr>
          <a:xfrm>
            <a:off x="2707314" y="3910790"/>
            <a:ext cx="1306102" cy="369332"/>
          </a:xfrm>
          <a:prstGeom prst="rect">
            <a:avLst/>
          </a:prstGeom>
          <a:noFill/>
        </p:spPr>
        <p:txBody>
          <a:bodyPr wrap="square" rtlCol="0">
            <a:spAutoFit/>
          </a:bodyPr>
          <a:lstStyle/>
          <a:p>
            <a:pPr algn="ctr"/>
            <a:r>
              <a:rPr lang="en-US" dirty="0">
                <a:solidFill>
                  <a:srgbClr val="212121"/>
                </a:solidFill>
              </a:rPr>
              <a:t>Segment 3</a:t>
            </a:r>
          </a:p>
        </p:txBody>
      </p:sp>
      <p:sp>
        <p:nvSpPr>
          <p:cNvPr id="57" name="TextBox 56"/>
          <p:cNvSpPr txBox="1"/>
          <p:nvPr/>
        </p:nvSpPr>
        <p:spPr>
          <a:xfrm>
            <a:off x="963397" y="3910790"/>
            <a:ext cx="1306102" cy="369332"/>
          </a:xfrm>
          <a:prstGeom prst="rect">
            <a:avLst/>
          </a:prstGeom>
          <a:noFill/>
        </p:spPr>
        <p:txBody>
          <a:bodyPr wrap="square" rtlCol="0">
            <a:spAutoFit/>
          </a:bodyPr>
          <a:lstStyle/>
          <a:p>
            <a:pPr algn="ctr"/>
            <a:r>
              <a:rPr lang="en-US" dirty="0">
                <a:solidFill>
                  <a:srgbClr val="212121"/>
                </a:solidFill>
              </a:rPr>
              <a:t>Segment 1</a:t>
            </a:r>
          </a:p>
        </p:txBody>
      </p:sp>
      <p:sp>
        <p:nvSpPr>
          <p:cNvPr id="59" name="TextBox 58"/>
          <p:cNvSpPr txBox="1"/>
          <p:nvPr/>
        </p:nvSpPr>
        <p:spPr>
          <a:xfrm>
            <a:off x="1288201" y="4955746"/>
            <a:ext cx="2262158" cy="369332"/>
          </a:xfrm>
          <a:prstGeom prst="rect">
            <a:avLst/>
          </a:prstGeom>
          <a:noFill/>
        </p:spPr>
        <p:txBody>
          <a:bodyPr wrap="none" rtlCol="0">
            <a:spAutoFit/>
          </a:bodyPr>
          <a:lstStyle/>
          <a:p>
            <a:r>
              <a:rPr lang="en-US" dirty="0">
                <a:solidFill>
                  <a:srgbClr val="212121"/>
                </a:solidFill>
              </a:rPr>
              <a:t>Logical Address Space</a:t>
            </a:r>
          </a:p>
        </p:txBody>
      </p:sp>
      <p:sp>
        <p:nvSpPr>
          <p:cNvPr id="63" name="TextBox 62"/>
          <p:cNvSpPr txBox="1"/>
          <p:nvPr/>
        </p:nvSpPr>
        <p:spPr>
          <a:xfrm>
            <a:off x="6140099" y="5253479"/>
            <a:ext cx="1545616" cy="369332"/>
          </a:xfrm>
          <a:prstGeom prst="rect">
            <a:avLst/>
          </a:prstGeom>
          <a:noFill/>
        </p:spPr>
        <p:txBody>
          <a:bodyPr wrap="none" rtlCol="0">
            <a:spAutoFit/>
          </a:bodyPr>
          <a:lstStyle/>
          <a:p>
            <a:r>
              <a:rPr lang="en-US" dirty="0">
                <a:solidFill>
                  <a:srgbClr val="212121"/>
                </a:solidFill>
              </a:rPr>
              <a:t>Segment Table</a:t>
            </a:r>
          </a:p>
        </p:txBody>
      </p:sp>
      <p:sp>
        <p:nvSpPr>
          <p:cNvPr id="65" name="TextBox 64"/>
          <p:cNvSpPr txBox="1"/>
          <p:nvPr/>
        </p:nvSpPr>
        <p:spPr>
          <a:xfrm>
            <a:off x="5740140" y="3198087"/>
            <a:ext cx="2180339" cy="2615432"/>
          </a:xfrm>
          <a:prstGeom prst="rect">
            <a:avLst/>
          </a:prstGeom>
          <a:noFill/>
          <a:ln w="28575">
            <a:solidFill>
              <a:srgbClr val="FF0000"/>
            </a:solidFill>
          </a:ln>
        </p:spPr>
        <p:txBody>
          <a:bodyPr wrap="square" rtlCol="0">
            <a:spAutoFit/>
          </a:bodyPr>
          <a:lstStyle/>
          <a:p>
            <a:endParaRPr lang="en-US" dirty="0">
              <a:solidFill>
                <a:srgbClr val="212121"/>
              </a:solidFill>
            </a:endParaRPr>
          </a:p>
        </p:txBody>
      </p:sp>
      <p:sp>
        <p:nvSpPr>
          <p:cNvPr id="68" name="TextBox 67"/>
          <p:cNvSpPr txBox="1"/>
          <p:nvPr/>
        </p:nvSpPr>
        <p:spPr>
          <a:xfrm>
            <a:off x="1007652" y="1491606"/>
            <a:ext cx="2977188" cy="2833560"/>
          </a:xfrm>
          <a:prstGeom prst="rect">
            <a:avLst/>
          </a:prstGeom>
          <a:noFill/>
          <a:ln w="28575">
            <a:solidFill>
              <a:srgbClr val="FF0000"/>
            </a:solidFill>
          </a:ln>
        </p:spPr>
        <p:txBody>
          <a:bodyPr wrap="square" rtlCol="0">
            <a:spAutoFit/>
          </a:bodyPr>
          <a:lstStyle/>
          <a:p>
            <a:endParaRPr lang="en-US" dirty="0">
              <a:solidFill>
                <a:srgbClr val="212121"/>
              </a:solidFill>
            </a:endParaRPr>
          </a:p>
        </p:txBody>
      </p:sp>
      <p:sp>
        <p:nvSpPr>
          <p:cNvPr id="69" name="TextBox 68"/>
          <p:cNvSpPr txBox="1"/>
          <p:nvPr/>
        </p:nvSpPr>
        <p:spPr>
          <a:xfrm>
            <a:off x="9499683" y="747441"/>
            <a:ext cx="2397771" cy="5228261"/>
          </a:xfrm>
          <a:prstGeom prst="rect">
            <a:avLst/>
          </a:prstGeom>
          <a:noFill/>
          <a:ln w="28575">
            <a:solidFill>
              <a:srgbClr val="FF0000"/>
            </a:solidFill>
          </a:ln>
        </p:spPr>
        <p:txBody>
          <a:bodyPr wrap="square" rtlCol="0">
            <a:spAutoFit/>
          </a:bodyPr>
          <a:lstStyle/>
          <a:p>
            <a:endParaRPr lang="en-US" dirty="0">
              <a:solidFill>
                <a:srgbClr val="212121"/>
              </a:solidFill>
            </a:endParaRPr>
          </a:p>
        </p:txBody>
      </p:sp>
      <p:sp>
        <p:nvSpPr>
          <p:cNvPr id="72" name="TextBox 71"/>
          <p:cNvSpPr txBox="1"/>
          <p:nvPr/>
        </p:nvSpPr>
        <p:spPr>
          <a:xfrm>
            <a:off x="6092572" y="3361572"/>
            <a:ext cx="1636007" cy="437352"/>
          </a:xfrm>
          <a:prstGeom prst="rect">
            <a:avLst/>
          </a:prstGeom>
          <a:noFill/>
          <a:ln w="28575">
            <a:solidFill>
              <a:srgbClr val="FF0000"/>
            </a:solidFill>
          </a:ln>
        </p:spPr>
        <p:txBody>
          <a:bodyPr wrap="square" rtlCol="0">
            <a:spAutoFit/>
          </a:bodyPr>
          <a:lstStyle/>
          <a:p>
            <a:endParaRPr lang="en-US" dirty="0">
              <a:solidFill>
                <a:srgbClr val="212121"/>
              </a:solidFill>
            </a:endParaRPr>
          </a:p>
        </p:txBody>
      </p:sp>
      <p:sp>
        <p:nvSpPr>
          <p:cNvPr id="73" name="TextBox 72"/>
          <p:cNvSpPr txBox="1"/>
          <p:nvPr/>
        </p:nvSpPr>
        <p:spPr>
          <a:xfrm>
            <a:off x="392116" y="5250993"/>
            <a:ext cx="3621300" cy="646331"/>
          </a:xfrm>
          <a:prstGeom prst="rect">
            <a:avLst/>
          </a:prstGeom>
          <a:noFill/>
        </p:spPr>
        <p:txBody>
          <a:bodyPr wrap="square" rtlCol="0">
            <a:spAutoFit/>
          </a:bodyPr>
          <a:lstStyle/>
          <a:p>
            <a:r>
              <a:rPr lang="en-US" dirty="0">
                <a:solidFill>
                  <a:srgbClr val="00B050"/>
                </a:solidFill>
              </a:rPr>
              <a:t>Logical Address Space of process is divided into four segment.</a:t>
            </a:r>
          </a:p>
        </p:txBody>
      </p:sp>
      <p:sp>
        <p:nvSpPr>
          <p:cNvPr id="74" name="TextBox 73"/>
          <p:cNvSpPr txBox="1"/>
          <p:nvPr/>
        </p:nvSpPr>
        <p:spPr>
          <a:xfrm>
            <a:off x="9072315" y="5985994"/>
            <a:ext cx="2742215" cy="646331"/>
          </a:xfrm>
          <a:prstGeom prst="rect">
            <a:avLst/>
          </a:prstGeom>
          <a:noFill/>
        </p:spPr>
        <p:txBody>
          <a:bodyPr wrap="square" rtlCol="0">
            <a:spAutoFit/>
          </a:bodyPr>
          <a:lstStyle/>
          <a:p>
            <a:r>
              <a:rPr lang="en-US" dirty="0">
                <a:solidFill>
                  <a:srgbClr val="00B050"/>
                </a:solidFill>
              </a:rPr>
              <a:t>Physical memory is shown with four segments</a:t>
            </a:r>
          </a:p>
        </p:txBody>
      </p:sp>
      <p:sp>
        <p:nvSpPr>
          <p:cNvPr id="75" name="TextBox 74"/>
          <p:cNvSpPr txBox="1"/>
          <p:nvPr/>
        </p:nvSpPr>
        <p:spPr>
          <a:xfrm>
            <a:off x="4731778" y="895891"/>
            <a:ext cx="4197062" cy="923330"/>
          </a:xfrm>
          <a:prstGeom prst="rect">
            <a:avLst/>
          </a:prstGeom>
          <a:noFill/>
        </p:spPr>
        <p:txBody>
          <a:bodyPr wrap="square" rtlCol="0">
            <a:spAutoFit/>
          </a:bodyPr>
          <a:lstStyle/>
          <a:p>
            <a:r>
              <a:rPr lang="en-US" dirty="0">
                <a:solidFill>
                  <a:srgbClr val="00B050"/>
                </a:solidFill>
              </a:rPr>
              <a:t>Segment table describes information such as where segment is loaded in</a:t>
            </a:r>
            <a:r>
              <a:rPr lang="en-US" dirty="0">
                <a:solidFill>
                  <a:srgbClr val="FF0000"/>
                </a:solidFill>
              </a:rPr>
              <a:t> physical memory </a:t>
            </a:r>
            <a:r>
              <a:rPr lang="en-US" dirty="0">
                <a:solidFill>
                  <a:srgbClr val="00B050"/>
                </a:solidFill>
              </a:rPr>
              <a:t> and what is</a:t>
            </a:r>
            <a:r>
              <a:rPr lang="en-US" dirty="0">
                <a:solidFill>
                  <a:srgbClr val="FF0000"/>
                </a:solidFill>
              </a:rPr>
              <a:t> size  of each segment.</a:t>
            </a:r>
          </a:p>
        </p:txBody>
      </p:sp>
      <p:sp>
        <p:nvSpPr>
          <p:cNvPr id="76" name="TextBox 75"/>
          <p:cNvSpPr txBox="1"/>
          <p:nvPr/>
        </p:nvSpPr>
        <p:spPr>
          <a:xfrm>
            <a:off x="4879655" y="1863575"/>
            <a:ext cx="4117706" cy="1261884"/>
          </a:xfrm>
          <a:prstGeom prst="rect">
            <a:avLst/>
          </a:prstGeom>
          <a:noFill/>
        </p:spPr>
        <p:txBody>
          <a:bodyPr wrap="square" rtlCol="0">
            <a:spAutoFit/>
          </a:bodyPr>
          <a:lstStyle/>
          <a:p>
            <a:r>
              <a:rPr lang="en-US" dirty="0">
                <a:solidFill>
                  <a:srgbClr val="00B050"/>
                </a:solidFill>
              </a:rPr>
              <a:t>A table called segment Table, used to implement </a:t>
            </a:r>
            <a:r>
              <a:rPr lang="en-US" dirty="0">
                <a:solidFill>
                  <a:srgbClr val="FF0000"/>
                </a:solidFill>
              </a:rPr>
              <a:t>segmentation</a:t>
            </a:r>
            <a:r>
              <a:rPr lang="en-US" dirty="0">
                <a:solidFill>
                  <a:srgbClr val="00B050"/>
                </a:solidFill>
              </a:rPr>
              <a:t>. </a:t>
            </a:r>
          </a:p>
          <a:p>
            <a:endParaRPr lang="en-US" sz="400" dirty="0">
              <a:solidFill>
                <a:srgbClr val="00B050"/>
              </a:solidFill>
            </a:endParaRPr>
          </a:p>
          <a:p>
            <a:r>
              <a:rPr lang="en-US" dirty="0">
                <a:solidFill>
                  <a:srgbClr val="00B050"/>
                </a:solidFill>
              </a:rPr>
              <a:t>Each entry of segment table has </a:t>
            </a:r>
            <a:r>
              <a:rPr lang="en-US" dirty="0">
                <a:solidFill>
                  <a:srgbClr val="FF0000"/>
                </a:solidFill>
              </a:rPr>
              <a:t>segment BASE</a:t>
            </a:r>
            <a:r>
              <a:rPr lang="en-US" dirty="0">
                <a:solidFill>
                  <a:srgbClr val="00B050"/>
                </a:solidFill>
              </a:rPr>
              <a:t> and </a:t>
            </a:r>
            <a:r>
              <a:rPr lang="en-US" dirty="0">
                <a:solidFill>
                  <a:srgbClr val="FF0000"/>
                </a:solidFill>
              </a:rPr>
              <a:t>segment LIMIT</a:t>
            </a:r>
          </a:p>
        </p:txBody>
      </p:sp>
      <p:sp>
        <p:nvSpPr>
          <p:cNvPr id="77" name="TextBox 76"/>
          <p:cNvSpPr txBox="1"/>
          <p:nvPr/>
        </p:nvSpPr>
        <p:spPr>
          <a:xfrm>
            <a:off x="4626390" y="5866504"/>
            <a:ext cx="3818760" cy="707886"/>
          </a:xfrm>
          <a:prstGeom prst="rect">
            <a:avLst/>
          </a:prstGeom>
          <a:noFill/>
        </p:spPr>
        <p:txBody>
          <a:bodyPr wrap="square" rtlCol="0">
            <a:spAutoFit/>
          </a:bodyPr>
          <a:lstStyle/>
          <a:p>
            <a:r>
              <a:rPr lang="en-US" dirty="0">
                <a:solidFill>
                  <a:srgbClr val="FF0000"/>
                </a:solidFill>
              </a:rPr>
              <a:t>Base</a:t>
            </a:r>
            <a:r>
              <a:rPr lang="en-US" dirty="0">
                <a:solidFill>
                  <a:srgbClr val="00B050"/>
                </a:solidFill>
              </a:rPr>
              <a:t> contain physical starting address.</a:t>
            </a:r>
          </a:p>
          <a:p>
            <a:endParaRPr lang="en-US" sz="400" dirty="0">
              <a:solidFill>
                <a:srgbClr val="00B050"/>
              </a:solidFill>
            </a:endParaRPr>
          </a:p>
          <a:p>
            <a:r>
              <a:rPr lang="en-US" dirty="0">
                <a:solidFill>
                  <a:srgbClr val="FF0000"/>
                </a:solidFill>
              </a:rPr>
              <a:t>Limit</a:t>
            </a:r>
            <a:r>
              <a:rPr lang="en-US" dirty="0">
                <a:solidFill>
                  <a:srgbClr val="00B050"/>
                </a:solidFill>
              </a:rPr>
              <a:t> specifies length of segment</a:t>
            </a:r>
            <a:endParaRPr lang="en-US" dirty="0">
              <a:solidFill>
                <a:srgbClr val="FF0000"/>
              </a:solidFill>
            </a:endParaRPr>
          </a:p>
        </p:txBody>
      </p:sp>
    </p:spTree>
    <p:extLst>
      <p:ext uri="{BB962C8B-B14F-4D97-AF65-F5344CB8AC3E}">
        <p14:creationId xmlns:p14="http://schemas.microsoft.com/office/powerpoint/2010/main" val="836119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8"/>
                                        </p:tgtEl>
                                        <p:attrNameLst>
                                          <p:attrName>style.visibility</p:attrName>
                                        </p:attrNameLst>
                                      </p:cBhvr>
                                      <p:to>
                                        <p:strVal val="visible"/>
                                      </p:to>
                                    </p:set>
                                  </p:childTnLst>
                                </p:cTn>
                              </p:par>
                              <p:par>
                                <p:cTn id="29" presetID="26" presetClass="emph" presetSubtype="0" repeatCount="indefinite" fill="hold" grpId="1" nodeType="withEffect">
                                  <p:stCondLst>
                                    <p:cond delay="0"/>
                                  </p:stCondLst>
                                  <p:endCondLst>
                                    <p:cond evt="onNext" delay="0">
                                      <p:tgtEl>
                                        <p:sldTgt/>
                                      </p:tgtEl>
                                    </p:cond>
                                  </p:endCondLst>
                                  <p:childTnLst>
                                    <p:animEffect transition="out" filter="fade">
                                      <p:cBhvr>
                                        <p:cTn id="30" dur="500" tmFilter="0, 0; .2, .5; .8, .5; 1, 0"/>
                                        <p:tgtEl>
                                          <p:spTgt spid="68"/>
                                        </p:tgtEl>
                                      </p:cBhvr>
                                    </p:animEffect>
                                    <p:animScale>
                                      <p:cBhvr>
                                        <p:cTn id="31" dur="250" autoRev="1" fill="hold"/>
                                        <p:tgtEl>
                                          <p:spTgt spid="68"/>
                                        </p:tgtEl>
                                      </p:cBhvr>
                                      <p:by x="105000" y="105000"/>
                                    </p:animScale>
                                  </p:childTnLst>
                                </p:cTn>
                              </p:par>
                              <p:par>
                                <p:cTn id="32" presetID="1" presetClass="entr" presetSubtype="0" fill="hold" grpId="0" nodeType="withEffect">
                                  <p:stCondLst>
                                    <p:cond delay="0"/>
                                  </p:stCondLst>
                                  <p:childTnLst>
                                    <p:set>
                                      <p:cBhvr>
                                        <p:cTn id="33" dur="1" fill="hold">
                                          <p:stCondLst>
                                            <p:cond delay="0"/>
                                          </p:stCondLst>
                                        </p:cTn>
                                        <p:tgtEl>
                                          <p:spTgt spid="73"/>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xit" presetSubtype="0" fill="hold" grpId="2" nodeType="clickEffect">
                                  <p:stCondLst>
                                    <p:cond delay="0"/>
                                  </p:stCondLst>
                                  <p:childTnLst>
                                    <p:set>
                                      <p:cBhvr>
                                        <p:cTn id="37" dur="1" fill="hold">
                                          <p:stCondLst>
                                            <p:cond delay="0"/>
                                          </p:stCondLst>
                                        </p:cTn>
                                        <p:tgtEl>
                                          <p:spTgt spid="68"/>
                                        </p:tgtEl>
                                        <p:attrNameLst>
                                          <p:attrName>style.visibility</p:attrName>
                                        </p:attrNameLst>
                                      </p:cBhvr>
                                      <p:to>
                                        <p:strVal val="hidden"/>
                                      </p:to>
                                    </p:set>
                                  </p:childTnLst>
                                </p:cTn>
                              </p:par>
                              <p:par>
                                <p:cTn id="38" presetID="1" presetClass="entr" presetSubtype="0" fill="hold" grpId="0" nodeType="withEffect">
                                  <p:stCondLst>
                                    <p:cond delay="0"/>
                                  </p:stCondLst>
                                  <p:childTnLst>
                                    <p:set>
                                      <p:cBhvr>
                                        <p:cTn id="39" dur="1" fill="hold">
                                          <p:stCondLst>
                                            <p:cond delay="0"/>
                                          </p:stCondLst>
                                        </p:cTn>
                                        <p:tgtEl>
                                          <p:spTgt spid="5"/>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7"/>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8"/>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9"/>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10"/>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11"/>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12"/>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13"/>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14"/>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15"/>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19"/>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20"/>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21"/>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22"/>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23"/>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25"/>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26"/>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69"/>
                                        </p:tgtEl>
                                        <p:attrNameLst>
                                          <p:attrName>style.visibility</p:attrName>
                                        </p:attrNameLst>
                                      </p:cBhvr>
                                      <p:to>
                                        <p:strVal val="visible"/>
                                      </p:to>
                                    </p:set>
                                  </p:childTnLst>
                                </p:cTn>
                              </p:par>
                              <p:par>
                                <p:cTn id="82" presetID="26" presetClass="emph" presetSubtype="0" repeatCount="indefinite" fill="hold" grpId="1" nodeType="withEffect">
                                  <p:stCondLst>
                                    <p:cond delay="0"/>
                                  </p:stCondLst>
                                  <p:endCondLst>
                                    <p:cond evt="onNext" delay="0">
                                      <p:tgtEl>
                                        <p:sldTgt/>
                                      </p:tgtEl>
                                    </p:cond>
                                  </p:endCondLst>
                                  <p:childTnLst>
                                    <p:animEffect transition="out" filter="fade">
                                      <p:cBhvr>
                                        <p:cTn id="83" dur="500" tmFilter="0, 0; .2, .5; .8, .5; 1, 0"/>
                                        <p:tgtEl>
                                          <p:spTgt spid="69"/>
                                        </p:tgtEl>
                                      </p:cBhvr>
                                    </p:animEffect>
                                    <p:animScale>
                                      <p:cBhvr>
                                        <p:cTn id="84" dur="250" autoRev="1" fill="hold"/>
                                        <p:tgtEl>
                                          <p:spTgt spid="69"/>
                                        </p:tgtEl>
                                      </p:cBhvr>
                                      <p:by x="105000" y="105000"/>
                                    </p:animScale>
                                  </p:childTnLst>
                                </p:cTn>
                              </p:par>
                              <p:par>
                                <p:cTn id="85" presetID="1" presetClass="entr" presetSubtype="0" fill="hold" grpId="0" nodeType="withEffect">
                                  <p:stCondLst>
                                    <p:cond delay="0"/>
                                  </p:stCondLst>
                                  <p:childTnLst>
                                    <p:set>
                                      <p:cBhvr>
                                        <p:cTn id="86" dur="1" fill="hold">
                                          <p:stCondLst>
                                            <p:cond delay="0"/>
                                          </p:stCondLst>
                                        </p:cTn>
                                        <p:tgtEl>
                                          <p:spTgt spid="74"/>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xit" presetSubtype="0" fill="hold" grpId="2" nodeType="clickEffect">
                                  <p:stCondLst>
                                    <p:cond delay="0"/>
                                  </p:stCondLst>
                                  <p:childTnLst>
                                    <p:set>
                                      <p:cBhvr>
                                        <p:cTn id="90" dur="1" fill="hold">
                                          <p:stCondLst>
                                            <p:cond delay="0"/>
                                          </p:stCondLst>
                                        </p:cTn>
                                        <p:tgtEl>
                                          <p:spTgt spid="69"/>
                                        </p:tgtEl>
                                        <p:attrNameLst>
                                          <p:attrName>style.visibility</p:attrName>
                                        </p:attrNameLst>
                                      </p:cBhvr>
                                      <p:to>
                                        <p:strVal val="hidden"/>
                                      </p:to>
                                    </p:set>
                                  </p:childTnLst>
                                </p:cTn>
                              </p:par>
                              <p:par>
                                <p:cTn id="91" presetID="1" presetClass="entr" presetSubtype="0" fill="hold" grpId="0" nodeType="withEffect">
                                  <p:stCondLst>
                                    <p:cond delay="0"/>
                                  </p:stCondLst>
                                  <p:childTnLst>
                                    <p:set>
                                      <p:cBhvr>
                                        <p:cTn id="92" dur="1" fill="hold">
                                          <p:stCondLst>
                                            <p:cond delay="0"/>
                                          </p:stCondLst>
                                        </p:cTn>
                                        <p:tgtEl>
                                          <p:spTgt spid="28"/>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29"/>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37"/>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38"/>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39"/>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40"/>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41"/>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42"/>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43"/>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44"/>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45"/>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46"/>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47"/>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63"/>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65"/>
                                        </p:tgtEl>
                                        <p:attrNameLst>
                                          <p:attrName>style.visibility</p:attrName>
                                        </p:attrNameLst>
                                      </p:cBhvr>
                                      <p:to>
                                        <p:strVal val="visible"/>
                                      </p:to>
                                    </p:set>
                                  </p:childTnLst>
                                </p:cTn>
                              </p:par>
                              <p:par>
                                <p:cTn id="125" presetID="26" presetClass="emph" presetSubtype="0" repeatCount="indefinite" fill="hold" grpId="1" nodeType="withEffect">
                                  <p:stCondLst>
                                    <p:cond delay="0"/>
                                  </p:stCondLst>
                                  <p:endCondLst>
                                    <p:cond evt="onNext" delay="0">
                                      <p:tgtEl>
                                        <p:sldTgt/>
                                      </p:tgtEl>
                                    </p:cond>
                                  </p:endCondLst>
                                  <p:childTnLst>
                                    <p:animEffect transition="out" filter="fade">
                                      <p:cBhvr>
                                        <p:cTn id="126" dur="500" tmFilter="0, 0; .2, .5; .8, .5; 1, 0"/>
                                        <p:tgtEl>
                                          <p:spTgt spid="65"/>
                                        </p:tgtEl>
                                      </p:cBhvr>
                                    </p:animEffect>
                                    <p:animScale>
                                      <p:cBhvr>
                                        <p:cTn id="127" dur="250" autoRev="1" fill="hold"/>
                                        <p:tgtEl>
                                          <p:spTgt spid="65"/>
                                        </p:tgtEl>
                                      </p:cBhvr>
                                      <p:by x="105000" y="105000"/>
                                    </p:animScale>
                                  </p:childTnLst>
                                </p:cTn>
                              </p:par>
                              <p:par>
                                <p:cTn id="128" presetID="1" presetClass="entr" presetSubtype="0" fill="hold" grpId="0" nodeType="withEffect">
                                  <p:stCondLst>
                                    <p:cond delay="0"/>
                                  </p:stCondLst>
                                  <p:childTnLst>
                                    <p:set>
                                      <p:cBhvr>
                                        <p:cTn id="129" dur="1" fill="hold">
                                          <p:stCondLst>
                                            <p:cond delay="0"/>
                                          </p:stCondLst>
                                        </p:cTn>
                                        <p:tgtEl>
                                          <p:spTgt spid="75"/>
                                        </p:tgtEl>
                                        <p:attrNameLst>
                                          <p:attrName>style.visibility</p:attrName>
                                        </p:attrNameLst>
                                      </p:cBhvr>
                                      <p:to>
                                        <p:strVal val="visible"/>
                                      </p:to>
                                    </p:set>
                                  </p:childTnLst>
                                </p:cTn>
                              </p:par>
                            </p:childTnLst>
                          </p:cTn>
                        </p:par>
                      </p:childTnLst>
                    </p:cTn>
                  </p:par>
                  <p:par>
                    <p:cTn id="130" fill="hold">
                      <p:stCondLst>
                        <p:cond delay="indefinite"/>
                      </p:stCondLst>
                      <p:childTnLst>
                        <p:par>
                          <p:cTn id="131" fill="hold">
                            <p:stCondLst>
                              <p:cond delay="0"/>
                            </p:stCondLst>
                            <p:childTnLst>
                              <p:par>
                                <p:cTn id="132" presetID="1" presetClass="entr" presetSubtype="0" fill="hold" nodeType="clickEffect">
                                  <p:stCondLst>
                                    <p:cond delay="0"/>
                                  </p:stCondLst>
                                  <p:childTnLst>
                                    <p:set>
                                      <p:cBhvr>
                                        <p:cTn id="133" dur="1" fill="hold">
                                          <p:stCondLst>
                                            <p:cond delay="0"/>
                                          </p:stCondLst>
                                        </p:cTn>
                                        <p:tgtEl>
                                          <p:spTgt spid="76">
                                            <p:txEl>
                                              <p:pRg st="0" end="0"/>
                                            </p:txEl>
                                          </p:spTgt>
                                        </p:tgtEl>
                                        <p:attrNameLst>
                                          <p:attrName>style.visibility</p:attrName>
                                        </p:attrNameLst>
                                      </p:cBhvr>
                                      <p:to>
                                        <p:strVal val="visible"/>
                                      </p:to>
                                    </p:set>
                                  </p:childTnLst>
                                </p:cTn>
                              </p:par>
                            </p:childTnLst>
                          </p:cTn>
                        </p:par>
                      </p:childTnLst>
                    </p:cTn>
                  </p:par>
                  <p:par>
                    <p:cTn id="134" fill="hold">
                      <p:stCondLst>
                        <p:cond delay="indefinite"/>
                      </p:stCondLst>
                      <p:childTnLst>
                        <p:par>
                          <p:cTn id="135" fill="hold">
                            <p:stCondLst>
                              <p:cond delay="0"/>
                            </p:stCondLst>
                            <p:childTnLst>
                              <p:par>
                                <p:cTn id="136" presetID="1" presetClass="entr" presetSubtype="0" fill="hold" nodeType="clickEffect">
                                  <p:stCondLst>
                                    <p:cond delay="0"/>
                                  </p:stCondLst>
                                  <p:childTnLst>
                                    <p:set>
                                      <p:cBhvr>
                                        <p:cTn id="137" dur="1" fill="hold">
                                          <p:stCondLst>
                                            <p:cond delay="0"/>
                                          </p:stCondLst>
                                        </p:cTn>
                                        <p:tgtEl>
                                          <p:spTgt spid="76">
                                            <p:txEl>
                                              <p:pRg st="2" end="2"/>
                                            </p:txEl>
                                          </p:spTgt>
                                        </p:tgtEl>
                                        <p:attrNameLst>
                                          <p:attrName>style.visibility</p:attrName>
                                        </p:attrNameLst>
                                      </p:cBhvr>
                                      <p:to>
                                        <p:strVal val="visible"/>
                                      </p:to>
                                    </p:set>
                                  </p:childTnLst>
                                </p:cTn>
                              </p:par>
                            </p:childTnLst>
                          </p:cTn>
                        </p:par>
                      </p:childTnLst>
                    </p:cTn>
                  </p:par>
                  <p:par>
                    <p:cTn id="138" fill="hold">
                      <p:stCondLst>
                        <p:cond delay="indefinite"/>
                      </p:stCondLst>
                      <p:childTnLst>
                        <p:par>
                          <p:cTn id="139" fill="hold">
                            <p:stCondLst>
                              <p:cond delay="0"/>
                            </p:stCondLst>
                            <p:childTnLst>
                              <p:par>
                                <p:cTn id="140" presetID="1" presetClass="exit" presetSubtype="0" fill="hold" grpId="0" nodeType="clickEffect">
                                  <p:stCondLst>
                                    <p:cond delay="0"/>
                                  </p:stCondLst>
                                  <p:childTnLst>
                                    <p:set>
                                      <p:cBhvr>
                                        <p:cTn id="141" dur="1" fill="hold">
                                          <p:stCondLst>
                                            <p:cond delay="0"/>
                                          </p:stCondLst>
                                        </p:cTn>
                                        <p:tgtEl>
                                          <p:spTgt spid="76"/>
                                        </p:tgtEl>
                                        <p:attrNameLst>
                                          <p:attrName>style.visibility</p:attrName>
                                        </p:attrNameLst>
                                      </p:cBhvr>
                                      <p:to>
                                        <p:strVal val="hidden"/>
                                      </p:to>
                                    </p:set>
                                  </p:childTnLst>
                                </p:cTn>
                              </p:par>
                              <p:par>
                                <p:cTn id="142" presetID="1" presetClass="exit" presetSubtype="0" fill="hold" grpId="2" nodeType="withEffect">
                                  <p:stCondLst>
                                    <p:cond delay="0"/>
                                  </p:stCondLst>
                                  <p:childTnLst>
                                    <p:set>
                                      <p:cBhvr>
                                        <p:cTn id="143" dur="1" fill="hold">
                                          <p:stCondLst>
                                            <p:cond delay="0"/>
                                          </p:stCondLst>
                                        </p:cTn>
                                        <p:tgtEl>
                                          <p:spTgt spid="65"/>
                                        </p:tgtEl>
                                        <p:attrNameLst>
                                          <p:attrName>style.visibility</p:attrName>
                                        </p:attrNameLst>
                                      </p:cBhvr>
                                      <p:to>
                                        <p:strVal val="hidden"/>
                                      </p:to>
                                    </p:set>
                                  </p:childTnLst>
                                </p:cTn>
                              </p:par>
                              <p:par>
                                <p:cTn id="144" presetID="1" presetClass="entr" presetSubtype="0" fill="hold" grpId="0" nodeType="withEffect">
                                  <p:stCondLst>
                                    <p:cond delay="0"/>
                                  </p:stCondLst>
                                  <p:childTnLst>
                                    <p:set>
                                      <p:cBhvr>
                                        <p:cTn id="145" dur="1" fill="hold">
                                          <p:stCondLst>
                                            <p:cond delay="0"/>
                                          </p:stCondLst>
                                        </p:cTn>
                                        <p:tgtEl>
                                          <p:spTgt spid="72"/>
                                        </p:tgtEl>
                                        <p:attrNameLst>
                                          <p:attrName>style.visibility</p:attrName>
                                        </p:attrNameLst>
                                      </p:cBhvr>
                                      <p:to>
                                        <p:strVal val="visible"/>
                                      </p:to>
                                    </p:set>
                                  </p:childTnLst>
                                </p:cTn>
                              </p:par>
                              <p:par>
                                <p:cTn id="146" presetID="26" presetClass="emph" presetSubtype="0" repeatCount="indefinite" fill="hold" grpId="1" nodeType="withEffect">
                                  <p:stCondLst>
                                    <p:cond delay="0"/>
                                  </p:stCondLst>
                                  <p:endCondLst>
                                    <p:cond evt="onNext" delay="0">
                                      <p:tgtEl>
                                        <p:sldTgt/>
                                      </p:tgtEl>
                                    </p:cond>
                                  </p:endCondLst>
                                  <p:childTnLst>
                                    <p:animEffect transition="out" filter="fade">
                                      <p:cBhvr>
                                        <p:cTn id="147" dur="500" tmFilter="0, 0; .2, .5; .8, .5; 1, 0"/>
                                        <p:tgtEl>
                                          <p:spTgt spid="72"/>
                                        </p:tgtEl>
                                      </p:cBhvr>
                                    </p:animEffect>
                                    <p:animScale>
                                      <p:cBhvr>
                                        <p:cTn id="148" dur="250" autoRev="1" fill="hold"/>
                                        <p:tgtEl>
                                          <p:spTgt spid="72"/>
                                        </p:tgtEl>
                                      </p:cBhvr>
                                      <p:by x="105000" y="105000"/>
                                    </p:animScale>
                                  </p:childTnLst>
                                </p:cTn>
                              </p:par>
                              <p:par>
                                <p:cTn id="149" presetID="1" presetClass="entr" presetSubtype="0" fill="hold" grpId="0" nodeType="withEffect">
                                  <p:stCondLst>
                                    <p:cond delay="0"/>
                                  </p:stCondLst>
                                  <p:childTnLst>
                                    <p:set>
                                      <p:cBhvr>
                                        <p:cTn id="150" dur="1" fill="hold">
                                          <p:stCondLst>
                                            <p:cond delay="0"/>
                                          </p:stCondLst>
                                        </p:cTn>
                                        <p:tgtEl>
                                          <p:spTgt spid="77"/>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xit" presetSubtype="0" fill="hold" grpId="2" nodeType="clickEffect">
                                  <p:stCondLst>
                                    <p:cond delay="0"/>
                                  </p:stCondLst>
                                  <p:childTnLst>
                                    <p:set>
                                      <p:cBhvr>
                                        <p:cTn id="154" dur="1" fill="hold">
                                          <p:stCondLst>
                                            <p:cond delay="0"/>
                                          </p:stCondLst>
                                        </p:cTn>
                                        <p:tgtEl>
                                          <p:spTgt spid="7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p:bldP spid="13" grpId="0"/>
      <p:bldP spid="14" grpId="0"/>
      <p:bldP spid="15" grpId="0"/>
      <p:bldP spid="19" grpId="0"/>
      <p:bldP spid="20" grpId="0"/>
      <p:bldP spid="21" grpId="0"/>
      <p:bldP spid="22" grpId="0"/>
      <p:bldP spid="23" grpId="0"/>
      <p:bldP spid="24" grpId="0"/>
      <p:bldP spid="25" grpId="0"/>
      <p:bldP spid="26" grpId="0"/>
      <p:bldP spid="27" grpId="0"/>
      <p:bldP spid="28" grpId="0" animBg="1"/>
      <p:bldP spid="29" grpId="0" animBg="1"/>
      <p:bldP spid="36" grpId="0" animBg="1"/>
      <p:bldP spid="37" grpId="0" animBg="1"/>
      <p:bldP spid="38" grpId="0" animBg="1"/>
      <p:bldP spid="39" grpId="0" animBg="1"/>
      <p:bldP spid="40" grpId="0" animBg="1"/>
      <p:bldP spid="41" grpId="0" animBg="1"/>
      <p:bldP spid="42" grpId="0" animBg="1"/>
      <p:bldP spid="43" grpId="0" animBg="1"/>
      <p:bldP spid="44" grpId="0"/>
      <p:bldP spid="45" grpId="0"/>
      <p:bldP spid="46" grpId="0"/>
      <p:bldP spid="47" grpId="0"/>
      <p:bldP spid="49" grpId="0" animBg="1"/>
      <p:bldP spid="50" grpId="0" animBg="1"/>
      <p:bldP spid="51" grpId="0" animBg="1"/>
      <p:bldP spid="52" grpId="0" animBg="1"/>
      <p:bldP spid="53" grpId="0" animBg="1"/>
      <p:bldP spid="54" grpId="0"/>
      <p:bldP spid="55" grpId="0"/>
      <p:bldP spid="56" grpId="0"/>
      <p:bldP spid="57" grpId="0"/>
      <p:bldP spid="59" grpId="0"/>
      <p:bldP spid="63" grpId="0"/>
      <p:bldP spid="65" grpId="0" animBg="1"/>
      <p:bldP spid="65" grpId="1" animBg="1"/>
      <p:bldP spid="65" grpId="2" animBg="1"/>
      <p:bldP spid="68" grpId="0" animBg="1"/>
      <p:bldP spid="68" grpId="1" animBg="1"/>
      <p:bldP spid="68" grpId="2" animBg="1"/>
      <p:bldP spid="69" grpId="0" animBg="1"/>
      <p:bldP spid="69" grpId="1" animBg="1"/>
      <p:bldP spid="69" grpId="2" animBg="1"/>
      <p:bldP spid="72" grpId="0" animBg="1"/>
      <p:bldP spid="72" grpId="1" animBg="1"/>
      <p:bldP spid="72" grpId="2" animBg="1"/>
      <p:bldP spid="73" grpId="0"/>
      <p:bldP spid="74" grpId="0"/>
      <p:bldP spid="75" grpId="0"/>
      <p:bldP spid="76" grpId="0"/>
      <p:bldP spid="7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Segmentation(Conti..)</a:t>
            </a:r>
          </a:p>
        </p:txBody>
      </p:sp>
      <p:sp>
        <p:nvSpPr>
          <p:cNvPr id="5" name="TextBox 4"/>
          <p:cNvSpPr txBox="1"/>
          <p:nvPr/>
        </p:nvSpPr>
        <p:spPr>
          <a:xfrm>
            <a:off x="10892117" y="3633496"/>
            <a:ext cx="1085849" cy="923330"/>
          </a:xfrm>
          <a:prstGeom prst="rect">
            <a:avLst/>
          </a:prstGeom>
          <a:noFill/>
          <a:ln>
            <a:solidFill>
              <a:schemeClr val="tx1"/>
            </a:solidFill>
          </a:ln>
        </p:spPr>
        <p:txBody>
          <a:bodyPr wrap="square" rtlCol="0">
            <a:spAutoFit/>
          </a:bodyPr>
          <a:lstStyle/>
          <a:p>
            <a:pPr algn="ctr"/>
            <a:r>
              <a:rPr lang="en-US" dirty="0">
                <a:solidFill>
                  <a:srgbClr val="212121"/>
                </a:solidFill>
              </a:rPr>
              <a:t>Physical Address Space</a:t>
            </a:r>
          </a:p>
        </p:txBody>
      </p:sp>
      <p:sp>
        <p:nvSpPr>
          <p:cNvPr id="6" name="TextBox 5"/>
          <p:cNvSpPr txBox="1"/>
          <p:nvPr/>
        </p:nvSpPr>
        <p:spPr>
          <a:xfrm>
            <a:off x="3749992" y="2237773"/>
            <a:ext cx="1074389" cy="923330"/>
          </a:xfrm>
          <a:prstGeom prst="rect">
            <a:avLst/>
          </a:prstGeom>
          <a:noFill/>
          <a:ln>
            <a:solidFill>
              <a:schemeClr val="tx1"/>
            </a:solidFill>
          </a:ln>
        </p:spPr>
        <p:txBody>
          <a:bodyPr wrap="square" rtlCol="0">
            <a:spAutoFit/>
          </a:bodyPr>
          <a:lstStyle/>
          <a:p>
            <a:pPr algn="ctr"/>
            <a:r>
              <a:rPr lang="en-US" dirty="0">
                <a:solidFill>
                  <a:srgbClr val="212121"/>
                </a:solidFill>
              </a:rPr>
              <a:t>Logical Address Space</a:t>
            </a:r>
          </a:p>
        </p:txBody>
      </p:sp>
      <p:sp>
        <p:nvSpPr>
          <p:cNvPr id="7" name="TextBox 6"/>
          <p:cNvSpPr txBox="1"/>
          <p:nvPr/>
        </p:nvSpPr>
        <p:spPr>
          <a:xfrm>
            <a:off x="8086718" y="1474769"/>
            <a:ext cx="641522" cy="369332"/>
          </a:xfrm>
          <a:prstGeom prst="rect">
            <a:avLst/>
          </a:prstGeom>
          <a:noFill/>
          <a:ln>
            <a:solidFill>
              <a:schemeClr val="tx1"/>
            </a:solidFill>
          </a:ln>
        </p:spPr>
        <p:txBody>
          <a:bodyPr wrap="none" rtlCol="0">
            <a:spAutoFit/>
          </a:bodyPr>
          <a:lstStyle/>
          <a:p>
            <a:r>
              <a:rPr lang="en-US" dirty="0">
                <a:solidFill>
                  <a:srgbClr val="212121"/>
                </a:solidFill>
              </a:rPr>
              <a:t>Limit</a:t>
            </a:r>
          </a:p>
        </p:txBody>
      </p:sp>
      <p:sp>
        <p:nvSpPr>
          <p:cNvPr id="8" name="TextBox 7"/>
          <p:cNvSpPr txBox="1"/>
          <p:nvPr/>
        </p:nvSpPr>
        <p:spPr>
          <a:xfrm>
            <a:off x="8728240" y="1474769"/>
            <a:ext cx="649398" cy="369332"/>
          </a:xfrm>
          <a:prstGeom prst="rect">
            <a:avLst/>
          </a:prstGeom>
          <a:noFill/>
          <a:ln>
            <a:solidFill>
              <a:schemeClr val="tx1"/>
            </a:solidFill>
          </a:ln>
        </p:spPr>
        <p:txBody>
          <a:bodyPr wrap="square" rtlCol="0">
            <a:spAutoFit/>
          </a:bodyPr>
          <a:lstStyle/>
          <a:p>
            <a:r>
              <a:rPr lang="en-US" dirty="0">
                <a:solidFill>
                  <a:srgbClr val="212121"/>
                </a:solidFill>
              </a:rPr>
              <a:t>Base</a:t>
            </a:r>
          </a:p>
        </p:txBody>
      </p:sp>
      <p:sp>
        <p:nvSpPr>
          <p:cNvPr id="9" name="TextBox 8"/>
          <p:cNvSpPr txBox="1"/>
          <p:nvPr/>
        </p:nvSpPr>
        <p:spPr>
          <a:xfrm>
            <a:off x="8086718" y="1105010"/>
            <a:ext cx="642937" cy="369332"/>
          </a:xfrm>
          <a:prstGeom prst="rect">
            <a:avLst/>
          </a:prstGeom>
          <a:solidFill>
            <a:schemeClr val="bg2">
              <a:lumMod val="85000"/>
            </a:schemeClr>
          </a:solidFill>
          <a:ln>
            <a:solidFill>
              <a:schemeClr val="tx1"/>
            </a:solidFill>
          </a:ln>
        </p:spPr>
        <p:txBody>
          <a:bodyPr wrap="square" rtlCol="0">
            <a:spAutoFit/>
          </a:bodyPr>
          <a:lstStyle/>
          <a:p>
            <a:endParaRPr lang="en-US" dirty="0">
              <a:solidFill>
                <a:srgbClr val="212121"/>
              </a:solidFill>
            </a:endParaRPr>
          </a:p>
        </p:txBody>
      </p:sp>
      <p:sp>
        <p:nvSpPr>
          <p:cNvPr id="10" name="TextBox 9"/>
          <p:cNvSpPr txBox="1"/>
          <p:nvPr/>
        </p:nvSpPr>
        <p:spPr>
          <a:xfrm>
            <a:off x="8734701" y="1104583"/>
            <a:ext cx="642937" cy="369332"/>
          </a:xfrm>
          <a:prstGeom prst="rect">
            <a:avLst/>
          </a:prstGeom>
          <a:solidFill>
            <a:schemeClr val="bg2">
              <a:lumMod val="85000"/>
            </a:schemeClr>
          </a:solidFill>
          <a:ln>
            <a:solidFill>
              <a:schemeClr val="tx1"/>
            </a:solidFill>
          </a:ln>
        </p:spPr>
        <p:txBody>
          <a:bodyPr wrap="square" rtlCol="0">
            <a:spAutoFit/>
          </a:bodyPr>
          <a:lstStyle/>
          <a:p>
            <a:endParaRPr lang="en-US" dirty="0">
              <a:solidFill>
                <a:srgbClr val="212121"/>
              </a:solidFill>
            </a:endParaRPr>
          </a:p>
        </p:txBody>
      </p:sp>
      <p:sp>
        <p:nvSpPr>
          <p:cNvPr id="11" name="TextBox 10"/>
          <p:cNvSpPr txBox="1"/>
          <p:nvPr/>
        </p:nvSpPr>
        <p:spPr>
          <a:xfrm>
            <a:off x="8080257" y="1844528"/>
            <a:ext cx="642937" cy="369332"/>
          </a:xfrm>
          <a:prstGeom prst="rect">
            <a:avLst/>
          </a:prstGeom>
          <a:solidFill>
            <a:schemeClr val="bg2">
              <a:lumMod val="85000"/>
            </a:schemeClr>
          </a:solidFill>
          <a:ln>
            <a:solidFill>
              <a:schemeClr val="tx1"/>
            </a:solidFill>
          </a:ln>
        </p:spPr>
        <p:txBody>
          <a:bodyPr wrap="square" rtlCol="0">
            <a:spAutoFit/>
          </a:bodyPr>
          <a:lstStyle/>
          <a:p>
            <a:endParaRPr lang="en-US" dirty="0">
              <a:solidFill>
                <a:srgbClr val="212121"/>
              </a:solidFill>
            </a:endParaRPr>
          </a:p>
        </p:txBody>
      </p:sp>
      <p:sp>
        <p:nvSpPr>
          <p:cNvPr id="12" name="TextBox 11"/>
          <p:cNvSpPr txBox="1"/>
          <p:nvPr/>
        </p:nvSpPr>
        <p:spPr>
          <a:xfrm>
            <a:off x="8728240" y="1844101"/>
            <a:ext cx="642937" cy="369332"/>
          </a:xfrm>
          <a:prstGeom prst="rect">
            <a:avLst/>
          </a:prstGeom>
          <a:solidFill>
            <a:schemeClr val="bg2">
              <a:lumMod val="85000"/>
            </a:schemeClr>
          </a:solidFill>
          <a:ln>
            <a:solidFill>
              <a:schemeClr val="tx1"/>
            </a:solidFill>
          </a:ln>
        </p:spPr>
        <p:txBody>
          <a:bodyPr wrap="square" rtlCol="0">
            <a:spAutoFit/>
          </a:bodyPr>
          <a:lstStyle/>
          <a:p>
            <a:endParaRPr lang="en-US" dirty="0">
              <a:solidFill>
                <a:srgbClr val="212121"/>
              </a:solidFill>
            </a:endParaRPr>
          </a:p>
        </p:txBody>
      </p:sp>
      <p:sp>
        <p:nvSpPr>
          <p:cNvPr id="13" name="Oval 12"/>
          <p:cNvSpPr/>
          <p:nvPr/>
        </p:nvSpPr>
        <p:spPr>
          <a:xfrm>
            <a:off x="9534812" y="3704921"/>
            <a:ext cx="809342" cy="78581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dirty="0">
                <a:solidFill>
                  <a:srgbClr val="212121"/>
                </a:solidFill>
              </a:rPr>
              <a:t>+</a:t>
            </a:r>
            <a:endParaRPr lang="en-US" dirty="0">
              <a:solidFill>
                <a:srgbClr val="212121"/>
              </a:solidFill>
            </a:endParaRPr>
          </a:p>
        </p:txBody>
      </p:sp>
      <p:sp>
        <p:nvSpPr>
          <p:cNvPr id="14" name="Diamond 13"/>
          <p:cNvSpPr/>
          <p:nvPr/>
        </p:nvSpPr>
        <p:spPr>
          <a:xfrm>
            <a:off x="7171714" y="3704921"/>
            <a:ext cx="985838" cy="785813"/>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dirty="0">
                <a:solidFill>
                  <a:srgbClr val="212121"/>
                </a:solidFill>
              </a:rPr>
              <a:t>&lt;</a:t>
            </a:r>
            <a:endParaRPr lang="en-US" dirty="0">
              <a:solidFill>
                <a:srgbClr val="212121"/>
              </a:solidFill>
            </a:endParaRPr>
          </a:p>
        </p:txBody>
      </p:sp>
      <p:sp>
        <p:nvSpPr>
          <p:cNvPr id="15" name="TextBox 14"/>
          <p:cNvSpPr txBox="1"/>
          <p:nvPr/>
        </p:nvSpPr>
        <p:spPr>
          <a:xfrm>
            <a:off x="5521677" y="2515199"/>
            <a:ext cx="642937" cy="369332"/>
          </a:xfrm>
          <a:prstGeom prst="rect">
            <a:avLst/>
          </a:prstGeom>
          <a:solidFill>
            <a:schemeClr val="bg2">
              <a:lumMod val="85000"/>
            </a:schemeClr>
          </a:solidFill>
          <a:ln>
            <a:solidFill>
              <a:schemeClr val="tx1"/>
            </a:solidFill>
          </a:ln>
        </p:spPr>
        <p:txBody>
          <a:bodyPr wrap="square" rtlCol="0">
            <a:spAutoFit/>
          </a:bodyPr>
          <a:lstStyle/>
          <a:p>
            <a:pPr algn="ctr"/>
            <a:r>
              <a:rPr lang="en-US" b="1" dirty="0">
                <a:solidFill>
                  <a:srgbClr val="212121"/>
                </a:solidFill>
              </a:rPr>
              <a:t>s</a:t>
            </a:r>
          </a:p>
        </p:txBody>
      </p:sp>
      <p:sp>
        <p:nvSpPr>
          <p:cNvPr id="16" name="TextBox 15"/>
          <p:cNvSpPr txBox="1"/>
          <p:nvPr/>
        </p:nvSpPr>
        <p:spPr>
          <a:xfrm>
            <a:off x="6169660" y="2514772"/>
            <a:ext cx="642937" cy="369332"/>
          </a:xfrm>
          <a:prstGeom prst="rect">
            <a:avLst/>
          </a:prstGeom>
          <a:noFill/>
          <a:ln>
            <a:solidFill>
              <a:schemeClr val="tx1"/>
            </a:solidFill>
          </a:ln>
        </p:spPr>
        <p:txBody>
          <a:bodyPr wrap="square" rtlCol="0">
            <a:spAutoFit/>
          </a:bodyPr>
          <a:lstStyle/>
          <a:p>
            <a:pPr algn="ctr"/>
            <a:r>
              <a:rPr lang="en-US" b="1" dirty="0">
                <a:solidFill>
                  <a:srgbClr val="212121"/>
                </a:solidFill>
              </a:rPr>
              <a:t>d</a:t>
            </a:r>
          </a:p>
        </p:txBody>
      </p:sp>
      <p:sp>
        <p:nvSpPr>
          <p:cNvPr id="17" name="Left Brace 16"/>
          <p:cNvSpPr/>
          <p:nvPr/>
        </p:nvSpPr>
        <p:spPr>
          <a:xfrm>
            <a:off x="7815257" y="1104583"/>
            <a:ext cx="145732" cy="369332"/>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212121"/>
              </a:solidFill>
            </a:endParaRPr>
          </a:p>
        </p:txBody>
      </p:sp>
      <p:sp>
        <p:nvSpPr>
          <p:cNvPr id="18" name="TextBox 17"/>
          <p:cNvSpPr txBox="1"/>
          <p:nvPr/>
        </p:nvSpPr>
        <p:spPr>
          <a:xfrm>
            <a:off x="7476445" y="1104583"/>
            <a:ext cx="309700" cy="369332"/>
          </a:xfrm>
          <a:prstGeom prst="rect">
            <a:avLst/>
          </a:prstGeom>
          <a:noFill/>
        </p:spPr>
        <p:txBody>
          <a:bodyPr wrap="none" rtlCol="0">
            <a:spAutoFit/>
          </a:bodyPr>
          <a:lstStyle/>
          <a:p>
            <a:r>
              <a:rPr lang="en-US" b="1" dirty="0">
                <a:solidFill>
                  <a:srgbClr val="212121"/>
                </a:solidFill>
              </a:rPr>
              <a:t>S</a:t>
            </a:r>
          </a:p>
        </p:txBody>
      </p:sp>
      <p:cxnSp>
        <p:nvCxnSpPr>
          <p:cNvPr id="20" name="Elbow Connector 19"/>
          <p:cNvCxnSpPr>
            <a:stCxn id="15" idx="0"/>
            <a:endCxn id="18" idx="1"/>
          </p:cNvCxnSpPr>
          <p:nvPr/>
        </p:nvCxnSpPr>
        <p:spPr>
          <a:xfrm rot="5400000" flipH="1" flipV="1">
            <a:off x="6046820" y="1085575"/>
            <a:ext cx="1225950" cy="1633299"/>
          </a:xfrm>
          <a:prstGeom prst="bentConnector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4765356" y="1525316"/>
            <a:ext cx="1077789" cy="646331"/>
          </a:xfrm>
          <a:prstGeom prst="rect">
            <a:avLst/>
          </a:prstGeom>
          <a:noFill/>
        </p:spPr>
        <p:txBody>
          <a:bodyPr wrap="square" rtlCol="0">
            <a:spAutoFit/>
          </a:bodyPr>
          <a:lstStyle/>
          <a:p>
            <a:pPr algn="ctr"/>
            <a:r>
              <a:rPr lang="en-US" dirty="0">
                <a:solidFill>
                  <a:srgbClr val="212121"/>
                </a:solidFill>
              </a:rPr>
              <a:t>Segment Number</a:t>
            </a:r>
          </a:p>
        </p:txBody>
      </p:sp>
      <p:cxnSp>
        <p:nvCxnSpPr>
          <p:cNvPr id="23" name="Straight Arrow Connector 22"/>
          <p:cNvCxnSpPr>
            <a:stCxn id="6" idx="3"/>
            <a:endCxn id="15" idx="1"/>
          </p:cNvCxnSpPr>
          <p:nvPr/>
        </p:nvCxnSpPr>
        <p:spPr>
          <a:xfrm>
            <a:off x="4824381" y="2699438"/>
            <a:ext cx="697296" cy="42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4989485" y="2699438"/>
            <a:ext cx="295274" cy="369332"/>
          </a:xfrm>
          <a:prstGeom prst="rect">
            <a:avLst/>
          </a:prstGeom>
          <a:noFill/>
        </p:spPr>
        <p:txBody>
          <a:bodyPr wrap="none" rtlCol="0">
            <a:spAutoFit/>
          </a:bodyPr>
          <a:lstStyle/>
          <a:p>
            <a:r>
              <a:rPr lang="en-US" b="1" dirty="0">
                <a:solidFill>
                  <a:srgbClr val="212121"/>
                </a:solidFill>
              </a:rPr>
              <a:t>L</a:t>
            </a:r>
          </a:p>
        </p:txBody>
      </p:sp>
      <p:cxnSp>
        <p:nvCxnSpPr>
          <p:cNvPr id="29" name="Elbow Connector 28"/>
          <p:cNvCxnSpPr>
            <a:stCxn id="16" idx="2"/>
            <a:endCxn id="14" idx="1"/>
          </p:cNvCxnSpPr>
          <p:nvPr/>
        </p:nvCxnSpPr>
        <p:spPr>
          <a:xfrm rot="16200000" flipH="1">
            <a:off x="6224559" y="3150673"/>
            <a:ext cx="1213724" cy="680585"/>
          </a:xfrm>
          <a:prstGeom prst="bentConnector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3" idx="6"/>
            <a:endCxn id="5" idx="1"/>
          </p:cNvCxnSpPr>
          <p:nvPr/>
        </p:nvCxnSpPr>
        <p:spPr>
          <a:xfrm flipV="1">
            <a:off x="10344154" y="4095161"/>
            <a:ext cx="547963" cy="266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14" idx="3"/>
            <a:endCxn id="13" idx="2"/>
          </p:cNvCxnSpPr>
          <p:nvPr/>
        </p:nvCxnSpPr>
        <p:spPr>
          <a:xfrm>
            <a:off x="8157552" y="4097828"/>
            <a:ext cx="137726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Elbow Connector 34"/>
          <p:cNvCxnSpPr>
            <a:stCxn id="8" idx="3"/>
            <a:endCxn id="13" idx="0"/>
          </p:cNvCxnSpPr>
          <p:nvPr/>
        </p:nvCxnSpPr>
        <p:spPr>
          <a:xfrm>
            <a:off x="9377638" y="1659435"/>
            <a:ext cx="561845" cy="2045486"/>
          </a:xfrm>
          <a:prstGeom prst="bentConnector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7955131" y="2224586"/>
            <a:ext cx="1676630" cy="369332"/>
          </a:xfrm>
          <a:prstGeom prst="rect">
            <a:avLst/>
          </a:prstGeom>
          <a:noFill/>
        </p:spPr>
        <p:txBody>
          <a:bodyPr wrap="square" rtlCol="0">
            <a:spAutoFit/>
          </a:bodyPr>
          <a:lstStyle/>
          <a:p>
            <a:r>
              <a:rPr lang="en-US" dirty="0">
                <a:solidFill>
                  <a:srgbClr val="212121"/>
                </a:solidFill>
              </a:rPr>
              <a:t>Segment Table</a:t>
            </a:r>
          </a:p>
        </p:txBody>
      </p:sp>
      <p:sp>
        <p:nvSpPr>
          <p:cNvPr id="37" name="TextBox 36"/>
          <p:cNvSpPr txBox="1"/>
          <p:nvPr/>
        </p:nvSpPr>
        <p:spPr>
          <a:xfrm>
            <a:off x="10447635" y="3734217"/>
            <a:ext cx="316112" cy="369332"/>
          </a:xfrm>
          <a:prstGeom prst="rect">
            <a:avLst/>
          </a:prstGeom>
          <a:noFill/>
        </p:spPr>
        <p:txBody>
          <a:bodyPr wrap="none" rtlCol="0">
            <a:spAutoFit/>
          </a:bodyPr>
          <a:lstStyle/>
          <a:p>
            <a:r>
              <a:rPr lang="en-US" b="1" dirty="0">
                <a:solidFill>
                  <a:srgbClr val="212121"/>
                </a:solidFill>
              </a:rPr>
              <a:t>P</a:t>
            </a:r>
          </a:p>
        </p:txBody>
      </p:sp>
      <p:cxnSp>
        <p:nvCxnSpPr>
          <p:cNvPr id="39" name="Straight Arrow Connector 38"/>
          <p:cNvCxnSpPr>
            <a:stCxn id="14" idx="2"/>
            <a:endCxn id="42" idx="0"/>
          </p:cNvCxnSpPr>
          <p:nvPr/>
        </p:nvCxnSpPr>
        <p:spPr>
          <a:xfrm flipH="1">
            <a:off x="7645114" y="4490734"/>
            <a:ext cx="19519" cy="63762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7733756" y="4483001"/>
            <a:ext cx="442750" cy="369332"/>
          </a:xfrm>
          <a:prstGeom prst="rect">
            <a:avLst/>
          </a:prstGeom>
          <a:noFill/>
        </p:spPr>
        <p:txBody>
          <a:bodyPr wrap="none" rtlCol="0">
            <a:spAutoFit/>
          </a:bodyPr>
          <a:lstStyle/>
          <a:p>
            <a:r>
              <a:rPr lang="en-US" dirty="0">
                <a:solidFill>
                  <a:srgbClr val="212121"/>
                </a:solidFill>
              </a:rPr>
              <a:t>No</a:t>
            </a:r>
          </a:p>
        </p:txBody>
      </p:sp>
      <p:sp>
        <p:nvSpPr>
          <p:cNvPr id="41" name="TextBox 40"/>
          <p:cNvSpPr txBox="1"/>
          <p:nvPr/>
        </p:nvSpPr>
        <p:spPr>
          <a:xfrm>
            <a:off x="8229611" y="3704921"/>
            <a:ext cx="519694" cy="369332"/>
          </a:xfrm>
          <a:prstGeom prst="rect">
            <a:avLst/>
          </a:prstGeom>
          <a:noFill/>
        </p:spPr>
        <p:txBody>
          <a:bodyPr wrap="none" rtlCol="0">
            <a:spAutoFit/>
          </a:bodyPr>
          <a:lstStyle/>
          <a:p>
            <a:r>
              <a:rPr lang="en-US" dirty="0">
                <a:solidFill>
                  <a:srgbClr val="212121"/>
                </a:solidFill>
              </a:rPr>
              <a:t>Yes</a:t>
            </a:r>
          </a:p>
        </p:txBody>
      </p:sp>
      <p:sp>
        <p:nvSpPr>
          <p:cNvPr id="42" name="TextBox 41"/>
          <p:cNvSpPr txBox="1"/>
          <p:nvPr/>
        </p:nvSpPr>
        <p:spPr>
          <a:xfrm>
            <a:off x="7189700" y="5128360"/>
            <a:ext cx="910827" cy="369332"/>
          </a:xfrm>
          <a:prstGeom prst="rect">
            <a:avLst/>
          </a:prstGeom>
          <a:noFill/>
        </p:spPr>
        <p:txBody>
          <a:bodyPr wrap="none" rtlCol="0">
            <a:spAutoFit/>
          </a:bodyPr>
          <a:lstStyle/>
          <a:p>
            <a:r>
              <a:rPr lang="en-US" dirty="0">
                <a:solidFill>
                  <a:srgbClr val="212121"/>
                </a:solidFill>
              </a:rPr>
              <a:t>d &gt; limit</a:t>
            </a:r>
          </a:p>
        </p:txBody>
      </p:sp>
      <p:sp>
        <p:nvSpPr>
          <p:cNvPr id="43" name="TextBox 42"/>
          <p:cNvSpPr txBox="1"/>
          <p:nvPr/>
        </p:nvSpPr>
        <p:spPr>
          <a:xfrm>
            <a:off x="6847818" y="5908916"/>
            <a:ext cx="1709122" cy="369332"/>
          </a:xfrm>
          <a:prstGeom prst="rect">
            <a:avLst/>
          </a:prstGeom>
          <a:noFill/>
        </p:spPr>
        <p:txBody>
          <a:bodyPr wrap="none" rtlCol="0">
            <a:spAutoFit/>
          </a:bodyPr>
          <a:lstStyle/>
          <a:p>
            <a:r>
              <a:rPr lang="en-US" dirty="0">
                <a:solidFill>
                  <a:srgbClr val="FF0000"/>
                </a:solidFill>
              </a:rPr>
              <a:t>Addressing Error</a:t>
            </a:r>
          </a:p>
        </p:txBody>
      </p:sp>
      <p:cxnSp>
        <p:nvCxnSpPr>
          <p:cNvPr id="46" name="Straight Arrow Connector 45"/>
          <p:cNvCxnSpPr>
            <a:stCxn id="42" idx="2"/>
          </p:cNvCxnSpPr>
          <p:nvPr/>
        </p:nvCxnSpPr>
        <p:spPr>
          <a:xfrm>
            <a:off x="7645114" y="5497692"/>
            <a:ext cx="0" cy="33250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152570" y="779785"/>
            <a:ext cx="3195605" cy="646331"/>
          </a:xfrm>
          <a:prstGeom prst="rect">
            <a:avLst/>
          </a:prstGeom>
          <a:noFill/>
        </p:spPr>
        <p:txBody>
          <a:bodyPr wrap="square" rtlCol="0">
            <a:spAutoFit/>
          </a:bodyPr>
          <a:lstStyle/>
          <a:p>
            <a:r>
              <a:rPr lang="en-US" dirty="0">
                <a:solidFill>
                  <a:srgbClr val="00B050"/>
                </a:solidFill>
              </a:rPr>
              <a:t>During Process execution CPU generates logical address : </a:t>
            </a:r>
          </a:p>
        </p:txBody>
      </p:sp>
      <p:sp>
        <p:nvSpPr>
          <p:cNvPr id="48" name="TextBox 47"/>
          <p:cNvSpPr txBox="1"/>
          <p:nvPr/>
        </p:nvSpPr>
        <p:spPr>
          <a:xfrm>
            <a:off x="138626" y="1381101"/>
            <a:ext cx="3360710" cy="1200329"/>
          </a:xfrm>
          <a:prstGeom prst="rect">
            <a:avLst/>
          </a:prstGeom>
          <a:noFill/>
        </p:spPr>
        <p:txBody>
          <a:bodyPr wrap="square" rtlCol="0">
            <a:spAutoFit/>
          </a:bodyPr>
          <a:lstStyle/>
          <a:p>
            <a:r>
              <a:rPr lang="en-US" dirty="0">
                <a:solidFill>
                  <a:srgbClr val="00B050"/>
                </a:solidFill>
              </a:rPr>
              <a:t>Logical Address divided into two parts :</a:t>
            </a:r>
          </a:p>
          <a:p>
            <a:r>
              <a:rPr lang="en-US" dirty="0">
                <a:solidFill>
                  <a:srgbClr val="B84742"/>
                </a:solidFill>
              </a:rPr>
              <a:t>1. Segment number (s)          </a:t>
            </a:r>
          </a:p>
          <a:p>
            <a:r>
              <a:rPr lang="en-US" dirty="0">
                <a:solidFill>
                  <a:srgbClr val="B84742"/>
                </a:solidFill>
              </a:rPr>
              <a:t>2. Offset(d)</a:t>
            </a:r>
          </a:p>
        </p:txBody>
      </p:sp>
      <p:sp>
        <p:nvSpPr>
          <p:cNvPr id="49" name="TextBox 48"/>
          <p:cNvSpPr txBox="1"/>
          <p:nvPr/>
        </p:nvSpPr>
        <p:spPr>
          <a:xfrm>
            <a:off x="3606449" y="2112788"/>
            <a:ext cx="1376575" cy="1208428"/>
          </a:xfrm>
          <a:prstGeom prst="rect">
            <a:avLst/>
          </a:prstGeom>
          <a:noFill/>
          <a:ln w="19050">
            <a:solidFill>
              <a:srgbClr val="FF0000"/>
            </a:solidFill>
          </a:ln>
        </p:spPr>
        <p:txBody>
          <a:bodyPr wrap="square" rtlCol="0">
            <a:spAutoFit/>
          </a:bodyPr>
          <a:lstStyle/>
          <a:p>
            <a:endParaRPr lang="en-US" dirty="0">
              <a:solidFill>
                <a:srgbClr val="212121"/>
              </a:solidFill>
            </a:endParaRPr>
          </a:p>
        </p:txBody>
      </p:sp>
      <p:sp>
        <p:nvSpPr>
          <p:cNvPr id="50" name="TextBox 49"/>
          <p:cNvSpPr txBox="1"/>
          <p:nvPr/>
        </p:nvSpPr>
        <p:spPr>
          <a:xfrm>
            <a:off x="5419034" y="2395836"/>
            <a:ext cx="1493759" cy="604214"/>
          </a:xfrm>
          <a:prstGeom prst="rect">
            <a:avLst/>
          </a:prstGeom>
          <a:noFill/>
          <a:ln w="19050">
            <a:solidFill>
              <a:srgbClr val="FF0000"/>
            </a:solidFill>
          </a:ln>
        </p:spPr>
        <p:txBody>
          <a:bodyPr wrap="square" rtlCol="0">
            <a:spAutoFit/>
          </a:bodyPr>
          <a:lstStyle/>
          <a:p>
            <a:endParaRPr lang="en-US" dirty="0">
              <a:solidFill>
                <a:srgbClr val="212121"/>
              </a:solidFill>
            </a:endParaRPr>
          </a:p>
        </p:txBody>
      </p:sp>
      <p:sp>
        <p:nvSpPr>
          <p:cNvPr id="51" name="TextBox 50"/>
          <p:cNvSpPr txBox="1"/>
          <p:nvPr/>
        </p:nvSpPr>
        <p:spPr>
          <a:xfrm>
            <a:off x="194520" y="2571961"/>
            <a:ext cx="3195605" cy="1754326"/>
          </a:xfrm>
          <a:prstGeom prst="rect">
            <a:avLst/>
          </a:prstGeom>
          <a:noFill/>
        </p:spPr>
        <p:txBody>
          <a:bodyPr wrap="square" rtlCol="0">
            <a:spAutoFit/>
          </a:bodyPr>
          <a:lstStyle/>
          <a:p>
            <a:r>
              <a:rPr lang="en-US" dirty="0">
                <a:solidFill>
                  <a:srgbClr val="00B050"/>
                </a:solidFill>
              </a:rPr>
              <a:t>Segment Number is used as </a:t>
            </a:r>
            <a:r>
              <a:rPr lang="en-US" dirty="0">
                <a:solidFill>
                  <a:srgbClr val="B84742"/>
                </a:solidFill>
              </a:rPr>
              <a:t>index</a:t>
            </a:r>
            <a:r>
              <a:rPr lang="en-US" dirty="0">
                <a:solidFill>
                  <a:srgbClr val="00B050"/>
                </a:solidFill>
              </a:rPr>
              <a:t> in segment table.</a:t>
            </a:r>
          </a:p>
          <a:p>
            <a:endParaRPr lang="en-US" dirty="0">
              <a:solidFill>
                <a:srgbClr val="00B050"/>
              </a:solidFill>
            </a:endParaRPr>
          </a:p>
          <a:p>
            <a:r>
              <a:rPr lang="en-US" dirty="0">
                <a:solidFill>
                  <a:srgbClr val="00B050"/>
                </a:solidFill>
              </a:rPr>
              <a:t>Offset (d) of logical address must be </a:t>
            </a:r>
            <a:r>
              <a:rPr lang="en-US" dirty="0">
                <a:solidFill>
                  <a:srgbClr val="B84742"/>
                </a:solidFill>
              </a:rPr>
              <a:t>between 0 and segment limit</a:t>
            </a:r>
            <a:r>
              <a:rPr lang="en-US" dirty="0">
                <a:solidFill>
                  <a:srgbClr val="FF0000"/>
                </a:solidFill>
              </a:rPr>
              <a:t> </a:t>
            </a:r>
            <a:r>
              <a:rPr lang="en-US" dirty="0">
                <a:solidFill>
                  <a:srgbClr val="00B050"/>
                </a:solidFill>
              </a:rPr>
              <a:t>(length of segment).</a:t>
            </a:r>
          </a:p>
        </p:txBody>
      </p:sp>
      <p:sp>
        <p:nvSpPr>
          <p:cNvPr id="52" name="TextBox 51"/>
          <p:cNvSpPr txBox="1"/>
          <p:nvPr/>
        </p:nvSpPr>
        <p:spPr>
          <a:xfrm>
            <a:off x="7979898" y="992452"/>
            <a:ext cx="1554914" cy="1601466"/>
          </a:xfrm>
          <a:prstGeom prst="rect">
            <a:avLst/>
          </a:prstGeom>
          <a:noFill/>
          <a:ln w="19050">
            <a:solidFill>
              <a:srgbClr val="FF0000"/>
            </a:solidFill>
          </a:ln>
        </p:spPr>
        <p:txBody>
          <a:bodyPr wrap="square" rtlCol="0">
            <a:spAutoFit/>
          </a:bodyPr>
          <a:lstStyle/>
          <a:p>
            <a:endParaRPr lang="en-US" dirty="0">
              <a:solidFill>
                <a:srgbClr val="212121"/>
              </a:solidFill>
            </a:endParaRPr>
          </a:p>
        </p:txBody>
      </p:sp>
      <p:sp>
        <p:nvSpPr>
          <p:cNvPr id="53" name="TextBox 52"/>
          <p:cNvSpPr txBox="1"/>
          <p:nvPr/>
        </p:nvSpPr>
        <p:spPr>
          <a:xfrm>
            <a:off x="138626" y="4254397"/>
            <a:ext cx="3090719" cy="1200329"/>
          </a:xfrm>
          <a:prstGeom prst="rect">
            <a:avLst/>
          </a:prstGeom>
          <a:noFill/>
        </p:spPr>
        <p:txBody>
          <a:bodyPr wrap="square" rtlCol="0">
            <a:spAutoFit/>
          </a:bodyPr>
          <a:lstStyle/>
          <a:p>
            <a:r>
              <a:rPr lang="en-US" dirty="0">
                <a:solidFill>
                  <a:srgbClr val="00B050"/>
                </a:solidFill>
              </a:rPr>
              <a:t>If offset is less then segment limit then, </a:t>
            </a:r>
          </a:p>
          <a:p>
            <a:r>
              <a:rPr lang="en-US" dirty="0">
                <a:solidFill>
                  <a:srgbClr val="00B050"/>
                </a:solidFill>
              </a:rPr>
              <a:t>It is added with segment Base </a:t>
            </a:r>
          </a:p>
          <a:p>
            <a:r>
              <a:rPr lang="en-US" dirty="0">
                <a:solidFill>
                  <a:srgbClr val="00B050"/>
                </a:solidFill>
              </a:rPr>
              <a:t>And it produce </a:t>
            </a:r>
            <a:r>
              <a:rPr lang="en-US" dirty="0">
                <a:solidFill>
                  <a:srgbClr val="B84742"/>
                </a:solidFill>
              </a:rPr>
              <a:t>physical address</a:t>
            </a:r>
          </a:p>
        </p:txBody>
      </p:sp>
      <p:sp>
        <p:nvSpPr>
          <p:cNvPr id="54" name="TextBox 53"/>
          <p:cNvSpPr txBox="1"/>
          <p:nvPr/>
        </p:nvSpPr>
        <p:spPr>
          <a:xfrm>
            <a:off x="7476445" y="3875309"/>
            <a:ext cx="434240" cy="450978"/>
          </a:xfrm>
          <a:prstGeom prst="rect">
            <a:avLst/>
          </a:prstGeom>
          <a:noFill/>
          <a:ln w="19050">
            <a:solidFill>
              <a:srgbClr val="FF0000"/>
            </a:solidFill>
          </a:ln>
        </p:spPr>
        <p:txBody>
          <a:bodyPr wrap="square" rtlCol="0">
            <a:spAutoFit/>
          </a:bodyPr>
          <a:lstStyle/>
          <a:p>
            <a:endParaRPr lang="en-US" dirty="0">
              <a:solidFill>
                <a:srgbClr val="212121"/>
              </a:solidFill>
            </a:endParaRPr>
          </a:p>
        </p:txBody>
      </p:sp>
      <p:sp>
        <p:nvSpPr>
          <p:cNvPr id="55" name="TextBox 54"/>
          <p:cNvSpPr txBox="1"/>
          <p:nvPr/>
        </p:nvSpPr>
        <p:spPr>
          <a:xfrm>
            <a:off x="8211133" y="3698414"/>
            <a:ext cx="603945" cy="450978"/>
          </a:xfrm>
          <a:prstGeom prst="rect">
            <a:avLst/>
          </a:prstGeom>
          <a:noFill/>
          <a:ln w="19050">
            <a:solidFill>
              <a:srgbClr val="FF0000"/>
            </a:solidFill>
          </a:ln>
        </p:spPr>
        <p:txBody>
          <a:bodyPr wrap="square" rtlCol="0">
            <a:spAutoFit/>
          </a:bodyPr>
          <a:lstStyle/>
          <a:p>
            <a:endParaRPr lang="en-US" dirty="0">
              <a:solidFill>
                <a:srgbClr val="212121"/>
              </a:solidFill>
            </a:endParaRPr>
          </a:p>
        </p:txBody>
      </p:sp>
      <p:sp>
        <p:nvSpPr>
          <p:cNvPr id="56" name="TextBox 55"/>
          <p:cNvSpPr txBox="1"/>
          <p:nvPr/>
        </p:nvSpPr>
        <p:spPr>
          <a:xfrm>
            <a:off x="9637510" y="3878060"/>
            <a:ext cx="603945" cy="450978"/>
          </a:xfrm>
          <a:prstGeom prst="rect">
            <a:avLst/>
          </a:prstGeom>
          <a:noFill/>
          <a:ln w="19050">
            <a:solidFill>
              <a:srgbClr val="FF0000"/>
            </a:solidFill>
          </a:ln>
        </p:spPr>
        <p:txBody>
          <a:bodyPr wrap="square" rtlCol="0">
            <a:spAutoFit/>
          </a:bodyPr>
          <a:lstStyle/>
          <a:p>
            <a:endParaRPr lang="en-US" dirty="0">
              <a:solidFill>
                <a:srgbClr val="212121"/>
              </a:solidFill>
            </a:endParaRPr>
          </a:p>
        </p:txBody>
      </p:sp>
      <p:sp>
        <p:nvSpPr>
          <p:cNvPr id="57" name="TextBox 56"/>
          <p:cNvSpPr txBox="1"/>
          <p:nvPr/>
        </p:nvSpPr>
        <p:spPr>
          <a:xfrm>
            <a:off x="10832870" y="3501501"/>
            <a:ext cx="1209651" cy="1199088"/>
          </a:xfrm>
          <a:prstGeom prst="rect">
            <a:avLst/>
          </a:prstGeom>
          <a:noFill/>
          <a:ln w="19050">
            <a:solidFill>
              <a:srgbClr val="FF0000"/>
            </a:solidFill>
          </a:ln>
        </p:spPr>
        <p:txBody>
          <a:bodyPr wrap="square" rtlCol="0">
            <a:spAutoFit/>
          </a:bodyPr>
          <a:lstStyle/>
          <a:p>
            <a:endParaRPr lang="en-US" dirty="0">
              <a:solidFill>
                <a:srgbClr val="212121"/>
              </a:solidFill>
            </a:endParaRPr>
          </a:p>
        </p:txBody>
      </p:sp>
      <p:sp>
        <p:nvSpPr>
          <p:cNvPr id="58" name="TextBox 57"/>
          <p:cNvSpPr txBox="1"/>
          <p:nvPr/>
        </p:nvSpPr>
        <p:spPr>
          <a:xfrm>
            <a:off x="138625" y="5618999"/>
            <a:ext cx="3090719" cy="923330"/>
          </a:xfrm>
          <a:prstGeom prst="rect">
            <a:avLst/>
          </a:prstGeom>
          <a:noFill/>
        </p:spPr>
        <p:txBody>
          <a:bodyPr wrap="square" rtlCol="0">
            <a:spAutoFit/>
          </a:bodyPr>
          <a:lstStyle/>
          <a:p>
            <a:r>
              <a:rPr lang="en-US" dirty="0">
                <a:solidFill>
                  <a:srgbClr val="00B050"/>
                </a:solidFill>
              </a:rPr>
              <a:t>If offset is greater to segment limit then, </a:t>
            </a:r>
          </a:p>
          <a:p>
            <a:r>
              <a:rPr lang="en-US" dirty="0">
                <a:solidFill>
                  <a:srgbClr val="00B050"/>
                </a:solidFill>
              </a:rPr>
              <a:t>It is generate </a:t>
            </a:r>
            <a:r>
              <a:rPr lang="en-US" dirty="0">
                <a:solidFill>
                  <a:srgbClr val="B84742"/>
                </a:solidFill>
              </a:rPr>
              <a:t>addressing Error.</a:t>
            </a:r>
          </a:p>
        </p:txBody>
      </p:sp>
      <p:sp>
        <p:nvSpPr>
          <p:cNvPr id="59" name="TextBox 58"/>
          <p:cNvSpPr txBox="1"/>
          <p:nvPr/>
        </p:nvSpPr>
        <p:spPr>
          <a:xfrm>
            <a:off x="7769205" y="4450980"/>
            <a:ext cx="378726" cy="450978"/>
          </a:xfrm>
          <a:prstGeom prst="rect">
            <a:avLst/>
          </a:prstGeom>
          <a:noFill/>
          <a:ln w="19050">
            <a:solidFill>
              <a:srgbClr val="FF0000"/>
            </a:solidFill>
          </a:ln>
        </p:spPr>
        <p:txBody>
          <a:bodyPr wrap="square" rtlCol="0">
            <a:spAutoFit/>
          </a:bodyPr>
          <a:lstStyle/>
          <a:p>
            <a:endParaRPr lang="en-US" dirty="0">
              <a:solidFill>
                <a:srgbClr val="212121"/>
              </a:solidFill>
            </a:endParaRPr>
          </a:p>
        </p:txBody>
      </p:sp>
      <p:sp>
        <p:nvSpPr>
          <p:cNvPr id="60" name="TextBox 59"/>
          <p:cNvSpPr txBox="1"/>
          <p:nvPr/>
        </p:nvSpPr>
        <p:spPr>
          <a:xfrm>
            <a:off x="6847818" y="5830197"/>
            <a:ext cx="1709122" cy="550202"/>
          </a:xfrm>
          <a:prstGeom prst="rect">
            <a:avLst/>
          </a:prstGeom>
          <a:noFill/>
          <a:ln w="19050">
            <a:solidFill>
              <a:srgbClr val="FF0000"/>
            </a:solidFill>
          </a:ln>
        </p:spPr>
        <p:txBody>
          <a:bodyPr wrap="square" rtlCol="0">
            <a:spAutoFit/>
          </a:bodyPr>
          <a:lstStyle/>
          <a:p>
            <a:endParaRPr lang="en-US" dirty="0">
              <a:solidFill>
                <a:srgbClr val="212121"/>
              </a:solidFill>
            </a:endParaRPr>
          </a:p>
        </p:txBody>
      </p:sp>
      <p:sp>
        <p:nvSpPr>
          <p:cNvPr id="63" name="TextBox 62"/>
          <p:cNvSpPr txBox="1"/>
          <p:nvPr/>
        </p:nvSpPr>
        <p:spPr>
          <a:xfrm>
            <a:off x="7708222" y="3349827"/>
            <a:ext cx="907621" cy="369332"/>
          </a:xfrm>
          <a:prstGeom prst="rect">
            <a:avLst/>
          </a:prstGeom>
          <a:noFill/>
        </p:spPr>
        <p:txBody>
          <a:bodyPr wrap="none" rtlCol="0">
            <a:spAutoFit/>
          </a:bodyPr>
          <a:lstStyle/>
          <a:p>
            <a:r>
              <a:rPr lang="en-US" dirty="0">
                <a:solidFill>
                  <a:srgbClr val="212121"/>
                </a:solidFill>
              </a:rPr>
              <a:t>d &lt; limit</a:t>
            </a:r>
          </a:p>
        </p:txBody>
      </p:sp>
      <p:sp>
        <p:nvSpPr>
          <p:cNvPr id="64" name="TextBox 63"/>
          <p:cNvSpPr txBox="1"/>
          <p:nvPr/>
        </p:nvSpPr>
        <p:spPr>
          <a:xfrm>
            <a:off x="9926028" y="3172090"/>
            <a:ext cx="957313" cy="369332"/>
          </a:xfrm>
          <a:prstGeom prst="rect">
            <a:avLst/>
          </a:prstGeom>
          <a:noFill/>
        </p:spPr>
        <p:txBody>
          <a:bodyPr wrap="none" rtlCol="0">
            <a:spAutoFit/>
          </a:bodyPr>
          <a:lstStyle/>
          <a:p>
            <a:r>
              <a:rPr lang="en-US" dirty="0">
                <a:solidFill>
                  <a:srgbClr val="212121"/>
                </a:solidFill>
              </a:rPr>
              <a:t>d + base</a:t>
            </a:r>
          </a:p>
        </p:txBody>
      </p:sp>
      <p:sp>
        <p:nvSpPr>
          <p:cNvPr id="61" name="TextBox 60"/>
          <p:cNvSpPr txBox="1"/>
          <p:nvPr/>
        </p:nvSpPr>
        <p:spPr>
          <a:xfrm>
            <a:off x="5513904" y="3068770"/>
            <a:ext cx="502787" cy="369332"/>
          </a:xfrm>
          <a:prstGeom prst="rect">
            <a:avLst/>
          </a:prstGeom>
          <a:noFill/>
          <a:ln w="19050">
            <a:solidFill>
              <a:srgbClr val="FF0000"/>
            </a:solidFill>
          </a:ln>
        </p:spPr>
        <p:txBody>
          <a:bodyPr wrap="square" rtlCol="0">
            <a:spAutoFit/>
          </a:bodyPr>
          <a:lstStyle/>
          <a:p>
            <a:r>
              <a:rPr lang="en-US" dirty="0">
                <a:solidFill>
                  <a:srgbClr val="212121"/>
                </a:solidFill>
              </a:rPr>
              <a:t>  2</a:t>
            </a:r>
          </a:p>
        </p:txBody>
      </p:sp>
      <p:sp>
        <p:nvSpPr>
          <p:cNvPr id="62" name="TextBox 61"/>
          <p:cNvSpPr txBox="1"/>
          <p:nvPr/>
        </p:nvSpPr>
        <p:spPr>
          <a:xfrm>
            <a:off x="6534121" y="3078769"/>
            <a:ext cx="873201" cy="369332"/>
          </a:xfrm>
          <a:prstGeom prst="rect">
            <a:avLst/>
          </a:prstGeom>
          <a:noFill/>
          <a:ln w="19050">
            <a:solidFill>
              <a:srgbClr val="FF0000"/>
            </a:solidFill>
          </a:ln>
        </p:spPr>
        <p:txBody>
          <a:bodyPr wrap="square" rtlCol="0">
            <a:spAutoFit/>
          </a:bodyPr>
          <a:lstStyle/>
          <a:p>
            <a:r>
              <a:rPr lang="en-US" dirty="0">
                <a:solidFill>
                  <a:srgbClr val="212121"/>
                </a:solidFill>
              </a:rPr>
              <a:t>  200</a:t>
            </a:r>
          </a:p>
        </p:txBody>
      </p:sp>
      <p:sp>
        <p:nvSpPr>
          <p:cNvPr id="65" name="TextBox 64"/>
          <p:cNvSpPr txBox="1"/>
          <p:nvPr/>
        </p:nvSpPr>
        <p:spPr>
          <a:xfrm>
            <a:off x="7699389" y="3059562"/>
            <a:ext cx="1466389" cy="369332"/>
          </a:xfrm>
          <a:prstGeom prst="rect">
            <a:avLst/>
          </a:prstGeom>
          <a:noFill/>
          <a:ln w="19050">
            <a:solidFill>
              <a:srgbClr val="FF0000"/>
            </a:solidFill>
          </a:ln>
        </p:spPr>
        <p:txBody>
          <a:bodyPr wrap="square" rtlCol="0">
            <a:spAutoFit/>
          </a:bodyPr>
          <a:lstStyle/>
          <a:p>
            <a:r>
              <a:rPr lang="en-US" dirty="0">
                <a:solidFill>
                  <a:srgbClr val="212121"/>
                </a:solidFill>
              </a:rPr>
              <a:t>200 &lt; 300</a:t>
            </a:r>
          </a:p>
        </p:txBody>
      </p:sp>
      <p:sp>
        <p:nvSpPr>
          <p:cNvPr id="66" name="TextBox 65"/>
          <p:cNvSpPr txBox="1"/>
          <p:nvPr/>
        </p:nvSpPr>
        <p:spPr>
          <a:xfrm>
            <a:off x="9960235" y="2730027"/>
            <a:ext cx="1466389" cy="369332"/>
          </a:xfrm>
          <a:prstGeom prst="rect">
            <a:avLst/>
          </a:prstGeom>
          <a:noFill/>
          <a:ln w="19050">
            <a:solidFill>
              <a:srgbClr val="FF0000"/>
            </a:solidFill>
          </a:ln>
        </p:spPr>
        <p:txBody>
          <a:bodyPr wrap="square" rtlCol="0">
            <a:spAutoFit/>
          </a:bodyPr>
          <a:lstStyle/>
          <a:p>
            <a:r>
              <a:rPr lang="en-US" dirty="0">
                <a:solidFill>
                  <a:srgbClr val="212121"/>
                </a:solidFill>
              </a:rPr>
              <a:t>200+3000</a:t>
            </a:r>
          </a:p>
        </p:txBody>
      </p:sp>
    </p:spTree>
    <p:extLst>
      <p:ext uri="{BB962C8B-B14F-4D97-AF65-F5344CB8AC3E}">
        <p14:creationId xmlns:p14="http://schemas.microsoft.com/office/powerpoint/2010/main" val="1131634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7"/>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2"/>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4"/>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49"/>
                                        </p:tgtEl>
                                        <p:attrNameLst>
                                          <p:attrName>style.visibility</p:attrName>
                                        </p:attrNameLst>
                                      </p:cBhvr>
                                      <p:to>
                                        <p:strVal val="visible"/>
                                      </p:to>
                                    </p:set>
                                  </p:childTnLst>
                                </p:cTn>
                              </p:par>
                              <p:par>
                                <p:cTn id="73" presetID="26" presetClass="emph" presetSubtype="0" repeatCount="indefinite" fill="hold" grpId="1" nodeType="withEffect">
                                  <p:stCondLst>
                                    <p:cond delay="0"/>
                                  </p:stCondLst>
                                  <p:endCondLst>
                                    <p:cond evt="onNext" delay="0">
                                      <p:tgtEl>
                                        <p:sldTgt/>
                                      </p:tgtEl>
                                    </p:cond>
                                  </p:endCondLst>
                                  <p:childTnLst>
                                    <p:animEffect transition="out" filter="fade">
                                      <p:cBhvr>
                                        <p:cTn id="74" dur="500" tmFilter="0, 0; .2, .5; .8, .5; 1, 0"/>
                                        <p:tgtEl>
                                          <p:spTgt spid="49"/>
                                        </p:tgtEl>
                                      </p:cBhvr>
                                    </p:animEffect>
                                    <p:animScale>
                                      <p:cBhvr>
                                        <p:cTn id="75" dur="250" autoRev="1" fill="hold"/>
                                        <p:tgtEl>
                                          <p:spTgt spid="49"/>
                                        </p:tgtEl>
                                      </p:cBhvr>
                                      <p:by x="105000" y="105000"/>
                                    </p:animScale>
                                  </p:childTnLst>
                                </p:cTn>
                              </p:par>
                              <p:par>
                                <p:cTn id="76" presetID="1" presetClass="entr" presetSubtype="0" fill="hold" grpId="0" nodeType="withEffect">
                                  <p:stCondLst>
                                    <p:cond delay="0"/>
                                  </p:stCondLst>
                                  <p:childTnLst>
                                    <p:set>
                                      <p:cBhvr>
                                        <p:cTn id="77" dur="1" fill="hold">
                                          <p:stCondLst>
                                            <p:cond delay="0"/>
                                          </p:stCondLst>
                                        </p:cTn>
                                        <p:tgtEl>
                                          <p:spTgt spid="47"/>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xit" presetSubtype="0" fill="hold" grpId="2" nodeType="clickEffect">
                                  <p:stCondLst>
                                    <p:cond delay="0"/>
                                  </p:stCondLst>
                                  <p:childTnLst>
                                    <p:set>
                                      <p:cBhvr>
                                        <p:cTn id="81" dur="1" fill="hold">
                                          <p:stCondLst>
                                            <p:cond delay="0"/>
                                          </p:stCondLst>
                                        </p:cTn>
                                        <p:tgtEl>
                                          <p:spTgt spid="49"/>
                                        </p:tgtEl>
                                        <p:attrNameLst>
                                          <p:attrName>style.visibility</p:attrName>
                                        </p:attrNameLst>
                                      </p:cBhvr>
                                      <p:to>
                                        <p:strVal val="hidden"/>
                                      </p:to>
                                    </p:set>
                                  </p:childTnLst>
                                </p:cTn>
                              </p:par>
                              <p:par>
                                <p:cTn id="82" presetID="1" presetClass="entr" presetSubtype="0" fill="hold" grpId="0" nodeType="withEffect">
                                  <p:stCondLst>
                                    <p:cond delay="0"/>
                                  </p:stCondLst>
                                  <p:childTnLst>
                                    <p:set>
                                      <p:cBhvr>
                                        <p:cTn id="83" dur="1" fill="hold">
                                          <p:stCondLst>
                                            <p:cond delay="0"/>
                                          </p:stCondLst>
                                        </p:cTn>
                                        <p:tgtEl>
                                          <p:spTgt spid="48"/>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0"/>
                                          </p:stCondLst>
                                        </p:cTn>
                                        <p:tgtEl>
                                          <p:spTgt spid="50"/>
                                        </p:tgtEl>
                                        <p:attrNameLst>
                                          <p:attrName>style.visibility</p:attrName>
                                        </p:attrNameLst>
                                      </p:cBhvr>
                                      <p:to>
                                        <p:strVal val="visible"/>
                                      </p:to>
                                    </p:set>
                                  </p:childTnLst>
                                </p:cTn>
                              </p:par>
                              <p:par>
                                <p:cTn id="86" presetID="26" presetClass="emph" presetSubtype="0" repeatCount="indefinite" fill="hold" grpId="1" nodeType="withEffect">
                                  <p:stCondLst>
                                    <p:cond delay="0"/>
                                  </p:stCondLst>
                                  <p:endCondLst>
                                    <p:cond evt="onNext" delay="0">
                                      <p:tgtEl>
                                        <p:sldTgt/>
                                      </p:tgtEl>
                                    </p:cond>
                                  </p:endCondLst>
                                  <p:childTnLst>
                                    <p:animEffect transition="out" filter="fade">
                                      <p:cBhvr>
                                        <p:cTn id="87" dur="500" tmFilter="0, 0; .2, .5; .8, .5; 1, 0"/>
                                        <p:tgtEl>
                                          <p:spTgt spid="50"/>
                                        </p:tgtEl>
                                      </p:cBhvr>
                                    </p:animEffect>
                                    <p:animScale>
                                      <p:cBhvr>
                                        <p:cTn id="88" dur="250" autoRev="1" fill="hold"/>
                                        <p:tgtEl>
                                          <p:spTgt spid="50"/>
                                        </p:tgtEl>
                                      </p:cBhvr>
                                      <p:by x="105000" y="105000"/>
                                    </p:animScale>
                                  </p:childTnLst>
                                </p:cTn>
                              </p:par>
                            </p:childTnLst>
                          </p:cTn>
                        </p:par>
                      </p:childTnLst>
                    </p:cTn>
                  </p:par>
                  <p:par>
                    <p:cTn id="89" fill="hold">
                      <p:stCondLst>
                        <p:cond delay="indefinite"/>
                      </p:stCondLst>
                      <p:childTnLst>
                        <p:par>
                          <p:cTn id="90" fill="hold">
                            <p:stCondLst>
                              <p:cond delay="0"/>
                            </p:stCondLst>
                            <p:childTnLst>
                              <p:par>
                                <p:cTn id="91" presetID="1" presetClass="exit" presetSubtype="0" fill="hold" grpId="2" nodeType="clickEffect">
                                  <p:stCondLst>
                                    <p:cond delay="0"/>
                                  </p:stCondLst>
                                  <p:childTnLst>
                                    <p:set>
                                      <p:cBhvr>
                                        <p:cTn id="92" dur="1" fill="hold">
                                          <p:stCondLst>
                                            <p:cond delay="0"/>
                                          </p:stCondLst>
                                        </p:cTn>
                                        <p:tgtEl>
                                          <p:spTgt spid="50"/>
                                        </p:tgtEl>
                                        <p:attrNameLst>
                                          <p:attrName>style.visibility</p:attrName>
                                        </p:attrNameLst>
                                      </p:cBhvr>
                                      <p:to>
                                        <p:strVal val="hidden"/>
                                      </p:to>
                                    </p:set>
                                  </p:childTnLst>
                                </p:cTn>
                              </p:par>
                              <p:par>
                                <p:cTn id="93" presetID="1" presetClass="entr" presetSubtype="0" fill="hold" nodeType="withEffect">
                                  <p:stCondLst>
                                    <p:cond delay="0"/>
                                  </p:stCondLst>
                                  <p:childTnLst>
                                    <p:set>
                                      <p:cBhvr>
                                        <p:cTn id="94" dur="1" fill="hold">
                                          <p:stCondLst>
                                            <p:cond delay="0"/>
                                          </p:stCondLst>
                                        </p:cTn>
                                        <p:tgtEl>
                                          <p:spTgt spid="51">
                                            <p:txEl>
                                              <p:pRg st="0" end="0"/>
                                            </p:txEl>
                                          </p:spTgt>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52"/>
                                        </p:tgtEl>
                                        <p:attrNameLst>
                                          <p:attrName>style.visibility</p:attrName>
                                        </p:attrNameLst>
                                      </p:cBhvr>
                                      <p:to>
                                        <p:strVal val="visible"/>
                                      </p:to>
                                    </p:set>
                                  </p:childTnLst>
                                </p:cTn>
                              </p:par>
                              <p:par>
                                <p:cTn id="97" presetID="26" presetClass="emph" presetSubtype="0" repeatCount="indefinite" fill="hold" grpId="1" nodeType="withEffect">
                                  <p:stCondLst>
                                    <p:cond delay="0"/>
                                  </p:stCondLst>
                                  <p:endCondLst>
                                    <p:cond evt="onNext" delay="0">
                                      <p:tgtEl>
                                        <p:sldTgt/>
                                      </p:tgtEl>
                                    </p:cond>
                                  </p:endCondLst>
                                  <p:childTnLst>
                                    <p:animEffect transition="out" filter="fade">
                                      <p:cBhvr>
                                        <p:cTn id="98" dur="500" tmFilter="0, 0; .2, .5; .8, .5; 1, 0"/>
                                        <p:tgtEl>
                                          <p:spTgt spid="52"/>
                                        </p:tgtEl>
                                      </p:cBhvr>
                                    </p:animEffect>
                                    <p:animScale>
                                      <p:cBhvr>
                                        <p:cTn id="99" dur="250" autoRev="1" fill="hold"/>
                                        <p:tgtEl>
                                          <p:spTgt spid="52"/>
                                        </p:tgtEl>
                                      </p:cBhvr>
                                      <p:by x="105000" y="105000"/>
                                    </p:animScale>
                                  </p:childTnLst>
                                </p:cTn>
                              </p:par>
                            </p:childTnLst>
                          </p:cTn>
                        </p:par>
                      </p:childTnLst>
                    </p:cTn>
                  </p:par>
                  <p:par>
                    <p:cTn id="100" fill="hold">
                      <p:stCondLst>
                        <p:cond delay="indefinite"/>
                      </p:stCondLst>
                      <p:childTnLst>
                        <p:par>
                          <p:cTn id="101" fill="hold">
                            <p:stCondLst>
                              <p:cond delay="0"/>
                            </p:stCondLst>
                            <p:childTnLst>
                              <p:par>
                                <p:cTn id="102" presetID="1" presetClass="exit" presetSubtype="0" fill="hold" grpId="2" nodeType="clickEffect">
                                  <p:stCondLst>
                                    <p:cond delay="0"/>
                                  </p:stCondLst>
                                  <p:childTnLst>
                                    <p:set>
                                      <p:cBhvr>
                                        <p:cTn id="103" dur="1" fill="hold">
                                          <p:stCondLst>
                                            <p:cond delay="0"/>
                                          </p:stCondLst>
                                        </p:cTn>
                                        <p:tgtEl>
                                          <p:spTgt spid="52"/>
                                        </p:tgtEl>
                                        <p:attrNameLst>
                                          <p:attrName>style.visibility</p:attrName>
                                        </p:attrNameLst>
                                      </p:cBhvr>
                                      <p:to>
                                        <p:strVal val="hidden"/>
                                      </p:to>
                                    </p:set>
                                  </p:childTnLst>
                                </p:cTn>
                              </p:par>
                              <p:par>
                                <p:cTn id="104" presetID="1" presetClass="entr" presetSubtype="0" fill="hold" nodeType="withEffect">
                                  <p:stCondLst>
                                    <p:cond delay="0"/>
                                  </p:stCondLst>
                                  <p:childTnLst>
                                    <p:set>
                                      <p:cBhvr>
                                        <p:cTn id="105" dur="1" fill="hold">
                                          <p:stCondLst>
                                            <p:cond delay="0"/>
                                          </p:stCondLst>
                                        </p:cTn>
                                        <p:tgtEl>
                                          <p:spTgt spid="51">
                                            <p:txEl>
                                              <p:pRg st="2" end="2"/>
                                            </p:txEl>
                                          </p:spTgt>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 presetClass="entr" presetSubtype="0" fill="hold" nodeType="clickEffect">
                                  <p:stCondLst>
                                    <p:cond delay="0"/>
                                  </p:stCondLst>
                                  <p:childTnLst>
                                    <p:set>
                                      <p:cBhvr>
                                        <p:cTn id="109" dur="1" fill="hold">
                                          <p:stCondLst>
                                            <p:cond delay="0"/>
                                          </p:stCondLst>
                                        </p:cTn>
                                        <p:tgtEl>
                                          <p:spTgt spid="53">
                                            <p:txEl>
                                              <p:pRg st="0" end="0"/>
                                            </p:txEl>
                                          </p:spTgt>
                                        </p:tgtEl>
                                        <p:attrNameLst>
                                          <p:attrName>style.visibility</p:attrName>
                                        </p:attrNameLst>
                                      </p:cBhvr>
                                      <p:to>
                                        <p:strVal val="visible"/>
                                      </p:to>
                                    </p:set>
                                  </p:childTnLst>
                                </p:cTn>
                              </p:par>
                              <p:par>
                                <p:cTn id="110" presetID="1" presetClass="entr" presetSubtype="0" fill="hold" grpId="0" nodeType="withEffect">
                                  <p:stCondLst>
                                    <p:cond delay="0"/>
                                  </p:stCondLst>
                                  <p:childTnLst>
                                    <p:set>
                                      <p:cBhvr>
                                        <p:cTn id="111" dur="1" fill="hold">
                                          <p:stCondLst>
                                            <p:cond delay="0"/>
                                          </p:stCondLst>
                                        </p:cTn>
                                        <p:tgtEl>
                                          <p:spTgt spid="54"/>
                                        </p:tgtEl>
                                        <p:attrNameLst>
                                          <p:attrName>style.visibility</p:attrName>
                                        </p:attrNameLst>
                                      </p:cBhvr>
                                      <p:to>
                                        <p:strVal val="visible"/>
                                      </p:to>
                                    </p:set>
                                  </p:childTnLst>
                                </p:cTn>
                              </p:par>
                              <p:par>
                                <p:cTn id="112" presetID="26" presetClass="emph" presetSubtype="0" repeatCount="indefinite" fill="hold" grpId="1" nodeType="withEffect">
                                  <p:stCondLst>
                                    <p:cond delay="0"/>
                                  </p:stCondLst>
                                  <p:endCondLst>
                                    <p:cond evt="onNext" delay="0">
                                      <p:tgtEl>
                                        <p:sldTgt/>
                                      </p:tgtEl>
                                    </p:cond>
                                  </p:endCondLst>
                                  <p:childTnLst>
                                    <p:animEffect transition="out" filter="fade">
                                      <p:cBhvr>
                                        <p:cTn id="113" dur="500" tmFilter="0, 0; .2, .5; .8, .5; 1, 0"/>
                                        <p:tgtEl>
                                          <p:spTgt spid="54"/>
                                        </p:tgtEl>
                                      </p:cBhvr>
                                    </p:animEffect>
                                    <p:animScale>
                                      <p:cBhvr>
                                        <p:cTn id="114" dur="250" autoRev="1" fill="hold"/>
                                        <p:tgtEl>
                                          <p:spTgt spid="54"/>
                                        </p:tgtEl>
                                      </p:cBhvr>
                                      <p:by x="105000" y="105000"/>
                                    </p:animScale>
                                  </p:childTnLst>
                                </p:cTn>
                              </p:par>
                              <p:par>
                                <p:cTn id="115" presetID="1" presetClass="entr" presetSubtype="0" fill="hold" grpId="0" nodeType="withEffect">
                                  <p:stCondLst>
                                    <p:cond delay="0"/>
                                  </p:stCondLst>
                                  <p:childTnLst>
                                    <p:set>
                                      <p:cBhvr>
                                        <p:cTn id="116" dur="1" fill="hold">
                                          <p:stCondLst>
                                            <p:cond delay="0"/>
                                          </p:stCondLst>
                                        </p:cTn>
                                        <p:tgtEl>
                                          <p:spTgt spid="55"/>
                                        </p:tgtEl>
                                        <p:attrNameLst>
                                          <p:attrName>style.visibility</p:attrName>
                                        </p:attrNameLst>
                                      </p:cBhvr>
                                      <p:to>
                                        <p:strVal val="visible"/>
                                      </p:to>
                                    </p:set>
                                  </p:childTnLst>
                                </p:cTn>
                              </p:par>
                              <p:par>
                                <p:cTn id="117" presetID="26" presetClass="emph" presetSubtype="0" repeatCount="indefinite" fill="hold" grpId="1" nodeType="withEffect">
                                  <p:stCondLst>
                                    <p:cond delay="0"/>
                                  </p:stCondLst>
                                  <p:endCondLst>
                                    <p:cond evt="onNext" delay="0">
                                      <p:tgtEl>
                                        <p:sldTgt/>
                                      </p:tgtEl>
                                    </p:cond>
                                  </p:endCondLst>
                                  <p:childTnLst>
                                    <p:animEffect transition="out" filter="fade">
                                      <p:cBhvr>
                                        <p:cTn id="118" dur="500" tmFilter="0, 0; .2, .5; .8, .5; 1, 0"/>
                                        <p:tgtEl>
                                          <p:spTgt spid="55"/>
                                        </p:tgtEl>
                                      </p:cBhvr>
                                    </p:animEffect>
                                    <p:animScale>
                                      <p:cBhvr>
                                        <p:cTn id="119" dur="250" autoRev="1" fill="hold"/>
                                        <p:tgtEl>
                                          <p:spTgt spid="55"/>
                                        </p:tgtEl>
                                      </p:cBhvr>
                                      <p:by x="105000" y="105000"/>
                                    </p:animScale>
                                  </p:childTnLst>
                                </p:cTn>
                              </p:par>
                            </p:childTnLst>
                          </p:cTn>
                        </p:par>
                      </p:childTnLst>
                    </p:cTn>
                  </p:par>
                  <p:par>
                    <p:cTn id="120" fill="hold">
                      <p:stCondLst>
                        <p:cond delay="indefinite"/>
                      </p:stCondLst>
                      <p:childTnLst>
                        <p:par>
                          <p:cTn id="121" fill="hold">
                            <p:stCondLst>
                              <p:cond delay="0"/>
                            </p:stCondLst>
                            <p:childTnLst>
                              <p:par>
                                <p:cTn id="122" presetID="1" presetClass="exit" presetSubtype="0" fill="hold" grpId="2" nodeType="clickEffect">
                                  <p:stCondLst>
                                    <p:cond delay="0"/>
                                  </p:stCondLst>
                                  <p:childTnLst>
                                    <p:set>
                                      <p:cBhvr>
                                        <p:cTn id="123" dur="1" fill="hold">
                                          <p:stCondLst>
                                            <p:cond delay="0"/>
                                          </p:stCondLst>
                                        </p:cTn>
                                        <p:tgtEl>
                                          <p:spTgt spid="55"/>
                                        </p:tgtEl>
                                        <p:attrNameLst>
                                          <p:attrName>style.visibility</p:attrName>
                                        </p:attrNameLst>
                                      </p:cBhvr>
                                      <p:to>
                                        <p:strVal val="hidden"/>
                                      </p:to>
                                    </p:set>
                                  </p:childTnLst>
                                </p:cTn>
                              </p:par>
                              <p:par>
                                <p:cTn id="124" presetID="1" presetClass="exit" presetSubtype="0" fill="hold" grpId="2" nodeType="withEffect">
                                  <p:stCondLst>
                                    <p:cond delay="0"/>
                                  </p:stCondLst>
                                  <p:childTnLst>
                                    <p:set>
                                      <p:cBhvr>
                                        <p:cTn id="125" dur="1" fill="hold">
                                          <p:stCondLst>
                                            <p:cond delay="0"/>
                                          </p:stCondLst>
                                        </p:cTn>
                                        <p:tgtEl>
                                          <p:spTgt spid="54"/>
                                        </p:tgtEl>
                                        <p:attrNameLst>
                                          <p:attrName>style.visibility</p:attrName>
                                        </p:attrNameLst>
                                      </p:cBhvr>
                                      <p:to>
                                        <p:strVal val="hidden"/>
                                      </p:to>
                                    </p:set>
                                  </p:childTnLst>
                                </p:cTn>
                              </p:par>
                              <p:par>
                                <p:cTn id="126" presetID="1" presetClass="entr" presetSubtype="0" fill="hold" nodeType="withEffect">
                                  <p:stCondLst>
                                    <p:cond delay="0"/>
                                  </p:stCondLst>
                                  <p:childTnLst>
                                    <p:set>
                                      <p:cBhvr>
                                        <p:cTn id="127" dur="1" fill="hold">
                                          <p:stCondLst>
                                            <p:cond delay="0"/>
                                          </p:stCondLst>
                                        </p:cTn>
                                        <p:tgtEl>
                                          <p:spTgt spid="53">
                                            <p:txEl>
                                              <p:pRg st="1" end="1"/>
                                            </p:txEl>
                                          </p:spTgt>
                                        </p:tgtEl>
                                        <p:attrNameLst>
                                          <p:attrName>style.visibility</p:attrName>
                                        </p:attrNameLst>
                                      </p:cBhvr>
                                      <p:to>
                                        <p:strVal val="visible"/>
                                      </p:to>
                                    </p:set>
                                  </p:childTnLst>
                                </p:cTn>
                              </p:par>
                              <p:par>
                                <p:cTn id="128" presetID="1" presetClass="entr" presetSubtype="0" fill="hold" grpId="0" nodeType="withEffect">
                                  <p:stCondLst>
                                    <p:cond delay="0"/>
                                  </p:stCondLst>
                                  <p:childTnLst>
                                    <p:set>
                                      <p:cBhvr>
                                        <p:cTn id="129" dur="1" fill="hold">
                                          <p:stCondLst>
                                            <p:cond delay="0"/>
                                          </p:stCondLst>
                                        </p:cTn>
                                        <p:tgtEl>
                                          <p:spTgt spid="56"/>
                                        </p:tgtEl>
                                        <p:attrNameLst>
                                          <p:attrName>style.visibility</p:attrName>
                                        </p:attrNameLst>
                                      </p:cBhvr>
                                      <p:to>
                                        <p:strVal val="visible"/>
                                      </p:to>
                                    </p:set>
                                  </p:childTnLst>
                                </p:cTn>
                              </p:par>
                              <p:par>
                                <p:cTn id="130" presetID="26" presetClass="emph" presetSubtype="0" repeatCount="indefinite" fill="hold" grpId="1" nodeType="withEffect">
                                  <p:stCondLst>
                                    <p:cond delay="0"/>
                                  </p:stCondLst>
                                  <p:endCondLst>
                                    <p:cond evt="onNext" delay="0">
                                      <p:tgtEl>
                                        <p:sldTgt/>
                                      </p:tgtEl>
                                    </p:cond>
                                  </p:endCondLst>
                                  <p:childTnLst>
                                    <p:animEffect transition="out" filter="fade">
                                      <p:cBhvr>
                                        <p:cTn id="131" dur="500" tmFilter="0, 0; .2, .5; .8, .5; 1, 0"/>
                                        <p:tgtEl>
                                          <p:spTgt spid="56"/>
                                        </p:tgtEl>
                                      </p:cBhvr>
                                    </p:animEffect>
                                    <p:animScale>
                                      <p:cBhvr>
                                        <p:cTn id="132" dur="250" autoRev="1" fill="hold"/>
                                        <p:tgtEl>
                                          <p:spTgt spid="56"/>
                                        </p:tgtEl>
                                      </p:cBhvr>
                                      <p:by x="105000" y="105000"/>
                                    </p:animScale>
                                  </p:childTnLst>
                                </p:cTn>
                              </p:par>
                            </p:childTnLst>
                          </p:cTn>
                        </p:par>
                      </p:childTnLst>
                    </p:cTn>
                  </p:par>
                  <p:par>
                    <p:cTn id="133" fill="hold">
                      <p:stCondLst>
                        <p:cond delay="indefinite"/>
                      </p:stCondLst>
                      <p:childTnLst>
                        <p:par>
                          <p:cTn id="134" fill="hold">
                            <p:stCondLst>
                              <p:cond delay="0"/>
                            </p:stCondLst>
                            <p:childTnLst>
                              <p:par>
                                <p:cTn id="135" presetID="1" presetClass="exit" presetSubtype="0" fill="hold" grpId="2" nodeType="clickEffect">
                                  <p:stCondLst>
                                    <p:cond delay="0"/>
                                  </p:stCondLst>
                                  <p:childTnLst>
                                    <p:set>
                                      <p:cBhvr>
                                        <p:cTn id="136" dur="1" fill="hold">
                                          <p:stCondLst>
                                            <p:cond delay="0"/>
                                          </p:stCondLst>
                                        </p:cTn>
                                        <p:tgtEl>
                                          <p:spTgt spid="56"/>
                                        </p:tgtEl>
                                        <p:attrNameLst>
                                          <p:attrName>style.visibility</p:attrName>
                                        </p:attrNameLst>
                                      </p:cBhvr>
                                      <p:to>
                                        <p:strVal val="hidden"/>
                                      </p:to>
                                    </p:set>
                                  </p:childTnLst>
                                </p:cTn>
                              </p:par>
                              <p:par>
                                <p:cTn id="137" presetID="1" presetClass="entr" presetSubtype="0" fill="hold" nodeType="withEffect">
                                  <p:stCondLst>
                                    <p:cond delay="0"/>
                                  </p:stCondLst>
                                  <p:childTnLst>
                                    <p:set>
                                      <p:cBhvr>
                                        <p:cTn id="138" dur="1" fill="hold">
                                          <p:stCondLst>
                                            <p:cond delay="0"/>
                                          </p:stCondLst>
                                        </p:cTn>
                                        <p:tgtEl>
                                          <p:spTgt spid="53">
                                            <p:txEl>
                                              <p:pRg st="2" end="2"/>
                                            </p:txEl>
                                          </p:spTgt>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57"/>
                                        </p:tgtEl>
                                        <p:attrNameLst>
                                          <p:attrName>style.visibility</p:attrName>
                                        </p:attrNameLst>
                                      </p:cBhvr>
                                      <p:to>
                                        <p:strVal val="visible"/>
                                      </p:to>
                                    </p:set>
                                  </p:childTnLst>
                                </p:cTn>
                              </p:par>
                              <p:par>
                                <p:cTn id="141" presetID="26" presetClass="emph" presetSubtype="0" repeatCount="indefinite" fill="hold" grpId="1" nodeType="withEffect">
                                  <p:stCondLst>
                                    <p:cond delay="0"/>
                                  </p:stCondLst>
                                  <p:endCondLst>
                                    <p:cond evt="onNext" delay="0">
                                      <p:tgtEl>
                                        <p:sldTgt/>
                                      </p:tgtEl>
                                    </p:cond>
                                  </p:endCondLst>
                                  <p:childTnLst>
                                    <p:animEffect transition="out" filter="fade">
                                      <p:cBhvr>
                                        <p:cTn id="142" dur="500" tmFilter="0, 0; .2, .5; .8, .5; 1, 0"/>
                                        <p:tgtEl>
                                          <p:spTgt spid="57"/>
                                        </p:tgtEl>
                                      </p:cBhvr>
                                    </p:animEffect>
                                    <p:animScale>
                                      <p:cBhvr>
                                        <p:cTn id="143" dur="250" autoRev="1" fill="hold"/>
                                        <p:tgtEl>
                                          <p:spTgt spid="57"/>
                                        </p:tgtEl>
                                      </p:cBhvr>
                                      <p:by x="105000" y="105000"/>
                                    </p:animScale>
                                  </p:childTnLst>
                                </p:cTn>
                              </p:par>
                            </p:childTnLst>
                          </p:cTn>
                        </p:par>
                      </p:childTnLst>
                    </p:cTn>
                  </p:par>
                  <p:par>
                    <p:cTn id="144" fill="hold">
                      <p:stCondLst>
                        <p:cond delay="indefinite"/>
                      </p:stCondLst>
                      <p:childTnLst>
                        <p:par>
                          <p:cTn id="145" fill="hold">
                            <p:stCondLst>
                              <p:cond delay="0"/>
                            </p:stCondLst>
                            <p:childTnLst>
                              <p:par>
                                <p:cTn id="146" presetID="1" presetClass="exit" presetSubtype="0" fill="hold" grpId="2" nodeType="clickEffect">
                                  <p:stCondLst>
                                    <p:cond delay="0"/>
                                  </p:stCondLst>
                                  <p:childTnLst>
                                    <p:set>
                                      <p:cBhvr>
                                        <p:cTn id="147" dur="1" fill="hold">
                                          <p:stCondLst>
                                            <p:cond delay="0"/>
                                          </p:stCondLst>
                                        </p:cTn>
                                        <p:tgtEl>
                                          <p:spTgt spid="57"/>
                                        </p:tgtEl>
                                        <p:attrNameLst>
                                          <p:attrName>style.visibility</p:attrName>
                                        </p:attrNameLst>
                                      </p:cBhvr>
                                      <p:to>
                                        <p:strVal val="hidden"/>
                                      </p:to>
                                    </p:set>
                                  </p:childTnLst>
                                </p:cTn>
                              </p:par>
                              <p:par>
                                <p:cTn id="148" presetID="1" presetClass="entr" presetSubtype="0" fill="hold" nodeType="withEffect">
                                  <p:stCondLst>
                                    <p:cond delay="0"/>
                                  </p:stCondLst>
                                  <p:childTnLst>
                                    <p:set>
                                      <p:cBhvr>
                                        <p:cTn id="149" dur="1" fill="hold">
                                          <p:stCondLst>
                                            <p:cond delay="0"/>
                                          </p:stCondLst>
                                        </p:cTn>
                                        <p:tgtEl>
                                          <p:spTgt spid="58">
                                            <p:txEl>
                                              <p:pRg st="0" end="0"/>
                                            </p:txEl>
                                          </p:spTgt>
                                        </p:tgtEl>
                                        <p:attrNameLst>
                                          <p:attrName>style.visibility</p:attrName>
                                        </p:attrNameLst>
                                      </p:cBhvr>
                                      <p:to>
                                        <p:strVal val="visible"/>
                                      </p:to>
                                    </p:set>
                                  </p:childTnLst>
                                </p:cTn>
                              </p:par>
                              <p:par>
                                <p:cTn id="150" presetID="1" presetClass="entr" presetSubtype="0" fill="hold" grpId="3" nodeType="withEffect">
                                  <p:stCondLst>
                                    <p:cond delay="0"/>
                                  </p:stCondLst>
                                  <p:childTnLst>
                                    <p:set>
                                      <p:cBhvr>
                                        <p:cTn id="151" dur="1" fill="hold">
                                          <p:stCondLst>
                                            <p:cond delay="0"/>
                                          </p:stCondLst>
                                        </p:cTn>
                                        <p:tgtEl>
                                          <p:spTgt spid="54"/>
                                        </p:tgtEl>
                                        <p:attrNameLst>
                                          <p:attrName>style.visibility</p:attrName>
                                        </p:attrNameLst>
                                      </p:cBhvr>
                                      <p:to>
                                        <p:strVal val="visible"/>
                                      </p:to>
                                    </p:set>
                                  </p:childTnLst>
                                </p:cTn>
                              </p:par>
                              <p:par>
                                <p:cTn id="152" presetID="26" presetClass="emph" presetSubtype="0" repeatCount="indefinite" fill="hold" grpId="4" nodeType="withEffect">
                                  <p:stCondLst>
                                    <p:cond delay="0"/>
                                  </p:stCondLst>
                                  <p:endCondLst>
                                    <p:cond evt="onNext" delay="0">
                                      <p:tgtEl>
                                        <p:sldTgt/>
                                      </p:tgtEl>
                                    </p:cond>
                                  </p:endCondLst>
                                  <p:childTnLst>
                                    <p:animEffect transition="out" filter="fade">
                                      <p:cBhvr>
                                        <p:cTn id="153" dur="500" tmFilter="0, 0; .2, .5; .8, .5; 1, 0"/>
                                        <p:tgtEl>
                                          <p:spTgt spid="54"/>
                                        </p:tgtEl>
                                      </p:cBhvr>
                                    </p:animEffect>
                                    <p:animScale>
                                      <p:cBhvr>
                                        <p:cTn id="154" dur="250" autoRev="1" fill="hold"/>
                                        <p:tgtEl>
                                          <p:spTgt spid="54"/>
                                        </p:tgtEl>
                                      </p:cBhvr>
                                      <p:by x="105000" y="105000"/>
                                    </p:animScale>
                                  </p:childTnLst>
                                </p:cTn>
                              </p:par>
                              <p:par>
                                <p:cTn id="155" presetID="1" presetClass="entr" presetSubtype="0" fill="hold" grpId="0" nodeType="withEffect">
                                  <p:stCondLst>
                                    <p:cond delay="0"/>
                                  </p:stCondLst>
                                  <p:childTnLst>
                                    <p:set>
                                      <p:cBhvr>
                                        <p:cTn id="156" dur="1" fill="hold">
                                          <p:stCondLst>
                                            <p:cond delay="0"/>
                                          </p:stCondLst>
                                        </p:cTn>
                                        <p:tgtEl>
                                          <p:spTgt spid="59"/>
                                        </p:tgtEl>
                                        <p:attrNameLst>
                                          <p:attrName>style.visibility</p:attrName>
                                        </p:attrNameLst>
                                      </p:cBhvr>
                                      <p:to>
                                        <p:strVal val="visible"/>
                                      </p:to>
                                    </p:set>
                                  </p:childTnLst>
                                </p:cTn>
                              </p:par>
                              <p:par>
                                <p:cTn id="157" presetID="26" presetClass="emph" presetSubtype="0" repeatCount="indefinite" fill="hold" grpId="1" nodeType="withEffect">
                                  <p:stCondLst>
                                    <p:cond delay="0"/>
                                  </p:stCondLst>
                                  <p:endCondLst>
                                    <p:cond evt="onNext" delay="0">
                                      <p:tgtEl>
                                        <p:sldTgt/>
                                      </p:tgtEl>
                                    </p:cond>
                                  </p:endCondLst>
                                  <p:childTnLst>
                                    <p:animEffect transition="out" filter="fade">
                                      <p:cBhvr>
                                        <p:cTn id="158" dur="500" tmFilter="0, 0; .2, .5; .8, .5; 1, 0"/>
                                        <p:tgtEl>
                                          <p:spTgt spid="59"/>
                                        </p:tgtEl>
                                      </p:cBhvr>
                                    </p:animEffect>
                                    <p:animScale>
                                      <p:cBhvr>
                                        <p:cTn id="159" dur="250" autoRev="1" fill="hold"/>
                                        <p:tgtEl>
                                          <p:spTgt spid="59"/>
                                        </p:tgtEl>
                                      </p:cBhvr>
                                      <p:by x="105000" y="105000"/>
                                    </p:animScale>
                                  </p:childTnLst>
                                </p:cTn>
                              </p:par>
                            </p:childTnLst>
                          </p:cTn>
                        </p:par>
                      </p:childTnLst>
                    </p:cTn>
                  </p:par>
                  <p:par>
                    <p:cTn id="160" fill="hold">
                      <p:stCondLst>
                        <p:cond delay="indefinite"/>
                      </p:stCondLst>
                      <p:childTnLst>
                        <p:par>
                          <p:cTn id="161" fill="hold">
                            <p:stCondLst>
                              <p:cond delay="0"/>
                            </p:stCondLst>
                            <p:childTnLst>
                              <p:par>
                                <p:cTn id="162" presetID="1" presetClass="exit" presetSubtype="0" fill="hold" grpId="5" nodeType="clickEffect">
                                  <p:stCondLst>
                                    <p:cond delay="0"/>
                                  </p:stCondLst>
                                  <p:childTnLst>
                                    <p:set>
                                      <p:cBhvr>
                                        <p:cTn id="163" dur="1" fill="hold">
                                          <p:stCondLst>
                                            <p:cond delay="0"/>
                                          </p:stCondLst>
                                        </p:cTn>
                                        <p:tgtEl>
                                          <p:spTgt spid="54"/>
                                        </p:tgtEl>
                                        <p:attrNameLst>
                                          <p:attrName>style.visibility</p:attrName>
                                        </p:attrNameLst>
                                      </p:cBhvr>
                                      <p:to>
                                        <p:strVal val="hidden"/>
                                      </p:to>
                                    </p:set>
                                  </p:childTnLst>
                                </p:cTn>
                              </p:par>
                              <p:par>
                                <p:cTn id="164" presetID="1" presetClass="exit" presetSubtype="0" fill="hold" grpId="2" nodeType="withEffect">
                                  <p:stCondLst>
                                    <p:cond delay="0"/>
                                  </p:stCondLst>
                                  <p:childTnLst>
                                    <p:set>
                                      <p:cBhvr>
                                        <p:cTn id="165" dur="1" fill="hold">
                                          <p:stCondLst>
                                            <p:cond delay="0"/>
                                          </p:stCondLst>
                                        </p:cTn>
                                        <p:tgtEl>
                                          <p:spTgt spid="59"/>
                                        </p:tgtEl>
                                        <p:attrNameLst>
                                          <p:attrName>style.visibility</p:attrName>
                                        </p:attrNameLst>
                                      </p:cBhvr>
                                      <p:to>
                                        <p:strVal val="hidden"/>
                                      </p:to>
                                    </p:set>
                                  </p:childTnLst>
                                </p:cTn>
                              </p:par>
                              <p:par>
                                <p:cTn id="166" presetID="1" presetClass="entr" presetSubtype="0" fill="hold" nodeType="withEffect">
                                  <p:stCondLst>
                                    <p:cond delay="0"/>
                                  </p:stCondLst>
                                  <p:childTnLst>
                                    <p:set>
                                      <p:cBhvr>
                                        <p:cTn id="167" dur="1" fill="hold">
                                          <p:stCondLst>
                                            <p:cond delay="0"/>
                                          </p:stCondLst>
                                        </p:cTn>
                                        <p:tgtEl>
                                          <p:spTgt spid="58">
                                            <p:txEl>
                                              <p:pRg st="1" end="1"/>
                                            </p:txEl>
                                          </p:spTgt>
                                        </p:tgtEl>
                                        <p:attrNameLst>
                                          <p:attrName>style.visibility</p:attrName>
                                        </p:attrNameLst>
                                      </p:cBhvr>
                                      <p:to>
                                        <p:strVal val="visible"/>
                                      </p:to>
                                    </p:set>
                                  </p:childTnLst>
                                </p:cTn>
                              </p:par>
                              <p:par>
                                <p:cTn id="168" presetID="1" presetClass="entr" presetSubtype="0" fill="hold" grpId="0" nodeType="withEffect">
                                  <p:stCondLst>
                                    <p:cond delay="0"/>
                                  </p:stCondLst>
                                  <p:childTnLst>
                                    <p:set>
                                      <p:cBhvr>
                                        <p:cTn id="169" dur="1" fill="hold">
                                          <p:stCondLst>
                                            <p:cond delay="0"/>
                                          </p:stCondLst>
                                        </p:cTn>
                                        <p:tgtEl>
                                          <p:spTgt spid="60"/>
                                        </p:tgtEl>
                                        <p:attrNameLst>
                                          <p:attrName>style.visibility</p:attrName>
                                        </p:attrNameLst>
                                      </p:cBhvr>
                                      <p:to>
                                        <p:strVal val="visible"/>
                                      </p:to>
                                    </p:set>
                                  </p:childTnLst>
                                </p:cTn>
                              </p:par>
                              <p:par>
                                <p:cTn id="170" presetID="26" presetClass="emph" presetSubtype="0" repeatCount="indefinite" fill="hold" grpId="1" nodeType="withEffect">
                                  <p:stCondLst>
                                    <p:cond delay="0"/>
                                  </p:stCondLst>
                                  <p:endCondLst>
                                    <p:cond evt="onNext" delay="0">
                                      <p:tgtEl>
                                        <p:sldTgt/>
                                      </p:tgtEl>
                                    </p:cond>
                                  </p:endCondLst>
                                  <p:childTnLst>
                                    <p:animEffect transition="out" filter="fade">
                                      <p:cBhvr>
                                        <p:cTn id="171" dur="500" tmFilter="0, 0; .2, .5; .8, .5; 1, 0"/>
                                        <p:tgtEl>
                                          <p:spTgt spid="60"/>
                                        </p:tgtEl>
                                      </p:cBhvr>
                                    </p:animEffect>
                                    <p:animScale>
                                      <p:cBhvr>
                                        <p:cTn id="172" dur="250" autoRev="1" fill="hold"/>
                                        <p:tgtEl>
                                          <p:spTgt spid="60"/>
                                        </p:tgtEl>
                                      </p:cBhvr>
                                      <p:by x="105000" y="105000"/>
                                    </p:animScale>
                                  </p:childTnLst>
                                </p:cTn>
                              </p:par>
                              <p:par>
                                <p:cTn id="173" presetID="1" presetClass="entr" presetSubtype="0" fill="hold" grpId="0" nodeType="withEffect">
                                  <p:stCondLst>
                                    <p:cond delay="0"/>
                                  </p:stCondLst>
                                  <p:childTnLst>
                                    <p:set>
                                      <p:cBhvr>
                                        <p:cTn id="174" dur="1" fill="hold">
                                          <p:stCondLst>
                                            <p:cond delay="0"/>
                                          </p:stCondLst>
                                        </p:cTn>
                                        <p:tgtEl>
                                          <p:spTgt spid="61"/>
                                        </p:tgtEl>
                                        <p:attrNameLst>
                                          <p:attrName>style.visibility</p:attrName>
                                        </p:attrNameLst>
                                      </p:cBhvr>
                                      <p:to>
                                        <p:strVal val="visible"/>
                                      </p:to>
                                    </p:set>
                                  </p:childTnLst>
                                </p:cTn>
                              </p:par>
                              <p:par>
                                <p:cTn id="175" presetID="26" presetClass="emph" presetSubtype="0" repeatCount="indefinite" fill="hold" grpId="1" nodeType="withEffect">
                                  <p:stCondLst>
                                    <p:cond delay="0"/>
                                  </p:stCondLst>
                                  <p:endCondLst>
                                    <p:cond evt="onNext" delay="0">
                                      <p:tgtEl>
                                        <p:sldTgt/>
                                      </p:tgtEl>
                                    </p:cond>
                                  </p:endCondLst>
                                  <p:childTnLst>
                                    <p:animEffect transition="out" filter="fade">
                                      <p:cBhvr>
                                        <p:cTn id="176" dur="500" tmFilter="0, 0; .2, .5; .8, .5; 1, 0"/>
                                        <p:tgtEl>
                                          <p:spTgt spid="61"/>
                                        </p:tgtEl>
                                      </p:cBhvr>
                                    </p:animEffect>
                                    <p:animScale>
                                      <p:cBhvr>
                                        <p:cTn id="177" dur="250" autoRev="1" fill="hold"/>
                                        <p:tgtEl>
                                          <p:spTgt spid="61"/>
                                        </p:tgtEl>
                                      </p:cBhvr>
                                      <p:by x="105000" y="105000"/>
                                    </p:animScale>
                                  </p:childTnLst>
                                </p:cTn>
                              </p:par>
                            </p:childTnLst>
                          </p:cTn>
                        </p:par>
                      </p:childTnLst>
                    </p:cTn>
                  </p:par>
                  <p:par>
                    <p:cTn id="178" fill="hold">
                      <p:stCondLst>
                        <p:cond delay="indefinite"/>
                      </p:stCondLst>
                      <p:childTnLst>
                        <p:par>
                          <p:cTn id="179" fill="hold">
                            <p:stCondLst>
                              <p:cond delay="0"/>
                            </p:stCondLst>
                            <p:childTnLst>
                              <p:par>
                                <p:cTn id="180" presetID="1" presetClass="exit" presetSubtype="0" fill="hold" grpId="2" nodeType="clickEffect">
                                  <p:stCondLst>
                                    <p:cond delay="0"/>
                                  </p:stCondLst>
                                  <p:childTnLst>
                                    <p:set>
                                      <p:cBhvr>
                                        <p:cTn id="181" dur="1" fill="hold">
                                          <p:stCondLst>
                                            <p:cond delay="0"/>
                                          </p:stCondLst>
                                        </p:cTn>
                                        <p:tgtEl>
                                          <p:spTgt spid="61"/>
                                        </p:tgtEl>
                                        <p:attrNameLst>
                                          <p:attrName>style.visibility</p:attrName>
                                        </p:attrNameLst>
                                      </p:cBhvr>
                                      <p:to>
                                        <p:strVal val="hidden"/>
                                      </p:to>
                                    </p:set>
                                  </p:childTnLst>
                                </p:cTn>
                              </p:par>
                              <p:par>
                                <p:cTn id="182" presetID="1" presetClass="entr" presetSubtype="0" fill="hold" grpId="0" nodeType="withEffect">
                                  <p:stCondLst>
                                    <p:cond delay="0"/>
                                  </p:stCondLst>
                                  <p:childTnLst>
                                    <p:set>
                                      <p:cBhvr>
                                        <p:cTn id="183" dur="1" fill="hold">
                                          <p:stCondLst>
                                            <p:cond delay="0"/>
                                          </p:stCondLst>
                                        </p:cTn>
                                        <p:tgtEl>
                                          <p:spTgt spid="62"/>
                                        </p:tgtEl>
                                        <p:attrNameLst>
                                          <p:attrName>style.visibility</p:attrName>
                                        </p:attrNameLst>
                                      </p:cBhvr>
                                      <p:to>
                                        <p:strVal val="visible"/>
                                      </p:to>
                                    </p:set>
                                  </p:childTnLst>
                                </p:cTn>
                              </p:par>
                              <p:par>
                                <p:cTn id="184" presetID="26" presetClass="emph" presetSubtype="0" repeatCount="indefinite" fill="hold" grpId="1" nodeType="withEffect">
                                  <p:stCondLst>
                                    <p:cond delay="0"/>
                                  </p:stCondLst>
                                  <p:endCondLst>
                                    <p:cond evt="onNext" delay="0">
                                      <p:tgtEl>
                                        <p:sldTgt/>
                                      </p:tgtEl>
                                    </p:cond>
                                  </p:endCondLst>
                                  <p:childTnLst>
                                    <p:animEffect transition="out" filter="fade">
                                      <p:cBhvr>
                                        <p:cTn id="185" dur="500" tmFilter="0, 0; .2, .5; .8, .5; 1, 0"/>
                                        <p:tgtEl>
                                          <p:spTgt spid="62"/>
                                        </p:tgtEl>
                                      </p:cBhvr>
                                    </p:animEffect>
                                    <p:animScale>
                                      <p:cBhvr>
                                        <p:cTn id="186" dur="250" autoRev="1" fill="hold"/>
                                        <p:tgtEl>
                                          <p:spTgt spid="62"/>
                                        </p:tgtEl>
                                      </p:cBhvr>
                                      <p:by x="105000" y="105000"/>
                                    </p:animScale>
                                  </p:childTnLst>
                                </p:cTn>
                              </p:par>
                            </p:childTnLst>
                          </p:cTn>
                        </p:par>
                      </p:childTnLst>
                    </p:cTn>
                  </p:par>
                  <p:par>
                    <p:cTn id="187" fill="hold">
                      <p:stCondLst>
                        <p:cond delay="indefinite"/>
                      </p:stCondLst>
                      <p:childTnLst>
                        <p:par>
                          <p:cTn id="188" fill="hold">
                            <p:stCondLst>
                              <p:cond delay="0"/>
                            </p:stCondLst>
                            <p:childTnLst>
                              <p:par>
                                <p:cTn id="189" presetID="1" presetClass="exit" presetSubtype="0" fill="hold" grpId="2" nodeType="clickEffect">
                                  <p:stCondLst>
                                    <p:cond delay="0"/>
                                  </p:stCondLst>
                                  <p:childTnLst>
                                    <p:set>
                                      <p:cBhvr>
                                        <p:cTn id="190" dur="1" fill="hold">
                                          <p:stCondLst>
                                            <p:cond delay="0"/>
                                          </p:stCondLst>
                                        </p:cTn>
                                        <p:tgtEl>
                                          <p:spTgt spid="62"/>
                                        </p:tgtEl>
                                        <p:attrNameLst>
                                          <p:attrName>style.visibility</p:attrName>
                                        </p:attrNameLst>
                                      </p:cBhvr>
                                      <p:to>
                                        <p:strVal val="hidden"/>
                                      </p:to>
                                    </p:set>
                                  </p:childTnLst>
                                </p:cTn>
                              </p:par>
                              <p:par>
                                <p:cTn id="191" presetID="1" presetClass="entr" presetSubtype="0" fill="hold" grpId="0" nodeType="withEffect">
                                  <p:stCondLst>
                                    <p:cond delay="0"/>
                                  </p:stCondLst>
                                  <p:childTnLst>
                                    <p:set>
                                      <p:cBhvr>
                                        <p:cTn id="192" dur="1" fill="hold">
                                          <p:stCondLst>
                                            <p:cond delay="0"/>
                                          </p:stCondLst>
                                        </p:cTn>
                                        <p:tgtEl>
                                          <p:spTgt spid="65"/>
                                        </p:tgtEl>
                                        <p:attrNameLst>
                                          <p:attrName>style.visibility</p:attrName>
                                        </p:attrNameLst>
                                      </p:cBhvr>
                                      <p:to>
                                        <p:strVal val="visible"/>
                                      </p:to>
                                    </p:set>
                                  </p:childTnLst>
                                </p:cTn>
                              </p:par>
                              <p:par>
                                <p:cTn id="193" presetID="26" presetClass="emph" presetSubtype="0" repeatCount="indefinite" fill="hold" grpId="1" nodeType="withEffect">
                                  <p:stCondLst>
                                    <p:cond delay="0"/>
                                  </p:stCondLst>
                                  <p:endCondLst>
                                    <p:cond evt="onNext" delay="0">
                                      <p:tgtEl>
                                        <p:sldTgt/>
                                      </p:tgtEl>
                                    </p:cond>
                                  </p:endCondLst>
                                  <p:childTnLst>
                                    <p:animEffect transition="out" filter="fade">
                                      <p:cBhvr>
                                        <p:cTn id="194" dur="500" tmFilter="0, 0; .2, .5; .8, .5; 1, 0"/>
                                        <p:tgtEl>
                                          <p:spTgt spid="65"/>
                                        </p:tgtEl>
                                      </p:cBhvr>
                                    </p:animEffect>
                                    <p:animScale>
                                      <p:cBhvr>
                                        <p:cTn id="195" dur="250" autoRev="1" fill="hold"/>
                                        <p:tgtEl>
                                          <p:spTgt spid="65"/>
                                        </p:tgtEl>
                                      </p:cBhvr>
                                      <p:by x="105000" y="105000"/>
                                    </p:animScale>
                                  </p:childTnLst>
                                </p:cTn>
                              </p:par>
                            </p:childTnLst>
                          </p:cTn>
                        </p:par>
                      </p:childTnLst>
                    </p:cTn>
                  </p:par>
                  <p:par>
                    <p:cTn id="196" fill="hold">
                      <p:stCondLst>
                        <p:cond delay="indefinite"/>
                      </p:stCondLst>
                      <p:childTnLst>
                        <p:par>
                          <p:cTn id="197" fill="hold">
                            <p:stCondLst>
                              <p:cond delay="0"/>
                            </p:stCondLst>
                            <p:childTnLst>
                              <p:par>
                                <p:cTn id="198" presetID="1" presetClass="exit" presetSubtype="0" fill="hold" grpId="2" nodeType="clickEffect">
                                  <p:stCondLst>
                                    <p:cond delay="0"/>
                                  </p:stCondLst>
                                  <p:childTnLst>
                                    <p:set>
                                      <p:cBhvr>
                                        <p:cTn id="199" dur="1" fill="hold">
                                          <p:stCondLst>
                                            <p:cond delay="0"/>
                                          </p:stCondLst>
                                        </p:cTn>
                                        <p:tgtEl>
                                          <p:spTgt spid="65"/>
                                        </p:tgtEl>
                                        <p:attrNameLst>
                                          <p:attrName>style.visibility</p:attrName>
                                        </p:attrNameLst>
                                      </p:cBhvr>
                                      <p:to>
                                        <p:strVal val="hidden"/>
                                      </p:to>
                                    </p:set>
                                  </p:childTnLst>
                                </p:cTn>
                              </p:par>
                              <p:par>
                                <p:cTn id="200" presetID="1" presetClass="entr" presetSubtype="0" fill="hold" grpId="0" nodeType="withEffect">
                                  <p:stCondLst>
                                    <p:cond delay="0"/>
                                  </p:stCondLst>
                                  <p:childTnLst>
                                    <p:set>
                                      <p:cBhvr>
                                        <p:cTn id="201" dur="1" fill="hold">
                                          <p:stCondLst>
                                            <p:cond delay="0"/>
                                          </p:stCondLst>
                                        </p:cTn>
                                        <p:tgtEl>
                                          <p:spTgt spid="66"/>
                                        </p:tgtEl>
                                        <p:attrNameLst>
                                          <p:attrName>style.visibility</p:attrName>
                                        </p:attrNameLst>
                                      </p:cBhvr>
                                      <p:to>
                                        <p:strVal val="visible"/>
                                      </p:to>
                                    </p:set>
                                  </p:childTnLst>
                                </p:cTn>
                              </p:par>
                              <p:par>
                                <p:cTn id="202" presetID="26" presetClass="emph" presetSubtype="0" repeatCount="indefinite" fill="hold" grpId="1" nodeType="withEffect">
                                  <p:stCondLst>
                                    <p:cond delay="0"/>
                                  </p:stCondLst>
                                  <p:endCondLst>
                                    <p:cond evt="onNext" delay="0">
                                      <p:tgtEl>
                                        <p:sldTgt/>
                                      </p:tgtEl>
                                    </p:cond>
                                  </p:endCondLst>
                                  <p:childTnLst>
                                    <p:animEffect transition="out" filter="fade">
                                      <p:cBhvr>
                                        <p:cTn id="203" dur="500" tmFilter="0, 0; .2, .5; .8, .5; 1, 0"/>
                                        <p:tgtEl>
                                          <p:spTgt spid="66"/>
                                        </p:tgtEl>
                                      </p:cBhvr>
                                    </p:animEffect>
                                    <p:animScale>
                                      <p:cBhvr>
                                        <p:cTn id="204" dur="250" autoRev="1" fill="hold"/>
                                        <p:tgtEl>
                                          <p:spTgt spid="66"/>
                                        </p:tgtEl>
                                      </p:cBhvr>
                                      <p:by x="105000" y="105000"/>
                                    </p:animScale>
                                  </p:childTnLst>
                                </p:cTn>
                              </p:par>
                            </p:childTnLst>
                          </p:cTn>
                        </p:par>
                      </p:childTnLst>
                    </p:cTn>
                  </p:par>
                  <p:par>
                    <p:cTn id="205" fill="hold">
                      <p:stCondLst>
                        <p:cond delay="indefinite"/>
                      </p:stCondLst>
                      <p:childTnLst>
                        <p:par>
                          <p:cTn id="206" fill="hold">
                            <p:stCondLst>
                              <p:cond delay="0"/>
                            </p:stCondLst>
                            <p:childTnLst>
                              <p:par>
                                <p:cTn id="207" presetID="1" presetClass="exit" presetSubtype="0" fill="hold" grpId="2" nodeType="clickEffect">
                                  <p:stCondLst>
                                    <p:cond delay="0"/>
                                  </p:stCondLst>
                                  <p:childTnLst>
                                    <p:set>
                                      <p:cBhvr>
                                        <p:cTn id="208" dur="1" fill="hold">
                                          <p:stCondLst>
                                            <p:cond delay="0"/>
                                          </p:stCondLst>
                                        </p:cTn>
                                        <p:tgtEl>
                                          <p:spTgt spid="6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p:bldP spid="21" grpId="0"/>
      <p:bldP spid="27" grpId="0"/>
      <p:bldP spid="36" grpId="0"/>
      <p:bldP spid="37" grpId="0"/>
      <p:bldP spid="40" grpId="0"/>
      <p:bldP spid="41" grpId="0"/>
      <p:bldP spid="42" grpId="0"/>
      <p:bldP spid="43" grpId="0"/>
      <p:bldP spid="47" grpId="0"/>
      <p:bldP spid="48" grpId="0"/>
      <p:bldP spid="49" grpId="0" animBg="1"/>
      <p:bldP spid="49" grpId="1" animBg="1"/>
      <p:bldP spid="49" grpId="2" animBg="1"/>
      <p:bldP spid="50" grpId="0" animBg="1"/>
      <p:bldP spid="50" grpId="1" animBg="1"/>
      <p:bldP spid="50" grpId="2" animBg="1"/>
      <p:bldP spid="52" grpId="0" animBg="1"/>
      <p:bldP spid="52" grpId="1" animBg="1"/>
      <p:bldP spid="52" grpId="2" animBg="1"/>
      <p:bldP spid="54" grpId="0" animBg="1"/>
      <p:bldP spid="54" grpId="1" animBg="1"/>
      <p:bldP spid="54" grpId="2" animBg="1"/>
      <p:bldP spid="54" grpId="3" animBg="1"/>
      <p:bldP spid="54" grpId="4" animBg="1"/>
      <p:bldP spid="54" grpId="5" animBg="1"/>
      <p:bldP spid="55" grpId="0" animBg="1"/>
      <p:bldP spid="55" grpId="1" animBg="1"/>
      <p:bldP spid="55" grpId="2" animBg="1"/>
      <p:bldP spid="56" grpId="0" animBg="1"/>
      <p:bldP spid="56" grpId="1" animBg="1"/>
      <p:bldP spid="56" grpId="2" animBg="1"/>
      <p:bldP spid="57" grpId="0" animBg="1"/>
      <p:bldP spid="57" grpId="1" animBg="1"/>
      <p:bldP spid="57" grpId="2" animBg="1"/>
      <p:bldP spid="59" grpId="0" animBg="1"/>
      <p:bldP spid="59" grpId="1" animBg="1"/>
      <p:bldP spid="59" grpId="2" animBg="1"/>
      <p:bldP spid="60" grpId="0" animBg="1"/>
      <p:bldP spid="60" grpId="1" animBg="1"/>
      <p:bldP spid="63" grpId="0"/>
      <p:bldP spid="64" grpId="0"/>
      <p:bldP spid="61" grpId="0" animBg="1"/>
      <p:bldP spid="61" grpId="1" animBg="1"/>
      <p:bldP spid="61" grpId="2" animBg="1"/>
      <p:bldP spid="62" grpId="0" animBg="1"/>
      <p:bldP spid="62" grpId="1" animBg="1"/>
      <p:bldP spid="62" grpId="2" animBg="1"/>
      <p:bldP spid="65" grpId="0" animBg="1"/>
      <p:bldP spid="65" grpId="1" animBg="1"/>
      <p:bldP spid="65" grpId="2" animBg="1"/>
      <p:bldP spid="66" grpId="0" animBg="1"/>
      <p:bldP spid="66" grpId="1" animBg="1"/>
      <p:bldP spid="66" grpId="2"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Segmentation(Conti..)</a:t>
            </a:r>
          </a:p>
        </p:txBody>
      </p:sp>
      <p:sp>
        <p:nvSpPr>
          <p:cNvPr id="3" name="Content Placeholder 2"/>
          <p:cNvSpPr>
            <a:spLocks noGrp="1"/>
          </p:cNvSpPr>
          <p:nvPr>
            <p:ph idx="1"/>
          </p:nvPr>
        </p:nvSpPr>
        <p:spPr/>
        <p:txBody>
          <a:bodyPr/>
          <a:lstStyle/>
          <a:p>
            <a:r>
              <a:rPr lang="en-US" b="1" dirty="0"/>
              <a:t>Advantages</a:t>
            </a:r>
          </a:p>
          <a:p>
            <a:pPr lvl="1"/>
            <a:r>
              <a:rPr lang="en-US" dirty="0">
                <a:solidFill>
                  <a:schemeClr val="accent6"/>
                </a:solidFill>
              </a:rPr>
              <a:t>All segments </a:t>
            </a:r>
            <a:r>
              <a:rPr lang="en-US" dirty="0"/>
              <a:t>are </a:t>
            </a:r>
            <a:r>
              <a:rPr lang="en-US" dirty="0">
                <a:solidFill>
                  <a:schemeClr val="accent6"/>
                </a:solidFill>
              </a:rPr>
              <a:t>independent </a:t>
            </a:r>
            <a:r>
              <a:rPr lang="en-US" dirty="0"/>
              <a:t>from </a:t>
            </a:r>
            <a:r>
              <a:rPr lang="en-US" dirty="0">
                <a:solidFill>
                  <a:schemeClr val="accent6"/>
                </a:solidFill>
              </a:rPr>
              <a:t>each other</a:t>
            </a:r>
            <a:r>
              <a:rPr lang="en-US" dirty="0"/>
              <a:t>.</a:t>
            </a:r>
          </a:p>
          <a:p>
            <a:pPr lvl="1"/>
            <a:r>
              <a:rPr lang="en-US" dirty="0">
                <a:solidFill>
                  <a:schemeClr val="accent6"/>
                </a:solidFill>
              </a:rPr>
              <a:t>Sharing</a:t>
            </a:r>
            <a:r>
              <a:rPr lang="en-US" dirty="0"/>
              <a:t> of </a:t>
            </a:r>
            <a:r>
              <a:rPr lang="en-US" dirty="0">
                <a:solidFill>
                  <a:schemeClr val="accent6"/>
                </a:solidFill>
              </a:rPr>
              <a:t>data among various process </a:t>
            </a:r>
            <a:r>
              <a:rPr lang="en-US" dirty="0"/>
              <a:t>is </a:t>
            </a:r>
            <a:r>
              <a:rPr lang="en-US" dirty="0">
                <a:solidFill>
                  <a:schemeClr val="accent6"/>
                </a:solidFill>
              </a:rPr>
              <a:t>simple</a:t>
            </a:r>
            <a:r>
              <a:rPr lang="en-US" dirty="0"/>
              <a:t>.</a:t>
            </a:r>
          </a:p>
          <a:p>
            <a:pPr lvl="1"/>
            <a:r>
              <a:rPr lang="en-US" dirty="0">
                <a:solidFill>
                  <a:schemeClr val="accent6"/>
                </a:solidFill>
              </a:rPr>
              <a:t>No internal Fragmentation</a:t>
            </a:r>
            <a:r>
              <a:rPr lang="en-US" dirty="0"/>
              <a:t>. Segment allocated as much memory it required.</a:t>
            </a:r>
          </a:p>
          <a:p>
            <a:pPr marL="0" indent="0">
              <a:buNone/>
            </a:pPr>
            <a:endParaRPr lang="en-US" dirty="0"/>
          </a:p>
          <a:p>
            <a:r>
              <a:rPr lang="en-US" b="1" dirty="0"/>
              <a:t>Disadvantages </a:t>
            </a:r>
          </a:p>
          <a:p>
            <a:pPr lvl="1"/>
            <a:r>
              <a:rPr lang="en-US" dirty="0">
                <a:solidFill>
                  <a:schemeClr val="accent6"/>
                </a:solidFill>
              </a:rPr>
              <a:t>Expensive</a:t>
            </a:r>
            <a:r>
              <a:rPr lang="en-US" dirty="0"/>
              <a:t> and </a:t>
            </a:r>
            <a:r>
              <a:rPr lang="en-US" dirty="0">
                <a:solidFill>
                  <a:schemeClr val="accent6"/>
                </a:solidFill>
              </a:rPr>
              <a:t>difficult</a:t>
            </a:r>
            <a:r>
              <a:rPr lang="en-US" dirty="0"/>
              <a:t> to allocate contiguous free memory.</a:t>
            </a:r>
          </a:p>
          <a:p>
            <a:pPr lvl="1"/>
            <a:r>
              <a:rPr lang="en-US" dirty="0">
                <a:solidFill>
                  <a:schemeClr val="accent6"/>
                </a:solidFill>
              </a:rPr>
              <a:t>External fragmentation </a:t>
            </a:r>
            <a:r>
              <a:rPr lang="en-US" dirty="0"/>
              <a:t>is </a:t>
            </a:r>
            <a:r>
              <a:rPr lang="en-US" dirty="0">
                <a:solidFill>
                  <a:schemeClr val="accent6"/>
                </a:solidFill>
              </a:rPr>
              <a:t>possible.</a:t>
            </a:r>
            <a:endParaRPr lang="en-US" dirty="0"/>
          </a:p>
        </p:txBody>
      </p:sp>
    </p:spTree>
    <p:extLst>
      <p:ext uri="{BB962C8B-B14F-4D97-AF65-F5344CB8AC3E}">
        <p14:creationId xmlns:p14="http://schemas.microsoft.com/office/powerpoint/2010/main" val="2142438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t>The concept of virtual memory</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3.2.3</a:t>
            </a:r>
          </a:p>
        </p:txBody>
      </p:sp>
    </p:spTree>
    <p:extLst>
      <p:ext uri="{BB962C8B-B14F-4D97-AF65-F5344CB8AC3E}">
        <p14:creationId xmlns:p14="http://schemas.microsoft.com/office/powerpoint/2010/main" val="2074623086"/>
      </p:ext>
    </p:extLst>
  </p:cSld>
  <p:clrMapOvr>
    <a:overrideClrMapping bg1="lt1" tx1="dk1" bg2="lt2" tx2="dk2" accent1="accent1" accent2="accent2" accent3="accent3" accent4="accent4" accent5="accent5" accent6="accent6" hlink="hlink" folHlink="folHlink"/>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Virtual Memory</a:t>
            </a:r>
          </a:p>
        </p:txBody>
      </p:sp>
      <p:sp>
        <p:nvSpPr>
          <p:cNvPr id="3" name="Content Placeholder 2"/>
          <p:cNvSpPr>
            <a:spLocks noGrp="1"/>
          </p:cNvSpPr>
          <p:nvPr>
            <p:ph idx="1"/>
          </p:nvPr>
        </p:nvSpPr>
        <p:spPr>
          <a:xfrm>
            <a:off x="142965" y="864863"/>
            <a:ext cx="11929641" cy="5649046"/>
          </a:xfrm>
        </p:spPr>
        <p:txBody>
          <a:bodyPr/>
          <a:lstStyle/>
          <a:p>
            <a:r>
              <a:rPr lang="en-US" dirty="0"/>
              <a:t>A technique allow a </a:t>
            </a:r>
            <a:r>
              <a:rPr lang="en-US" dirty="0">
                <a:solidFill>
                  <a:schemeClr val="accent6"/>
                </a:solidFill>
              </a:rPr>
              <a:t>process</a:t>
            </a:r>
            <a:r>
              <a:rPr lang="en-US" dirty="0"/>
              <a:t> to </a:t>
            </a:r>
            <a:r>
              <a:rPr lang="en-US" dirty="0">
                <a:solidFill>
                  <a:schemeClr val="accent6"/>
                </a:solidFill>
              </a:rPr>
              <a:t>execute</a:t>
            </a:r>
            <a:r>
              <a:rPr lang="en-US" dirty="0"/>
              <a:t> even though it </a:t>
            </a:r>
            <a:r>
              <a:rPr lang="en-US" dirty="0">
                <a:solidFill>
                  <a:schemeClr val="accent6"/>
                </a:solidFill>
              </a:rPr>
              <a:t>partially loaded </a:t>
            </a:r>
            <a:r>
              <a:rPr lang="en-US" dirty="0"/>
              <a:t>in main </a:t>
            </a:r>
            <a:r>
              <a:rPr lang="en-US" dirty="0">
                <a:solidFill>
                  <a:schemeClr val="accent6"/>
                </a:solidFill>
              </a:rPr>
              <a:t>memory</a:t>
            </a:r>
            <a:r>
              <a:rPr lang="en-US" dirty="0"/>
              <a:t>.</a:t>
            </a:r>
          </a:p>
          <a:p>
            <a:r>
              <a:rPr lang="en-US" dirty="0"/>
              <a:t>The virtual memory removes requirement that an entire process should be in main memory for its execution.</a:t>
            </a:r>
          </a:p>
          <a:p>
            <a:r>
              <a:rPr lang="en-US" dirty="0"/>
              <a:t>Main advantage is if </a:t>
            </a:r>
            <a:r>
              <a:rPr lang="en-US" dirty="0">
                <a:solidFill>
                  <a:schemeClr val="accent6"/>
                </a:solidFill>
              </a:rPr>
              <a:t>process</a:t>
            </a:r>
            <a:r>
              <a:rPr lang="en-US" dirty="0"/>
              <a:t> is </a:t>
            </a:r>
            <a:r>
              <a:rPr lang="en-US" dirty="0">
                <a:solidFill>
                  <a:schemeClr val="accent6"/>
                </a:solidFill>
              </a:rPr>
              <a:t>larger</a:t>
            </a:r>
            <a:r>
              <a:rPr lang="en-US" dirty="0"/>
              <a:t> then main </a:t>
            </a:r>
            <a:r>
              <a:rPr lang="en-US" dirty="0">
                <a:solidFill>
                  <a:schemeClr val="accent6"/>
                </a:solidFill>
              </a:rPr>
              <a:t>memory</a:t>
            </a:r>
            <a:r>
              <a:rPr lang="en-US" dirty="0"/>
              <a:t> then also </a:t>
            </a:r>
            <a:r>
              <a:rPr lang="en-US" dirty="0">
                <a:solidFill>
                  <a:schemeClr val="accent6"/>
                </a:solidFill>
              </a:rPr>
              <a:t>process</a:t>
            </a:r>
            <a:r>
              <a:rPr lang="en-US" dirty="0"/>
              <a:t> can be </a:t>
            </a:r>
            <a:r>
              <a:rPr lang="en-US" dirty="0">
                <a:solidFill>
                  <a:schemeClr val="accent6"/>
                </a:solidFill>
              </a:rPr>
              <a:t>execute</a:t>
            </a:r>
            <a:r>
              <a:rPr lang="en-US" dirty="0"/>
              <a:t> in </a:t>
            </a:r>
            <a:r>
              <a:rPr lang="en-US" dirty="0">
                <a:solidFill>
                  <a:schemeClr val="accent6"/>
                </a:solidFill>
              </a:rPr>
              <a:t>main memory</a:t>
            </a:r>
            <a:r>
              <a:rPr lang="en-US" dirty="0"/>
              <a:t>.</a:t>
            </a:r>
          </a:p>
          <a:p>
            <a:pPr lvl="1"/>
            <a:r>
              <a:rPr lang="en-US" dirty="0"/>
              <a:t>Ex : </a:t>
            </a:r>
            <a:r>
              <a:rPr lang="en-US" dirty="0">
                <a:solidFill>
                  <a:schemeClr val="accent6"/>
                </a:solidFill>
              </a:rPr>
              <a:t>40-MB process can be execute on 32-MB memory.</a:t>
            </a:r>
          </a:p>
          <a:p>
            <a:r>
              <a:rPr lang="en-US" dirty="0"/>
              <a:t>Virtual address </a:t>
            </a:r>
            <a:r>
              <a:rPr lang="en-US" dirty="0">
                <a:solidFill>
                  <a:schemeClr val="accent6"/>
                </a:solidFill>
              </a:rPr>
              <a:t>space</a:t>
            </a:r>
            <a:r>
              <a:rPr lang="en-US" dirty="0"/>
              <a:t> can be </a:t>
            </a:r>
            <a:r>
              <a:rPr lang="en-US" dirty="0">
                <a:solidFill>
                  <a:schemeClr val="accent6"/>
                </a:solidFill>
              </a:rPr>
              <a:t>larger</a:t>
            </a:r>
            <a:r>
              <a:rPr lang="en-US" dirty="0"/>
              <a:t> than physical memory.</a:t>
            </a:r>
          </a:p>
        </p:txBody>
      </p:sp>
    </p:spTree>
    <p:extLst>
      <p:ext uri="{BB962C8B-B14F-4D97-AF65-F5344CB8AC3E}">
        <p14:creationId xmlns:p14="http://schemas.microsoft.com/office/powerpoint/2010/main" val="970518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3">
                                            <p:txEl>
                                              <p:pRg st="0" end="0"/>
                                            </p:txEl>
                                          </p:spTgt>
                                        </p:tgtEl>
                                        <p:attrNameLst>
                                          <p:attrName>style.visibility</p:attrName>
                                        </p:attrNameLst>
                                      </p:cBhvr>
                                      <p:to>
                                        <p:strVal val="hidden"/>
                                      </p:to>
                                    </p:set>
                                  </p:childTnLst>
                                </p:cTn>
                              </p:par>
                              <p:par>
                                <p:cTn id="27" presetID="1" presetClass="exit" presetSubtype="0" fill="hold" grpId="0" nodeType="withEffect">
                                  <p:stCondLst>
                                    <p:cond delay="0"/>
                                  </p:stCondLst>
                                  <p:childTnLst>
                                    <p:set>
                                      <p:cBhvr>
                                        <p:cTn id="28" dur="1" fill="hold">
                                          <p:stCondLst>
                                            <p:cond delay="0"/>
                                          </p:stCondLst>
                                        </p:cTn>
                                        <p:tgtEl>
                                          <p:spTgt spid="3">
                                            <p:txEl>
                                              <p:pRg st="1" end="1"/>
                                            </p:txEl>
                                          </p:spTgt>
                                        </p:tgtEl>
                                        <p:attrNameLst>
                                          <p:attrName>style.visibility</p:attrName>
                                        </p:attrNameLst>
                                      </p:cBhvr>
                                      <p:to>
                                        <p:strVal val="hidden"/>
                                      </p:to>
                                    </p:set>
                                  </p:childTnLst>
                                </p:cTn>
                              </p:par>
                              <p:par>
                                <p:cTn id="29" presetID="1" presetClass="exit" presetSubtype="0" fill="hold" grpId="0" nodeType="withEffect">
                                  <p:stCondLst>
                                    <p:cond delay="0"/>
                                  </p:stCondLst>
                                  <p:childTnLst>
                                    <p:set>
                                      <p:cBhvr>
                                        <p:cTn id="30" dur="1" fill="hold">
                                          <p:stCondLst>
                                            <p:cond delay="0"/>
                                          </p:stCondLst>
                                        </p:cTn>
                                        <p:tgtEl>
                                          <p:spTgt spid="3">
                                            <p:txEl>
                                              <p:pRg st="2" end="2"/>
                                            </p:txEl>
                                          </p:spTgt>
                                        </p:tgtEl>
                                        <p:attrNameLst>
                                          <p:attrName>style.visibility</p:attrName>
                                        </p:attrNameLst>
                                      </p:cBhvr>
                                      <p:to>
                                        <p:strVal val="hidden"/>
                                      </p:to>
                                    </p:set>
                                  </p:childTnLst>
                                </p:cTn>
                              </p:par>
                              <p:par>
                                <p:cTn id="31" presetID="1" presetClass="exit" presetSubtype="0" fill="hold" grpId="0" nodeType="withEffect">
                                  <p:stCondLst>
                                    <p:cond delay="0"/>
                                  </p:stCondLst>
                                  <p:childTnLst>
                                    <p:set>
                                      <p:cBhvr>
                                        <p:cTn id="32" dur="1" fill="hold">
                                          <p:stCondLst>
                                            <p:cond delay="0"/>
                                          </p:stCondLst>
                                        </p:cTn>
                                        <p:tgtEl>
                                          <p:spTgt spid="3">
                                            <p:txEl>
                                              <p:pRg st="3" end="3"/>
                                            </p:txEl>
                                          </p:spTgt>
                                        </p:tgtEl>
                                        <p:attrNameLst>
                                          <p:attrName>style.visibility</p:attrName>
                                        </p:attrNameLst>
                                      </p:cBhvr>
                                      <p:to>
                                        <p:strVal val="hidden"/>
                                      </p:to>
                                    </p:set>
                                  </p:childTnLst>
                                </p:cTn>
                              </p:par>
                              <p:par>
                                <p:cTn id="33" presetID="1" presetClass="exit" presetSubtype="0" fill="hold" grpId="0" nodeType="withEffect">
                                  <p:stCondLst>
                                    <p:cond delay="0"/>
                                  </p:stCondLst>
                                  <p:childTnLst>
                                    <p:set>
                                      <p:cBhvr>
                                        <p:cTn id="34" dur="1" fill="hold">
                                          <p:stCondLst>
                                            <p:cond delay="0"/>
                                          </p:stCondLst>
                                        </p:cTn>
                                        <p:tgtEl>
                                          <p:spTgt spid="3">
                                            <p:txEl>
                                              <p:pRg st="4" end="4"/>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Virtual Memory(Conti..)</a:t>
            </a:r>
          </a:p>
        </p:txBody>
      </p:sp>
      <p:sp>
        <p:nvSpPr>
          <p:cNvPr id="3" name="Content Placeholder 2"/>
          <p:cNvSpPr>
            <a:spLocks noGrp="1"/>
          </p:cNvSpPr>
          <p:nvPr>
            <p:ph idx="1"/>
          </p:nvPr>
        </p:nvSpPr>
        <p:spPr>
          <a:xfrm>
            <a:off x="142965" y="864863"/>
            <a:ext cx="11929641" cy="5649046"/>
          </a:xfrm>
        </p:spPr>
        <p:txBody>
          <a:bodyPr/>
          <a:lstStyle/>
          <a:p>
            <a:r>
              <a:rPr lang="en-US" dirty="0">
                <a:solidFill>
                  <a:schemeClr val="bg1"/>
                </a:solidFill>
              </a:rPr>
              <a:t>.</a:t>
            </a:r>
          </a:p>
        </p:txBody>
      </p:sp>
      <p:sp>
        <p:nvSpPr>
          <p:cNvPr id="4" name="TextBox 3"/>
          <p:cNvSpPr txBox="1"/>
          <p:nvPr/>
        </p:nvSpPr>
        <p:spPr>
          <a:xfrm>
            <a:off x="4475741" y="1002189"/>
            <a:ext cx="1511470" cy="830997"/>
          </a:xfrm>
          <a:prstGeom prst="rect">
            <a:avLst/>
          </a:prstGeom>
          <a:noFill/>
          <a:ln>
            <a:solidFill>
              <a:schemeClr val="tx1"/>
            </a:solidFill>
          </a:ln>
        </p:spPr>
        <p:txBody>
          <a:bodyPr wrap="square" rtlCol="0">
            <a:spAutoFit/>
          </a:bodyPr>
          <a:lstStyle/>
          <a:p>
            <a:pPr algn="ctr"/>
            <a:r>
              <a:rPr lang="en-US" sz="2400" dirty="0">
                <a:solidFill>
                  <a:srgbClr val="212121"/>
                </a:solidFill>
              </a:rPr>
              <a:t>Operating System</a:t>
            </a:r>
          </a:p>
        </p:txBody>
      </p:sp>
      <p:sp>
        <p:nvSpPr>
          <p:cNvPr id="5" name="TextBox 4"/>
          <p:cNvSpPr txBox="1"/>
          <p:nvPr/>
        </p:nvSpPr>
        <p:spPr>
          <a:xfrm>
            <a:off x="2449095" y="2669620"/>
            <a:ext cx="1251256" cy="1200329"/>
          </a:xfrm>
          <a:prstGeom prst="rect">
            <a:avLst/>
          </a:prstGeom>
          <a:noFill/>
          <a:ln>
            <a:solidFill>
              <a:schemeClr val="tx1"/>
            </a:solidFill>
          </a:ln>
        </p:spPr>
        <p:txBody>
          <a:bodyPr wrap="square" rtlCol="0">
            <a:spAutoFit/>
          </a:bodyPr>
          <a:lstStyle/>
          <a:p>
            <a:pPr algn="ctr"/>
            <a:r>
              <a:rPr lang="en-US" sz="2400" dirty="0">
                <a:solidFill>
                  <a:srgbClr val="212121"/>
                </a:solidFill>
              </a:rPr>
              <a:t>Logical Address Space</a:t>
            </a:r>
          </a:p>
        </p:txBody>
      </p:sp>
      <p:sp>
        <p:nvSpPr>
          <p:cNvPr id="6" name="TextBox 5"/>
          <p:cNvSpPr txBox="1"/>
          <p:nvPr/>
        </p:nvSpPr>
        <p:spPr>
          <a:xfrm>
            <a:off x="5044612" y="2919091"/>
            <a:ext cx="1214437" cy="350694"/>
          </a:xfrm>
          <a:prstGeom prst="rect">
            <a:avLst/>
          </a:prstGeom>
          <a:noFill/>
          <a:ln>
            <a:solidFill>
              <a:schemeClr val="tx1"/>
            </a:solidFill>
          </a:ln>
        </p:spPr>
        <p:txBody>
          <a:bodyPr wrap="square" rtlCol="0">
            <a:spAutoFit/>
          </a:bodyPr>
          <a:lstStyle/>
          <a:p>
            <a:endParaRPr lang="en-US" dirty="0">
              <a:solidFill>
                <a:srgbClr val="212121"/>
              </a:solidFill>
            </a:endParaRPr>
          </a:p>
        </p:txBody>
      </p:sp>
      <p:sp>
        <p:nvSpPr>
          <p:cNvPr id="7" name="TextBox 6"/>
          <p:cNvSpPr txBox="1"/>
          <p:nvPr/>
        </p:nvSpPr>
        <p:spPr>
          <a:xfrm>
            <a:off x="5044612" y="3269785"/>
            <a:ext cx="1214437" cy="350694"/>
          </a:xfrm>
          <a:prstGeom prst="rect">
            <a:avLst/>
          </a:prstGeom>
          <a:noFill/>
          <a:ln>
            <a:solidFill>
              <a:schemeClr val="tx1"/>
            </a:solidFill>
          </a:ln>
        </p:spPr>
        <p:txBody>
          <a:bodyPr wrap="square" rtlCol="0">
            <a:spAutoFit/>
          </a:bodyPr>
          <a:lstStyle/>
          <a:p>
            <a:endParaRPr lang="en-US" dirty="0">
              <a:solidFill>
                <a:srgbClr val="212121"/>
              </a:solidFill>
            </a:endParaRPr>
          </a:p>
        </p:txBody>
      </p:sp>
      <p:sp>
        <p:nvSpPr>
          <p:cNvPr id="8" name="TextBox 7"/>
          <p:cNvSpPr txBox="1"/>
          <p:nvPr/>
        </p:nvSpPr>
        <p:spPr>
          <a:xfrm>
            <a:off x="5044611" y="3625081"/>
            <a:ext cx="1214437" cy="350694"/>
          </a:xfrm>
          <a:prstGeom prst="rect">
            <a:avLst/>
          </a:prstGeom>
          <a:noFill/>
          <a:ln>
            <a:solidFill>
              <a:schemeClr val="tx1"/>
            </a:solidFill>
          </a:ln>
        </p:spPr>
        <p:txBody>
          <a:bodyPr wrap="square" rtlCol="0">
            <a:spAutoFit/>
          </a:bodyPr>
          <a:lstStyle/>
          <a:p>
            <a:endParaRPr lang="en-US" dirty="0">
              <a:solidFill>
                <a:srgbClr val="212121"/>
              </a:solidFill>
            </a:endParaRPr>
          </a:p>
        </p:txBody>
      </p:sp>
      <p:cxnSp>
        <p:nvCxnSpPr>
          <p:cNvPr id="9" name="Straight Connector 8"/>
          <p:cNvCxnSpPr/>
          <p:nvPr/>
        </p:nvCxnSpPr>
        <p:spPr>
          <a:xfrm>
            <a:off x="5794707" y="3269785"/>
            <a:ext cx="0" cy="35069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5948799" y="3309401"/>
            <a:ext cx="127581" cy="271462"/>
          </a:xfrm>
          <a:prstGeom prst="rect">
            <a:avLst/>
          </a:prstGeom>
          <a:solidFill>
            <a:schemeClr val="bg1">
              <a:lumMod val="65000"/>
            </a:schemeClr>
          </a:solidFill>
        </p:spPr>
        <p:txBody>
          <a:bodyPr wrap="square" rtlCol="0">
            <a:spAutoFit/>
          </a:bodyPr>
          <a:lstStyle/>
          <a:p>
            <a:endParaRPr lang="en-US" sz="1100" dirty="0">
              <a:solidFill>
                <a:srgbClr val="212121"/>
              </a:solidFill>
            </a:endParaRPr>
          </a:p>
        </p:txBody>
      </p:sp>
      <p:sp>
        <p:nvSpPr>
          <p:cNvPr id="11" name="Flowchart: Magnetic Disk 10"/>
          <p:cNvSpPr/>
          <p:nvPr/>
        </p:nvSpPr>
        <p:spPr>
          <a:xfrm>
            <a:off x="9642370" y="1002189"/>
            <a:ext cx="2371725" cy="3848785"/>
          </a:xfrm>
          <a:prstGeom prst="flowChartMagneticDisk">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2" name="TextBox 11"/>
          <p:cNvSpPr txBox="1"/>
          <p:nvPr/>
        </p:nvSpPr>
        <p:spPr>
          <a:xfrm>
            <a:off x="10567735" y="3058433"/>
            <a:ext cx="520993" cy="530643"/>
          </a:xfrm>
          <a:prstGeom prst="rect">
            <a:avLst/>
          </a:prstGeom>
          <a:noFill/>
          <a:ln>
            <a:solidFill>
              <a:schemeClr val="tx1"/>
            </a:solidFill>
          </a:ln>
        </p:spPr>
        <p:txBody>
          <a:bodyPr wrap="square" rtlCol="0">
            <a:spAutoFit/>
          </a:bodyPr>
          <a:lstStyle/>
          <a:p>
            <a:endParaRPr lang="en-US" dirty="0">
              <a:solidFill>
                <a:srgbClr val="212121"/>
              </a:solidFill>
            </a:endParaRPr>
          </a:p>
        </p:txBody>
      </p:sp>
      <p:sp>
        <p:nvSpPr>
          <p:cNvPr id="13" name="TextBox 12"/>
          <p:cNvSpPr txBox="1"/>
          <p:nvPr/>
        </p:nvSpPr>
        <p:spPr>
          <a:xfrm>
            <a:off x="7050254" y="4049847"/>
            <a:ext cx="1214437" cy="350694"/>
          </a:xfrm>
          <a:prstGeom prst="rect">
            <a:avLst/>
          </a:prstGeom>
          <a:noFill/>
          <a:ln>
            <a:solidFill>
              <a:schemeClr val="tx1"/>
            </a:solidFill>
          </a:ln>
        </p:spPr>
        <p:txBody>
          <a:bodyPr wrap="square" rtlCol="0">
            <a:spAutoFit/>
          </a:bodyPr>
          <a:lstStyle/>
          <a:p>
            <a:endParaRPr lang="en-US" dirty="0">
              <a:solidFill>
                <a:srgbClr val="212121"/>
              </a:solidFill>
            </a:endParaRPr>
          </a:p>
        </p:txBody>
      </p:sp>
      <p:sp>
        <p:nvSpPr>
          <p:cNvPr id="14" name="TextBox 13"/>
          <p:cNvSpPr txBox="1"/>
          <p:nvPr/>
        </p:nvSpPr>
        <p:spPr>
          <a:xfrm>
            <a:off x="7050254" y="4400541"/>
            <a:ext cx="1214437" cy="350694"/>
          </a:xfrm>
          <a:prstGeom prst="rect">
            <a:avLst/>
          </a:prstGeom>
          <a:noFill/>
          <a:ln>
            <a:solidFill>
              <a:schemeClr val="tx1"/>
            </a:solidFill>
          </a:ln>
        </p:spPr>
        <p:txBody>
          <a:bodyPr wrap="square" rtlCol="0">
            <a:spAutoFit/>
          </a:bodyPr>
          <a:lstStyle/>
          <a:p>
            <a:endParaRPr lang="en-US" dirty="0">
              <a:solidFill>
                <a:srgbClr val="212121"/>
              </a:solidFill>
            </a:endParaRPr>
          </a:p>
        </p:txBody>
      </p:sp>
      <p:sp>
        <p:nvSpPr>
          <p:cNvPr id="15" name="TextBox 14"/>
          <p:cNvSpPr txBox="1"/>
          <p:nvPr/>
        </p:nvSpPr>
        <p:spPr>
          <a:xfrm>
            <a:off x="7050253" y="4755837"/>
            <a:ext cx="1214437" cy="369332"/>
          </a:xfrm>
          <a:prstGeom prst="rect">
            <a:avLst/>
          </a:prstGeom>
          <a:noFill/>
          <a:ln>
            <a:solidFill>
              <a:schemeClr val="tx1"/>
            </a:solidFill>
          </a:ln>
        </p:spPr>
        <p:txBody>
          <a:bodyPr wrap="square" rtlCol="0">
            <a:spAutoFit/>
          </a:bodyPr>
          <a:lstStyle/>
          <a:p>
            <a:r>
              <a:rPr lang="en-US" dirty="0">
                <a:solidFill>
                  <a:srgbClr val="212121"/>
                </a:solidFill>
              </a:rPr>
              <a:t>Free Frame</a:t>
            </a:r>
          </a:p>
        </p:txBody>
      </p:sp>
      <p:sp>
        <p:nvSpPr>
          <p:cNvPr id="16" name="TextBox 15"/>
          <p:cNvSpPr txBox="1"/>
          <p:nvPr/>
        </p:nvSpPr>
        <p:spPr>
          <a:xfrm>
            <a:off x="7050253" y="5111133"/>
            <a:ext cx="1214437" cy="350694"/>
          </a:xfrm>
          <a:prstGeom prst="rect">
            <a:avLst/>
          </a:prstGeom>
          <a:noFill/>
          <a:ln>
            <a:solidFill>
              <a:schemeClr val="tx1"/>
            </a:solidFill>
          </a:ln>
        </p:spPr>
        <p:txBody>
          <a:bodyPr wrap="square" rtlCol="0">
            <a:spAutoFit/>
          </a:bodyPr>
          <a:lstStyle/>
          <a:p>
            <a:endParaRPr lang="en-US" dirty="0">
              <a:solidFill>
                <a:srgbClr val="212121"/>
              </a:solidFill>
            </a:endParaRPr>
          </a:p>
        </p:txBody>
      </p:sp>
      <p:sp>
        <p:nvSpPr>
          <p:cNvPr id="17" name="TextBox 16"/>
          <p:cNvSpPr txBox="1"/>
          <p:nvPr/>
        </p:nvSpPr>
        <p:spPr>
          <a:xfrm>
            <a:off x="7050252" y="5461827"/>
            <a:ext cx="1214437" cy="350694"/>
          </a:xfrm>
          <a:prstGeom prst="rect">
            <a:avLst/>
          </a:prstGeom>
          <a:noFill/>
          <a:ln>
            <a:solidFill>
              <a:schemeClr val="tx1"/>
            </a:solidFill>
          </a:ln>
        </p:spPr>
        <p:txBody>
          <a:bodyPr wrap="square" rtlCol="0">
            <a:spAutoFit/>
          </a:bodyPr>
          <a:lstStyle/>
          <a:p>
            <a:endParaRPr lang="en-US" dirty="0">
              <a:solidFill>
                <a:srgbClr val="212121"/>
              </a:solidFill>
            </a:endParaRPr>
          </a:p>
        </p:txBody>
      </p:sp>
      <p:sp>
        <p:nvSpPr>
          <p:cNvPr id="18" name="TextBox 17"/>
          <p:cNvSpPr txBox="1"/>
          <p:nvPr/>
        </p:nvSpPr>
        <p:spPr>
          <a:xfrm>
            <a:off x="7050252" y="5812521"/>
            <a:ext cx="1214437" cy="350694"/>
          </a:xfrm>
          <a:prstGeom prst="rect">
            <a:avLst/>
          </a:prstGeom>
          <a:noFill/>
          <a:ln>
            <a:solidFill>
              <a:schemeClr val="tx1"/>
            </a:solidFill>
          </a:ln>
        </p:spPr>
        <p:txBody>
          <a:bodyPr wrap="square" rtlCol="0">
            <a:spAutoFit/>
          </a:bodyPr>
          <a:lstStyle/>
          <a:p>
            <a:endParaRPr lang="en-US" dirty="0">
              <a:solidFill>
                <a:srgbClr val="212121"/>
              </a:solidFill>
            </a:endParaRPr>
          </a:p>
        </p:txBody>
      </p:sp>
      <p:sp>
        <p:nvSpPr>
          <p:cNvPr id="19" name="TextBox 18"/>
          <p:cNvSpPr txBox="1"/>
          <p:nvPr/>
        </p:nvSpPr>
        <p:spPr>
          <a:xfrm>
            <a:off x="7050251" y="6163215"/>
            <a:ext cx="1214437" cy="350694"/>
          </a:xfrm>
          <a:prstGeom prst="rect">
            <a:avLst/>
          </a:prstGeom>
          <a:noFill/>
          <a:ln>
            <a:solidFill>
              <a:schemeClr val="tx1"/>
            </a:solidFill>
          </a:ln>
        </p:spPr>
        <p:txBody>
          <a:bodyPr wrap="square" rtlCol="0">
            <a:spAutoFit/>
          </a:bodyPr>
          <a:lstStyle/>
          <a:p>
            <a:endParaRPr lang="en-US" dirty="0">
              <a:solidFill>
                <a:srgbClr val="212121"/>
              </a:solidFill>
            </a:endParaRPr>
          </a:p>
        </p:txBody>
      </p:sp>
      <p:cxnSp>
        <p:nvCxnSpPr>
          <p:cNvPr id="20" name="Elbow Connector 19"/>
          <p:cNvCxnSpPr>
            <a:stCxn id="4" idx="3"/>
            <a:endCxn id="12" idx="0"/>
          </p:cNvCxnSpPr>
          <p:nvPr/>
        </p:nvCxnSpPr>
        <p:spPr>
          <a:xfrm>
            <a:off x="5987211" y="1417688"/>
            <a:ext cx="4841021" cy="1640745"/>
          </a:xfrm>
          <a:prstGeom prst="bentConnector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Elbow Connector 20"/>
          <p:cNvCxnSpPr/>
          <p:nvPr/>
        </p:nvCxnSpPr>
        <p:spPr>
          <a:xfrm>
            <a:off x="3737264" y="3031782"/>
            <a:ext cx="1307347" cy="308648"/>
          </a:xfrm>
          <a:prstGeom prst="bentConnector3">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Elbow Connector 21"/>
          <p:cNvCxnSpPr>
            <a:stCxn id="15" idx="1"/>
          </p:cNvCxnSpPr>
          <p:nvPr/>
        </p:nvCxnSpPr>
        <p:spPr>
          <a:xfrm rot="10800000">
            <a:off x="5056777" y="3595863"/>
            <a:ext cx="1993477" cy="1344641"/>
          </a:xfrm>
          <a:prstGeom prst="bentConnector3">
            <a:avLst>
              <a:gd name="adj1" fmla="val 122426"/>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H="1">
            <a:off x="3697443" y="3449858"/>
            <a:ext cx="1354904"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Elbow Connector 23"/>
          <p:cNvCxnSpPr>
            <a:stCxn id="7" idx="3"/>
          </p:cNvCxnSpPr>
          <p:nvPr/>
        </p:nvCxnSpPr>
        <p:spPr>
          <a:xfrm flipH="1" flipV="1">
            <a:off x="5994946" y="1700463"/>
            <a:ext cx="264103" cy="1744669"/>
          </a:xfrm>
          <a:prstGeom prst="bentConnector4">
            <a:avLst>
              <a:gd name="adj1" fmla="val -86557"/>
              <a:gd name="adj2" fmla="val 10008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Elbow Connector 24"/>
          <p:cNvCxnSpPr>
            <a:stCxn id="12" idx="2"/>
            <a:endCxn id="15" idx="3"/>
          </p:cNvCxnSpPr>
          <p:nvPr/>
        </p:nvCxnSpPr>
        <p:spPr>
          <a:xfrm rot="5400000">
            <a:off x="8870748" y="2983018"/>
            <a:ext cx="1351427" cy="2563542"/>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Oval 25"/>
          <p:cNvSpPr/>
          <p:nvPr/>
        </p:nvSpPr>
        <p:spPr>
          <a:xfrm>
            <a:off x="3855709" y="2399131"/>
            <a:ext cx="341928" cy="375598"/>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212121"/>
                </a:solidFill>
              </a:rPr>
              <a:t>1</a:t>
            </a:r>
            <a:endParaRPr lang="en-US" sz="1600" b="1" dirty="0">
              <a:solidFill>
                <a:srgbClr val="212121"/>
              </a:solidFill>
            </a:endParaRPr>
          </a:p>
        </p:txBody>
      </p:sp>
      <p:sp>
        <p:nvSpPr>
          <p:cNvPr id="27" name="Oval 26"/>
          <p:cNvSpPr/>
          <p:nvPr/>
        </p:nvSpPr>
        <p:spPr>
          <a:xfrm>
            <a:off x="6862351" y="2349722"/>
            <a:ext cx="321263" cy="319897"/>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212121"/>
                </a:solidFill>
              </a:rPr>
              <a:t>2</a:t>
            </a:r>
            <a:endParaRPr lang="en-US" sz="1600" b="1" dirty="0">
              <a:solidFill>
                <a:srgbClr val="212121"/>
              </a:solidFill>
            </a:endParaRPr>
          </a:p>
        </p:txBody>
      </p:sp>
      <p:sp>
        <p:nvSpPr>
          <p:cNvPr id="28" name="Oval 27"/>
          <p:cNvSpPr/>
          <p:nvPr/>
        </p:nvSpPr>
        <p:spPr>
          <a:xfrm>
            <a:off x="6948997" y="865787"/>
            <a:ext cx="344652" cy="340549"/>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212121"/>
                </a:solidFill>
              </a:rPr>
              <a:t>3</a:t>
            </a:r>
            <a:endParaRPr lang="en-US" b="1" dirty="0">
              <a:solidFill>
                <a:srgbClr val="212121"/>
              </a:solidFill>
            </a:endParaRPr>
          </a:p>
        </p:txBody>
      </p:sp>
      <p:sp>
        <p:nvSpPr>
          <p:cNvPr id="29" name="Oval 28"/>
          <p:cNvSpPr/>
          <p:nvPr/>
        </p:nvSpPr>
        <p:spPr>
          <a:xfrm>
            <a:off x="8440181" y="5061264"/>
            <a:ext cx="430406" cy="400564"/>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212121"/>
                </a:solidFill>
              </a:rPr>
              <a:t>4</a:t>
            </a:r>
            <a:endParaRPr lang="en-US" b="1" dirty="0">
              <a:solidFill>
                <a:srgbClr val="212121"/>
              </a:solidFill>
            </a:endParaRPr>
          </a:p>
        </p:txBody>
      </p:sp>
      <p:sp>
        <p:nvSpPr>
          <p:cNvPr id="30" name="Oval 29"/>
          <p:cNvSpPr/>
          <p:nvPr/>
        </p:nvSpPr>
        <p:spPr>
          <a:xfrm>
            <a:off x="4626659" y="5072260"/>
            <a:ext cx="398032" cy="389567"/>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212121"/>
                </a:solidFill>
              </a:rPr>
              <a:t>5</a:t>
            </a:r>
            <a:endParaRPr lang="en-US" sz="1600" b="1" dirty="0">
              <a:solidFill>
                <a:srgbClr val="212121"/>
              </a:solidFill>
            </a:endParaRPr>
          </a:p>
        </p:txBody>
      </p:sp>
      <p:sp>
        <p:nvSpPr>
          <p:cNvPr id="31" name="Oval 30"/>
          <p:cNvSpPr/>
          <p:nvPr/>
        </p:nvSpPr>
        <p:spPr>
          <a:xfrm>
            <a:off x="3879837" y="3645844"/>
            <a:ext cx="403400" cy="353674"/>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212121"/>
                </a:solidFill>
              </a:rPr>
              <a:t>6</a:t>
            </a:r>
            <a:endParaRPr lang="en-US" sz="1600" b="1" dirty="0">
              <a:solidFill>
                <a:srgbClr val="212121"/>
              </a:solidFill>
            </a:endParaRPr>
          </a:p>
        </p:txBody>
      </p:sp>
      <p:sp>
        <p:nvSpPr>
          <p:cNvPr id="32" name="TextBox 31"/>
          <p:cNvSpPr txBox="1"/>
          <p:nvPr/>
        </p:nvSpPr>
        <p:spPr>
          <a:xfrm>
            <a:off x="4323546" y="2421439"/>
            <a:ext cx="1099981" cy="369332"/>
          </a:xfrm>
          <a:prstGeom prst="rect">
            <a:avLst/>
          </a:prstGeom>
          <a:noFill/>
        </p:spPr>
        <p:txBody>
          <a:bodyPr wrap="none" rtlCol="0">
            <a:spAutoFit/>
          </a:bodyPr>
          <a:lstStyle/>
          <a:p>
            <a:r>
              <a:rPr lang="en-US" dirty="0">
                <a:solidFill>
                  <a:srgbClr val="FF0000"/>
                </a:solidFill>
              </a:rPr>
              <a:t>Reference</a:t>
            </a:r>
          </a:p>
        </p:txBody>
      </p:sp>
      <p:sp>
        <p:nvSpPr>
          <p:cNvPr id="33" name="TextBox 32"/>
          <p:cNvSpPr txBox="1"/>
          <p:nvPr/>
        </p:nvSpPr>
        <p:spPr>
          <a:xfrm>
            <a:off x="3341603" y="3975775"/>
            <a:ext cx="1211796" cy="646331"/>
          </a:xfrm>
          <a:prstGeom prst="rect">
            <a:avLst/>
          </a:prstGeom>
          <a:noFill/>
        </p:spPr>
        <p:txBody>
          <a:bodyPr wrap="square" rtlCol="0">
            <a:spAutoFit/>
          </a:bodyPr>
          <a:lstStyle/>
          <a:p>
            <a:pPr algn="ctr"/>
            <a:r>
              <a:rPr lang="en-US" dirty="0">
                <a:solidFill>
                  <a:srgbClr val="FF0000"/>
                </a:solidFill>
              </a:rPr>
              <a:t>Restart Instruction</a:t>
            </a:r>
          </a:p>
        </p:txBody>
      </p:sp>
      <p:sp>
        <p:nvSpPr>
          <p:cNvPr id="34" name="TextBox 33"/>
          <p:cNvSpPr txBox="1"/>
          <p:nvPr/>
        </p:nvSpPr>
        <p:spPr>
          <a:xfrm>
            <a:off x="5232558" y="4963313"/>
            <a:ext cx="1211796" cy="646331"/>
          </a:xfrm>
          <a:prstGeom prst="rect">
            <a:avLst/>
          </a:prstGeom>
          <a:noFill/>
        </p:spPr>
        <p:txBody>
          <a:bodyPr wrap="square" rtlCol="0">
            <a:spAutoFit/>
          </a:bodyPr>
          <a:lstStyle/>
          <a:p>
            <a:pPr algn="ctr"/>
            <a:r>
              <a:rPr lang="en-US" dirty="0">
                <a:solidFill>
                  <a:srgbClr val="FF0000"/>
                </a:solidFill>
              </a:rPr>
              <a:t>Restart Page Table</a:t>
            </a:r>
          </a:p>
        </p:txBody>
      </p:sp>
      <p:sp>
        <p:nvSpPr>
          <p:cNvPr id="35" name="TextBox 34"/>
          <p:cNvSpPr txBox="1"/>
          <p:nvPr/>
        </p:nvSpPr>
        <p:spPr>
          <a:xfrm>
            <a:off x="9074763" y="4974310"/>
            <a:ext cx="1531263" cy="646331"/>
          </a:xfrm>
          <a:prstGeom prst="rect">
            <a:avLst/>
          </a:prstGeom>
          <a:noFill/>
        </p:spPr>
        <p:txBody>
          <a:bodyPr wrap="square" rtlCol="0">
            <a:spAutoFit/>
          </a:bodyPr>
          <a:lstStyle/>
          <a:p>
            <a:pPr algn="ctr"/>
            <a:r>
              <a:rPr lang="en-US" dirty="0">
                <a:solidFill>
                  <a:srgbClr val="FF0000"/>
                </a:solidFill>
              </a:rPr>
              <a:t>Bring in missing Page</a:t>
            </a:r>
          </a:p>
        </p:txBody>
      </p:sp>
      <p:sp>
        <p:nvSpPr>
          <p:cNvPr id="36" name="TextBox 35"/>
          <p:cNvSpPr txBox="1"/>
          <p:nvPr/>
        </p:nvSpPr>
        <p:spPr>
          <a:xfrm>
            <a:off x="7293649" y="733258"/>
            <a:ext cx="1942077" cy="646331"/>
          </a:xfrm>
          <a:prstGeom prst="rect">
            <a:avLst/>
          </a:prstGeom>
          <a:noFill/>
        </p:spPr>
        <p:txBody>
          <a:bodyPr wrap="square" rtlCol="0">
            <a:spAutoFit/>
          </a:bodyPr>
          <a:lstStyle/>
          <a:p>
            <a:pPr algn="ctr"/>
            <a:r>
              <a:rPr lang="en-US" dirty="0">
                <a:solidFill>
                  <a:srgbClr val="FF0000"/>
                </a:solidFill>
              </a:rPr>
              <a:t>Page is on backing store (disk)</a:t>
            </a:r>
          </a:p>
        </p:txBody>
      </p:sp>
      <p:sp>
        <p:nvSpPr>
          <p:cNvPr id="37" name="TextBox 36"/>
          <p:cNvSpPr txBox="1"/>
          <p:nvPr/>
        </p:nvSpPr>
        <p:spPr>
          <a:xfrm>
            <a:off x="6954950" y="2666278"/>
            <a:ext cx="599844" cy="369332"/>
          </a:xfrm>
          <a:prstGeom prst="rect">
            <a:avLst/>
          </a:prstGeom>
          <a:noFill/>
        </p:spPr>
        <p:txBody>
          <a:bodyPr wrap="none" rtlCol="0">
            <a:spAutoFit/>
          </a:bodyPr>
          <a:lstStyle/>
          <a:p>
            <a:r>
              <a:rPr lang="en-US" dirty="0">
                <a:solidFill>
                  <a:srgbClr val="FF0000"/>
                </a:solidFill>
              </a:rPr>
              <a:t>Trap</a:t>
            </a:r>
          </a:p>
        </p:txBody>
      </p:sp>
      <p:sp>
        <p:nvSpPr>
          <p:cNvPr id="38" name="TextBox 37"/>
          <p:cNvSpPr txBox="1"/>
          <p:nvPr/>
        </p:nvSpPr>
        <p:spPr>
          <a:xfrm>
            <a:off x="399761" y="864863"/>
            <a:ext cx="3984788" cy="1477328"/>
          </a:xfrm>
          <a:prstGeom prst="rect">
            <a:avLst/>
          </a:prstGeom>
          <a:noFill/>
        </p:spPr>
        <p:txBody>
          <a:bodyPr wrap="square" rtlCol="0">
            <a:spAutoFit/>
          </a:bodyPr>
          <a:lstStyle/>
          <a:p>
            <a:r>
              <a:rPr lang="en-US" dirty="0">
                <a:solidFill>
                  <a:srgbClr val="00B050"/>
                </a:solidFill>
              </a:rPr>
              <a:t>When logical address is generated , page table is searched.</a:t>
            </a:r>
          </a:p>
          <a:p>
            <a:r>
              <a:rPr lang="en-US" dirty="0">
                <a:solidFill>
                  <a:srgbClr val="00B050"/>
                </a:solidFill>
              </a:rPr>
              <a:t>If page validity bit is set to invalid, means page required is not available in memory. This is known as </a:t>
            </a:r>
            <a:r>
              <a:rPr lang="en-US" dirty="0">
                <a:solidFill>
                  <a:srgbClr val="FF0000"/>
                </a:solidFill>
              </a:rPr>
              <a:t>Page Fault</a:t>
            </a:r>
          </a:p>
        </p:txBody>
      </p:sp>
      <p:sp>
        <p:nvSpPr>
          <p:cNvPr id="39" name="TextBox 38"/>
          <p:cNvSpPr txBox="1"/>
          <p:nvPr/>
        </p:nvSpPr>
        <p:spPr>
          <a:xfrm>
            <a:off x="2277978" y="2421439"/>
            <a:ext cx="1601859" cy="1628408"/>
          </a:xfrm>
          <a:prstGeom prst="rect">
            <a:avLst/>
          </a:prstGeom>
          <a:noFill/>
          <a:ln w="28575">
            <a:solidFill>
              <a:srgbClr val="00B0F0"/>
            </a:solidFill>
          </a:ln>
        </p:spPr>
        <p:txBody>
          <a:bodyPr wrap="square" rtlCol="0">
            <a:spAutoFit/>
          </a:bodyPr>
          <a:lstStyle/>
          <a:p>
            <a:endParaRPr lang="en-US" dirty="0">
              <a:solidFill>
                <a:srgbClr val="212121"/>
              </a:solidFill>
            </a:endParaRPr>
          </a:p>
        </p:txBody>
      </p:sp>
      <p:sp>
        <p:nvSpPr>
          <p:cNvPr id="40" name="TextBox 39"/>
          <p:cNvSpPr txBox="1"/>
          <p:nvPr/>
        </p:nvSpPr>
        <p:spPr>
          <a:xfrm>
            <a:off x="4926168" y="2775970"/>
            <a:ext cx="1456235" cy="1345792"/>
          </a:xfrm>
          <a:prstGeom prst="rect">
            <a:avLst/>
          </a:prstGeom>
          <a:noFill/>
          <a:ln w="28575">
            <a:solidFill>
              <a:srgbClr val="00B0F0"/>
            </a:solidFill>
          </a:ln>
        </p:spPr>
        <p:txBody>
          <a:bodyPr wrap="square" rtlCol="0">
            <a:spAutoFit/>
          </a:bodyPr>
          <a:lstStyle/>
          <a:p>
            <a:endParaRPr lang="en-US" dirty="0">
              <a:solidFill>
                <a:srgbClr val="212121"/>
              </a:solidFill>
            </a:endParaRPr>
          </a:p>
        </p:txBody>
      </p:sp>
      <p:sp>
        <p:nvSpPr>
          <p:cNvPr id="41" name="TextBox 40"/>
          <p:cNvSpPr txBox="1"/>
          <p:nvPr/>
        </p:nvSpPr>
        <p:spPr>
          <a:xfrm>
            <a:off x="72218" y="4388065"/>
            <a:ext cx="3684659" cy="1477328"/>
          </a:xfrm>
          <a:prstGeom prst="rect">
            <a:avLst/>
          </a:prstGeom>
          <a:noFill/>
        </p:spPr>
        <p:txBody>
          <a:bodyPr wrap="square" rtlCol="0">
            <a:spAutoFit/>
          </a:bodyPr>
          <a:lstStyle/>
          <a:p>
            <a:r>
              <a:rPr lang="en-US" dirty="0">
                <a:solidFill>
                  <a:srgbClr val="00B050"/>
                </a:solidFill>
              </a:rPr>
              <a:t>Operating system request to bring page into memory from disk</a:t>
            </a:r>
          </a:p>
          <a:p>
            <a:endParaRPr lang="en-US" dirty="0">
              <a:solidFill>
                <a:srgbClr val="00B050"/>
              </a:solidFill>
            </a:endParaRPr>
          </a:p>
          <a:p>
            <a:r>
              <a:rPr lang="en-US" dirty="0">
                <a:solidFill>
                  <a:srgbClr val="00B050"/>
                </a:solidFill>
              </a:rPr>
              <a:t>Operating system determines location of page on disk</a:t>
            </a:r>
            <a:endParaRPr lang="en-US" dirty="0">
              <a:solidFill>
                <a:srgbClr val="FF0000"/>
              </a:solidFill>
            </a:endParaRPr>
          </a:p>
        </p:txBody>
      </p:sp>
      <p:sp>
        <p:nvSpPr>
          <p:cNvPr id="42" name="TextBox 41"/>
          <p:cNvSpPr txBox="1"/>
          <p:nvPr/>
        </p:nvSpPr>
        <p:spPr>
          <a:xfrm>
            <a:off x="4407622" y="929889"/>
            <a:ext cx="1700164" cy="1011114"/>
          </a:xfrm>
          <a:prstGeom prst="rect">
            <a:avLst/>
          </a:prstGeom>
          <a:noFill/>
          <a:ln w="28575">
            <a:solidFill>
              <a:srgbClr val="00B0F0"/>
            </a:solidFill>
          </a:ln>
        </p:spPr>
        <p:txBody>
          <a:bodyPr wrap="square" rtlCol="0">
            <a:spAutoFit/>
          </a:bodyPr>
          <a:lstStyle/>
          <a:p>
            <a:endParaRPr lang="en-US" dirty="0">
              <a:solidFill>
                <a:srgbClr val="212121"/>
              </a:solidFill>
            </a:endParaRPr>
          </a:p>
        </p:txBody>
      </p:sp>
      <p:sp>
        <p:nvSpPr>
          <p:cNvPr id="43" name="TextBox 42"/>
          <p:cNvSpPr txBox="1"/>
          <p:nvPr/>
        </p:nvSpPr>
        <p:spPr>
          <a:xfrm>
            <a:off x="10091514" y="2859906"/>
            <a:ext cx="1545604" cy="1011114"/>
          </a:xfrm>
          <a:prstGeom prst="rect">
            <a:avLst/>
          </a:prstGeom>
          <a:noFill/>
          <a:ln w="28575">
            <a:solidFill>
              <a:srgbClr val="00B0F0"/>
            </a:solidFill>
          </a:ln>
        </p:spPr>
        <p:txBody>
          <a:bodyPr wrap="square" rtlCol="0">
            <a:spAutoFit/>
          </a:bodyPr>
          <a:lstStyle/>
          <a:p>
            <a:endParaRPr lang="en-US" dirty="0">
              <a:solidFill>
                <a:srgbClr val="212121"/>
              </a:solidFill>
            </a:endParaRPr>
          </a:p>
        </p:txBody>
      </p:sp>
      <p:pic>
        <p:nvPicPr>
          <p:cNvPr id="51" name="Picture 5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5517559" y="3595863"/>
            <a:ext cx="394370" cy="431425"/>
          </a:xfrm>
          <a:prstGeom prst="rect">
            <a:avLst/>
          </a:prstGeom>
        </p:spPr>
      </p:pic>
      <p:sp>
        <p:nvSpPr>
          <p:cNvPr id="52" name="TextBox 51"/>
          <p:cNvSpPr txBox="1"/>
          <p:nvPr/>
        </p:nvSpPr>
        <p:spPr>
          <a:xfrm>
            <a:off x="10511406" y="3980317"/>
            <a:ext cx="1531263" cy="369332"/>
          </a:xfrm>
          <a:prstGeom prst="rect">
            <a:avLst/>
          </a:prstGeom>
          <a:noFill/>
        </p:spPr>
        <p:txBody>
          <a:bodyPr wrap="square" rtlCol="0">
            <a:spAutoFit/>
          </a:bodyPr>
          <a:lstStyle/>
          <a:p>
            <a:pPr algn="ctr"/>
            <a:r>
              <a:rPr lang="en-US" dirty="0">
                <a:solidFill>
                  <a:srgbClr val="FF0000"/>
                </a:solidFill>
              </a:rPr>
              <a:t>Disk</a:t>
            </a:r>
          </a:p>
        </p:txBody>
      </p:sp>
      <p:sp>
        <p:nvSpPr>
          <p:cNvPr id="53" name="TextBox 52"/>
          <p:cNvSpPr txBox="1"/>
          <p:nvPr/>
        </p:nvSpPr>
        <p:spPr>
          <a:xfrm>
            <a:off x="4861842" y="4178107"/>
            <a:ext cx="1531263" cy="369332"/>
          </a:xfrm>
          <a:prstGeom prst="rect">
            <a:avLst/>
          </a:prstGeom>
          <a:noFill/>
        </p:spPr>
        <p:txBody>
          <a:bodyPr wrap="square" rtlCol="0">
            <a:spAutoFit/>
          </a:bodyPr>
          <a:lstStyle/>
          <a:p>
            <a:pPr algn="ctr"/>
            <a:r>
              <a:rPr lang="en-US" dirty="0">
                <a:solidFill>
                  <a:srgbClr val="FF0000"/>
                </a:solidFill>
              </a:rPr>
              <a:t>Page Fault</a:t>
            </a:r>
          </a:p>
        </p:txBody>
      </p:sp>
    </p:spTree>
    <p:extLst>
      <p:ext uri="{BB962C8B-B14F-4D97-AF65-F5344CB8AC3E}">
        <p14:creationId xmlns:p14="http://schemas.microsoft.com/office/powerpoint/2010/main" val="2871290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xit"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4"/>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9"/>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2"/>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4"/>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5"/>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6"/>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7"/>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38">
                                            <p:txEl>
                                              <p:pRg st="0" end="0"/>
                                            </p:txEl>
                                          </p:spTgt>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39"/>
                                        </p:tgtEl>
                                        <p:attrNameLst>
                                          <p:attrName>style.visibility</p:attrName>
                                        </p:attrNameLst>
                                      </p:cBhvr>
                                      <p:to>
                                        <p:strVal val="visible"/>
                                      </p:to>
                                    </p:set>
                                  </p:childTnLst>
                                </p:cTn>
                              </p:par>
                              <p:par>
                                <p:cTn id="87" presetID="26" presetClass="emph" presetSubtype="0" repeatCount="indefinite" fill="hold" grpId="1" nodeType="withEffect">
                                  <p:stCondLst>
                                    <p:cond delay="0"/>
                                  </p:stCondLst>
                                  <p:endCondLst>
                                    <p:cond evt="onNext" delay="0">
                                      <p:tgtEl>
                                        <p:sldTgt/>
                                      </p:tgtEl>
                                    </p:cond>
                                  </p:endCondLst>
                                  <p:childTnLst>
                                    <p:animEffect transition="out" filter="fade">
                                      <p:cBhvr>
                                        <p:cTn id="88" dur="500" tmFilter="0, 0; .2, .5; .8, .5; 1, 0"/>
                                        <p:tgtEl>
                                          <p:spTgt spid="39"/>
                                        </p:tgtEl>
                                      </p:cBhvr>
                                    </p:animEffect>
                                    <p:animScale>
                                      <p:cBhvr>
                                        <p:cTn id="89" dur="250" autoRev="1" fill="hold"/>
                                        <p:tgtEl>
                                          <p:spTgt spid="39"/>
                                        </p:tgtEl>
                                      </p:cBhvr>
                                      <p:by x="105000" y="105000"/>
                                    </p:animScale>
                                  </p:childTnLst>
                                </p:cTn>
                              </p:par>
                            </p:childTnLst>
                          </p:cTn>
                        </p:par>
                      </p:childTnLst>
                    </p:cTn>
                  </p:par>
                  <p:par>
                    <p:cTn id="90" fill="hold">
                      <p:stCondLst>
                        <p:cond delay="indefinite"/>
                      </p:stCondLst>
                      <p:childTnLst>
                        <p:par>
                          <p:cTn id="91" fill="hold">
                            <p:stCondLst>
                              <p:cond delay="0"/>
                            </p:stCondLst>
                            <p:childTnLst>
                              <p:par>
                                <p:cTn id="92" presetID="1" presetClass="exit" presetSubtype="0" fill="hold" grpId="2" nodeType="clickEffect">
                                  <p:stCondLst>
                                    <p:cond delay="0"/>
                                  </p:stCondLst>
                                  <p:childTnLst>
                                    <p:set>
                                      <p:cBhvr>
                                        <p:cTn id="93" dur="1" fill="hold">
                                          <p:stCondLst>
                                            <p:cond delay="0"/>
                                          </p:stCondLst>
                                        </p:cTn>
                                        <p:tgtEl>
                                          <p:spTgt spid="39"/>
                                        </p:tgtEl>
                                        <p:attrNameLst>
                                          <p:attrName>style.visibility</p:attrName>
                                        </p:attrNameLst>
                                      </p:cBhvr>
                                      <p:to>
                                        <p:strVal val="hidden"/>
                                      </p:to>
                                    </p:set>
                                  </p:childTnLst>
                                </p:cTn>
                              </p:par>
                              <p:par>
                                <p:cTn id="94" presetID="1" presetClass="entr" presetSubtype="0" fill="hold" nodeType="withEffect">
                                  <p:stCondLst>
                                    <p:cond delay="0"/>
                                  </p:stCondLst>
                                  <p:childTnLst>
                                    <p:set>
                                      <p:cBhvr>
                                        <p:cTn id="95" dur="1" fill="hold">
                                          <p:stCondLst>
                                            <p:cond delay="0"/>
                                          </p:stCondLst>
                                        </p:cTn>
                                        <p:tgtEl>
                                          <p:spTgt spid="38">
                                            <p:txEl>
                                              <p:pRg st="1" end="1"/>
                                            </p:txEl>
                                          </p:spTgt>
                                        </p:tgtEl>
                                        <p:attrNameLst>
                                          <p:attrName>style.visibility</p:attrName>
                                        </p:attrNameLst>
                                      </p:cBhvr>
                                      <p:to>
                                        <p:strVal val="visible"/>
                                      </p:to>
                                    </p:set>
                                  </p:childTnLst>
                                </p:cTn>
                              </p:par>
                              <p:par>
                                <p:cTn id="96" presetID="1" presetClass="entr" presetSubtype="0" fill="hold" nodeType="withEffect">
                                  <p:stCondLst>
                                    <p:cond delay="0"/>
                                  </p:stCondLst>
                                  <p:childTnLst>
                                    <p:set>
                                      <p:cBhvr>
                                        <p:cTn id="97" dur="1" fill="hold">
                                          <p:stCondLst>
                                            <p:cond delay="0"/>
                                          </p:stCondLst>
                                        </p:cTn>
                                        <p:tgtEl>
                                          <p:spTgt spid="51"/>
                                        </p:tgtEl>
                                        <p:attrNameLst>
                                          <p:attrName>style.visibility</p:attrName>
                                        </p:attrNameLst>
                                      </p:cBhvr>
                                      <p:to>
                                        <p:strVal val="visible"/>
                                      </p:to>
                                    </p:set>
                                  </p:childTnLst>
                                </p:cTn>
                              </p:par>
                              <p:par>
                                <p:cTn id="98" presetID="26" presetClass="emph" presetSubtype="0" repeatCount="indefinite" fill="hold" nodeType="withEffect">
                                  <p:stCondLst>
                                    <p:cond delay="0"/>
                                  </p:stCondLst>
                                  <p:endCondLst>
                                    <p:cond evt="onNext" delay="0">
                                      <p:tgtEl>
                                        <p:sldTgt/>
                                      </p:tgtEl>
                                    </p:cond>
                                  </p:endCondLst>
                                  <p:childTnLst>
                                    <p:animEffect transition="out" filter="fade">
                                      <p:cBhvr>
                                        <p:cTn id="99" dur="500" tmFilter="0, 0; .2, .5; .8, .5; 1, 0"/>
                                        <p:tgtEl>
                                          <p:spTgt spid="51"/>
                                        </p:tgtEl>
                                      </p:cBhvr>
                                    </p:animEffect>
                                    <p:animScale>
                                      <p:cBhvr>
                                        <p:cTn id="100" dur="250" autoRev="1" fill="hold"/>
                                        <p:tgtEl>
                                          <p:spTgt spid="51"/>
                                        </p:tgtEl>
                                      </p:cBhvr>
                                      <p:by x="105000" y="105000"/>
                                    </p:animScale>
                                  </p:childTnLst>
                                </p:cTn>
                              </p:par>
                              <p:par>
                                <p:cTn id="101" presetID="1" presetClass="entr" presetSubtype="0" fill="hold" grpId="0" nodeType="withEffect">
                                  <p:stCondLst>
                                    <p:cond delay="0"/>
                                  </p:stCondLst>
                                  <p:childTnLst>
                                    <p:set>
                                      <p:cBhvr>
                                        <p:cTn id="102" dur="1" fill="hold">
                                          <p:stCondLst>
                                            <p:cond delay="0"/>
                                          </p:stCondLst>
                                        </p:cTn>
                                        <p:tgtEl>
                                          <p:spTgt spid="40"/>
                                        </p:tgtEl>
                                        <p:attrNameLst>
                                          <p:attrName>style.visibility</p:attrName>
                                        </p:attrNameLst>
                                      </p:cBhvr>
                                      <p:to>
                                        <p:strVal val="visible"/>
                                      </p:to>
                                    </p:set>
                                  </p:childTnLst>
                                </p:cTn>
                              </p:par>
                              <p:par>
                                <p:cTn id="103" presetID="26" presetClass="emph" presetSubtype="0" repeatCount="indefinite" fill="hold" grpId="1" nodeType="withEffect">
                                  <p:stCondLst>
                                    <p:cond delay="0"/>
                                  </p:stCondLst>
                                  <p:endCondLst>
                                    <p:cond evt="onNext" delay="0">
                                      <p:tgtEl>
                                        <p:sldTgt/>
                                      </p:tgtEl>
                                    </p:cond>
                                  </p:endCondLst>
                                  <p:childTnLst>
                                    <p:animEffect transition="out" filter="fade">
                                      <p:cBhvr>
                                        <p:cTn id="104" dur="500" tmFilter="0, 0; .2, .5; .8, .5; 1, 0"/>
                                        <p:tgtEl>
                                          <p:spTgt spid="40"/>
                                        </p:tgtEl>
                                      </p:cBhvr>
                                    </p:animEffect>
                                    <p:animScale>
                                      <p:cBhvr>
                                        <p:cTn id="105" dur="250" autoRev="1" fill="hold"/>
                                        <p:tgtEl>
                                          <p:spTgt spid="40"/>
                                        </p:tgtEl>
                                      </p:cBhvr>
                                      <p:by x="105000" y="105000"/>
                                    </p:animScale>
                                  </p:childTnLst>
                                </p:cTn>
                              </p:par>
                              <p:par>
                                <p:cTn id="106" presetID="1" presetClass="entr" presetSubtype="0" fill="hold" grpId="0" nodeType="withEffect">
                                  <p:stCondLst>
                                    <p:cond delay="0"/>
                                  </p:stCondLst>
                                  <p:childTnLst>
                                    <p:set>
                                      <p:cBhvr>
                                        <p:cTn id="107" dur="1" fill="hold">
                                          <p:stCondLst>
                                            <p:cond delay="0"/>
                                          </p:stCondLst>
                                        </p:cTn>
                                        <p:tgtEl>
                                          <p:spTgt spid="53"/>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1" presetClass="exit" presetSubtype="0" fill="hold" grpId="1" nodeType="clickEffect">
                                  <p:stCondLst>
                                    <p:cond delay="0"/>
                                  </p:stCondLst>
                                  <p:childTnLst>
                                    <p:set>
                                      <p:cBhvr>
                                        <p:cTn id="111" dur="1" fill="hold">
                                          <p:stCondLst>
                                            <p:cond delay="0"/>
                                          </p:stCondLst>
                                        </p:cTn>
                                        <p:tgtEl>
                                          <p:spTgt spid="53"/>
                                        </p:tgtEl>
                                        <p:attrNameLst>
                                          <p:attrName>style.visibility</p:attrName>
                                        </p:attrNameLst>
                                      </p:cBhvr>
                                      <p:to>
                                        <p:strVal val="hidden"/>
                                      </p:to>
                                    </p:set>
                                  </p:childTnLst>
                                </p:cTn>
                              </p:par>
                              <p:par>
                                <p:cTn id="112" presetID="1" presetClass="exit" presetSubtype="0" fill="hold" nodeType="withEffect">
                                  <p:stCondLst>
                                    <p:cond delay="0"/>
                                  </p:stCondLst>
                                  <p:childTnLst>
                                    <p:set>
                                      <p:cBhvr>
                                        <p:cTn id="113" dur="1" fill="hold">
                                          <p:stCondLst>
                                            <p:cond delay="0"/>
                                          </p:stCondLst>
                                        </p:cTn>
                                        <p:tgtEl>
                                          <p:spTgt spid="51"/>
                                        </p:tgtEl>
                                        <p:attrNameLst>
                                          <p:attrName>style.visibility</p:attrName>
                                        </p:attrNameLst>
                                      </p:cBhvr>
                                      <p:to>
                                        <p:strVal val="hidden"/>
                                      </p:to>
                                    </p:set>
                                  </p:childTnLst>
                                </p:cTn>
                              </p:par>
                              <p:par>
                                <p:cTn id="114" presetID="1" presetClass="exit" presetSubtype="0" fill="hold" grpId="2" nodeType="withEffect">
                                  <p:stCondLst>
                                    <p:cond delay="0"/>
                                  </p:stCondLst>
                                  <p:childTnLst>
                                    <p:set>
                                      <p:cBhvr>
                                        <p:cTn id="115" dur="1" fill="hold">
                                          <p:stCondLst>
                                            <p:cond delay="0"/>
                                          </p:stCondLst>
                                        </p:cTn>
                                        <p:tgtEl>
                                          <p:spTgt spid="40"/>
                                        </p:tgtEl>
                                        <p:attrNameLst>
                                          <p:attrName>style.visibility</p:attrName>
                                        </p:attrNameLst>
                                      </p:cBhvr>
                                      <p:to>
                                        <p:strVal val="hidden"/>
                                      </p:to>
                                    </p:set>
                                  </p:childTnLst>
                                </p:cTn>
                              </p:par>
                              <p:par>
                                <p:cTn id="116" presetID="1" presetClass="entr" presetSubtype="0" fill="hold" nodeType="withEffect">
                                  <p:stCondLst>
                                    <p:cond delay="0"/>
                                  </p:stCondLst>
                                  <p:childTnLst>
                                    <p:set>
                                      <p:cBhvr>
                                        <p:cTn id="117" dur="1" fill="hold">
                                          <p:stCondLst>
                                            <p:cond delay="0"/>
                                          </p:stCondLst>
                                        </p:cTn>
                                        <p:tgtEl>
                                          <p:spTgt spid="41">
                                            <p:txEl>
                                              <p:pRg st="0" end="0"/>
                                            </p:txEl>
                                          </p:spTgt>
                                        </p:tgtEl>
                                        <p:attrNameLst>
                                          <p:attrName>style.visibility</p:attrName>
                                        </p:attrNameLst>
                                      </p:cBhvr>
                                      <p:to>
                                        <p:strVal val="visible"/>
                                      </p:to>
                                    </p:set>
                                  </p:childTnLst>
                                </p:cTn>
                              </p:par>
                              <p:par>
                                <p:cTn id="118" presetID="1" presetClass="entr" presetSubtype="0" fill="hold" grpId="0" nodeType="withEffect">
                                  <p:stCondLst>
                                    <p:cond delay="0"/>
                                  </p:stCondLst>
                                  <p:childTnLst>
                                    <p:set>
                                      <p:cBhvr>
                                        <p:cTn id="119" dur="1" fill="hold">
                                          <p:stCondLst>
                                            <p:cond delay="0"/>
                                          </p:stCondLst>
                                        </p:cTn>
                                        <p:tgtEl>
                                          <p:spTgt spid="42"/>
                                        </p:tgtEl>
                                        <p:attrNameLst>
                                          <p:attrName>style.visibility</p:attrName>
                                        </p:attrNameLst>
                                      </p:cBhvr>
                                      <p:to>
                                        <p:strVal val="visible"/>
                                      </p:to>
                                    </p:set>
                                  </p:childTnLst>
                                </p:cTn>
                              </p:par>
                              <p:par>
                                <p:cTn id="120" presetID="26" presetClass="emph" presetSubtype="0" repeatCount="indefinite" fill="hold" grpId="1" nodeType="withEffect">
                                  <p:stCondLst>
                                    <p:cond delay="0"/>
                                  </p:stCondLst>
                                  <p:endCondLst>
                                    <p:cond evt="onNext" delay="0">
                                      <p:tgtEl>
                                        <p:sldTgt/>
                                      </p:tgtEl>
                                    </p:cond>
                                  </p:endCondLst>
                                  <p:childTnLst>
                                    <p:animEffect transition="out" filter="fade">
                                      <p:cBhvr>
                                        <p:cTn id="121" dur="500" tmFilter="0, 0; .2, .5; .8, .5; 1, 0"/>
                                        <p:tgtEl>
                                          <p:spTgt spid="42"/>
                                        </p:tgtEl>
                                      </p:cBhvr>
                                    </p:animEffect>
                                    <p:animScale>
                                      <p:cBhvr>
                                        <p:cTn id="122" dur="250" autoRev="1" fill="hold"/>
                                        <p:tgtEl>
                                          <p:spTgt spid="42"/>
                                        </p:tgtEl>
                                      </p:cBhvr>
                                      <p:by x="105000" y="105000"/>
                                    </p:animScale>
                                  </p:childTnLst>
                                </p:cTn>
                              </p:par>
                            </p:childTnLst>
                          </p:cTn>
                        </p:par>
                      </p:childTnLst>
                    </p:cTn>
                  </p:par>
                  <p:par>
                    <p:cTn id="123" fill="hold">
                      <p:stCondLst>
                        <p:cond delay="indefinite"/>
                      </p:stCondLst>
                      <p:childTnLst>
                        <p:par>
                          <p:cTn id="124" fill="hold">
                            <p:stCondLst>
                              <p:cond delay="0"/>
                            </p:stCondLst>
                            <p:childTnLst>
                              <p:par>
                                <p:cTn id="125" presetID="1" presetClass="exit" presetSubtype="0" fill="hold" grpId="2" nodeType="clickEffect">
                                  <p:stCondLst>
                                    <p:cond delay="0"/>
                                  </p:stCondLst>
                                  <p:childTnLst>
                                    <p:set>
                                      <p:cBhvr>
                                        <p:cTn id="126" dur="1" fill="hold">
                                          <p:stCondLst>
                                            <p:cond delay="0"/>
                                          </p:stCondLst>
                                        </p:cTn>
                                        <p:tgtEl>
                                          <p:spTgt spid="42"/>
                                        </p:tgtEl>
                                        <p:attrNameLst>
                                          <p:attrName>style.visibility</p:attrName>
                                        </p:attrNameLst>
                                      </p:cBhvr>
                                      <p:to>
                                        <p:strVal val="hidden"/>
                                      </p:to>
                                    </p:set>
                                  </p:childTnLst>
                                </p:cTn>
                              </p:par>
                              <p:par>
                                <p:cTn id="127" presetID="1" presetClass="entr" presetSubtype="0" fill="hold" nodeType="withEffect">
                                  <p:stCondLst>
                                    <p:cond delay="0"/>
                                  </p:stCondLst>
                                  <p:childTnLst>
                                    <p:set>
                                      <p:cBhvr>
                                        <p:cTn id="128" dur="1" fill="hold">
                                          <p:stCondLst>
                                            <p:cond delay="0"/>
                                          </p:stCondLst>
                                        </p:cTn>
                                        <p:tgtEl>
                                          <p:spTgt spid="41">
                                            <p:txEl>
                                              <p:pRg st="2" end="2"/>
                                            </p:txEl>
                                          </p:spTgt>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43"/>
                                        </p:tgtEl>
                                        <p:attrNameLst>
                                          <p:attrName>style.visibility</p:attrName>
                                        </p:attrNameLst>
                                      </p:cBhvr>
                                      <p:to>
                                        <p:strVal val="visible"/>
                                      </p:to>
                                    </p:set>
                                  </p:childTnLst>
                                </p:cTn>
                              </p:par>
                              <p:par>
                                <p:cTn id="131" presetID="26" presetClass="emph" presetSubtype="0" repeatCount="indefinite" fill="hold" grpId="1" nodeType="withEffect">
                                  <p:stCondLst>
                                    <p:cond delay="0"/>
                                  </p:stCondLst>
                                  <p:endCondLst>
                                    <p:cond evt="onNext" delay="0">
                                      <p:tgtEl>
                                        <p:sldTgt/>
                                      </p:tgtEl>
                                    </p:cond>
                                  </p:endCondLst>
                                  <p:childTnLst>
                                    <p:animEffect transition="out" filter="fade">
                                      <p:cBhvr>
                                        <p:cTn id="132" dur="500" tmFilter="0, 0; .2, .5; .8, .5; 1, 0"/>
                                        <p:tgtEl>
                                          <p:spTgt spid="43"/>
                                        </p:tgtEl>
                                      </p:cBhvr>
                                    </p:animEffect>
                                    <p:animScale>
                                      <p:cBhvr>
                                        <p:cTn id="133" dur="250" autoRev="1" fill="hold"/>
                                        <p:tgtEl>
                                          <p:spTgt spid="4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6" grpId="0" animBg="1"/>
      <p:bldP spid="7" grpId="0" animBg="1"/>
      <p:bldP spid="8"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6" grpId="0" animBg="1"/>
      <p:bldP spid="27" grpId="0" animBg="1"/>
      <p:bldP spid="28" grpId="0" animBg="1"/>
      <p:bldP spid="29" grpId="0" animBg="1"/>
      <p:bldP spid="30" grpId="0" animBg="1"/>
      <p:bldP spid="31" grpId="0" animBg="1"/>
      <p:bldP spid="32" grpId="0"/>
      <p:bldP spid="33" grpId="0"/>
      <p:bldP spid="34" grpId="0"/>
      <p:bldP spid="35" grpId="0"/>
      <p:bldP spid="36" grpId="0"/>
      <p:bldP spid="37" grpId="0"/>
      <p:bldP spid="39" grpId="0" animBg="1"/>
      <p:bldP spid="39" grpId="1" animBg="1"/>
      <p:bldP spid="39" grpId="2" animBg="1"/>
      <p:bldP spid="40" grpId="0" animBg="1"/>
      <p:bldP spid="40" grpId="1" animBg="1"/>
      <p:bldP spid="40" grpId="2" animBg="1"/>
      <p:bldP spid="42" grpId="0" animBg="1"/>
      <p:bldP spid="42" grpId="1" animBg="1"/>
      <p:bldP spid="42" grpId="2" animBg="1"/>
      <p:bldP spid="43" grpId="0" animBg="1"/>
      <p:bldP spid="43" grpId="1" animBg="1"/>
      <p:bldP spid="52" grpId="0"/>
      <p:bldP spid="53" grpId="0"/>
      <p:bldP spid="53" grpId="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Virtual Memory(Conti..)</a:t>
            </a:r>
          </a:p>
        </p:txBody>
      </p:sp>
      <p:sp>
        <p:nvSpPr>
          <p:cNvPr id="3" name="Content Placeholder 2"/>
          <p:cNvSpPr>
            <a:spLocks noGrp="1"/>
          </p:cNvSpPr>
          <p:nvPr>
            <p:ph idx="1"/>
          </p:nvPr>
        </p:nvSpPr>
        <p:spPr>
          <a:xfrm>
            <a:off x="142965" y="864863"/>
            <a:ext cx="11929641" cy="5649046"/>
          </a:xfrm>
        </p:spPr>
        <p:txBody>
          <a:bodyPr/>
          <a:lstStyle/>
          <a:p>
            <a:r>
              <a:rPr lang="en-US" dirty="0">
                <a:solidFill>
                  <a:schemeClr val="bg1"/>
                </a:solidFill>
              </a:rPr>
              <a:t>.</a:t>
            </a:r>
          </a:p>
        </p:txBody>
      </p:sp>
      <p:sp>
        <p:nvSpPr>
          <p:cNvPr id="4" name="TextBox 3"/>
          <p:cNvSpPr txBox="1"/>
          <p:nvPr/>
        </p:nvSpPr>
        <p:spPr>
          <a:xfrm>
            <a:off x="4475741" y="1002189"/>
            <a:ext cx="1511470" cy="830997"/>
          </a:xfrm>
          <a:prstGeom prst="rect">
            <a:avLst/>
          </a:prstGeom>
          <a:noFill/>
          <a:ln>
            <a:solidFill>
              <a:schemeClr val="tx1"/>
            </a:solidFill>
          </a:ln>
        </p:spPr>
        <p:txBody>
          <a:bodyPr wrap="square" rtlCol="0">
            <a:spAutoFit/>
          </a:bodyPr>
          <a:lstStyle/>
          <a:p>
            <a:pPr algn="ctr"/>
            <a:r>
              <a:rPr lang="en-US" sz="2400" dirty="0">
                <a:solidFill>
                  <a:srgbClr val="212121"/>
                </a:solidFill>
              </a:rPr>
              <a:t>Operating System</a:t>
            </a:r>
          </a:p>
        </p:txBody>
      </p:sp>
      <p:sp>
        <p:nvSpPr>
          <p:cNvPr id="5" name="TextBox 4"/>
          <p:cNvSpPr txBox="1"/>
          <p:nvPr/>
        </p:nvSpPr>
        <p:spPr>
          <a:xfrm>
            <a:off x="2449095" y="2669620"/>
            <a:ext cx="1251256" cy="1200329"/>
          </a:xfrm>
          <a:prstGeom prst="rect">
            <a:avLst/>
          </a:prstGeom>
          <a:noFill/>
          <a:ln>
            <a:solidFill>
              <a:schemeClr val="tx1"/>
            </a:solidFill>
          </a:ln>
        </p:spPr>
        <p:txBody>
          <a:bodyPr wrap="square" rtlCol="0">
            <a:spAutoFit/>
          </a:bodyPr>
          <a:lstStyle/>
          <a:p>
            <a:pPr algn="ctr"/>
            <a:r>
              <a:rPr lang="en-US" sz="2400" dirty="0">
                <a:solidFill>
                  <a:srgbClr val="212121"/>
                </a:solidFill>
              </a:rPr>
              <a:t>Logical Address Space</a:t>
            </a:r>
          </a:p>
        </p:txBody>
      </p:sp>
      <p:sp>
        <p:nvSpPr>
          <p:cNvPr id="6" name="TextBox 5"/>
          <p:cNvSpPr txBox="1"/>
          <p:nvPr/>
        </p:nvSpPr>
        <p:spPr>
          <a:xfrm>
            <a:off x="5044612" y="2919091"/>
            <a:ext cx="1214437" cy="350694"/>
          </a:xfrm>
          <a:prstGeom prst="rect">
            <a:avLst/>
          </a:prstGeom>
          <a:noFill/>
          <a:ln>
            <a:solidFill>
              <a:schemeClr val="tx1"/>
            </a:solidFill>
          </a:ln>
        </p:spPr>
        <p:txBody>
          <a:bodyPr wrap="square" rtlCol="0">
            <a:spAutoFit/>
          </a:bodyPr>
          <a:lstStyle/>
          <a:p>
            <a:endParaRPr lang="en-US" dirty="0">
              <a:solidFill>
                <a:srgbClr val="212121"/>
              </a:solidFill>
            </a:endParaRPr>
          </a:p>
        </p:txBody>
      </p:sp>
      <p:sp>
        <p:nvSpPr>
          <p:cNvPr id="7" name="TextBox 6"/>
          <p:cNvSpPr txBox="1"/>
          <p:nvPr/>
        </p:nvSpPr>
        <p:spPr>
          <a:xfrm>
            <a:off x="5044612" y="3269785"/>
            <a:ext cx="1214437" cy="350694"/>
          </a:xfrm>
          <a:prstGeom prst="rect">
            <a:avLst/>
          </a:prstGeom>
          <a:noFill/>
          <a:ln>
            <a:solidFill>
              <a:schemeClr val="tx1"/>
            </a:solidFill>
          </a:ln>
        </p:spPr>
        <p:txBody>
          <a:bodyPr wrap="square" rtlCol="0">
            <a:spAutoFit/>
          </a:bodyPr>
          <a:lstStyle/>
          <a:p>
            <a:endParaRPr lang="en-US" dirty="0">
              <a:solidFill>
                <a:srgbClr val="212121"/>
              </a:solidFill>
            </a:endParaRPr>
          </a:p>
        </p:txBody>
      </p:sp>
      <p:sp>
        <p:nvSpPr>
          <p:cNvPr id="8" name="TextBox 7"/>
          <p:cNvSpPr txBox="1"/>
          <p:nvPr/>
        </p:nvSpPr>
        <p:spPr>
          <a:xfrm>
            <a:off x="5044611" y="3625081"/>
            <a:ext cx="1214437" cy="350694"/>
          </a:xfrm>
          <a:prstGeom prst="rect">
            <a:avLst/>
          </a:prstGeom>
          <a:noFill/>
          <a:ln>
            <a:solidFill>
              <a:schemeClr val="tx1"/>
            </a:solidFill>
          </a:ln>
        </p:spPr>
        <p:txBody>
          <a:bodyPr wrap="square" rtlCol="0">
            <a:spAutoFit/>
          </a:bodyPr>
          <a:lstStyle/>
          <a:p>
            <a:endParaRPr lang="en-US" dirty="0">
              <a:solidFill>
                <a:srgbClr val="212121"/>
              </a:solidFill>
            </a:endParaRPr>
          </a:p>
        </p:txBody>
      </p:sp>
      <p:cxnSp>
        <p:nvCxnSpPr>
          <p:cNvPr id="9" name="Straight Connector 8"/>
          <p:cNvCxnSpPr/>
          <p:nvPr/>
        </p:nvCxnSpPr>
        <p:spPr>
          <a:xfrm>
            <a:off x="5794707" y="3269785"/>
            <a:ext cx="0" cy="35069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5948799" y="3309401"/>
            <a:ext cx="127581" cy="271462"/>
          </a:xfrm>
          <a:prstGeom prst="rect">
            <a:avLst/>
          </a:prstGeom>
          <a:solidFill>
            <a:schemeClr val="bg1">
              <a:lumMod val="65000"/>
            </a:schemeClr>
          </a:solidFill>
        </p:spPr>
        <p:txBody>
          <a:bodyPr wrap="square" rtlCol="0">
            <a:spAutoFit/>
          </a:bodyPr>
          <a:lstStyle/>
          <a:p>
            <a:endParaRPr lang="en-US" sz="1100" dirty="0">
              <a:solidFill>
                <a:srgbClr val="212121"/>
              </a:solidFill>
            </a:endParaRPr>
          </a:p>
        </p:txBody>
      </p:sp>
      <p:sp>
        <p:nvSpPr>
          <p:cNvPr id="11" name="Flowchart: Magnetic Disk 10"/>
          <p:cNvSpPr/>
          <p:nvPr/>
        </p:nvSpPr>
        <p:spPr>
          <a:xfrm>
            <a:off x="9642370" y="1002189"/>
            <a:ext cx="2371725" cy="3848785"/>
          </a:xfrm>
          <a:prstGeom prst="flowChartMagneticDisk">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2" name="TextBox 11"/>
          <p:cNvSpPr txBox="1"/>
          <p:nvPr/>
        </p:nvSpPr>
        <p:spPr>
          <a:xfrm>
            <a:off x="10567735" y="3058433"/>
            <a:ext cx="520993" cy="530643"/>
          </a:xfrm>
          <a:prstGeom prst="rect">
            <a:avLst/>
          </a:prstGeom>
          <a:noFill/>
          <a:ln>
            <a:solidFill>
              <a:schemeClr val="tx1"/>
            </a:solidFill>
          </a:ln>
        </p:spPr>
        <p:txBody>
          <a:bodyPr wrap="square" rtlCol="0">
            <a:spAutoFit/>
          </a:bodyPr>
          <a:lstStyle/>
          <a:p>
            <a:endParaRPr lang="en-US" dirty="0">
              <a:solidFill>
                <a:srgbClr val="212121"/>
              </a:solidFill>
            </a:endParaRPr>
          </a:p>
        </p:txBody>
      </p:sp>
      <p:sp>
        <p:nvSpPr>
          <p:cNvPr id="13" name="TextBox 12"/>
          <p:cNvSpPr txBox="1"/>
          <p:nvPr/>
        </p:nvSpPr>
        <p:spPr>
          <a:xfrm>
            <a:off x="7050254" y="4049847"/>
            <a:ext cx="1214437" cy="350694"/>
          </a:xfrm>
          <a:prstGeom prst="rect">
            <a:avLst/>
          </a:prstGeom>
          <a:noFill/>
          <a:ln>
            <a:solidFill>
              <a:schemeClr val="tx1"/>
            </a:solidFill>
          </a:ln>
        </p:spPr>
        <p:txBody>
          <a:bodyPr wrap="square" rtlCol="0">
            <a:spAutoFit/>
          </a:bodyPr>
          <a:lstStyle/>
          <a:p>
            <a:endParaRPr lang="en-US" dirty="0">
              <a:solidFill>
                <a:srgbClr val="212121"/>
              </a:solidFill>
            </a:endParaRPr>
          </a:p>
        </p:txBody>
      </p:sp>
      <p:sp>
        <p:nvSpPr>
          <p:cNvPr id="14" name="TextBox 13"/>
          <p:cNvSpPr txBox="1"/>
          <p:nvPr/>
        </p:nvSpPr>
        <p:spPr>
          <a:xfrm>
            <a:off x="7050254" y="4400541"/>
            <a:ext cx="1214437" cy="350694"/>
          </a:xfrm>
          <a:prstGeom prst="rect">
            <a:avLst/>
          </a:prstGeom>
          <a:noFill/>
          <a:ln>
            <a:solidFill>
              <a:schemeClr val="tx1"/>
            </a:solidFill>
          </a:ln>
        </p:spPr>
        <p:txBody>
          <a:bodyPr wrap="square" rtlCol="0">
            <a:spAutoFit/>
          </a:bodyPr>
          <a:lstStyle/>
          <a:p>
            <a:endParaRPr lang="en-US" dirty="0">
              <a:solidFill>
                <a:srgbClr val="212121"/>
              </a:solidFill>
            </a:endParaRPr>
          </a:p>
        </p:txBody>
      </p:sp>
      <p:sp>
        <p:nvSpPr>
          <p:cNvPr id="15" name="TextBox 14"/>
          <p:cNvSpPr txBox="1"/>
          <p:nvPr/>
        </p:nvSpPr>
        <p:spPr>
          <a:xfrm>
            <a:off x="7050253" y="4755837"/>
            <a:ext cx="1214437" cy="369332"/>
          </a:xfrm>
          <a:prstGeom prst="rect">
            <a:avLst/>
          </a:prstGeom>
          <a:noFill/>
          <a:ln>
            <a:solidFill>
              <a:schemeClr val="tx1"/>
            </a:solidFill>
          </a:ln>
        </p:spPr>
        <p:txBody>
          <a:bodyPr wrap="square" rtlCol="0">
            <a:spAutoFit/>
          </a:bodyPr>
          <a:lstStyle/>
          <a:p>
            <a:r>
              <a:rPr lang="en-US" dirty="0">
                <a:solidFill>
                  <a:srgbClr val="212121"/>
                </a:solidFill>
              </a:rPr>
              <a:t>Free Frame</a:t>
            </a:r>
          </a:p>
        </p:txBody>
      </p:sp>
      <p:sp>
        <p:nvSpPr>
          <p:cNvPr id="16" name="TextBox 15"/>
          <p:cNvSpPr txBox="1"/>
          <p:nvPr/>
        </p:nvSpPr>
        <p:spPr>
          <a:xfrm>
            <a:off x="7050253" y="5111133"/>
            <a:ext cx="1214437" cy="350694"/>
          </a:xfrm>
          <a:prstGeom prst="rect">
            <a:avLst/>
          </a:prstGeom>
          <a:noFill/>
          <a:ln>
            <a:solidFill>
              <a:schemeClr val="tx1"/>
            </a:solidFill>
          </a:ln>
        </p:spPr>
        <p:txBody>
          <a:bodyPr wrap="square" rtlCol="0">
            <a:spAutoFit/>
          </a:bodyPr>
          <a:lstStyle/>
          <a:p>
            <a:endParaRPr lang="en-US" dirty="0">
              <a:solidFill>
                <a:srgbClr val="212121"/>
              </a:solidFill>
            </a:endParaRPr>
          </a:p>
        </p:txBody>
      </p:sp>
      <p:sp>
        <p:nvSpPr>
          <p:cNvPr id="17" name="TextBox 16"/>
          <p:cNvSpPr txBox="1"/>
          <p:nvPr/>
        </p:nvSpPr>
        <p:spPr>
          <a:xfrm>
            <a:off x="7050252" y="5461827"/>
            <a:ext cx="1214437" cy="350694"/>
          </a:xfrm>
          <a:prstGeom prst="rect">
            <a:avLst/>
          </a:prstGeom>
          <a:noFill/>
          <a:ln>
            <a:solidFill>
              <a:schemeClr val="tx1"/>
            </a:solidFill>
          </a:ln>
        </p:spPr>
        <p:txBody>
          <a:bodyPr wrap="square" rtlCol="0">
            <a:spAutoFit/>
          </a:bodyPr>
          <a:lstStyle/>
          <a:p>
            <a:endParaRPr lang="en-US" dirty="0">
              <a:solidFill>
                <a:srgbClr val="212121"/>
              </a:solidFill>
            </a:endParaRPr>
          </a:p>
        </p:txBody>
      </p:sp>
      <p:sp>
        <p:nvSpPr>
          <p:cNvPr id="18" name="TextBox 17"/>
          <p:cNvSpPr txBox="1"/>
          <p:nvPr/>
        </p:nvSpPr>
        <p:spPr>
          <a:xfrm>
            <a:off x="7050252" y="5812521"/>
            <a:ext cx="1214437" cy="350694"/>
          </a:xfrm>
          <a:prstGeom prst="rect">
            <a:avLst/>
          </a:prstGeom>
          <a:noFill/>
          <a:ln>
            <a:solidFill>
              <a:schemeClr val="tx1"/>
            </a:solidFill>
          </a:ln>
        </p:spPr>
        <p:txBody>
          <a:bodyPr wrap="square" rtlCol="0">
            <a:spAutoFit/>
          </a:bodyPr>
          <a:lstStyle/>
          <a:p>
            <a:endParaRPr lang="en-US" dirty="0">
              <a:solidFill>
                <a:srgbClr val="212121"/>
              </a:solidFill>
            </a:endParaRPr>
          </a:p>
        </p:txBody>
      </p:sp>
      <p:sp>
        <p:nvSpPr>
          <p:cNvPr id="19" name="TextBox 18"/>
          <p:cNvSpPr txBox="1"/>
          <p:nvPr/>
        </p:nvSpPr>
        <p:spPr>
          <a:xfrm>
            <a:off x="7050251" y="6163215"/>
            <a:ext cx="1214437" cy="350694"/>
          </a:xfrm>
          <a:prstGeom prst="rect">
            <a:avLst/>
          </a:prstGeom>
          <a:noFill/>
          <a:ln>
            <a:solidFill>
              <a:schemeClr val="tx1"/>
            </a:solidFill>
          </a:ln>
        </p:spPr>
        <p:txBody>
          <a:bodyPr wrap="square" rtlCol="0">
            <a:spAutoFit/>
          </a:bodyPr>
          <a:lstStyle/>
          <a:p>
            <a:endParaRPr lang="en-US" dirty="0">
              <a:solidFill>
                <a:srgbClr val="212121"/>
              </a:solidFill>
            </a:endParaRPr>
          </a:p>
        </p:txBody>
      </p:sp>
      <p:cxnSp>
        <p:nvCxnSpPr>
          <p:cNvPr id="20" name="Elbow Connector 19"/>
          <p:cNvCxnSpPr>
            <a:stCxn id="4" idx="3"/>
            <a:endCxn id="12" idx="0"/>
          </p:cNvCxnSpPr>
          <p:nvPr/>
        </p:nvCxnSpPr>
        <p:spPr>
          <a:xfrm>
            <a:off x="5987211" y="1417688"/>
            <a:ext cx="4841021" cy="1640745"/>
          </a:xfrm>
          <a:prstGeom prst="bentConnector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Elbow Connector 20"/>
          <p:cNvCxnSpPr/>
          <p:nvPr/>
        </p:nvCxnSpPr>
        <p:spPr>
          <a:xfrm>
            <a:off x="3737264" y="3031782"/>
            <a:ext cx="1307347" cy="308648"/>
          </a:xfrm>
          <a:prstGeom prst="bentConnector3">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Elbow Connector 21"/>
          <p:cNvCxnSpPr>
            <a:stCxn id="15" idx="1"/>
          </p:cNvCxnSpPr>
          <p:nvPr/>
        </p:nvCxnSpPr>
        <p:spPr>
          <a:xfrm rot="10800000">
            <a:off x="5056777" y="3595863"/>
            <a:ext cx="1993477" cy="1344641"/>
          </a:xfrm>
          <a:prstGeom prst="bentConnector3">
            <a:avLst>
              <a:gd name="adj1" fmla="val 122426"/>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H="1">
            <a:off x="3697443" y="3449858"/>
            <a:ext cx="1354904"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Elbow Connector 23"/>
          <p:cNvCxnSpPr>
            <a:stCxn id="7" idx="3"/>
          </p:cNvCxnSpPr>
          <p:nvPr/>
        </p:nvCxnSpPr>
        <p:spPr>
          <a:xfrm flipH="1" flipV="1">
            <a:off x="5994946" y="1700463"/>
            <a:ext cx="264103" cy="1744669"/>
          </a:xfrm>
          <a:prstGeom prst="bentConnector4">
            <a:avLst>
              <a:gd name="adj1" fmla="val -86557"/>
              <a:gd name="adj2" fmla="val 10008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Elbow Connector 24"/>
          <p:cNvCxnSpPr>
            <a:stCxn id="12" idx="2"/>
            <a:endCxn id="15" idx="3"/>
          </p:cNvCxnSpPr>
          <p:nvPr/>
        </p:nvCxnSpPr>
        <p:spPr>
          <a:xfrm rot="5400000">
            <a:off x="8870748" y="2983018"/>
            <a:ext cx="1351427" cy="2563542"/>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Oval 25"/>
          <p:cNvSpPr/>
          <p:nvPr/>
        </p:nvSpPr>
        <p:spPr>
          <a:xfrm>
            <a:off x="3855709" y="2399131"/>
            <a:ext cx="341928" cy="375598"/>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212121"/>
                </a:solidFill>
              </a:rPr>
              <a:t>1</a:t>
            </a:r>
            <a:endParaRPr lang="en-US" sz="1600" b="1" dirty="0">
              <a:solidFill>
                <a:srgbClr val="212121"/>
              </a:solidFill>
            </a:endParaRPr>
          </a:p>
        </p:txBody>
      </p:sp>
      <p:sp>
        <p:nvSpPr>
          <p:cNvPr id="27" name="Oval 26"/>
          <p:cNvSpPr/>
          <p:nvPr/>
        </p:nvSpPr>
        <p:spPr>
          <a:xfrm>
            <a:off x="6862351" y="2349722"/>
            <a:ext cx="321263" cy="319897"/>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212121"/>
                </a:solidFill>
              </a:rPr>
              <a:t>2</a:t>
            </a:r>
            <a:endParaRPr lang="en-US" sz="1600" b="1" dirty="0">
              <a:solidFill>
                <a:srgbClr val="212121"/>
              </a:solidFill>
            </a:endParaRPr>
          </a:p>
        </p:txBody>
      </p:sp>
      <p:sp>
        <p:nvSpPr>
          <p:cNvPr id="28" name="Oval 27"/>
          <p:cNvSpPr/>
          <p:nvPr/>
        </p:nvSpPr>
        <p:spPr>
          <a:xfrm>
            <a:off x="6948997" y="865787"/>
            <a:ext cx="344652" cy="340549"/>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212121"/>
                </a:solidFill>
              </a:rPr>
              <a:t>3</a:t>
            </a:r>
            <a:endParaRPr lang="en-US" b="1" dirty="0">
              <a:solidFill>
                <a:srgbClr val="212121"/>
              </a:solidFill>
            </a:endParaRPr>
          </a:p>
        </p:txBody>
      </p:sp>
      <p:sp>
        <p:nvSpPr>
          <p:cNvPr id="29" name="Oval 28"/>
          <p:cNvSpPr/>
          <p:nvPr/>
        </p:nvSpPr>
        <p:spPr>
          <a:xfrm>
            <a:off x="8440181" y="5061264"/>
            <a:ext cx="430406" cy="400564"/>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212121"/>
                </a:solidFill>
              </a:rPr>
              <a:t>4</a:t>
            </a:r>
            <a:endParaRPr lang="en-US" b="1" dirty="0">
              <a:solidFill>
                <a:srgbClr val="212121"/>
              </a:solidFill>
            </a:endParaRPr>
          </a:p>
        </p:txBody>
      </p:sp>
      <p:sp>
        <p:nvSpPr>
          <p:cNvPr id="30" name="Oval 29"/>
          <p:cNvSpPr/>
          <p:nvPr/>
        </p:nvSpPr>
        <p:spPr>
          <a:xfrm>
            <a:off x="4626659" y="5072260"/>
            <a:ext cx="398032" cy="389567"/>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212121"/>
                </a:solidFill>
              </a:rPr>
              <a:t>5</a:t>
            </a:r>
            <a:endParaRPr lang="en-US" sz="1600" b="1" dirty="0">
              <a:solidFill>
                <a:srgbClr val="212121"/>
              </a:solidFill>
            </a:endParaRPr>
          </a:p>
        </p:txBody>
      </p:sp>
      <p:sp>
        <p:nvSpPr>
          <p:cNvPr id="31" name="Oval 30"/>
          <p:cNvSpPr/>
          <p:nvPr/>
        </p:nvSpPr>
        <p:spPr>
          <a:xfrm>
            <a:off x="3879837" y="3645844"/>
            <a:ext cx="403400" cy="353674"/>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212121"/>
                </a:solidFill>
              </a:rPr>
              <a:t>6</a:t>
            </a:r>
            <a:endParaRPr lang="en-US" sz="1600" b="1" dirty="0">
              <a:solidFill>
                <a:srgbClr val="212121"/>
              </a:solidFill>
            </a:endParaRPr>
          </a:p>
        </p:txBody>
      </p:sp>
      <p:sp>
        <p:nvSpPr>
          <p:cNvPr id="32" name="TextBox 31"/>
          <p:cNvSpPr txBox="1"/>
          <p:nvPr/>
        </p:nvSpPr>
        <p:spPr>
          <a:xfrm>
            <a:off x="4323546" y="2421439"/>
            <a:ext cx="1099981" cy="369332"/>
          </a:xfrm>
          <a:prstGeom prst="rect">
            <a:avLst/>
          </a:prstGeom>
          <a:noFill/>
        </p:spPr>
        <p:txBody>
          <a:bodyPr wrap="none" rtlCol="0">
            <a:spAutoFit/>
          </a:bodyPr>
          <a:lstStyle/>
          <a:p>
            <a:r>
              <a:rPr lang="en-US" dirty="0">
                <a:solidFill>
                  <a:srgbClr val="FF0000"/>
                </a:solidFill>
              </a:rPr>
              <a:t>Reference</a:t>
            </a:r>
          </a:p>
        </p:txBody>
      </p:sp>
      <p:sp>
        <p:nvSpPr>
          <p:cNvPr id="33" name="TextBox 32"/>
          <p:cNvSpPr txBox="1"/>
          <p:nvPr/>
        </p:nvSpPr>
        <p:spPr>
          <a:xfrm>
            <a:off x="3341603" y="3975775"/>
            <a:ext cx="1211796" cy="646331"/>
          </a:xfrm>
          <a:prstGeom prst="rect">
            <a:avLst/>
          </a:prstGeom>
          <a:noFill/>
        </p:spPr>
        <p:txBody>
          <a:bodyPr wrap="square" rtlCol="0">
            <a:spAutoFit/>
          </a:bodyPr>
          <a:lstStyle/>
          <a:p>
            <a:pPr algn="ctr"/>
            <a:r>
              <a:rPr lang="en-US" dirty="0">
                <a:solidFill>
                  <a:srgbClr val="FF0000"/>
                </a:solidFill>
              </a:rPr>
              <a:t>Restart Instruction</a:t>
            </a:r>
          </a:p>
        </p:txBody>
      </p:sp>
      <p:sp>
        <p:nvSpPr>
          <p:cNvPr id="34" name="TextBox 33"/>
          <p:cNvSpPr txBox="1"/>
          <p:nvPr/>
        </p:nvSpPr>
        <p:spPr>
          <a:xfrm>
            <a:off x="5232558" y="4963313"/>
            <a:ext cx="1211796" cy="646331"/>
          </a:xfrm>
          <a:prstGeom prst="rect">
            <a:avLst/>
          </a:prstGeom>
          <a:noFill/>
        </p:spPr>
        <p:txBody>
          <a:bodyPr wrap="square" rtlCol="0">
            <a:spAutoFit/>
          </a:bodyPr>
          <a:lstStyle/>
          <a:p>
            <a:pPr algn="ctr"/>
            <a:r>
              <a:rPr lang="en-US" dirty="0">
                <a:solidFill>
                  <a:srgbClr val="FF0000"/>
                </a:solidFill>
              </a:rPr>
              <a:t>Restart Page Table</a:t>
            </a:r>
          </a:p>
        </p:txBody>
      </p:sp>
      <p:sp>
        <p:nvSpPr>
          <p:cNvPr id="35" name="TextBox 34"/>
          <p:cNvSpPr txBox="1"/>
          <p:nvPr/>
        </p:nvSpPr>
        <p:spPr>
          <a:xfrm>
            <a:off x="9074763" y="4974310"/>
            <a:ext cx="1531263" cy="646331"/>
          </a:xfrm>
          <a:prstGeom prst="rect">
            <a:avLst/>
          </a:prstGeom>
          <a:noFill/>
        </p:spPr>
        <p:txBody>
          <a:bodyPr wrap="square" rtlCol="0">
            <a:spAutoFit/>
          </a:bodyPr>
          <a:lstStyle/>
          <a:p>
            <a:pPr algn="ctr"/>
            <a:r>
              <a:rPr lang="en-US" dirty="0">
                <a:solidFill>
                  <a:srgbClr val="FF0000"/>
                </a:solidFill>
              </a:rPr>
              <a:t>Bring in missing Page</a:t>
            </a:r>
          </a:p>
        </p:txBody>
      </p:sp>
      <p:sp>
        <p:nvSpPr>
          <p:cNvPr id="36" name="TextBox 35"/>
          <p:cNvSpPr txBox="1"/>
          <p:nvPr/>
        </p:nvSpPr>
        <p:spPr>
          <a:xfrm>
            <a:off x="7293649" y="733258"/>
            <a:ext cx="1942077" cy="646331"/>
          </a:xfrm>
          <a:prstGeom prst="rect">
            <a:avLst/>
          </a:prstGeom>
          <a:noFill/>
        </p:spPr>
        <p:txBody>
          <a:bodyPr wrap="square" rtlCol="0">
            <a:spAutoFit/>
          </a:bodyPr>
          <a:lstStyle/>
          <a:p>
            <a:pPr algn="ctr"/>
            <a:r>
              <a:rPr lang="en-US" dirty="0">
                <a:solidFill>
                  <a:srgbClr val="FF0000"/>
                </a:solidFill>
              </a:rPr>
              <a:t>Page is on backing store (disk)</a:t>
            </a:r>
          </a:p>
        </p:txBody>
      </p:sp>
      <p:sp>
        <p:nvSpPr>
          <p:cNvPr id="37" name="TextBox 36"/>
          <p:cNvSpPr txBox="1"/>
          <p:nvPr/>
        </p:nvSpPr>
        <p:spPr>
          <a:xfrm>
            <a:off x="6954950" y="2666278"/>
            <a:ext cx="599844" cy="369332"/>
          </a:xfrm>
          <a:prstGeom prst="rect">
            <a:avLst/>
          </a:prstGeom>
          <a:noFill/>
        </p:spPr>
        <p:txBody>
          <a:bodyPr wrap="none" rtlCol="0">
            <a:spAutoFit/>
          </a:bodyPr>
          <a:lstStyle/>
          <a:p>
            <a:r>
              <a:rPr lang="en-US" dirty="0">
                <a:solidFill>
                  <a:srgbClr val="FF0000"/>
                </a:solidFill>
              </a:rPr>
              <a:t>Trap</a:t>
            </a:r>
          </a:p>
        </p:txBody>
      </p:sp>
      <p:sp>
        <p:nvSpPr>
          <p:cNvPr id="43" name="TextBox 42"/>
          <p:cNvSpPr txBox="1"/>
          <p:nvPr/>
        </p:nvSpPr>
        <p:spPr>
          <a:xfrm>
            <a:off x="10091514" y="2859906"/>
            <a:ext cx="1545604" cy="1011114"/>
          </a:xfrm>
          <a:prstGeom prst="rect">
            <a:avLst/>
          </a:prstGeom>
          <a:noFill/>
          <a:ln w="28575">
            <a:solidFill>
              <a:srgbClr val="00B0F0"/>
            </a:solidFill>
          </a:ln>
        </p:spPr>
        <p:txBody>
          <a:bodyPr wrap="square" rtlCol="0">
            <a:spAutoFit/>
          </a:bodyPr>
          <a:lstStyle/>
          <a:p>
            <a:endParaRPr lang="en-US" dirty="0">
              <a:solidFill>
                <a:srgbClr val="212121"/>
              </a:solidFill>
            </a:endParaRPr>
          </a:p>
        </p:txBody>
      </p:sp>
      <p:sp>
        <p:nvSpPr>
          <p:cNvPr id="44" name="TextBox 43"/>
          <p:cNvSpPr txBox="1"/>
          <p:nvPr/>
        </p:nvSpPr>
        <p:spPr>
          <a:xfrm>
            <a:off x="312743" y="745817"/>
            <a:ext cx="3684659" cy="1661993"/>
          </a:xfrm>
          <a:prstGeom prst="rect">
            <a:avLst/>
          </a:prstGeom>
          <a:noFill/>
        </p:spPr>
        <p:txBody>
          <a:bodyPr wrap="square" rtlCol="0">
            <a:spAutoFit/>
          </a:bodyPr>
          <a:lstStyle/>
          <a:p>
            <a:r>
              <a:rPr lang="en-US" dirty="0">
                <a:solidFill>
                  <a:srgbClr val="00B050"/>
                </a:solidFill>
              </a:rPr>
              <a:t>That page brought into free frame in memory.</a:t>
            </a:r>
          </a:p>
          <a:p>
            <a:endParaRPr lang="en-US" sz="1000" dirty="0">
              <a:solidFill>
                <a:srgbClr val="00B050"/>
              </a:solidFill>
            </a:endParaRPr>
          </a:p>
          <a:p>
            <a:r>
              <a:rPr lang="en-US" dirty="0">
                <a:solidFill>
                  <a:srgbClr val="00B050"/>
                </a:solidFill>
              </a:rPr>
              <a:t>If free frame memory not available then some replacement algorithm is used to replace occupied frame.</a:t>
            </a:r>
          </a:p>
        </p:txBody>
      </p:sp>
      <p:sp>
        <p:nvSpPr>
          <p:cNvPr id="45" name="TextBox 44"/>
          <p:cNvSpPr txBox="1"/>
          <p:nvPr/>
        </p:nvSpPr>
        <p:spPr>
          <a:xfrm>
            <a:off x="6906978" y="4520260"/>
            <a:ext cx="1545604" cy="1011114"/>
          </a:xfrm>
          <a:prstGeom prst="rect">
            <a:avLst/>
          </a:prstGeom>
          <a:noFill/>
          <a:ln w="28575">
            <a:solidFill>
              <a:srgbClr val="00B0F0"/>
            </a:solidFill>
          </a:ln>
        </p:spPr>
        <p:txBody>
          <a:bodyPr wrap="square" rtlCol="0">
            <a:spAutoFit/>
          </a:bodyPr>
          <a:lstStyle/>
          <a:p>
            <a:endParaRPr lang="en-US" dirty="0">
              <a:solidFill>
                <a:srgbClr val="212121"/>
              </a:solidFill>
            </a:endParaRPr>
          </a:p>
        </p:txBody>
      </p:sp>
      <p:sp>
        <p:nvSpPr>
          <p:cNvPr id="46" name="TextBox 45"/>
          <p:cNvSpPr txBox="1"/>
          <p:nvPr/>
        </p:nvSpPr>
        <p:spPr>
          <a:xfrm>
            <a:off x="242120" y="4803876"/>
            <a:ext cx="3684659" cy="646331"/>
          </a:xfrm>
          <a:prstGeom prst="rect">
            <a:avLst/>
          </a:prstGeom>
          <a:noFill/>
        </p:spPr>
        <p:txBody>
          <a:bodyPr wrap="square" rtlCol="0">
            <a:spAutoFit/>
          </a:bodyPr>
          <a:lstStyle/>
          <a:p>
            <a:r>
              <a:rPr lang="en-US" dirty="0">
                <a:solidFill>
                  <a:srgbClr val="00B050"/>
                </a:solidFill>
              </a:rPr>
              <a:t>Frame number is entered in page table entry and validity bit is set to valid.</a:t>
            </a:r>
          </a:p>
        </p:txBody>
      </p:sp>
      <p:sp>
        <p:nvSpPr>
          <p:cNvPr id="47" name="TextBox 46"/>
          <p:cNvSpPr txBox="1"/>
          <p:nvPr/>
        </p:nvSpPr>
        <p:spPr>
          <a:xfrm>
            <a:off x="4960043" y="2809507"/>
            <a:ext cx="1456235" cy="1345792"/>
          </a:xfrm>
          <a:prstGeom prst="rect">
            <a:avLst/>
          </a:prstGeom>
          <a:noFill/>
          <a:ln w="28575">
            <a:solidFill>
              <a:srgbClr val="00B0F0"/>
            </a:solidFill>
          </a:ln>
        </p:spPr>
        <p:txBody>
          <a:bodyPr wrap="square" rtlCol="0">
            <a:spAutoFit/>
          </a:bodyPr>
          <a:lstStyle/>
          <a:p>
            <a:endParaRPr lang="en-US" dirty="0">
              <a:solidFill>
                <a:srgbClr val="212121"/>
              </a:solidFill>
            </a:endParaRPr>
          </a:p>
        </p:txBody>
      </p:sp>
      <p:sp>
        <p:nvSpPr>
          <p:cNvPr id="48" name="TextBox 47"/>
          <p:cNvSpPr txBox="1"/>
          <p:nvPr/>
        </p:nvSpPr>
        <p:spPr>
          <a:xfrm>
            <a:off x="242120" y="5588905"/>
            <a:ext cx="3563394" cy="646331"/>
          </a:xfrm>
          <a:prstGeom prst="rect">
            <a:avLst/>
          </a:prstGeom>
          <a:noFill/>
        </p:spPr>
        <p:txBody>
          <a:bodyPr wrap="square" rtlCol="0">
            <a:spAutoFit/>
          </a:bodyPr>
          <a:lstStyle/>
          <a:p>
            <a:r>
              <a:rPr lang="en-US" dirty="0">
                <a:solidFill>
                  <a:srgbClr val="00B050"/>
                </a:solidFill>
              </a:rPr>
              <a:t>Instruction referenced by logical address is restarted</a:t>
            </a:r>
          </a:p>
        </p:txBody>
      </p:sp>
      <p:sp>
        <p:nvSpPr>
          <p:cNvPr id="49" name="TextBox 48"/>
          <p:cNvSpPr txBox="1"/>
          <p:nvPr/>
        </p:nvSpPr>
        <p:spPr>
          <a:xfrm>
            <a:off x="3410600" y="3631903"/>
            <a:ext cx="1132303" cy="1011114"/>
          </a:xfrm>
          <a:prstGeom prst="rect">
            <a:avLst/>
          </a:prstGeom>
          <a:noFill/>
          <a:ln w="28575">
            <a:solidFill>
              <a:srgbClr val="00B0F0"/>
            </a:solidFill>
          </a:ln>
        </p:spPr>
        <p:txBody>
          <a:bodyPr wrap="square" rtlCol="0">
            <a:spAutoFit/>
          </a:bodyPr>
          <a:lstStyle/>
          <a:p>
            <a:endParaRPr lang="en-US" dirty="0">
              <a:solidFill>
                <a:srgbClr val="212121"/>
              </a:solidFill>
            </a:endParaRPr>
          </a:p>
        </p:txBody>
      </p:sp>
      <p:sp>
        <p:nvSpPr>
          <p:cNvPr id="52" name="TextBox 51"/>
          <p:cNvSpPr txBox="1"/>
          <p:nvPr/>
        </p:nvSpPr>
        <p:spPr>
          <a:xfrm>
            <a:off x="10511406" y="3980317"/>
            <a:ext cx="1531263" cy="369332"/>
          </a:xfrm>
          <a:prstGeom prst="rect">
            <a:avLst/>
          </a:prstGeom>
          <a:noFill/>
        </p:spPr>
        <p:txBody>
          <a:bodyPr wrap="square" rtlCol="0">
            <a:spAutoFit/>
          </a:bodyPr>
          <a:lstStyle/>
          <a:p>
            <a:pPr algn="ctr"/>
            <a:r>
              <a:rPr lang="en-US" dirty="0">
                <a:solidFill>
                  <a:srgbClr val="FF0000"/>
                </a:solidFill>
              </a:rPr>
              <a:t>Disk</a:t>
            </a:r>
          </a:p>
        </p:txBody>
      </p:sp>
      <p:sp>
        <p:nvSpPr>
          <p:cNvPr id="53" name="TextBox 52"/>
          <p:cNvSpPr txBox="1"/>
          <p:nvPr/>
        </p:nvSpPr>
        <p:spPr>
          <a:xfrm>
            <a:off x="4861842" y="4178107"/>
            <a:ext cx="1531263" cy="369332"/>
          </a:xfrm>
          <a:prstGeom prst="rect">
            <a:avLst/>
          </a:prstGeom>
          <a:noFill/>
        </p:spPr>
        <p:txBody>
          <a:bodyPr wrap="square" rtlCol="0">
            <a:spAutoFit/>
          </a:bodyPr>
          <a:lstStyle/>
          <a:p>
            <a:pPr algn="ctr"/>
            <a:r>
              <a:rPr lang="en-US" dirty="0">
                <a:solidFill>
                  <a:srgbClr val="FF0000"/>
                </a:solidFill>
              </a:rPr>
              <a:t>Page Fault</a:t>
            </a:r>
          </a:p>
        </p:txBody>
      </p:sp>
      <p:sp>
        <p:nvSpPr>
          <p:cNvPr id="54" name="TextBox 53"/>
          <p:cNvSpPr txBox="1"/>
          <p:nvPr/>
        </p:nvSpPr>
        <p:spPr>
          <a:xfrm>
            <a:off x="10098684" y="3127411"/>
            <a:ext cx="1531263" cy="369332"/>
          </a:xfrm>
          <a:prstGeom prst="rect">
            <a:avLst/>
          </a:prstGeom>
          <a:noFill/>
        </p:spPr>
        <p:txBody>
          <a:bodyPr wrap="square" rtlCol="0">
            <a:spAutoFit/>
          </a:bodyPr>
          <a:lstStyle/>
          <a:p>
            <a:pPr algn="ctr"/>
            <a:r>
              <a:rPr lang="en-US" dirty="0">
                <a:solidFill>
                  <a:srgbClr val="FF0000"/>
                </a:solidFill>
              </a:rPr>
              <a:t>Free Frame</a:t>
            </a:r>
          </a:p>
        </p:txBody>
      </p:sp>
    </p:spTree>
    <p:extLst>
      <p:ext uri="{BB962C8B-B14F-4D97-AF65-F5344CB8AC3E}">
        <p14:creationId xmlns:p14="http://schemas.microsoft.com/office/powerpoint/2010/main" val="4037184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xit"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hidden"/>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0"/>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5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3"/>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4"/>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5"/>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6"/>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7"/>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53"/>
                                        </p:tgtEl>
                                        <p:attrNameLst>
                                          <p:attrName>style.visibility</p:attrName>
                                        </p:attrNameLst>
                                      </p:cBhvr>
                                      <p:to>
                                        <p:strVal val="visible"/>
                                      </p:to>
                                    </p:set>
                                  </p:childTnLst>
                                </p:cTn>
                              </p:par>
                              <p:par>
                                <p:cTn id="81" presetID="1" presetClass="exit" presetSubtype="0" fill="hold" grpId="1" nodeType="withEffect">
                                  <p:stCondLst>
                                    <p:cond delay="0"/>
                                  </p:stCondLst>
                                  <p:childTnLst>
                                    <p:set>
                                      <p:cBhvr>
                                        <p:cTn id="82" dur="1" fill="hold">
                                          <p:stCondLst>
                                            <p:cond delay="0"/>
                                          </p:stCondLst>
                                        </p:cTn>
                                        <p:tgtEl>
                                          <p:spTgt spid="53"/>
                                        </p:tgtEl>
                                        <p:attrNameLst>
                                          <p:attrName>style.visibility</p:attrName>
                                        </p:attrNameLst>
                                      </p:cBhvr>
                                      <p:to>
                                        <p:strVal val="hidden"/>
                                      </p:to>
                                    </p:set>
                                  </p:childTnLst>
                                </p:cTn>
                              </p:par>
                              <p:par>
                                <p:cTn id="83" presetID="1" presetClass="entr" presetSubtype="0" fill="hold" grpId="0" nodeType="withEffect">
                                  <p:stCondLst>
                                    <p:cond delay="0"/>
                                  </p:stCondLst>
                                  <p:childTnLst>
                                    <p:set>
                                      <p:cBhvr>
                                        <p:cTn id="84" dur="1" fill="hold">
                                          <p:stCondLst>
                                            <p:cond delay="0"/>
                                          </p:stCondLst>
                                        </p:cTn>
                                        <p:tgtEl>
                                          <p:spTgt spid="43"/>
                                        </p:tgtEl>
                                        <p:attrNameLst>
                                          <p:attrName>style.visibility</p:attrName>
                                        </p:attrNameLst>
                                      </p:cBhvr>
                                      <p:to>
                                        <p:strVal val="visible"/>
                                      </p:to>
                                    </p:set>
                                  </p:childTnLst>
                                </p:cTn>
                              </p:par>
                              <p:par>
                                <p:cTn id="85" presetID="26" presetClass="emph" presetSubtype="0" repeatCount="indefinite" fill="hold" grpId="1" nodeType="withEffect">
                                  <p:stCondLst>
                                    <p:cond delay="0"/>
                                  </p:stCondLst>
                                  <p:endCondLst>
                                    <p:cond evt="onNext" delay="0">
                                      <p:tgtEl>
                                        <p:sldTgt/>
                                      </p:tgtEl>
                                    </p:cond>
                                  </p:endCondLst>
                                  <p:childTnLst>
                                    <p:animEffect transition="out" filter="fade">
                                      <p:cBhvr>
                                        <p:cTn id="86" dur="500" tmFilter="0, 0; .2, .5; .8, .5; 1, 0"/>
                                        <p:tgtEl>
                                          <p:spTgt spid="43"/>
                                        </p:tgtEl>
                                      </p:cBhvr>
                                    </p:animEffect>
                                    <p:animScale>
                                      <p:cBhvr>
                                        <p:cTn id="87" dur="250" autoRev="1" fill="hold"/>
                                        <p:tgtEl>
                                          <p:spTgt spid="43"/>
                                        </p:tgtEl>
                                      </p:cBhvr>
                                      <p:by x="105000" y="105000"/>
                                    </p:animScale>
                                  </p:childTnLst>
                                </p:cTn>
                              </p:par>
                              <p:par>
                                <p:cTn id="88" presetID="1" presetClass="exit" presetSubtype="0" fill="hold" grpId="2" nodeType="withEffect">
                                  <p:stCondLst>
                                    <p:cond delay="0"/>
                                  </p:stCondLst>
                                  <p:childTnLst>
                                    <p:set>
                                      <p:cBhvr>
                                        <p:cTn id="89" dur="1" fill="hold">
                                          <p:stCondLst>
                                            <p:cond delay="0"/>
                                          </p:stCondLst>
                                        </p:cTn>
                                        <p:tgtEl>
                                          <p:spTgt spid="43"/>
                                        </p:tgtEl>
                                        <p:attrNameLst>
                                          <p:attrName>style.visibility</p:attrName>
                                        </p:attrNameLst>
                                      </p:cBhvr>
                                      <p:to>
                                        <p:strVal val="hidden"/>
                                      </p:to>
                                    </p:set>
                                  </p:childTnLst>
                                </p:cTn>
                              </p:par>
                              <p:par>
                                <p:cTn id="90" presetID="1" presetClass="entr" presetSubtype="0" fill="hold" grpId="0" nodeType="withEffect">
                                  <p:stCondLst>
                                    <p:cond delay="0"/>
                                  </p:stCondLst>
                                  <p:childTnLst>
                                    <p:set>
                                      <p:cBhvr>
                                        <p:cTn id="91" dur="1" fill="hold">
                                          <p:stCondLst>
                                            <p:cond delay="0"/>
                                          </p:stCondLst>
                                        </p:cTn>
                                        <p:tgtEl>
                                          <p:spTgt spid="45"/>
                                        </p:tgtEl>
                                        <p:attrNameLst>
                                          <p:attrName>style.visibility</p:attrName>
                                        </p:attrNameLst>
                                      </p:cBhvr>
                                      <p:to>
                                        <p:strVal val="visible"/>
                                      </p:to>
                                    </p:set>
                                  </p:childTnLst>
                                </p:cTn>
                              </p:par>
                              <p:par>
                                <p:cTn id="92" presetID="26" presetClass="emph" presetSubtype="0" repeatCount="indefinite" fill="hold" grpId="1" nodeType="withEffect">
                                  <p:stCondLst>
                                    <p:cond delay="0"/>
                                  </p:stCondLst>
                                  <p:endCondLst>
                                    <p:cond evt="onNext" delay="0">
                                      <p:tgtEl>
                                        <p:sldTgt/>
                                      </p:tgtEl>
                                    </p:cond>
                                  </p:endCondLst>
                                  <p:childTnLst>
                                    <p:animEffect transition="out" filter="fade">
                                      <p:cBhvr>
                                        <p:cTn id="93" dur="500" tmFilter="0, 0; .2, .5; .8, .5; 1, 0"/>
                                        <p:tgtEl>
                                          <p:spTgt spid="45"/>
                                        </p:tgtEl>
                                      </p:cBhvr>
                                    </p:animEffect>
                                    <p:animScale>
                                      <p:cBhvr>
                                        <p:cTn id="94" dur="250" autoRev="1" fill="hold"/>
                                        <p:tgtEl>
                                          <p:spTgt spid="45"/>
                                        </p:tgtEl>
                                      </p:cBhvr>
                                      <p:by x="105000" y="105000"/>
                                    </p:animScale>
                                  </p:childTnLst>
                                </p:cTn>
                              </p:par>
                              <p:par>
                                <p:cTn id="95" presetID="1" presetClass="entr" presetSubtype="0" fill="hold" grpId="0" nodeType="withEffect">
                                  <p:stCondLst>
                                    <p:cond delay="0"/>
                                  </p:stCondLst>
                                  <p:childTnLst>
                                    <p:set>
                                      <p:cBhvr>
                                        <p:cTn id="96" dur="1" fill="hold">
                                          <p:stCondLst>
                                            <p:cond delay="0"/>
                                          </p:stCondLst>
                                        </p:cTn>
                                        <p:tgtEl>
                                          <p:spTgt spid="54"/>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44">
                                            <p:txEl>
                                              <p:pRg st="0" end="0"/>
                                            </p:txEl>
                                          </p:spTgt>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44">
                                            <p:txEl>
                                              <p:pRg st="2" end="2"/>
                                            </p:txEl>
                                          </p:spTgt>
                                        </p:tgtEl>
                                        <p:attrNameLst>
                                          <p:attrName>style.visibility</p:attrName>
                                        </p:attrNameLst>
                                      </p:cBhvr>
                                      <p:to>
                                        <p:strVal val="visible"/>
                                      </p:to>
                                    </p:set>
                                  </p:childTnLst>
                                </p:cTn>
                              </p:par>
                              <p:par>
                                <p:cTn id="101" presetID="49" presetClass="path" presetSubtype="0" accel="50000" decel="50000" fill="hold" grpId="1" nodeType="withEffect">
                                  <p:stCondLst>
                                    <p:cond delay="0"/>
                                  </p:stCondLst>
                                  <p:childTnLst>
                                    <p:animMotion origin="layout" path="M 4.375E-6 -3.7037E-7 L -0.26394 0.2375 " pathEditMode="relative" rAng="0" ptsTypes="AA">
                                      <p:cBhvr>
                                        <p:cTn id="102" dur="2000" fill="hold"/>
                                        <p:tgtEl>
                                          <p:spTgt spid="54"/>
                                        </p:tgtEl>
                                        <p:attrNameLst>
                                          <p:attrName>ppt_x</p:attrName>
                                          <p:attrName>ppt_y</p:attrName>
                                        </p:attrNameLst>
                                      </p:cBhvr>
                                      <p:rCtr x="-13203" y="11875"/>
                                    </p:animMotion>
                                  </p:childTnLst>
                                </p:cTn>
                              </p:par>
                            </p:childTnLst>
                          </p:cTn>
                        </p:par>
                      </p:childTnLst>
                    </p:cTn>
                  </p:par>
                  <p:par>
                    <p:cTn id="103" fill="hold">
                      <p:stCondLst>
                        <p:cond delay="indefinite"/>
                      </p:stCondLst>
                      <p:childTnLst>
                        <p:par>
                          <p:cTn id="104" fill="hold">
                            <p:stCondLst>
                              <p:cond delay="0"/>
                            </p:stCondLst>
                            <p:childTnLst>
                              <p:par>
                                <p:cTn id="105" presetID="1" presetClass="exit" presetSubtype="0" fill="hold" grpId="2" nodeType="clickEffect">
                                  <p:stCondLst>
                                    <p:cond delay="0"/>
                                  </p:stCondLst>
                                  <p:childTnLst>
                                    <p:set>
                                      <p:cBhvr>
                                        <p:cTn id="106" dur="1" fill="hold">
                                          <p:stCondLst>
                                            <p:cond delay="0"/>
                                          </p:stCondLst>
                                        </p:cTn>
                                        <p:tgtEl>
                                          <p:spTgt spid="45"/>
                                        </p:tgtEl>
                                        <p:attrNameLst>
                                          <p:attrName>style.visibility</p:attrName>
                                        </p:attrNameLst>
                                      </p:cBhvr>
                                      <p:to>
                                        <p:strVal val="hidden"/>
                                      </p:to>
                                    </p:set>
                                  </p:childTnLst>
                                </p:cTn>
                              </p:par>
                              <p:par>
                                <p:cTn id="107" presetID="1" presetClass="entr" presetSubtype="0" fill="hold" grpId="0" nodeType="withEffect">
                                  <p:stCondLst>
                                    <p:cond delay="0"/>
                                  </p:stCondLst>
                                  <p:childTnLst>
                                    <p:set>
                                      <p:cBhvr>
                                        <p:cTn id="108" dur="1" fill="hold">
                                          <p:stCondLst>
                                            <p:cond delay="0"/>
                                          </p:stCondLst>
                                        </p:cTn>
                                        <p:tgtEl>
                                          <p:spTgt spid="47"/>
                                        </p:tgtEl>
                                        <p:attrNameLst>
                                          <p:attrName>style.visibility</p:attrName>
                                        </p:attrNameLst>
                                      </p:cBhvr>
                                      <p:to>
                                        <p:strVal val="visible"/>
                                      </p:to>
                                    </p:set>
                                  </p:childTnLst>
                                </p:cTn>
                              </p:par>
                              <p:par>
                                <p:cTn id="109" presetID="26" presetClass="emph" presetSubtype="0" repeatCount="indefinite" fill="hold" grpId="1" nodeType="withEffect">
                                  <p:stCondLst>
                                    <p:cond delay="0"/>
                                  </p:stCondLst>
                                  <p:endCondLst>
                                    <p:cond evt="onNext" delay="0">
                                      <p:tgtEl>
                                        <p:sldTgt/>
                                      </p:tgtEl>
                                    </p:cond>
                                  </p:endCondLst>
                                  <p:childTnLst>
                                    <p:animEffect transition="out" filter="fade">
                                      <p:cBhvr>
                                        <p:cTn id="110" dur="500" tmFilter="0, 0; .2, .5; .8, .5; 1, 0"/>
                                        <p:tgtEl>
                                          <p:spTgt spid="47"/>
                                        </p:tgtEl>
                                      </p:cBhvr>
                                    </p:animEffect>
                                    <p:animScale>
                                      <p:cBhvr>
                                        <p:cTn id="111" dur="250" autoRev="1" fill="hold"/>
                                        <p:tgtEl>
                                          <p:spTgt spid="47"/>
                                        </p:tgtEl>
                                      </p:cBhvr>
                                      <p:by x="105000" y="105000"/>
                                    </p:animScale>
                                  </p:childTnLst>
                                </p:cTn>
                              </p:par>
                              <p:par>
                                <p:cTn id="112" presetID="1" presetClass="entr" presetSubtype="0" fill="hold" nodeType="withEffect">
                                  <p:stCondLst>
                                    <p:cond delay="0"/>
                                  </p:stCondLst>
                                  <p:childTnLst>
                                    <p:set>
                                      <p:cBhvr>
                                        <p:cTn id="113" dur="1" fill="hold">
                                          <p:stCondLst>
                                            <p:cond delay="0"/>
                                          </p:stCondLst>
                                        </p:cTn>
                                        <p:tgtEl>
                                          <p:spTgt spid="46">
                                            <p:txEl>
                                              <p:pRg st="0" end="0"/>
                                            </p:txEl>
                                          </p:spTgt>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presetID="1" presetClass="exit" presetSubtype="0" fill="hold" grpId="2" nodeType="clickEffect">
                                  <p:stCondLst>
                                    <p:cond delay="0"/>
                                  </p:stCondLst>
                                  <p:childTnLst>
                                    <p:set>
                                      <p:cBhvr>
                                        <p:cTn id="117" dur="1" fill="hold">
                                          <p:stCondLst>
                                            <p:cond delay="0"/>
                                          </p:stCondLst>
                                        </p:cTn>
                                        <p:tgtEl>
                                          <p:spTgt spid="47"/>
                                        </p:tgtEl>
                                        <p:attrNameLst>
                                          <p:attrName>style.visibility</p:attrName>
                                        </p:attrNameLst>
                                      </p:cBhvr>
                                      <p:to>
                                        <p:strVal val="hidden"/>
                                      </p:to>
                                    </p:set>
                                  </p:childTnLst>
                                </p:cTn>
                              </p:par>
                              <p:par>
                                <p:cTn id="118" presetID="1" presetClass="entr" presetSubtype="0" fill="hold" nodeType="withEffect">
                                  <p:stCondLst>
                                    <p:cond delay="0"/>
                                  </p:stCondLst>
                                  <p:childTnLst>
                                    <p:set>
                                      <p:cBhvr>
                                        <p:cTn id="119" dur="1" fill="hold">
                                          <p:stCondLst>
                                            <p:cond delay="0"/>
                                          </p:stCondLst>
                                        </p:cTn>
                                        <p:tgtEl>
                                          <p:spTgt spid="48">
                                            <p:txEl>
                                              <p:pRg st="0" end="0"/>
                                            </p:txEl>
                                          </p:spTgt>
                                        </p:tgtEl>
                                        <p:attrNameLst>
                                          <p:attrName>style.visibility</p:attrName>
                                        </p:attrNameLst>
                                      </p:cBhvr>
                                      <p:to>
                                        <p:strVal val="visible"/>
                                      </p:to>
                                    </p:set>
                                  </p:childTnLst>
                                </p:cTn>
                              </p:par>
                              <p:par>
                                <p:cTn id="120" presetID="1" presetClass="entr" presetSubtype="0" fill="hold" grpId="0" nodeType="withEffect">
                                  <p:stCondLst>
                                    <p:cond delay="0"/>
                                  </p:stCondLst>
                                  <p:childTnLst>
                                    <p:set>
                                      <p:cBhvr>
                                        <p:cTn id="121" dur="1" fill="hold">
                                          <p:stCondLst>
                                            <p:cond delay="0"/>
                                          </p:stCondLst>
                                        </p:cTn>
                                        <p:tgtEl>
                                          <p:spTgt spid="49"/>
                                        </p:tgtEl>
                                        <p:attrNameLst>
                                          <p:attrName>style.visibility</p:attrName>
                                        </p:attrNameLst>
                                      </p:cBhvr>
                                      <p:to>
                                        <p:strVal val="visible"/>
                                      </p:to>
                                    </p:set>
                                  </p:childTnLst>
                                </p:cTn>
                              </p:par>
                              <p:par>
                                <p:cTn id="122" presetID="26" presetClass="emph" presetSubtype="0" repeatCount="indefinite" fill="hold" grpId="1" nodeType="withEffect">
                                  <p:stCondLst>
                                    <p:cond delay="0"/>
                                  </p:stCondLst>
                                  <p:endCondLst>
                                    <p:cond evt="onNext" delay="0">
                                      <p:tgtEl>
                                        <p:sldTgt/>
                                      </p:tgtEl>
                                    </p:cond>
                                  </p:endCondLst>
                                  <p:childTnLst>
                                    <p:animEffect transition="out" filter="fade">
                                      <p:cBhvr>
                                        <p:cTn id="123" dur="500" tmFilter="0, 0; .2, .5; .8, .5; 1, 0"/>
                                        <p:tgtEl>
                                          <p:spTgt spid="49"/>
                                        </p:tgtEl>
                                      </p:cBhvr>
                                    </p:animEffect>
                                    <p:animScale>
                                      <p:cBhvr>
                                        <p:cTn id="124" dur="250" autoRev="1" fill="hold"/>
                                        <p:tgtEl>
                                          <p:spTgt spid="4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6" grpId="0" animBg="1"/>
      <p:bldP spid="7" grpId="0" animBg="1"/>
      <p:bldP spid="8"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6" grpId="0" animBg="1"/>
      <p:bldP spid="27" grpId="0" animBg="1"/>
      <p:bldP spid="28" grpId="0" animBg="1"/>
      <p:bldP spid="29" grpId="0" animBg="1"/>
      <p:bldP spid="30" grpId="0" animBg="1"/>
      <p:bldP spid="31" grpId="0" animBg="1"/>
      <p:bldP spid="32" grpId="0"/>
      <p:bldP spid="33" grpId="0"/>
      <p:bldP spid="34" grpId="0"/>
      <p:bldP spid="35" grpId="0"/>
      <p:bldP spid="36" grpId="0"/>
      <p:bldP spid="37" grpId="0"/>
      <p:bldP spid="43" grpId="0" animBg="1"/>
      <p:bldP spid="43" grpId="1" animBg="1"/>
      <p:bldP spid="43" grpId="2" animBg="1"/>
      <p:bldP spid="45" grpId="0" animBg="1"/>
      <p:bldP spid="45" grpId="1" animBg="1"/>
      <p:bldP spid="45" grpId="2" animBg="1"/>
      <p:bldP spid="47" grpId="0" animBg="1"/>
      <p:bldP spid="47" grpId="1" animBg="1"/>
      <p:bldP spid="47" grpId="2" animBg="1"/>
      <p:bldP spid="49" grpId="0" animBg="1"/>
      <p:bldP spid="49" grpId="1" animBg="1"/>
      <p:bldP spid="52" grpId="0"/>
      <p:bldP spid="53" grpId="0"/>
      <p:bldP spid="53" grpId="1"/>
      <p:bldP spid="54" grpId="0"/>
      <p:bldP spid="54" grpId="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Virtual Memory(Conti..)</a:t>
            </a:r>
          </a:p>
        </p:txBody>
      </p:sp>
      <p:sp>
        <p:nvSpPr>
          <p:cNvPr id="3" name="Content Placeholder 2"/>
          <p:cNvSpPr>
            <a:spLocks noGrp="1"/>
          </p:cNvSpPr>
          <p:nvPr>
            <p:ph idx="1"/>
          </p:nvPr>
        </p:nvSpPr>
        <p:spPr>
          <a:xfrm>
            <a:off x="131179" y="853815"/>
            <a:ext cx="11929641" cy="5649046"/>
          </a:xfrm>
        </p:spPr>
        <p:txBody>
          <a:bodyPr/>
          <a:lstStyle/>
          <a:p>
            <a:r>
              <a:rPr lang="en-US" b="1" dirty="0"/>
              <a:t>Advantages </a:t>
            </a:r>
          </a:p>
          <a:p>
            <a:pPr lvl="1"/>
            <a:r>
              <a:rPr lang="en-US" dirty="0"/>
              <a:t>There is no need to keep entire memory into process, more process can be accommodated in memory.</a:t>
            </a:r>
            <a:endParaRPr lang="en-US" dirty="0">
              <a:solidFill>
                <a:srgbClr val="00B050"/>
              </a:solidFill>
            </a:endParaRPr>
          </a:p>
        </p:txBody>
      </p:sp>
    </p:spTree>
    <p:extLst>
      <p:ext uri="{BB962C8B-B14F-4D97-AF65-F5344CB8AC3E}">
        <p14:creationId xmlns:p14="http://schemas.microsoft.com/office/powerpoint/2010/main" val="2136603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t>Concept of a Page Fault</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5</a:t>
            </a:r>
          </a:p>
        </p:txBody>
      </p:sp>
    </p:spTree>
    <p:extLst>
      <p:ext uri="{BB962C8B-B14F-4D97-AF65-F5344CB8AC3E}">
        <p14:creationId xmlns:p14="http://schemas.microsoft.com/office/powerpoint/2010/main" val="2278471073"/>
      </p:ext>
    </p:extLst>
  </p:cSld>
  <p:clrMapOvr>
    <a:overrideClrMapping bg1="lt1" tx1="dk1" bg2="lt2" tx2="dk2" accent1="accent1" accent2="accent2" accent3="accent3" accent4="accent4" accent5="accent5" accent6="accent6" hlink="hlink" folHlink="folHlink"/>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Page Fault</a:t>
            </a:r>
          </a:p>
        </p:txBody>
      </p:sp>
      <p:sp>
        <p:nvSpPr>
          <p:cNvPr id="3" name="Content Placeholder 2"/>
          <p:cNvSpPr>
            <a:spLocks noGrp="1"/>
          </p:cNvSpPr>
          <p:nvPr>
            <p:ph idx="1"/>
          </p:nvPr>
        </p:nvSpPr>
        <p:spPr>
          <a:xfrm>
            <a:off x="131181" y="863444"/>
            <a:ext cx="5717169" cy="5590565"/>
          </a:xfrm>
        </p:spPr>
        <p:txBody>
          <a:bodyPr/>
          <a:lstStyle/>
          <a:p>
            <a:r>
              <a:rPr lang="en-US" b="1" dirty="0"/>
              <a:t>Page Fault: </a:t>
            </a:r>
            <a:r>
              <a:rPr lang="en-US" dirty="0"/>
              <a:t>When process needs the page on the memory (RAM), and the page is not already on memory, then it is called a page fault. </a:t>
            </a:r>
          </a:p>
          <a:p>
            <a:r>
              <a:rPr lang="en-US" dirty="0"/>
              <a:t>The page fault is also called page miss.</a:t>
            </a:r>
          </a:p>
          <a:p>
            <a:pPr marL="0" indent="0">
              <a:buNone/>
            </a:pPr>
            <a:endParaRPr lang="en-US" dirty="0"/>
          </a:p>
        </p:txBody>
      </p:sp>
      <p:pic>
        <p:nvPicPr>
          <p:cNvPr id="1026" name="Picture 2">
            <a:extLst>
              <a:ext uri="{FF2B5EF4-FFF2-40B4-BE49-F238E27FC236}">
                <a16:creationId xmlns:a16="http://schemas.microsoft.com/office/drawing/2014/main" id="{FA56B2E8-7B73-C5B9-3E4F-0626BC1299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8350" y="698656"/>
            <a:ext cx="6343650" cy="5295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917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par>
                          <p:cTn id="13" fill="hold">
                            <p:stCondLst>
                              <p:cond delay="500"/>
                            </p:stCondLst>
                            <p:childTnLst>
                              <p:par>
                                <p:cTn id="14" presetID="1" presetClass="entr" presetSubtype="0" fill="hold" nodeType="afterEffect">
                                  <p:stCondLst>
                                    <p:cond delay="0"/>
                                  </p:stCondLst>
                                  <p:childTnLst>
                                    <p:set>
                                      <p:cBhvr>
                                        <p:cTn id="15"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Page Fault</a:t>
            </a:r>
            <a:endParaRPr lang="en-US" dirty="0"/>
          </a:p>
        </p:txBody>
      </p:sp>
      <p:sp>
        <p:nvSpPr>
          <p:cNvPr id="3" name="Content Placeholder 2"/>
          <p:cNvSpPr>
            <a:spLocks noGrp="1"/>
          </p:cNvSpPr>
          <p:nvPr>
            <p:ph idx="1"/>
          </p:nvPr>
        </p:nvSpPr>
        <p:spPr>
          <a:xfrm>
            <a:off x="131181" y="863444"/>
            <a:ext cx="5717169" cy="5590565"/>
          </a:xfrm>
        </p:spPr>
        <p:txBody>
          <a:bodyPr/>
          <a:lstStyle/>
          <a:p>
            <a:r>
              <a:rPr lang="en-US" b="1" dirty="0"/>
              <a:t>Page Fault: </a:t>
            </a:r>
            <a:r>
              <a:rPr lang="en-US" dirty="0"/>
              <a:t>When process needs the page on the memory (RAM), and the page is not already on memory, then it is called a page fault. </a:t>
            </a:r>
          </a:p>
          <a:p>
            <a:r>
              <a:rPr lang="en-US" dirty="0"/>
              <a:t>The page fault is also called page miss.</a:t>
            </a:r>
          </a:p>
          <a:p>
            <a:endParaRPr lang="en-US" dirty="0"/>
          </a:p>
          <a:p>
            <a:r>
              <a:rPr lang="en-US" b="1" dirty="0"/>
              <a:t>Page Hit: </a:t>
            </a:r>
            <a:r>
              <a:rPr lang="en-US" dirty="0"/>
              <a:t>When process needs the page on the memory, and the page is already available on memory, then it is called page hit.</a:t>
            </a:r>
          </a:p>
        </p:txBody>
      </p:sp>
      <p:pic>
        <p:nvPicPr>
          <p:cNvPr id="2050" name="Picture 2" descr="Difference Between Swapping and Paging">
            <a:extLst>
              <a:ext uri="{FF2B5EF4-FFF2-40B4-BE49-F238E27FC236}">
                <a16:creationId xmlns:a16="http://schemas.microsoft.com/office/drawing/2014/main" id="{A4FCC271-141F-7A49-BD3C-FC24910833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89691" y="863444"/>
            <a:ext cx="6302309" cy="51994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9503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Page Fault</a:t>
            </a:r>
            <a:endParaRPr lang="en-US" dirty="0"/>
          </a:p>
        </p:txBody>
      </p:sp>
      <p:sp>
        <p:nvSpPr>
          <p:cNvPr id="3" name="Content Placeholder 2"/>
          <p:cNvSpPr>
            <a:spLocks noGrp="1"/>
          </p:cNvSpPr>
          <p:nvPr>
            <p:ph idx="1"/>
          </p:nvPr>
        </p:nvSpPr>
        <p:spPr>
          <a:xfrm>
            <a:off x="131181" y="863444"/>
            <a:ext cx="5717169" cy="5590565"/>
          </a:xfrm>
        </p:spPr>
        <p:txBody>
          <a:bodyPr/>
          <a:lstStyle/>
          <a:p>
            <a:r>
              <a:rPr lang="en-US" b="1" dirty="0"/>
              <a:t>Page Fault: </a:t>
            </a:r>
            <a:r>
              <a:rPr lang="en-US" dirty="0"/>
              <a:t>When process needs the page on the memory (RAM), and the page is not already on memory, then it is called a page fault. </a:t>
            </a:r>
          </a:p>
          <a:p>
            <a:r>
              <a:rPr lang="en-US" dirty="0"/>
              <a:t>The page fault is also called page miss.</a:t>
            </a:r>
          </a:p>
          <a:p>
            <a:r>
              <a:rPr lang="en-US" b="1" dirty="0"/>
              <a:t>Page Hit: </a:t>
            </a:r>
            <a:r>
              <a:rPr lang="en-US" dirty="0"/>
              <a:t>When process needs the page on the memory, and the page is already available on memory, then it is called page hit.</a:t>
            </a:r>
          </a:p>
          <a:p>
            <a:r>
              <a:rPr lang="en-US" b="1" dirty="0"/>
              <a:t>Page Replacement: </a:t>
            </a:r>
            <a:r>
              <a:rPr lang="en-US" dirty="0"/>
              <a:t>A page from the main memory is replaced with a page from the secondary memory. </a:t>
            </a:r>
          </a:p>
          <a:p>
            <a:r>
              <a:rPr lang="fr-FR" dirty="0"/>
              <a:t>Page replacement occurs due to page faut.</a:t>
            </a:r>
            <a:endParaRPr lang="en-US" b="1" dirty="0">
              <a:solidFill>
                <a:schemeClr val="tx2"/>
              </a:solidFill>
            </a:endParaRPr>
          </a:p>
          <a:p>
            <a:endParaRPr lang="en-US" dirty="0"/>
          </a:p>
        </p:txBody>
      </p:sp>
      <p:pic>
        <p:nvPicPr>
          <p:cNvPr id="7" name="Picture 6">
            <a:extLst>
              <a:ext uri="{FF2B5EF4-FFF2-40B4-BE49-F238E27FC236}">
                <a16:creationId xmlns:a16="http://schemas.microsoft.com/office/drawing/2014/main" id="{5451C287-83C6-3F3E-13EF-AD2071D33104}"/>
              </a:ext>
            </a:extLst>
          </p:cNvPr>
          <p:cNvPicPr>
            <a:picLocks noChangeAspect="1"/>
          </p:cNvPicPr>
          <p:nvPr/>
        </p:nvPicPr>
        <p:blipFill rotWithShape="1">
          <a:blip r:embed="rId2"/>
          <a:srcRect l="2438"/>
          <a:stretch/>
        </p:blipFill>
        <p:spPr>
          <a:xfrm>
            <a:off x="5848350" y="1643034"/>
            <a:ext cx="6366442" cy="4963218"/>
          </a:xfrm>
          <a:prstGeom prst="rect">
            <a:avLst/>
          </a:prstGeom>
        </p:spPr>
      </p:pic>
    </p:spTree>
    <p:extLst>
      <p:ext uri="{BB962C8B-B14F-4D97-AF65-F5344CB8AC3E}">
        <p14:creationId xmlns:p14="http://schemas.microsoft.com/office/powerpoint/2010/main" val="329230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0"/>
                                  </p:stCondLst>
                                  <p:childTnLst>
                                    <p:set>
                                      <p:cBhvr>
                                        <p:cTn id="21" dur="1" fill="hold">
                                          <p:stCondLst>
                                            <p:cond delay="0"/>
                                          </p:stCondLst>
                                        </p:cTn>
                                        <p:tgtEl>
                                          <p:spTgt spid="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solidFill>
                  <a:schemeClr val="accent6">
                    <a:lumMod val="50000"/>
                  </a:schemeClr>
                </a:solidFill>
              </a:rPr>
              <a:t>Memory Allocation Strategies (First Fit, Best Fit, and Worst Fit)</a:t>
            </a:r>
            <a:endParaRPr lang="en-US" dirty="0"/>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6</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33441" y="4799988"/>
            <a:ext cx="2803439" cy="1899287"/>
          </a:xfrm>
          <a:prstGeom prst="rect">
            <a:avLst/>
          </a:prstGeom>
        </p:spPr>
      </p:pic>
    </p:spTree>
    <p:extLst>
      <p:ext uri="{BB962C8B-B14F-4D97-AF65-F5344CB8AC3E}">
        <p14:creationId xmlns:p14="http://schemas.microsoft.com/office/powerpoint/2010/main" val="2278907154"/>
      </p:ext>
    </p:extLst>
  </p:cSld>
  <p:clrMapOvr>
    <a:overrideClrMapping bg1="lt1" tx1="dk1" bg2="lt2" tx2="dk2" accent1="accent1" accent2="accent2" accent3="accent3" accent4="accent4" accent5="accent5" accent6="accent6" hlink="hlink" folHlink="folHlink"/>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Strategies to select partition </a:t>
            </a:r>
          </a:p>
        </p:txBody>
      </p:sp>
      <p:sp>
        <p:nvSpPr>
          <p:cNvPr id="3" name="Content Placeholder 2"/>
          <p:cNvSpPr>
            <a:spLocks noGrp="1"/>
          </p:cNvSpPr>
          <p:nvPr>
            <p:ph idx="1"/>
          </p:nvPr>
        </p:nvSpPr>
        <p:spPr/>
        <p:txBody>
          <a:bodyPr/>
          <a:lstStyle/>
          <a:p>
            <a:r>
              <a:rPr lang="en-US" dirty="0"/>
              <a:t>When </a:t>
            </a:r>
            <a:r>
              <a:rPr lang="en-US" dirty="0">
                <a:solidFill>
                  <a:schemeClr val="accent6"/>
                </a:solidFill>
              </a:rPr>
              <a:t>process enter </a:t>
            </a:r>
            <a:r>
              <a:rPr lang="en-US" dirty="0"/>
              <a:t>in system, </a:t>
            </a:r>
            <a:r>
              <a:rPr lang="en-US" dirty="0">
                <a:solidFill>
                  <a:schemeClr val="accent6"/>
                </a:solidFill>
              </a:rPr>
              <a:t>required</a:t>
            </a:r>
            <a:r>
              <a:rPr lang="en-US" dirty="0"/>
              <a:t> free </a:t>
            </a:r>
            <a:r>
              <a:rPr lang="en-US" dirty="0">
                <a:solidFill>
                  <a:schemeClr val="accent6"/>
                </a:solidFill>
              </a:rPr>
              <a:t>memory</a:t>
            </a:r>
            <a:r>
              <a:rPr lang="en-US" dirty="0"/>
              <a:t> is allocated for that process.</a:t>
            </a:r>
          </a:p>
          <a:p>
            <a:r>
              <a:rPr lang="en-US" dirty="0"/>
              <a:t>For this purpose, all free memory is called </a:t>
            </a:r>
            <a:r>
              <a:rPr lang="en-US" dirty="0">
                <a:solidFill>
                  <a:schemeClr val="accent6"/>
                </a:solidFill>
              </a:rPr>
              <a:t>holes, </a:t>
            </a:r>
            <a:r>
              <a:rPr lang="en-US" dirty="0"/>
              <a:t>is searched to find out chunk of</a:t>
            </a:r>
            <a:r>
              <a:rPr lang="en-US" dirty="0">
                <a:solidFill>
                  <a:srgbClr val="FF0000"/>
                </a:solidFill>
              </a:rPr>
              <a:t> </a:t>
            </a:r>
            <a:r>
              <a:rPr lang="en-US" dirty="0">
                <a:solidFill>
                  <a:schemeClr val="accent6"/>
                </a:solidFill>
              </a:rPr>
              <a:t>free memory.</a:t>
            </a:r>
          </a:p>
          <a:p>
            <a:pPr marL="0" indent="0">
              <a:buNone/>
            </a:pPr>
            <a:r>
              <a:rPr lang="en-US" b="1" dirty="0">
                <a:solidFill>
                  <a:schemeClr val="accent6"/>
                </a:solidFill>
              </a:rPr>
              <a:t>First Fit : </a:t>
            </a:r>
            <a:r>
              <a:rPr lang="en-US" dirty="0">
                <a:solidFill>
                  <a:schemeClr val="accent6"/>
                </a:solidFill>
              </a:rPr>
              <a:t>  </a:t>
            </a:r>
          </a:p>
          <a:p>
            <a:pPr lvl="1"/>
            <a:r>
              <a:rPr lang="en-US" dirty="0">
                <a:solidFill>
                  <a:schemeClr val="accent6"/>
                </a:solidFill>
              </a:rPr>
              <a:t>Search start </a:t>
            </a:r>
            <a:r>
              <a:rPr lang="en-US" dirty="0"/>
              <a:t>from </a:t>
            </a:r>
            <a:r>
              <a:rPr lang="en-US" dirty="0">
                <a:solidFill>
                  <a:schemeClr val="accent6"/>
                </a:solidFill>
              </a:rPr>
              <a:t>starting location </a:t>
            </a:r>
            <a:r>
              <a:rPr lang="en-US" dirty="0"/>
              <a:t>of </a:t>
            </a:r>
            <a:r>
              <a:rPr lang="en-US" dirty="0">
                <a:solidFill>
                  <a:schemeClr val="accent6"/>
                </a:solidFill>
              </a:rPr>
              <a:t>memory</a:t>
            </a:r>
            <a:r>
              <a:rPr lang="en-US" dirty="0"/>
              <a:t>.</a:t>
            </a:r>
          </a:p>
          <a:p>
            <a:pPr lvl="1"/>
            <a:r>
              <a:rPr lang="en-US" dirty="0">
                <a:solidFill>
                  <a:schemeClr val="accent6"/>
                </a:solidFill>
              </a:rPr>
              <a:t>First available hole </a:t>
            </a:r>
            <a:r>
              <a:rPr lang="en-US" dirty="0"/>
              <a:t>, which is large enough to </a:t>
            </a:r>
            <a:r>
              <a:rPr lang="en-US" dirty="0">
                <a:solidFill>
                  <a:schemeClr val="accent6"/>
                </a:solidFill>
              </a:rPr>
              <a:t>hold process </a:t>
            </a:r>
            <a:r>
              <a:rPr lang="en-US" dirty="0"/>
              <a:t>and Selected for allocation.</a:t>
            </a:r>
            <a:r>
              <a:rPr lang="en-US" b="1" dirty="0"/>
              <a:t>  </a:t>
            </a:r>
            <a:endParaRPr lang="en-US" dirty="0"/>
          </a:p>
          <a:p>
            <a:pPr lvl="1"/>
            <a:r>
              <a:rPr lang="en-US" dirty="0"/>
              <a:t>Search time is less.</a:t>
            </a:r>
          </a:p>
          <a:p>
            <a:pPr lvl="1"/>
            <a:r>
              <a:rPr lang="en-US" dirty="0"/>
              <a:t>Memory loss is higher, as very large hole may be selected for a small process.</a:t>
            </a:r>
          </a:p>
          <a:p>
            <a:r>
              <a:rPr lang="en-US" dirty="0"/>
              <a:t>Example : Free partition selected for </a:t>
            </a:r>
            <a:r>
              <a:rPr lang="en-US" dirty="0">
                <a:solidFill>
                  <a:schemeClr val="accent6"/>
                </a:solidFill>
              </a:rPr>
              <a:t>allocation</a:t>
            </a:r>
            <a:r>
              <a:rPr lang="en-US" dirty="0"/>
              <a:t> of </a:t>
            </a:r>
            <a:r>
              <a:rPr lang="en-US" dirty="0">
                <a:solidFill>
                  <a:schemeClr val="accent6"/>
                </a:solidFill>
              </a:rPr>
              <a:t>10 MB</a:t>
            </a:r>
          </a:p>
          <a:p>
            <a:pPr marL="0" indent="-87312">
              <a:buNone/>
            </a:pPr>
            <a:endParaRPr lang="en-US" dirty="0"/>
          </a:p>
        </p:txBody>
      </p:sp>
      <p:sp>
        <p:nvSpPr>
          <p:cNvPr id="4" name="TextBox 3"/>
          <p:cNvSpPr txBox="1"/>
          <p:nvPr/>
        </p:nvSpPr>
        <p:spPr>
          <a:xfrm>
            <a:off x="318260" y="4876767"/>
            <a:ext cx="336952" cy="461665"/>
          </a:xfrm>
          <a:prstGeom prst="rect">
            <a:avLst/>
          </a:prstGeom>
          <a:noFill/>
          <a:ln>
            <a:solidFill>
              <a:schemeClr val="tx1"/>
            </a:solidFill>
          </a:ln>
        </p:spPr>
        <p:txBody>
          <a:bodyPr wrap="none" rtlCol="0">
            <a:spAutoFit/>
          </a:bodyPr>
          <a:lstStyle/>
          <a:p>
            <a:r>
              <a:rPr lang="en-US" sz="2400" dirty="0"/>
              <a:t>5</a:t>
            </a:r>
          </a:p>
        </p:txBody>
      </p:sp>
      <p:sp>
        <p:nvSpPr>
          <p:cNvPr id="5" name="TextBox 4"/>
          <p:cNvSpPr txBox="1"/>
          <p:nvPr/>
        </p:nvSpPr>
        <p:spPr>
          <a:xfrm>
            <a:off x="655212" y="4876767"/>
            <a:ext cx="469586" cy="461665"/>
          </a:xfrm>
          <a:prstGeom prst="rect">
            <a:avLst/>
          </a:prstGeom>
          <a:noFill/>
          <a:ln>
            <a:solidFill>
              <a:schemeClr val="tx1"/>
            </a:solidFill>
          </a:ln>
        </p:spPr>
        <p:txBody>
          <a:bodyPr wrap="square" rtlCol="0">
            <a:spAutoFit/>
          </a:bodyPr>
          <a:lstStyle/>
          <a:p>
            <a:pPr algn="ctr"/>
            <a:r>
              <a:rPr lang="en-US" sz="2400" dirty="0"/>
              <a:t>7</a:t>
            </a:r>
          </a:p>
        </p:txBody>
      </p:sp>
      <p:sp>
        <p:nvSpPr>
          <p:cNvPr id="6" name="TextBox 5"/>
          <p:cNvSpPr txBox="1"/>
          <p:nvPr/>
        </p:nvSpPr>
        <p:spPr>
          <a:xfrm>
            <a:off x="1124799" y="4876767"/>
            <a:ext cx="1379094" cy="461665"/>
          </a:xfrm>
          <a:prstGeom prst="rect">
            <a:avLst/>
          </a:prstGeom>
          <a:solidFill>
            <a:schemeClr val="bg2">
              <a:lumMod val="85000"/>
            </a:schemeClr>
          </a:solidFill>
          <a:ln>
            <a:solidFill>
              <a:schemeClr val="tx1"/>
            </a:solidFill>
          </a:ln>
        </p:spPr>
        <p:txBody>
          <a:bodyPr wrap="square" rtlCol="0">
            <a:spAutoFit/>
          </a:bodyPr>
          <a:lstStyle/>
          <a:p>
            <a:pPr algn="ctr"/>
            <a:r>
              <a:rPr lang="en-US" sz="2400" dirty="0">
                <a:solidFill>
                  <a:srgbClr val="FF0000"/>
                </a:solidFill>
              </a:rPr>
              <a:t>15</a:t>
            </a:r>
          </a:p>
        </p:txBody>
      </p:sp>
      <p:sp>
        <p:nvSpPr>
          <p:cNvPr id="7" name="TextBox 6"/>
          <p:cNvSpPr txBox="1"/>
          <p:nvPr/>
        </p:nvSpPr>
        <p:spPr>
          <a:xfrm>
            <a:off x="2503893" y="4873733"/>
            <a:ext cx="336952" cy="461665"/>
          </a:xfrm>
          <a:prstGeom prst="rect">
            <a:avLst/>
          </a:prstGeom>
          <a:noFill/>
          <a:ln>
            <a:solidFill>
              <a:schemeClr val="tx1"/>
            </a:solidFill>
          </a:ln>
        </p:spPr>
        <p:txBody>
          <a:bodyPr wrap="none" rtlCol="0">
            <a:spAutoFit/>
          </a:bodyPr>
          <a:lstStyle/>
          <a:p>
            <a:r>
              <a:rPr lang="en-US" sz="2400" dirty="0"/>
              <a:t>5</a:t>
            </a:r>
          </a:p>
        </p:txBody>
      </p:sp>
      <p:sp>
        <p:nvSpPr>
          <p:cNvPr id="8" name="TextBox 7"/>
          <p:cNvSpPr txBox="1"/>
          <p:nvPr/>
        </p:nvSpPr>
        <p:spPr>
          <a:xfrm>
            <a:off x="3666611" y="4873733"/>
            <a:ext cx="419071" cy="461665"/>
          </a:xfrm>
          <a:prstGeom prst="rect">
            <a:avLst/>
          </a:prstGeom>
          <a:noFill/>
          <a:ln>
            <a:solidFill>
              <a:schemeClr val="tx1"/>
            </a:solidFill>
          </a:ln>
        </p:spPr>
        <p:txBody>
          <a:bodyPr wrap="square" rtlCol="0">
            <a:spAutoFit/>
          </a:bodyPr>
          <a:lstStyle/>
          <a:p>
            <a:pPr algn="ctr"/>
            <a:r>
              <a:rPr lang="en-US" sz="2400" dirty="0"/>
              <a:t>8</a:t>
            </a:r>
          </a:p>
        </p:txBody>
      </p:sp>
      <p:sp>
        <p:nvSpPr>
          <p:cNvPr id="9" name="TextBox 8"/>
          <p:cNvSpPr txBox="1"/>
          <p:nvPr/>
        </p:nvSpPr>
        <p:spPr>
          <a:xfrm>
            <a:off x="2840845" y="4873733"/>
            <a:ext cx="825766" cy="461665"/>
          </a:xfrm>
          <a:prstGeom prst="rect">
            <a:avLst/>
          </a:prstGeom>
          <a:solidFill>
            <a:schemeClr val="bg2">
              <a:lumMod val="85000"/>
            </a:schemeClr>
          </a:solidFill>
          <a:ln>
            <a:solidFill>
              <a:schemeClr val="tx1"/>
            </a:solidFill>
          </a:ln>
        </p:spPr>
        <p:txBody>
          <a:bodyPr wrap="square" rtlCol="0">
            <a:spAutoFit/>
          </a:bodyPr>
          <a:lstStyle/>
          <a:p>
            <a:pPr algn="ctr"/>
            <a:r>
              <a:rPr lang="en-US" sz="2400" dirty="0">
                <a:solidFill>
                  <a:srgbClr val="FF0000"/>
                </a:solidFill>
              </a:rPr>
              <a:t>11</a:t>
            </a:r>
          </a:p>
        </p:txBody>
      </p:sp>
      <p:sp>
        <p:nvSpPr>
          <p:cNvPr id="10" name="TextBox 9"/>
          <p:cNvSpPr txBox="1"/>
          <p:nvPr/>
        </p:nvSpPr>
        <p:spPr>
          <a:xfrm>
            <a:off x="4085682" y="4873733"/>
            <a:ext cx="1940899" cy="461665"/>
          </a:xfrm>
          <a:prstGeom prst="rect">
            <a:avLst/>
          </a:prstGeom>
          <a:solidFill>
            <a:schemeClr val="bg2">
              <a:lumMod val="85000"/>
            </a:schemeClr>
          </a:solidFill>
          <a:ln>
            <a:solidFill>
              <a:schemeClr val="tx1"/>
            </a:solidFill>
          </a:ln>
        </p:spPr>
        <p:txBody>
          <a:bodyPr wrap="square" rtlCol="0">
            <a:spAutoFit/>
          </a:bodyPr>
          <a:lstStyle/>
          <a:p>
            <a:pPr algn="ctr"/>
            <a:r>
              <a:rPr lang="en-US" sz="2400" dirty="0">
                <a:solidFill>
                  <a:srgbClr val="FF0000"/>
                </a:solidFill>
              </a:rPr>
              <a:t>20</a:t>
            </a:r>
          </a:p>
        </p:txBody>
      </p:sp>
      <p:sp>
        <p:nvSpPr>
          <p:cNvPr id="11" name="TextBox 10"/>
          <p:cNvSpPr txBox="1"/>
          <p:nvPr/>
        </p:nvSpPr>
        <p:spPr>
          <a:xfrm>
            <a:off x="6026581" y="4873733"/>
            <a:ext cx="336952" cy="461665"/>
          </a:xfrm>
          <a:prstGeom prst="rect">
            <a:avLst/>
          </a:prstGeom>
          <a:noFill/>
          <a:ln>
            <a:solidFill>
              <a:schemeClr val="tx1"/>
            </a:solidFill>
          </a:ln>
        </p:spPr>
        <p:txBody>
          <a:bodyPr wrap="none" rtlCol="0">
            <a:spAutoFit/>
          </a:bodyPr>
          <a:lstStyle/>
          <a:p>
            <a:r>
              <a:rPr lang="en-US" sz="2400" dirty="0"/>
              <a:t>4</a:t>
            </a:r>
          </a:p>
        </p:txBody>
      </p:sp>
      <p:sp>
        <p:nvSpPr>
          <p:cNvPr id="12" name="TextBox 11"/>
          <p:cNvSpPr txBox="1"/>
          <p:nvPr/>
        </p:nvSpPr>
        <p:spPr>
          <a:xfrm>
            <a:off x="6363533" y="4873732"/>
            <a:ext cx="336952" cy="461665"/>
          </a:xfrm>
          <a:prstGeom prst="rect">
            <a:avLst/>
          </a:prstGeom>
          <a:noFill/>
          <a:ln>
            <a:solidFill>
              <a:schemeClr val="tx1"/>
            </a:solidFill>
          </a:ln>
        </p:spPr>
        <p:txBody>
          <a:bodyPr wrap="none" rtlCol="0">
            <a:spAutoFit/>
          </a:bodyPr>
          <a:lstStyle/>
          <a:p>
            <a:r>
              <a:rPr lang="en-US" sz="2400" dirty="0"/>
              <a:t>3</a:t>
            </a:r>
          </a:p>
        </p:txBody>
      </p:sp>
      <p:sp>
        <p:nvSpPr>
          <p:cNvPr id="17" name="TextBox 16"/>
          <p:cNvSpPr txBox="1"/>
          <p:nvPr/>
        </p:nvSpPr>
        <p:spPr>
          <a:xfrm>
            <a:off x="143631" y="4396912"/>
            <a:ext cx="3977371" cy="369332"/>
          </a:xfrm>
          <a:prstGeom prst="rect">
            <a:avLst/>
          </a:prstGeom>
          <a:noFill/>
        </p:spPr>
        <p:txBody>
          <a:bodyPr wrap="none" rtlCol="0">
            <a:spAutoFit/>
          </a:bodyPr>
          <a:lstStyle/>
          <a:p>
            <a:r>
              <a:rPr lang="en-US" dirty="0"/>
              <a:t>Search Starts from beginning of memory  </a:t>
            </a:r>
          </a:p>
        </p:txBody>
      </p:sp>
      <p:sp>
        <p:nvSpPr>
          <p:cNvPr id="23" name="TextBox 22"/>
          <p:cNvSpPr txBox="1"/>
          <p:nvPr/>
        </p:nvSpPr>
        <p:spPr>
          <a:xfrm>
            <a:off x="5113818" y="4084422"/>
            <a:ext cx="336952" cy="461665"/>
          </a:xfrm>
          <a:prstGeom prst="rect">
            <a:avLst/>
          </a:prstGeom>
          <a:noFill/>
          <a:ln>
            <a:solidFill>
              <a:schemeClr val="tx1"/>
            </a:solidFill>
          </a:ln>
        </p:spPr>
        <p:txBody>
          <a:bodyPr wrap="none" rtlCol="0">
            <a:spAutoFit/>
          </a:bodyPr>
          <a:lstStyle/>
          <a:p>
            <a:r>
              <a:rPr lang="en-US" sz="2400" dirty="0"/>
              <a:t>5</a:t>
            </a:r>
          </a:p>
        </p:txBody>
      </p:sp>
      <p:sp>
        <p:nvSpPr>
          <p:cNvPr id="24" name="TextBox 23"/>
          <p:cNvSpPr txBox="1"/>
          <p:nvPr/>
        </p:nvSpPr>
        <p:spPr>
          <a:xfrm>
            <a:off x="5450770" y="4084422"/>
            <a:ext cx="469586" cy="461665"/>
          </a:xfrm>
          <a:prstGeom prst="rect">
            <a:avLst/>
          </a:prstGeom>
          <a:noFill/>
          <a:ln>
            <a:solidFill>
              <a:schemeClr val="tx1"/>
            </a:solidFill>
          </a:ln>
        </p:spPr>
        <p:txBody>
          <a:bodyPr wrap="square" rtlCol="0">
            <a:spAutoFit/>
          </a:bodyPr>
          <a:lstStyle/>
          <a:p>
            <a:pPr algn="ctr"/>
            <a:r>
              <a:rPr lang="en-US" sz="2400" dirty="0"/>
              <a:t>7</a:t>
            </a:r>
          </a:p>
        </p:txBody>
      </p:sp>
      <p:sp>
        <p:nvSpPr>
          <p:cNvPr id="25" name="TextBox 24"/>
          <p:cNvSpPr txBox="1"/>
          <p:nvPr/>
        </p:nvSpPr>
        <p:spPr>
          <a:xfrm>
            <a:off x="5920356" y="4084422"/>
            <a:ext cx="1379095" cy="461665"/>
          </a:xfrm>
          <a:prstGeom prst="rect">
            <a:avLst/>
          </a:prstGeom>
          <a:solidFill>
            <a:schemeClr val="bg2">
              <a:lumMod val="85000"/>
            </a:schemeClr>
          </a:solidFill>
          <a:ln>
            <a:solidFill>
              <a:schemeClr val="tx1"/>
            </a:solidFill>
          </a:ln>
        </p:spPr>
        <p:txBody>
          <a:bodyPr wrap="square" rtlCol="0">
            <a:spAutoFit/>
          </a:bodyPr>
          <a:lstStyle/>
          <a:p>
            <a:pPr algn="ctr"/>
            <a:r>
              <a:rPr lang="en-US" sz="2400" dirty="0">
                <a:solidFill>
                  <a:srgbClr val="FF0000"/>
                </a:solidFill>
              </a:rPr>
              <a:t>15</a:t>
            </a:r>
          </a:p>
        </p:txBody>
      </p:sp>
      <p:sp>
        <p:nvSpPr>
          <p:cNvPr id="26" name="TextBox 25"/>
          <p:cNvSpPr txBox="1"/>
          <p:nvPr/>
        </p:nvSpPr>
        <p:spPr>
          <a:xfrm>
            <a:off x="7299451" y="4081388"/>
            <a:ext cx="336952" cy="461665"/>
          </a:xfrm>
          <a:prstGeom prst="rect">
            <a:avLst/>
          </a:prstGeom>
          <a:noFill/>
          <a:ln>
            <a:solidFill>
              <a:schemeClr val="tx1"/>
            </a:solidFill>
          </a:ln>
        </p:spPr>
        <p:txBody>
          <a:bodyPr wrap="none" rtlCol="0">
            <a:spAutoFit/>
          </a:bodyPr>
          <a:lstStyle/>
          <a:p>
            <a:r>
              <a:rPr lang="en-US" sz="2400" dirty="0"/>
              <a:t>5</a:t>
            </a:r>
          </a:p>
        </p:txBody>
      </p:sp>
      <p:sp>
        <p:nvSpPr>
          <p:cNvPr id="27" name="TextBox 26"/>
          <p:cNvSpPr txBox="1"/>
          <p:nvPr/>
        </p:nvSpPr>
        <p:spPr>
          <a:xfrm>
            <a:off x="8462169" y="4081388"/>
            <a:ext cx="419071" cy="461665"/>
          </a:xfrm>
          <a:prstGeom prst="rect">
            <a:avLst/>
          </a:prstGeom>
          <a:noFill/>
          <a:ln>
            <a:solidFill>
              <a:schemeClr val="tx1"/>
            </a:solidFill>
          </a:ln>
        </p:spPr>
        <p:txBody>
          <a:bodyPr wrap="square" rtlCol="0">
            <a:spAutoFit/>
          </a:bodyPr>
          <a:lstStyle/>
          <a:p>
            <a:pPr algn="ctr"/>
            <a:r>
              <a:rPr lang="en-US" sz="2400" dirty="0"/>
              <a:t>8</a:t>
            </a:r>
          </a:p>
        </p:txBody>
      </p:sp>
      <p:sp>
        <p:nvSpPr>
          <p:cNvPr id="28" name="TextBox 27"/>
          <p:cNvSpPr txBox="1"/>
          <p:nvPr/>
        </p:nvSpPr>
        <p:spPr>
          <a:xfrm>
            <a:off x="7636403" y="4081388"/>
            <a:ext cx="825766" cy="461665"/>
          </a:xfrm>
          <a:prstGeom prst="rect">
            <a:avLst/>
          </a:prstGeom>
          <a:solidFill>
            <a:schemeClr val="bg2">
              <a:lumMod val="85000"/>
            </a:schemeClr>
          </a:solidFill>
          <a:ln>
            <a:solidFill>
              <a:schemeClr val="tx1"/>
            </a:solidFill>
          </a:ln>
        </p:spPr>
        <p:txBody>
          <a:bodyPr wrap="square" rtlCol="0">
            <a:spAutoFit/>
          </a:bodyPr>
          <a:lstStyle/>
          <a:p>
            <a:pPr algn="ctr"/>
            <a:r>
              <a:rPr lang="en-US" sz="2400" dirty="0">
                <a:solidFill>
                  <a:srgbClr val="FF0000"/>
                </a:solidFill>
              </a:rPr>
              <a:t>11</a:t>
            </a:r>
          </a:p>
        </p:txBody>
      </p:sp>
      <p:sp>
        <p:nvSpPr>
          <p:cNvPr id="29" name="TextBox 28"/>
          <p:cNvSpPr txBox="1"/>
          <p:nvPr/>
        </p:nvSpPr>
        <p:spPr>
          <a:xfrm>
            <a:off x="8881240" y="4081388"/>
            <a:ext cx="1940899" cy="461665"/>
          </a:xfrm>
          <a:prstGeom prst="rect">
            <a:avLst/>
          </a:prstGeom>
          <a:solidFill>
            <a:schemeClr val="bg2">
              <a:lumMod val="85000"/>
            </a:schemeClr>
          </a:solidFill>
          <a:ln>
            <a:solidFill>
              <a:schemeClr val="tx1"/>
            </a:solidFill>
          </a:ln>
        </p:spPr>
        <p:txBody>
          <a:bodyPr wrap="square" rtlCol="0">
            <a:spAutoFit/>
          </a:bodyPr>
          <a:lstStyle/>
          <a:p>
            <a:pPr algn="ctr"/>
            <a:r>
              <a:rPr lang="en-US" sz="2400" dirty="0">
                <a:solidFill>
                  <a:srgbClr val="FF0000"/>
                </a:solidFill>
              </a:rPr>
              <a:t>20</a:t>
            </a:r>
          </a:p>
        </p:txBody>
      </p:sp>
      <p:sp>
        <p:nvSpPr>
          <p:cNvPr id="30" name="TextBox 29"/>
          <p:cNvSpPr txBox="1"/>
          <p:nvPr/>
        </p:nvSpPr>
        <p:spPr>
          <a:xfrm>
            <a:off x="10822139" y="4081388"/>
            <a:ext cx="336952" cy="461665"/>
          </a:xfrm>
          <a:prstGeom prst="rect">
            <a:avLst/>
          </a:prstGeom>
          <a:noFill/>
          <a:ln>
            <a:solidFill>
              <a:schemeClr val="tx1"/>
            </a:solidFill>
          </a:ln>
        </p:spPr>
        <p:txBody>
          <a:bodyPr wrap="none" rtlCol="0">
            <a:spAutoFit/>
          </a:bodyPr>
          <a:lstStyle/>
          <a:p>
            <a:r>
              <a:rPr lang="en-US" sz="2400" dirty="0"/>
              <a:t>4</a:t>
            </a:r>
          </a:p>
        </p:txBody>
      </p:sp>
      <p:sp>
        <p:nvSpPr>
          <p:cNvPr id="31" name="TextBox 30"/>
          <p:cNvSpPr txBox="1"/>
          <p:nvPr/>
        </p:nvSpPr>
        <p:spPr>
          <a:xfrm>
            <a:off x="11159091" y="4081387"/>
            <a:ext cx="336952" cy="461665"/>
          </a:xfrm>
          <a:prstGeom prst="rect">
            <a:avLst/>
          </a:prstGeom>
          <a:noFill/>
          <a:ln>
            <a:solidFill>
              <a:schemeClr val="tx1"/>
            </a:solidFill>
          </a:ln>
        </p:spPr>
        <p:txBody>
          <a:bodyPr wrap="none" rtlCol="0">
            <a:spAutoFit/>
          </a:bodyPr>
          <a:lstStyle/>
          <a:p>
            <a:r>
              <a:rPr lang="en-US" sz="2400" dirty="0"/>
              <a:t>3</a:t>
            </a:r>
          </a:p>
        </p:txBody>
      </p:sp>
      <p:cxnSp>
        <p:nvCxnSpPr>
          <p:cNvPr id="32" name="Straight Arrow Connector 31"/>
          <p:cNvCxnSpPr>
            <a:cxnSpLocks/>
          </p:cNvCxnSpPr>
          <p:nvPr/>
        </p:nvCxnSpPr>
        <p:spPr>
          <a:xfrm flipV="1">
            <a:off x="467955" y="5332362"/>
            <a:ext cx="0" cy="536175"/>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58D406B-D190-488B-8289-394C5EC63AF4}"/>
              </a:ext>
            </a:extLst>
          </p:cNvPr>
          <p:cNvCxnSpPr>
            <a:cxnSpLocks/>
          </p:cNvCxnSpPr>
          <p:nvPr/>
        </p:nvCxnSpPr>
        <p:spPr>
          <a:xfrm flipV="1">
            <a:off x="1958825" y="5399581"/>
            <a:ext cx="0" cy="601923"/>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A81D4F3B-4CFD-4F97-A982-A8CFF4637B89}"/>
              </a:ext>
            </a:extLst>
          </p:cNvPr>
          <p:cNvSpPr txBox="1"/>
          <p:nvPr/>
        </p:nvSpPr>
        <p:spPr>
          <a:xfrm>
            <a:off x="5654886" y="5560272"/>
            <a:ext cx="336952" cy="461665"/>
          </a:xfrm>
          <a:prstGeom prst="rect">
            <a:avLst/>
          </a:prstGeom>
          <a:noFill/>
          <a:ln>
            <a:solidFill>
              <a:schemeClr val="tx1"/>
            </a:solidFill>
          </a:ln>
        </p:spPr>
        <p:txBody>
          <a:bodyPr wrap="none" rtlCol="0">
            <a:spAutoFit/>
          </a:bodyPr>
          <a:lstStyle/>
          <a:p>
            <a:r>
              <a:rPr lang="en-US" sz="2400" dirty="0"/>
              <a:t>5</a:t>
            </a:r>
          </a:p>
        </p:txBody>
      </p:sp>
      <p:sp>
        <p:nvSpPr>
          <p:cNvPr id="38" name="TextBox 37">
            <a:extLst>
              <a:ext uri="{FF2B5EF4-FFF2-40B4-BE49-F238E27FC236}">
                <a16:creationId xmlns:a16="http://schemas.microsoft.com/office/drawing/2014/main" id="{244713DE-904D-4F38-9A15-6C6952995715}"/>
              </a:ext>
            </a:extLst>
          </p:cNvPr>
          <p:cNvSpPr txBox="1"/>
          <p:nvPr/>
        </p:nvSpPr>
        <p:spPr>
          <a:xfrm>
            <a:off x="5991838" y="5560272"/>
            <a:ext cx="469586" cy="461665"/>
          </a:xfrm>
          <a:prstGeom prst="rect">
            <a:avLst/>
          </a:prstGeom>
          <a:noFill/>
          <a:ln>
            <a:solidFill>
              <a:schemeClr val="tx1"/>
            </a:solidFill>
          </a:ln>
        </p:spPr>
        <p:txBody>
          <a:bodyPr wrap="square" rtlCol="0">
            <a:spAutoFit/>
          </a:bodyPr>
          <a:lstStyle/>
          <a:p>
            <a:pPr algn="ctr"/>
            <a:r>
              <a:rPr lang="en-US" sz="2400" dirty="0"/>
              <a:t>7</a:t>
            </a:r>
          </a:p>
        </p:txBody>
      </p:sp>
      <p:sp>
        <p:nvSpPr>
          <p:cNvPr id="40" name="TextBox 39">
            <a:extLst>
              <a:ext uri="{FF2B5EF4-FFF2-40B4-BE49-F238E27FC236}">
                <a16:creationId xmlns:a16="http://schemas.microsoft.com/office/drawing/2014/main" id="{17F9B013-AA20-46E2-9C6E-4B908DDEE8C6}"/>
              </a:ext>
            </a:extLst>
          </p:cNvPr>
          <p:cNvSpPr txBox="1"/>
          <p:nvPr/>
        </p:nvSpPr>
        <p:spPr>
          <a:xfrm>
            <a:off x="6461425" y="5560272"/>
            <a:ext cx="1379094" cy="461665"/>
          </a:xfrm>
          <a:prstGeom prst="rect">
            <a:avLst/>
          </a:prstGeom>
          <a:solidFill>
            <a:schemeClr val="bg2">
              <a:lumMod val="85000"/>
            </a:schemeClr>
          </a:solidFill>
          <a:ln>
            <a:solidFill>
              <a:schemeClr val="tx1"/>
            </a:solidFill>
          </a:ln>
        </p:spPr>
        <p:txBody>
          <a:bodyPr wrap="square" rtlCol="0">
            <a:spAutoFit/>
          </a:bodyPr>
          <a:lstStyle/>
          <a:p>
            <a:pPr algn="ctr"/>
            <a:r>
              <a:rPr lang="en-US" sz="2400" dirty="0">
                <a:solidFill>
                  <a:srgbClr val="FF0000"/>
                </a:solidFill>
              </a:rPr>
              <a:t>15</a:t>
            </a:r>
          </a:p>
        </p:txBody>
      </p:sp>
      <p:sp>
        <p:nvSpPr>
          <p:cNvPr id="41" name="TextBox 40">
            <a:extLst>
              <a:ext uri="{FF2B5EF4-FFF2-40B4-BE49-F238E27FC236}">
                <a16:creationId xmlns:a16="http://schemas.microsoft.com/office/drawing/2014/main" id="{F9B36AB2-6E1E-459D-BE4E-49A0435FC851}"/>
              </a:ext>
            </a:extLst>
          </p:cNvPr>
          <p:cNvSpPr txBox="1"/>
          <p:nvPr/>
        </p:nvSpPr>
        <p:spPr>
          <a:xfrm>
            <a:off x="7840519" y="5557238"/>
            <a:ext cx="336952" cy="461665"/>
          </a:xfrm>
          <a:prstGeom prst="rect">
            <a:avLst/>
          </a:prstGeom>
          <a:noFill/>
          <a:ln>
            <a:solidFill>
              <a:schemeClr val="tx1"/>
            </a:solidFill>
          </a:ln>
        </p:spPr>
        <p:txBody>
          <a:bodyPr wrap="none" rtlCol="0">
            <a:spAutoFit/>
          </a:bodyPr>
          <a:lstStyle/>
          <a:p>
            <a:r>
              <a:rPr lang="en-US" sz="2400" dirty="0"/>
              <a:t>5</a:t>
            </a:r>
          </a:p>
        </p:txBody>
      </p:sp>
      <p:sp>
        <p:nvSpPr>
          <p:cNvPr id="42" name="TextBox 41">
            <a:extLst>
              <a:ext uri="{FF2B5EF4-FFF2-40B4-BE49-F238E27FC236}">
                <a16:creationId xmlns:a16="http://schemas.microsoft.com/office/drawing/2014/main" id="{3FDE7B38-7F4F-4460-A301-BD06C9E09397}"/>
              </a:ext>
            </a:extLst>
          </p:cNvPr>
          <p:cNvSpPr txBox="1"/>
          <p:nvPr/>
        </p:nvSpPr>
        <p:spPr>
          <a:xfrm>
            <a:off x="9003237" y="5557238"/>
            <a:ext cx="419071" cy="461665"/>
          </a:xfrm>
          <a:prstGeom prst="rect">
            <a:avLst/>
          </a:prstGeom>
          <a:noFill/>
          <a:ln>
            <a:solidFill>
              <a:schemeClr val="tx1"/>
            </a:solidFill>
          </a:ln>
        </p:spPr>
        <p:txBody>
          <a:bodyPr wrap="square" rtlCol="0">
            <a:spAutoFit/>
          </a:bodyPr>
          <a:lstStyle/>
          <a:p>
            <a:pPr algn="ctr"/>
            <a:r>
              <a:rPr lang="en-US" sz="2400" dirty="0"/>
              <a:t>8</a:t>
            </a:r>
          </a:p>
        </p:txBody>
      </p:sp>
      <p:sp>
        <p:nvSpPr>
          <p:cNvPr id="43" name="TextBox 42">
            <a:extLst>
              <a:ext uri="{FF2B5EF4-FFF2-40B4-BE49-F238E27FC236}">
                <a16:creationId xmlns:a16="http://schemas.microsoft.com/office/drawing/2014/main" id="{65664BCF-99A9-4E39-B976-51FD1641D666}"/>
              </a:ext>
            </a:extLst>
          </p:cNvPr>
          <p:cNvSpPr txBox="1"/>
          <p:nvPr/>
        </p:nvSpPr>
        <p:spPr>
          <a:xfrm>
            <a:off x="8177471" y="5557238"/>
            <a:ext cx="825766" cy="461665"/>
          </a:xfrm>
          <a:prstGeom prst="rect">
            <a:avLst/>
          </a:prstGeom>
          <a:solidFill>
            <a:schemeClr val="bg2">
              <a:lumMod val="85000"/>
            </a:schemeClr>
          </a:solidFill>
          <a:ln>
            <a:solidFill>
              <a:schemeClr val="tx1"/>
            </a:solidFill>
          </a:ln>
        </p:spPr>
        <p:txBody>
          <a:bodyPr wrap="square" rtlCol="0">
            <a:spAutoFit/>
          </a:bodyPr>
          <a:lstStyle/>
          <a:p>
            <a:pPr algn="ctr"/>
            <a:r>
              <a:rPr lang="en-US" sz="2400" dirty="0">
                <a:solidFill>
                  <a:srgbClr val="FF0000"/>
                </a:solidFill>
              </a:rPr>
              <a:t>11</a:t>
            </a:r>
          </a:p>
        </p:txBody>
      </p:sp>
      <p:sp>
        <p:nvSpPr>
          <p:cNvPr id="44" name="TextBox 43">
            <a:extLst>
              <a:ext uri="{FF2B5EF4-FFF2-40B4-BE49-F238E27FC236}">
                <a16:creationId xmlns:a16="http://schemas.microsoft.com/office/drawing/2014/main" id="{3A4FE9CB-2A67-44B8-A2FB-990FE9D9D17E}"/>
              </a:ext>
            </a:extLst>
          </p:cNvPr>
          <p:cNvSpPr txBox="1"/>
          <p:nvPr/>
        </p:nvSpPr>
        <p:spPr>
          <a:xfrm>
            <a:off x="9422308" y="5557238"/>
            <a:ext cx="1940899" cy="461665"/>
          </a:xfrm>
          <a:prstGeom prst="rect">
            <a:avLst/>
          </a:prstGeom>
          <a:solidFill>
            <a:schemeClr val="bg2">
              <a:lumMod val="85000"/>
            </a:schemeClr>
          </a:solidFill>
          <a:ln>
            <a:solidFill>
              <a:schemeClr val="tx1"/>
            </a:solidFill>
          </a:ln>
        </p:spPr>
        <p:txBody>
          <a:bodyPr wrap="square" rtlCol="0">
            <a:spAutoFit/>
          </a:bodyPr>
          <a:lstStyle/>
          <a:p>
            <a:pPr algn="ctr"/>
            <a:r>
              <a:rPr lang="en-US" sz="2400" dirty="0">
                <a:solidFill>
                  <a:srgbClr val="FF0000"/>
                </a:solidFill>
              </a:rPr>
              <a:t>20</a:t>
            </a:r>
          </a:p>
        </p:txBody>
      </p:sp>
      <p:sp>
        <p:nvSpPr>
          <p:cNvPr id="45" name="TextBox 44">
            <a:extLst>
              <a:ext uri="{FF2B5EF4-FFF2-40B4-BE49-F238E27FC236}">
                <a16:creationId xmlns:a16="http://schemas.microsoft.com/office/drawing/2014/main" id="{785C10A8-43EA-4ABA-96A3-453BF8C71A8B}"/>
              </a:ext>
            </a:extLst>
          </p:cNvPr>
          <p:cNvSpPr txBox="1"/>
          <p:nvPr/>
        </p:nvSpPr>
        <p:spPr>
          <a:xfrm>
            <a:off x="11363207" y="5557238"/>
            <a:ext cx="336952" cy="461665"/>
          </a:xfrm>
          <a:prstGeom prst="rect">
            <a:avLst/>
          </a:prstGeom>
          <a:noFill/>
          <a:ln>
            <a:solidFill>
              <a:schemeClr val="tx1"/>
            </a:solidFill>
          </a:ln>
        </p:spPr>
        <p:txBody>
          <a:bodyPr wrap="none" rtlCol="0">
            <a:spAutoFit/>
          </a:bodyPr>
          <a:lstStyle/>
          <a:p>
            <a:r>
              <a:rPr lang="en-US" sz="2400" dirty="0"/>
              <a:t>4</a:t>
            </a:r>
          </a:p>
        </p:txBody>
      </p:sp>
      <p:sp>
        <p:nvSpPr>
          <p:cNvPr id="46" name="TextBox 45">
            <a:extLst>
              <a:ext uri="{FF2B5EF4-FFF2-40B4-BE49-F238E27FC236}">
                <a16:creationId xmlns:a16="http://schemas.microsoft.com/office/drawing/2014/main" id="{75C3DF11-4A5C-4091-8032-4AE8FC96BE27}"/>
              </a:ext>
            </a:extLst>
          </p:cNvPr>
          <p:cNvSpPr txBox="1"/>
          <p:nvPr/>
        </p:nvSpPr>
        <p:spPr>
          <a:xfrm>
            <a:off x="11700159" y="5557237"/>
            <a:ext cx="336952" cy="461665"/>
          </a:xfrm>
          <a:prstGeom prst="rect">
            <a:avLst/>
          </a:prstGeom>
          <a:noFill/>
          <a:ln>
            <a:solidFill>
              <a:schemeClr val="tx1"/>
            </a:solidFill>
          </a:ln>
        </p:spPr>
        <p:txBody>
          <a:bodyPr wrap="none" rtlCol="0">
            <a:spAutoFit/>
          </a:bodyPr>
          <a:lstStyle/>
          <a:p>
            <a:r>
              <a:rPr lang="en-US" sz="2400" dirty="0"/>
              <a:t>3</a:t>
            </a:r>
          </a:p>
        </p:txBody>
      </p:sp>
      <p:sp>
        <p:nvSpPr>
          <p:cNvPr id="47" name="TextBox 46">
            <a:extLst>
              <a:ext uri="{FF2B5EF4-FFF2-40B4-BE49-F238E27FC236}">
                <a16:creationId xmlns:a16="http://schemas.microsoft.com/office/drawing/2014/main" id="{3B9924FD-B35B-484D-A492-BAFB6570E3E5}"/>
              </a:ext>
            </a:extLst>
          </p:cNvPr>
          <p:cNvSpPr txBox="1"/>
          <p:nvPr/>
        </p:nvSpPr>
        <p:spPr>
          <a:xfrm>
            <a:off x="1048746" y="4830957"/>
            <a:ext cx="1527356" cy="558521"/>
          </a:xfrm>
          <a:prstGeom prst="rect">
            <a:avLst/>
          </a:prstGeom>
          <a:noFill/>
          <a:ln w="38100">
            <a:solidFill>
              <a:srgbClr val="FF0000"/>
            </a:solidFill>
          </a:ln>
        </p:spPr>
        <p:txBody>
          <a:bodyPr wrap="square" rtlCol="0">
            <a:spAutoFit/>
          </a:bodyPr>
          <a:lstStyle/>
          <a:p>
            <a:endParaRPr lang="en-US" dirty="0"/>
          </a:p>
        </p:txBody>
      </p:sp>
      <p:sp>
        <p:nvSpPr>
          <p:cNvPr id="48" name="TextBox 47">
            <a:extLst>
              <a:ext uri="{FF2B5EF4-FFF2-40B4-BE49-F238E27FC236}">
                <a16:creationId xmlns:a16="http://schemas.microsoft.com/office/drawing/2014/main" id="{D19AF736-F544-4023-B572-66A5F13F603E}"/>
              </a:ext>
            </a:extLst>
          </p:cNvPr>
          <p:cNvSpPr txBox="1"/>
          <p:nvPr/>
        </p:nvSpPr>
        <p:spPr>
          <a:xfrm>
            <a:off x="6512216" y="6300932"/>
            <a:ext cx="955711" cy="400110"/>
          </a:xfrm>
          <a:prstGeom prst="rect">
            <a:avLst/>
          </a:prstGeom>
          <a:noFill/>
        </p:spPr>
        <p:txBody>
          <a:bodyPr wrap="none" rtlCol="0">
            <a:spAutoFit/>
          </a:bodyPr>
          <a:lstStyle/>
          <a:p>
            <a:r>
              <a:rPr lang="en-US" sz="2000" dirty="0"/>
              <a:t>First Fit</a:t>
            </a:r>
          </a:p>
        </p:txBody>
      </p:sp>
      <p:cxnSp>
        <p:nvCxnSpPr>
          <p:cNvPr id="49" name="Straight Arrow Connector 48">
            <a:extLst>
              <a:ext uri="{FF2B5EF4-FFF2-40B4-BE49-F238E27FC236}">
                <a16:creationId xmlns:a16="http://schemas.microsoft.com/office/drawing/2014/main" id="{78FC7720-399E-4E9F-AC03-32FE8CB76EAB}"/>
              </a:ext>
            </a:extLst>
          </p:cNvPr>
          <p:cNvCxnSpPr>
            <a:cxnSpLocks/>
          </p:cNvCxnSpPr>
          <p:nvPr/>
        </p:nvCxnSpPr>
        <p:spPr>
          <a:xfrm flipV="1">
            <a:off x="6911702" y="6015152"/>
            <a:ext cx="0" cy="29942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59606143-9395-42DB-BCCD-3B12F02D2DE3}"/>
              </a:ext>
            </a:extLst>
          </p:cNvPr>
          <p:cNvSpPr txBox="1"/>
          <p:nvPr/>
        </p:nvSpPr>
        <p:spPr>
          <a:xfrm>
            <a:off x="7104045" y="5209933"/>
            <a:ext cx="1064715" cy="369332"/>
          </a:xfrm>
          <a:prstGeom prst="rect">
            <a:avLst/>
          </a:prstGeom>
          <a:noFill/>
        </p:spPr>
        <p:txBody>
          <a:bodyPr wrap="none" rtlCol="0">
            <a:spAutoFit/>
          </a:bodyPr>
          <a:lstStyle/>
          <a:p>
            <a:r>
              <a:rPr lang="en-US" dirty="0"/>
              <a:t>5 MB free</a:t>
            </a:r>
          </a:p>
        </p:txBody>
      </p:sp>
      <p:sp>
        <p:nvSpPr>
          <p:cNvPr id="54" name="TextBox 53">
            <a:extLst>
              <a:ext uri="{FF2B5EF4-FFF2-40B4-BE49-F238E27FC236}">
                <a16:creationId xmlns:a16="http://schemas.microsoft.com/office/drawing/2014/main" id="{7E8D15D4-8CA6-422E-B664-2CD56D8F00E9}"/>
              </a:ext>
            </a:extLst>
          </p:cNvPr>
          <p:cNvSpPr txBox="1"/>
          <p:nvPr/>
        </p:nvSpPr>
        <p:spPr>
          <a:xfrm>
            <a:off x="6456948" y="5557237"/>
            <a:ext cx="909508" cy="461665"/>
          </a:xfrm>
          <a:prstGeom prst="rect">
            <a:avLst/>
          </a:prstGeom>
          <a:solidFill>
            <a:schemeClr val="tx2">
              <a:lumMod val="40000"/>
              <a:lumOff val="60000"/>
            </a:schemeClr>
          </a:solidFill>
          <a:ln>
            <a:solidFill>
              <a:schemeClr val="tx1"/>
            </a:solidFill>
          </a:ln>
        </p:spPr>
        <p:txBody>
          <a:bodyPr wrap="square" rtlCol="0">
            <a:spAutoFit/>
          </a:bodyPr>
          <a:lstStyle/>
          <a:p>
            <a:pPr algn="ctr"/>
            <a:r>
              <a:rPr lang="en-US" sz="2400" dirty="0"/>
              <a:t>10</a:t>
            </a:r>
          </a:p>
        </p:txBody>
      </p:sp>
      <p:sp>
        <p:nvSpPr>
          <p:cNvPr id="55" name="TextBox 54">
            <a:extLst>
              <a:ext uri="{FF2B5EF4-FFF2-40B4-BE49-F238E27FC236}">
                <a16:creationId xmlns:a16="http://schemas.microsoft.com/office/drawing/2014/main" id="{57008B48-F859-4054-B808-1181BA1E58FA}"/>
              </a:ext>
            </a:extLst>
          </p:cNvPr>
          <p:cNvSpPr txBox="1"/>
          <p:nvPr/>
        </p:nvSpPr>
        <p:spPr>
          <a:xfrm>
            <a:off x="7413159" y="5580782"/>
            <a:ext cx="417345" cy="461665"/>
          </a:xfrm>
          <a:prstGeom prst="rect">
            <a:avLst/>
          </a:prstGeom>
          <a:noFill/>
        </p:spPr>
        <p:txBody>
          <a:bodyPr wrap="square" rtlCol="0">
            <a:spAutoFit/>
          </a:bodyPr>
          <a:lstStyle/>
          <a:p>
            <a:pPr algn="ctr"/>
            <a:r>
              <a:rPr lang="en-US" sz="2400" dirty="0">
                <a:solidFill>
                  <a:srgbClr val="FF0000"/>
                </a:solidFill>
              </a:rPr>
              <a:t>5</a:t>
            </a:r>
          </a:p>
        </p:txBody>
      </p:sp>
    </p:spTree>
    <p:extLst>
      <p:ext uri="{BB962C8B-B14F-4D97-AF65-F5344CB8AC3E}">
        <p14:creationId xmlns:p14="http://schemas.microsoft.com/office/powerpoint/2010/main" val="3693417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0"/>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2"/>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32"/>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63" presetClass="path" presetSubtype="0" accel="50000" decel="50000" fill="hold" nodeType="clickEffect">
                                  <p:stCondLst>
                                    <p:cond delay="0"/>
                                  </p:stCondLst>
                                  <p:childTnLst>
                                    <p:animMotion origin="layout" path="M -1.45833E-6 3.33333E-6 L 0.12279 0.01041 " pathEditMode="relative" rAng="0" ptsTypes="AA">
                                      <p:cBhvr>
                                        <p:cTn id="84" dur="2000" fill="hold"/>
                                        <p:tgtEl>
                                          <p:spTgt spid="32"/>
                                        </p:tgtEl>
                                        <p:attrNameLst>
                                          <p:attrName>ppt_x</p:attrName>
                                          <p:attrName>ppt_y</p:attrName>
                                        </p:attrNameLst>
                                      </p:cBhvr>
                                      <p:rCtr x="6133" y="509"/>
                                    </p:animMotion>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33"/>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47"/>
                                        </p:tgtEl>
                                        <p:attrNameLst>
                                          <p:attrName>style.visibility</p:attrName>
                                        </p:attrNameLst>
                                      </p:cBhvr>
                                      <p:to>
                                        <p:strVal val="visible"/>
                                      </p:to>
                                    </p:set>
                                  </p:childTnLst>
                                </p:cTn>
                              </p:par>
                              <p:par>
                                <p:cTn id="91" presetID="26" presetClass="emph" presetSubtype="0" repeatCount="indefinite" fill="hold" grpId="1" nodeType="withEffect">
                                  <p:stCondLst>
                                    <p:cond delay="0"/>
                                  </p:stCondLst>
                                  <p:endCondLst>
                                    <p:cond evt="onNext" delay="0">
                                      <p:tgtEl>
                                        <p:sldTgt/>
                                      </p:tgtEl>
                                    </p:cond>
                                  </p:endCondLst>
                                  <p:childTnLst>
                                    <p:animEffect transition="out" filter="fade">
                                      <p:cBhvr>
                                        <p:cTn id="92" dur="500" tmFilter="0, 0; .2, .5; .8, .5; 1, 0"/>
                                        <p:tgtEl>
                                          <p:spTgt spid="47"/>
                                        </p:tgtEl>
                                      </p:cBhvr>
                                    </p:animEffect>
                                    <p:animScale>
                                      <p:cBhvr>
                                        <p:cTn id="93" dur="250" autoRev="1" fill="hold"/>
                                        <p:tgtEl>
                                          <p:spTgt spid="47"/>
                                        </p:tgtEl>
                                      </p:cBhvr>
                                      <p:by x="105000" y="105000"/>
                                    </p:animScale>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grpId="0" nodeType="clickEffect">
                                  <p:stCondLst>
                                    <p:cond delay="0"/>
                                  </p:stCondLst>
                                  <p:childTnLst>
                                    <p:set>
                                      <p:cBhvr>
                                        <p:cTn id="97" dur="1" fill="hold">
                                          <p:stCondLst>
                                            <p:cond delay="0"/>
                                          </p:stCondLst>
                                        </p:cTn>
                                        <p:tgtEl>
                                          <p:spTgt spid="37"/>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38"/>
                                        </p:tgtEl>
                                        <p:attrNameLst>
                                          <p:attrName>style.visibility</p:attrName>
                                        </p:attrNameLst>
                                      </p:cBhvr>
                                      <p:to>
                                        <p:strVal val="visible"/>
                                      </p:to>
                                    </p:set>
                                  </p:childTnLst>
                                </p:cTn>
                              </p:par>
                              <p:par>
                                <p:cTn id="100" presetID="1" presetClass="entr" presetSubtype="0" fill="hold" grpId="0" nodeType="withEffect">
                                  <p:stCondLst>
                                    <p:cond delay="0"/>
                                  </p:stCondLst>
                                  <p:childTnLst>
                                    <p:set>
                                      <p:cBhvr>
                                        <p:cTn id="101" dur="1" fill="hold">
                                          <p:stCondLst>
                                            <p:cond delay="0"/>
                                          </p:stCondLst>
                                        </p:cTn>
                                        <p:tgtEl>
                                          <p:spTgt spid="40"/>
                                        </p:tgtEl>
                                        <p:attrNameLst>
                                          <p:attrName>style.visibility</p:attrName>
                                        </p:attrNameLst>
                                      </p:cBhvr>
                                      <p:to>
                                        <p:strVal val="visible"/>
                                      </p:to>
                                    </p:set>
                                  </p:childTnLst>
                                </p:cTn>
                              </p:par>
                              <p:par>
                                <p:cTn id="102" presetID="1" presetClass="entr" presetSubtype="0" fill="hold" grpId="0" nodeType="withEffect">
                                  <p:stCondLst>
                                    <p:cond delay="0"/>
                                  </p:stCondLst>
                                  <p:childTnLst>
                                    <p:set>
                                      <p:cBhvr>
                                        <p:cTn id="103" dur="1" fill="hold">
                                          <p:stCondLst>
                                            <p:cond delay="0"/>
                                          </p:stCondLst>
                                        </p:cTn>
                                        <p:tgtEl>
                                          <p:spTgt spid="41"/>
                                        </p:tgtEl>
                                        <p:attrNameLst>
                                          <p:attrName>style.visibility</p:attrName>
                                        </p:attrNameLst>
                                      </p:cBhvr>
                                      <p:to>
                                        <p:strVal val="visible"/>
                                      </p:to>
                                    </p:set>
                                  </p:childTnLst>
                                </p:cTn>
                              </p:par>
                              <p:par>
                                <p:cTn id="104" presetID="1" presetClass="entr" presetSubtype="0" fill="hold" grpId="0" nodeType="withEffect">
                                  <p:stCondLst>
                                    <p:cond delay="0"/>
                                  </p:stCondLst>
                                  <p:childTnLst>
                                    <p:set>
                                      <p:cBhvr>
                                        <p:cTn id="105" dur="1" fill="hold">
                                          <p:stCondLst>
                                            <p:cond delay="0"/>
                                          </p:stCondLst>
                                        </p:cTn>
                                        <p:tgtEl>
                                          <p:spTgt spid="42"/>
                                        </p:tgtEl>
                                        <p:attrNameLst>
                                          <p:attrName>style.visibility</p:attrName>
                                        </p:attrNameLst>
                                      </p:cBhvr>
                                      <p:to>
                                        <p:strVal val="visible"/>
                                      </p:to>
                                    </p:set>
                                  </p:childTnLst>
                                </p:cTn>
                              </p:par>
                              <p:par>
                                <p:cTn id="106" presetID="1" presetClass="entr" presetSubtype="0" fill="hold" grpId="0" nodeType="withEffect">
                                  <p:stCondLst>
                                    <p:cond delay="0"/>
                                  </p:stCondLst>
                                  <p:childTnLst>
                                    <p:set>
                                      <p:cBhvr>
                                        <p:cTn id="107" dur="1" fill="hold">
                                          <p:stCondLst>
                                            <p:cond delay="0"/>
                                          </p:stCondLst>
                                        </p:cTn>
                                        <p:tgtEl>
                                          <p:spTgt spid="43"/>
                                        </p:tgtEl>
                                        <p:attrNameLst>
                                          <p:attrName>style.visibility</p:attrName>
                                        </p:attrNameLst>
                                      </p:cBhvr>
                                      <p:to>
                                        <p:strVal val="visible"/>
                                      </p:to>
                                    </p:set>
                                  </p:childTnLst>
                                </p:cTn>
                              </p:par>
                              <p:par>
                                <p:cTn id="108" presetID="1" presetClass="entr" presetSubtype="0" fill="hold" grpId="0" nodeType="withEffect">
                                  <p:stCondLst>
                                    <p:cond delay="0"/>
                                  </p:stCondLst>
                                  <p:childTnLst>
                                    <p:set>
                                      <p:cBhvr>
                                        <p:cTn id="109" dur="1" fill="hold">
                                          <p:stCondLst>
                                            <p:cond delay="0"/>
                                          </p:stCondLst>
                                        </p:cTn>
                                        <p:tgtEl>
                                          <p:spTgt spid="44"/>
                                        </p:tgtEl>
                                        <p:attrNameLst>
                                          <p:attrName>style.visibility</p:attrName>
                                        </p:attrNameLst>
                                      </p:cBhvr>
                                      <p:to>
                                        <p:strVal val="visible"/>
                                      </p:to>
                                    </p:set>
                                  </p:childTnLst>
                                </p:cTn>
                              </p:par>
                              <p:par>
                                <p:cTn id="110" presetID="1" presetClass="entr" presetSubtype="0" fill="hold" grpId="0" nodeType="withEffect">
                                  <p:stCondLst>
                                    <p:cond delay="0"/>
                                  </p:stCondLst>
                                  <p:childTnLst>
                                    <p:set>
                                      <p:cBhvr>
                                        <p:cTn id="111" dur="1" fill="hold">
                                          <p:stCondLst>
                                            <p:cond delay="0"/>
                                          </p:stCondLst>
                                        </p:cTn>
                                        <p:tgtEl>
                                          <p:spTgt spid="45"/>
                                        </p:tgtEl>
                                        <p:attrNameLst>
                                          <p:attrName>style.visibility</p:attrName>
                                        </p:attrNameLst>
                                      </p:cBhvr>
                                      <p:to>
                                        <p:strVal val="visible"/>
                                      </p:to>
                                    </p:set>
                                  </p:childTnLst>
                                </p:cTn>
                              </p:par>
                              <p:par>
                                <p:cTn id="112" presetID="1" presetClass="entr" presetSubtype="0" fill="hold" grpId="0" nodeType="withEffect">
                                  <p:stCondLst>
                                    <p:cond delay="0"/>
                                  </p:stCondLst>
                                  <p:childTnLst>
                                    <p:set>
                                      <p:cBhvr>
                                        <p:cTn id="113" dur="1" fill="hold">
                                          <p:stCondLst>
                                            <p:cond delay="0"/>
                                          </p:stCondLst>
                                        </p:cTn>
                                        <p:tgtEl>
                                          <p:spTgt spid="46"/>
                                        </p:tgtEl>
                                        <p:attrNameLst>
                                          <p:attrName>style.visibility</p:attrName>
                                        </p:attrNameLst>
                                      </p:cBhvr>
                                      <p:to>
                                        <p:strVal val="visible"/>
                                      </p:to>
                                    </p:set>
                                  </p:childTnLst>
                                </p:cTn>
                              </p:par>
                              <p:par>
                                <p:cTn id="114" presetID="2" presetClass="entr" presetSubtype="8" fill="hold" grpId="0" nodeType="withEffect">
                                  <p:stCondLst>
                                    <p:cond delay="0"/>
                                  </p:stCondLst>
                                  <p:childTnLst>
                                    <p:set>
                                      <p:cBhvr>
                                        <p:cTn id="115" dur="1" fill="hold">
                                          <p:stCondLst>
                                            <p:cond delay="0"/>
                                          </p:stCondLst>
                                        </p:cTn>
                                        <p:tgtEl>
                                          <p:spTgt spid="54"/>
                                        </p:tgtEl>
                                        <p:attrNameLst>
                                          <p:attrName>style.visibility</p:attrName>
                                        </p:attrNameLst>
                                      </p:cBhvr>
                                      <p:to>
                                        <p:strVal val="visible"/>
                                      </p:to>
                                    </p:set>
                                    <p:anim calcmode="lin" valueType="num">
                                      <p:cBhvr additive="base">
                                        <p:cTn id="116" dur="1000" fill="hold"/>
                                        <p:tgtEl>
                                          <p:spTgt spid="54"/>
                                        </p:tgtEl>
                                        <p:attrNameLst>
                                          <p:attrName>ppt_x</p:attrName>
                                        </p:attrNameLst>
                                      </p:cBhvr>
                                      <p:tavLst>
                                        <p:tav tm="0">
                                          <p:val>
                                            <p:strVal val="0-#ppt_w/2"/>
                                          </p:val>
                                        </p:tav>
                                        <p:tav tm="100000">
                                          <p:val>
                                            <p:strVal val="#ppt_x"/>
                                          </p:val>
                                        </p:tav>
                                      </p:tavLst>
                                    </p:anim>
                                    <p:anim calcmode="lin" valueType="num">
                                      <p:cBhvr additive="base">
                                        <p:cTn id="117" dur="1000" fill="hold"/>
                                        <p:tgtEl>
                                          <p:spTgt spid="54"/>
                                        </p:tgtEl>
                                        <p:attrNameLst>
                                          <p:attrName>ppt_y</p:attrName>
                                        </p:attrNameLst>
                                      </p:cBhvr>
                                      <p:tavLst>
                                        <p:tav tm="0">
                                          <p:val>
                                            <p:strVal val="#ppt_y"/>
                                          </p:val>
                                        </p:tav>
                                        <p:tav tm="100000">
                                          <p:val>
                                            <p:strVal val="#ppt_y"/>
                                          </p:val>
                                        </p:tav>
                                      </p:tavLst>
                                    </p:anim>
                                  </p:childTnLst>
                                </p:cTn>
                              </p:par>
                            </p:childTnLst>
                          </p:cTn>
                        </p:par>
                      </p:childTnLst>
                    </p:cTn>
                  </p:par>
                  <p:par>
                    <p:cTn id="118" fill="hold">
                      <p:stCondLst>
                        <p:cond delay="indefinite"/>
                      </p:stCondLst>
                      <p:childTnLst>
                        <p:par>
                          <p:cTn id="119" fill="hold">
                            <p:stCondLst>
                              <p:cond delay="0"/>
                            </p:stCondLst>
                            <p:childTnLst>
                              <p:par>
                                <p:cTn id="120" presetID="1" presetClass="entr" presetSubtype="0" fill="hold" grpId="0" nodeType="clickEffect">
                                  <p:stCondLst>
                                    <p:cond delay="0"/>
                                  </p:stCondLst>
                                  <p:childTnLst>
                                    <p:set>
                                      <p:cBhvr>
                                        <p:cTn id="121" dur="1" fill="hold">
                                          <p:stCondLst>
                                            <p:cond delay="0"/>
                                          </p:stCondLst>
                                        </p:cTn>
                                        <p:tgtEl>
                                          <p:spTgt spid="51"/>
                                        </p:tgtEl>
                                        <p:attrNameLst>
                                          <p:attrName>style.visibility</p:attrName>
                                        </p:attrNameLst>
                                      </p:cBhvr>
                                      <p:to>
                                        <p:strVal val="visible"/>
                                      </p:to>
                                    </p:set>
                                  </p:childTnLst>
                                </p:cTn>
                              </p:par>
                              <p:par>
                                <p:cTn id="122" presetID="1" presetClass="entr" presetSubtype="0" fill="hold" grpId="0" nodeType="withEffect">
                                  <p:stCondLst>
                                    <p:cond delay="0"/>
                                  </p:stCondLst>
                                  <p:childTnLst>
                                    <p:set>
                                      <p:cBhvr>
                                        <p:cTn id="123" dur="1" fill="hold">
                                          <p:stCondLst>
                                            <p:cond delay="0"/>
                                          </p:stCondLst>
                                        </p:cTn>
                                        <p:tgtEl>
                                          <p:spTgt spid="55"/>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1" presetClass="entr" presetSubtype="0" fill="hold" nodeType="clickEffect">
                                  <p:stCondLst>
                                    <p:cond delay="0"/>
                                  </p:stCondLst>
                                  <p:childTnLst>
                                    <p:set>
                                      <p:cBhvr>
                                        <p:cTn id="127" dur="1" fill="hold">
                                          <p:stCondLst>
                                            <p:cond delay="0"/>
                                          </p:stCondLst>
                                        </p:cTn>
                                        <p:tgtEl>
                                          <p:spTgt spid="49"/>
                                        </p:tgtEl>
                                        <p:attrNameLst>
                                          <p:attrName>style.visibility</p:attrName>
                                        </p:attrNameLst>
                                      </p:cBhvr>
                                      <p:to>
                                        <p:strVal val="visible"/>
                                      </p:to>
                                    </p:set>
                                  </p:childTnLst>
                                </p:cTn>
                              </p:par>
                              <p:par>
                                <p:cTn id="128" presetID="1" presetClass="entr" presetSubtype="0" fill="hold" grpId="0" nodeType="withEffect">
                                  <p:stCondLst>
                                    <p:cond delay="0"/>
                                  </p:stCondLst>
                                  <p:childTnLst>
                                    <p:set>
                                      <p:cBhvr>
                                        <p:cTn id="129"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7" grpId="0"/>
      <p:bldP spid="23" grpId="0" animBg="1"/>
      <p:bldP spid="24" grpId="0" animBg="1"/>
      <p:bldP spid="25" grpId="0" animBg="1"/>
      <p:bldP spid="26" grpId="0" animBg="1"/>
      <p:bldP spid="27" grpId="0" animBg="1"/>
      <p:bldP spid="28" grpId="0" animBg="1"/>
      <p:bldP spid="29" grpId="0" animBg="1"/>
      <p:bldP spid="30" grpId="0" animBg="1"/>
      <p:bldP spid="31" grpId="0" animBg="1"/>
      <p:bldP spid="37" grpId="0" animBg="1"/>
      <p:bldP spid="38" grpId="0" animBg="1"/>
      <p:bldP spid="40" grpId="0" animBg="1"/>
      <p:bldP spid="41" grpId="0" animBg="1"/>
      <p:bldP spid="42" grpId="0" animBg="1"/>
      <p:bldP spid="43" grpId="0" animBg="1"/>
      <p:bldP spid="44" grpId="0" animBg="1"/>
      <p:bldP spid="45" grpId="0" animBg="1"/>
      <p:bldP spid="46" grpId="0" animBg="1"/>
      <p:bldP spid="47" grpId="0" animBg="1"/>
      <p:bldP spid="47" grpId="1" animBg="1"/>
      <p:bldP spid="48" grpId="0"/>
      <p:bldP spid="51" grpId="0"/>
      <p:bldP spid="54" grpId="0" animBg="1"/>
      <p:bldP spid="5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Strategies to select partition(Conti..)</a:t>
            </a:r>
          </a:p>
        </p:txBody>
      </p:sp>
      <p:sp>
        <p:nvSpPr>
          <p:cNvPr id="3" name="Content Placeholder 2"/>
          <p:cNvSpPr>
            <a:spLocks noGrp="1"/>
          </p:cNvSpPr>
          <p:nvPr>
            <p:ph idx="1"/>
          </p:nvPr>
        </p:nvSpPr>
        <p:spPr>
          <a:xfrm>
            <a:off x="131180" y="860066"/>
            <a:ext cx="11929641" cy="5593943"/>
          </a:xfrm>
        </p:spPr>
        <p:txBody>
          <a:bodyPr/>
          <a:lstStyle/>
          <a:p>
            <a:pPr marL="0" indent="0">
              <a:buNone/>
            </a:pPr>
            <a:r>
              <a:rPr lang="en-US" b="1" dirty="0">
                <a:solidFill>
                  <a:schemeClr val="accent6"/>
                </a:solidFill>
              </a:rPr>
              <a:t>Next Fit : </a:t>
            </a:r>
            <a:r>
              <a:rPr lang="en-US" dirty="0">
                <a:solidFill>
                  <a:schemeClr val="accent6"/>
                </a:solidFill>
              </a:rPr>
              <a:t>  </a:t>
            </a:r>
          </a:p>
          <a:p>
            <a:pPr lvl="1"/>
            <a:r>
              <a:rPr lang="en-US" dirty="0">
                <a:solidFill>
                  <a:schemeClr val="accent6"/>
                </a:solidFill>
              </a:rPr>
              <a:t>Search start </a:t>
            </a:r>
            <a:r>
              <a:rPr lang="en-US" dirty="0"/>
              <a:t>from where</a:t>
            </a:r>
            <a:r>
              <a:rPr lang="en-US" dirty="0">
                <a:solidFill>
                  <a:srgbClr val="FF0000"/>
                </a:solidFill>
              </a:rPr>
              <a:t> </a:t>
            </a:r>
            <a:r>
              <a:rPr lang="en-US" dirty="0">
                <a:solidFill>
                  <a:schemeClr val="accent6"/>
                </a:solidFill>
              </a:rPr>
              <a:t>previous search ended.</a:t>
            </a:r>
          </a:p>
          <a:p>
            <a:pPr lvl="1"/>
            <a:r>
              <a:rPr lang="en-US" dirty="0"/>
              <a:t>This avoid repeating search of memory which has been already allocated.</a:t>
            </a:r>
          </a:p>
          <a:p>
            <a:pPr lvl="1"/>
            <a:r>
              <a:rPr lang="en-US" dirty="0"/>
              <a:t>This portion will be mostly at front end of memory.</a:t>
            </a:r>
          </a:p>
          <a:p>
            <a:pPr marL="457200" lvl="1" indent="0">
              <a:buNone/>
            </a:pPr>
            <a:r>
              <a:rPr lang="en-US" dirty="0"/>
              <a:t> </a:t>
            </a:r>
          </a:p>
          <a:p>
            <a:r>
              <a:rPr lang="en-US" dirty="0"/>
              <a:t>Example : Free partition selected for </a:t>
            </a:r>
            <a:r>
              <a:rPr lang="en-US" dirty="0">
                <a:solidFill>
                  <a:schemeClr val="accent6"/>
                </a:solidFill>
              </a:rPr>
              <a:t>allocation</a:t>
            </a:r>
            <a:r>
              <a:rPr lang="en-US" dirty="0"/>
              <a:t> of </a:t>
            </a:r>
            <a:r>
              <a:rPr lang="en-US" dirty="0">
                <a:solidFill>
                  <a:schemeClr val="accent6"/>
                </a:solidFill>
              </a:rPr>
              <a:t>10 MB</a:t>
            </a:r>
          </a:p>
          <a:p>
            <a:pPr marL="0" indent="-87312">
              <a:buNone/>
            </a:pPr>
            <a:endParaRPr lang="en-US" dirty="0"/>
          </a:p>
        </p:txBody>
      </p:sp>
      <p:sp>
        <p:nvSpPr>
          <p:cNvPr id="4" name="TextBox 3"/>
          <p:cNvSpPr txBox="1"/>
          <p:nvPr/>
        </p:nvSpPr>
        <p:spPr>
          <a:xfrm>
            <a:off x="62220" y="4172746"/>
            <a:ext cx="336952" cy="461665"/>
          </a:xfrm>
          <a:prstGeom prst="rect">
            <a:avLst/>
          </a:prstGeom>
          <a:noFill/>
          <a:ln>
            <a:solidFill>
              <a:schemeClr val="tx1"/>
            </a:solidFill>
          </a:ln>
        </p:spPr>
        <p:txBody>
          <a:bodyPr wrap="none" rtlCol="0">
            <a:spAutoFit/>
          </a:bodyPr>
          <a:lstStyle/>
          <a:p>
            <a:r>
              <a:rPr lang="en-US" sz="2400" dirty="0"/>
              <a:t>5</a:t>
            </a:r>
          </a:p>
        </p:txBody>
      </p:sp>
      <p:sp>
        <p:nvSpPr>
          <p:cNvPr id="5" name="TextBox 4"/>
          <p:cNvSpPr txBox="1"/>
          <p:nvPr/>
        </p:nvSpPr>
        <p:spPr>
          <a:xfrm>
            <a:off x="399172" y="4172746"/>
            <a:ext cx="469586" cy="461665"/>
          </a:xfrm>
          <a:prstGeom prst="rect">
            <a:avLst/>
          </a:prstGeom>
          <a:noFill/>
          <a:ln>
            <a:solidFill>
              <a:schemeClr val="tx1"/>
            </a:solidFill>
          </a:ln>
        </p:spPr>
        <p:txBody>
          <a:bodyPr wrap="square" rtlCol="0">
            <a:spAutoFit/>
          </a:bodyPr>
          <a:lstStyle/>
          <a:p>
            <a:pPr algn="ctr"/>
            <a:r>
              <a:rPr lang="en-US" sz="2400" dirty="0"/>
              <a:t>7</a:t>
            </a:r>
          </a:p>
        </p:txBody>
      </p:sp>
      <p:sp>
        <p:nvSpPr>
          <p:cNvPr id="7" name="TextBox 6"/>
          <p:cNvSpPr txBox="1"/>
          <p:nvPr/>
        </p:nvSpPr>
        <p:spPr>
          <a:xfrm>
            <a:off x="2247853" y="4169712"/>
            <a:ext cx="336952" cy="461665"/>
          </a:xfrm>
          <a:prstGeom prst="rect">
            <a:avLst/>
          </a:prstGeom>
          <a:noFill/>
          <a:ln>
            <a:solidFill>
              <a:schemeClr val="tx1"/>
            </a:solidFill>
          </a:ln>
        </p:spPr>
        <p:txBody>
          <a:bodyPr wrap="none" rtlCol="0">
            <a:spAutoFit/>
          </a:bodyPr>
          <a:lstStyle/>
          <a:p>
            <a:r>
              <a:rPr lang="en-US" sz="2400" dirty="0"/>
              <a:t>5</a:t>
            </a:r>
          </a:p>
        </p:txBody>
      </p:sp>
      <p:sp>
        <p:nvSpPr>
          <p:cNvPr id="8" name="TextBox 7"/>
          <p:cNvSpPr txBox="1"/>
          <p:nvPr/>
        </p:nvSpPr>
        <p:spPr>
          <a:xfrm>
            <a:off x="3410571" y="4169712"/>
            <a:ext cx="419071" cy="461665"/>
          </a:xfrm>
          <a:prstGeom prst="rect">
            <a:avLst/>
          </a:prstGeom>
          <a:noFill/>
          <a:ln>
            <a:solidFill>
              <a:schemeClr val="tx1"/>
            </a:solidFill>
          </a:ln>
        </p:spPr>
        <p:txBody>
          <a:bodyPr wrap="square" rtlCol="0">
            <a:spAutoFit/>
          </a:bodyPr>
          <a:lstStyle/>
          <a:p>
            <a:pPr algn="ctr"/>
            <a:r>
              <a:rPr lang="en-US" sz="2400" dirty="0"/>
              <a:t>8</a:t>
            </a:r>
          </a:p>
        </p:txBody>
      </p:sp>
      <p:sp>
        <p:nvSpPr>
          <p:cNvPr id="9" name="TextBox 8"/>
          <p:cNvSpPr txBox="1"/>
          <p:nvPr/>
        </p:nvSpPr>
        <p:spPr>
          <a:xfrm>
            <a:off x="2584805" y="4169712"/>
            <a:ext cx="825766" cy="461665"/>
          </a:xfrm>
          <a:prstGeom prst="rect">
            <a:avLst/>
          </a:prstGeom>
          <a:solidFill>
            <a:schemeClr val="bg2">
              <a:lumMod val="85000"/>
            </a:schemeClr>
          </a:solidFill>
          <a:ln>
            <a:solidFill>
              <a:schemeClr val="tx1"/>
            </a:solidFill>
          </a:ln>
        </p:spPr>
        <p:txBody>
          <a:bodyPr wrap="square" rtlCol="0">
            <a:spAutoFit/>
          </a:bodyPr>
          <a:lstStyle/>
          <a:p>
            <a:pPr algn="ctr"/>
            <a:r>
              <a:rPr lang="en-US" sz="2400" dirty="0">
                <a:solidFill>
                  <a:srgbClr val="FF0000"/>
                </a:solidFill>
              </a:rPr>
              <a:t>11</a:t>
            </a:r>
          </a:p>
        </p:txBody>
      </p:sp>
      <p:sp>
        <p:nvSpPr>
          <p:cNvPr id="10" name="TextBox 9"/>
          <p:cNvSpPr txBox="1"/>
          <p:nvPr/>
        </p:nvSpPr>
        <p:spPr>
          <a:xfrm>
            <a:off x="3829642" y="4169712"/>
            <a:ext cx="1940899" cy="461665"/>
          </a:xfrm>
          <a:prstGeom prst="rect">
            <a:avLst/>
          </a:prstGeom>
          <a:solidFill>
            <a:schemeClr val="bg2">
              <a:lumMod val="85000"/>
            </a:schemeClr>
          </a:solidFill>
          <a:ln>
            <a:solidFill>
              <a:schemeClr val="tx1"/>
            </a:solidFill>
          </a:ln>
        </p:spPr>
        <p:txBody>
          <a:bodyPr wrap="square" rtlCol="0">
            <a:spAutoFit/>
          </a:bodyPr>
          <a:lstStyle/>
          <a:p>
            <a:pPr algn="ctr"/>
            <a:r>
              <a:rPr lang="en-US" sz="2400" dirty="0">
                <a:solidFill>
                  <a:srgbClr val="FF0000"/>
                </a:solidFill>
              </a:rPr>
              <a:t>20</a:t>
            </a:r>
          </a:p>
        </p:txBody>
      </p:sp>
      <p:sp>
        <p:nvSpPr>
          <p:cNvPr id="11" name="TextBox 10"/>
          <p:cNvSpPr txBox="1"/>
          <p:nvPr/>
        </p:nvSpPr>
        <p:spPr>
          <a:xfrm>
            <a:off x="5770541" y="4169712"/>
            <a:ext cx="336952" cy="461665"/>
          </a:xfrm>
          <a:prstGeom prst="rect">
            <a:avLst/>
          </a:prstGeom>
          <a:noFill/>
          <a:ln>
            <a:solidFill>
              <a:schemeClr val="tx1"/>
            </a:solidFill>
          </a:ln>
        </p:spPr>
        <p:txBody>
          <a:bodyPr wrap="none" rtlCol="0">
            <a:spAutoFit/>
          </a:bodyPr>
          <a:lstStyle/>
          <a:p>
            <a:r>
              <a:rPr lang="en-US" sz="2400" dirty="0"/>
              <a:t>4</a:t>
            </a:r>
          </a:p>
        </p:txBody>
      </p:sp>
      <p:sp>
        <p:nvSpPr>
          <p:cNvPr id="12" name="TextBox 11"/>
          <p:cNvSpPr txBox="1"/>
          <p:nvPr/>
        </p:nvSpPr>
        <p:spPr>
          <a:xfrm>
            <a:off x="6107493" y="4169711"/>
            <a:ext cx="336952" cy="461665"/>
          </a:xfrm>
          <a:prstGeom prst="rect">
            <a:avLst/>
          </a:prstGeom>
          <a:noFill/>
          <a:ln>
            <a:solidFill>
              <a:schemeClr val="tx1"/>
            </a:solidFill>
          </a:ln>
        </p:spPr>
        <p:txBody>
          <a:bodyPr wrap="none" rtlCol="0">
            <a:spAutoFit/>
          </a:bodyPr>
          <a:lstStyle/>
          <a:p>
            <a:r>
              <a:rPr lang="en-US" sz="2400" dirty="0"/>
              <a:t>3</a:t>
            </a:r>
          </a:p>
        </p:txBody>
      </p:sp>
      <p:sp>
        <p:nvSpPr>
          <p:cNvPr id="13" name="TextBox 12"/>
          <p:cNvSpPr txBox="1"/>
          <p:nvPr/>
        </p:nvSpPr>
        <p:spPr>
          <a:xfrm>
            <a:off x="848479" y="5068624"/>
            <a:ext cx="955711" cy="400110"/>
          </a:xfrm>
          <a:prstGeom prst="rect">
            <a:avLst/>
          </a:prstGeom>
          <a:noFill/>
        </p:spPr>
        <p:txBody>
          <a:bodyPr wrap="none" rtlCol="0">
            <a:spAutoFit/>
          </a:bodyPr>
          <a:lstStyle/>
          <a:p>
            <a:r>
              <a:rPr lang="en-US" sz="2000" dirty="0"/>
              <a:t>First Fit</a:t>
            </a:r>
          </a:p>
        </p:txBody>
      </p:sp>
      <p:cxnSp>
        <p:nvCxnSpPr>
          <p:cNvPr id="15" name="Straight Arrow Connector 14"/>
          <p:cNvCxnSpPr>
            <a:cxnSpLocks/>
          </p:cNvCxnSpPr>
          <p:nvPr/>
        </p:nvCxnSpPr>
        <p:spPr>
          <a:xfrm flipV="1">
            <a:off x="1363821" y="4628341"/>
            <a:ext cx="0" cy="45984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83363" y="3482420"/>
            <a:ext cx="4011034" cy="369332"/>
          </a:xfrm>
          <a:prstGeom prst="rect">
            <a:avLst/>
          </a:prstGeom>
          <a:noFill/>
        </p:spPr>
        <p:txBody>
          <a:bodyPr wrap="none" rtlCol="0">
            <a:spAutoFit/>
          </a:bodyPr>
          <a:lstStyle/>
          <a:p>
            <a:r>
              <a:rPr lang="en-US" dirty="0">
                <a:solidFill>
                  <a:schemeClr val="accent6"/>
                </a:solidFill>
              </a:rPr>
              <a:t>Search Start where previous search ended</a:t>
            </a:r>
          </a:p>
        </p:txBody>
      </p:sp>
      <p:sp>
        <p:nvSpPr>
          <p:cNvPr id="23" name="TextBox 22"/>
          <p:cNvSpPr txBox="1"/>
          <p:nvPr/>
        </p:nvSpPr>
        <p:spPr>
          <a:xfrm>
            <a:off x="4951859" y="3203029"/>
            <a:ext cx="336952" cy="461665"/>
          </a:xfrm>
          <a:prstGeom prst="rect">
            <a:avLst/>
          </a:prstGeom>
          <a:noFill/>
          <a:ln>
            <a:solidFill>
              <a:schemeClr val="tx1"/>
            </a:solidFill>
          </a:ln>
        </p:spPr>
        <p:txBody>
          <a:bodyPr wrap="none" rtlCol="0">
            <a:spAutoFit/>
          </a:bodyPr>
          <a:lstStyle/>
          <a:p>
            <a:r>
              <a:rPr lang="en-US" sz="2400" dirty="0"/>
              <a:t>5</a:t>
            </a:r>
          </a:p>
        </p:txBody>
      </p:sp>
      <p:sp>
        <p:nvSpPr>
          <p:cNvPr id="24" name="TextBox 23"/>
          <p:cNvSpPr txBox="1"/>
          <p:nvPr/>
        </p:nvSpPr>
        <p:spPr>
          <a:xfrm>
            <a:off x="5288811" y="3203029"/>
            <a:ext cx="469586" cy="461665"/>
          </a:xfrm>
          <a:prstGeom prst="rect">
            <a:avLst/>
          </a:prstGeom>
          <a:noFill/>
          <a:ln>
            <a:solidFill>
              <a:schemeClr val="tx1"/>
            </a:solidFill>
          </a:ln>
        </p:spPr>
        <p:txBody>
          <a:bodyPr wrap="square" rtlCol="0">
            <a:spAutoFit/>
          </a:bodyPr>
          <a:lstStyle/>
          <a:p>
            <a:pPr algn="ctr"/>
            <a:r>
              <a:rPr lang="en-US" sz="2400" dirty="0"/>
              <a:t>7</a:t>
            </a:r>
          </a:p>
        </p:txBody>
      </p:sp>
      <p:sp>
        <p:nvSpPr>
          <p:cNvPr id="25" name="TextBox 24"/>
          <p:cNvSpPr txBox="1"/>
          <p:nvPr/>
        </p:nvSpPr>
        <p:spPr>
          <a:xfrm>
            <a:off x="5758397" y="3203029"/>
            <a:ext cx="1379095" cy="461665"/>
          </a:xfrm>
          <a:prstGeom prst="rect">
            <a:avLst/>
          </a:prstGeom>
          <a:solidFill>
            <a:schemeClr val="bg2">
              <a:lumMod val="85000"/>
            </a:schemeClr>
          </a:solidFill>
          <a:ln>
            <a:solidFill>
              <a:schemeClr val="tx1"/>
            </a:solidFill>
          </a:ln>
        </p:spPr>
        <p:txBody>
          <a:bodyPr wrap="square" rtlCol="0">
            <a:spAutoFit/>
          </a:bodyPr>
          <a:lstStyle/>
          <a:p>
            <a:pPr algn="ctr"/>
            <a:r>
              <a:rPr lang="en-US" sz="2400" dirty="0">
                <a:solidFill>
                  <a:srgbClr val="FF0000"/>
                </a:solidFill>
              </a:rPr>
              <a:t>15</a:t>
            </a:r>
          </a:p>
        </p:txBody>
      </p:sp>
      <p:sp>
        <p:nvSpPr>
          <p:cNvPr id="26" name="TextBox 25"/>
          <p:cNvSpPr txBox="1"/>
          <p:nvPr/>
        </p:nvSpPr>
        <p:spPr>
          <a:xfrm>
            <a:off x="7137492" y="3199995"/>
            <a:ext cx="336952" cy="461665"/>
          </a:xfrm>
          <a:prstGeom prst="rect">
            <a:avLst/>
          </a:prstGeom>
          <a:noFill/>
          <a:ln>
            <a:solidFill>
              <a:schemeClr val="tx1"/>
            </a:solidFill>
          </a:ln>
        </p:spPr>
        <p:txBody>
          <a:bodyPr wrap="none" rtlCol="0">
            <a:spAutoFit/>
          </a:bodyPr>
          <a:lstStyle/>
          <a:p>
            <a:r>
              <a:rPr lang="en-US" sz="2400" dirty="0"/>
              <a:t>5</a:t>
            </a:r>
          </a:p>
        </p:txBody>
      </p:sp>
      <p:sp>
        <p:nvSpPr>
          <p:cNvPr id="27" name="TextBox 26"/>
          <p:cNvSpPr txBox="1"/>
          <p:nvPr/>
        </p:nvSpPr>
        <p:spPr>
          <a:xfrm>
            <a:off x="8300210" y="3199995"/>
            <a:ext cx="419071" cy="461665"/>
          </a:xfrm>
          <a:prstGeom prst="rect">
            <a:avLst/>
          </a:prstGeom>
          <a:noFill/>
          <a:ln>
            <a:solidFill>
              <a:schemeClr val="tx1"/>
            </a:solidFill>
          </a:ln>
        </p:spPr>
        <p:txBody>
          <a:bodyPr wrap="square" rtlCol="0">
            <a:spAutoFit/>
          </a:bodyPr>
          <a:lstStyle/>
          <a:p>
            <a:pPr algn="ctr"/>
            <a:r>
              <a:rPr lang="en-US" sz="2400" dirty="0"/>
              <a:t>8</a:t>
            </a:r>
          </a:p>
        </p:txBody>
      </p:sp>
      <p:sp>
        <p:nvSpPr>
          <p:cNvPr id="28" name="TextBox 27"/>
          <p:cNvSpPr txBox="1"/>
          <p:nvPr/>
        </p:nvSpPr>
        <p:spPr>
          <a:xfrm>
            <a:off x="7474444" y="3199995"/>
            <a:ext cx="825766" cy="461665"/>
          </a:xfrm>
          <a:prstGeom prst="rect">
            <a:avLst/>
          </a:prstGeom>
          <a:solidFill>
            <a:schemeClr val="bg2">
              <a:lumMod val="85000"/>
            </a:schemeClr>
          </a:solidFill>
          <a:ln>
            <a:solidFill>
              <a:schemeClr val="tx1"/>
            </a:solidFill>
          </a:ln>
        </p:spPr>
        <p:txBody>
          <a:bodyPr wrap="square" rtlCol="0">
            <a:spAutoFit/>
          </a:bodyPr>
          <a:lstStyle/>
          <a:p>
            <a:pPr algn="ctr"/>
            <a:r>
              <a:rPr lang="en-US" sz="2400" dirty="0">
                <a:solidFill>
                  <a:srgbClr val="FF0000"/>
                </a:solidFill>
              </a:rPr>
              <a:t>11</a:t>
            </a:r>
          </a:p>
        </p:txBody>
      </p:sp>
      <p:sp>
        <p:nvSpPr>
          <p:cNvPr id="29" name="TextBox 28"/>
          <p:cNvSpPr txBox="1"/>
          <p:nvPr/>
        </p:nvSpPr>
        <p:spPr>
          <a:xfrm>
            <a:off x="8719281" y="3199995"/>
            <a:ext cx="1940899" cy="461665"/>
          </a:xfrm>
          <a:prstGeom prst="rect">
            <a:avLst/>
          </a:prstGeom>
          <a:solidFill>
            <a:schemeClr val="bg2">
              <a:lumMod val="85000"/>
            </a:schemeClr>
          </a:solidFill>
          <a:ln>
            <a:solidFill>
              <a:schemeClr val="tx1"/>
            </a:solidFill>
          </a:ln>
        </p:spPr>
        <p:txBody>
          <a:bodyPr wrap="square" rtlCol="0">
            <a:spAutoFit/>
          </a:bodyPr>
          <a:lstStyle/>
          <a:p>
            <a:pPr algn="ctr"/>
            <a:r>
              <a:rPr lang="en-US" sz="2400" dirty="0">
                <a:solidFill>
                  <a:srgbClr val="FF0000"/>
                </a:solidFill>
              </a:rPr>
              <a:t>20</a:t>
            </a:r>
          </a:p>
        </p:txBody>
      </p:sp>
      <p:sp>
        <p:nvSpPr>
          <p:cNvPr id="30" name="TextBox 29"/>
          <p:cNvSpPr txBox="1"/>
          <p:nvPr/>
        </p:nvSpPr>
        <p:spPr>
          <a:xfrm>
            <a:off x="10660180" y="3199995"/>
            <a:ext cx="336952" cy="461665"/>
          </a:xfrm>
          <a:prstGeom prst="rect">
            <a:avLst/>
          </a:prstGeom>
          <a:noFill/>
          <a:ln>
            <a:solidFill>
              <a:schemeClr val="tx1"/>
            </a:solidFill>
          </a:ln>
        </p:spPr>
        <p:txBody>
          <a:bodyPr wrap="none" rtlCol="0">
            <a:spAutoFit/>
          </a:bodyPr>
          <a:lstStyle/>
          <a:p>
            <a:r>
              <a:rPr lang="en-US" sz="2400" dirty="0"/>
              <a:t>4</a:t>
            </a:r>
          </a:p>
        </p:txBody>
      </p:sp>
      <p:sp>
        <p:nvSpPr>
          <p:cNvPr id="31" name="TextBox 30"/>
          <p:cNvSpPr txBox="1"/>
          <p:nvPr/>
        </p:nvSpPr>
        <p:spPr>
          <a:xfrm>
            <a:off x="10997132" y="3199994"/>
            <a:ext cx="336952" cy="461665"/>
          </a:xfrm>
          <a:prstGeom prst="rect">
            <a:avLst/>
          </a:prstGeom>
          <a:noFill/>
          <a:ln>
            <a:solidFill>
              <a:schemeClr val="tx1"/>
            </a:solidFill>
          </a:ln>
        </p:spPr>
        <p:txBody>
          <a:bodyPr wrap="none" rtlCol="0">
            <a:spAutoFit/>
          </a:bodyPr>
          <a:lstStyle/>
          <a:p>
            <a:r>
              <a:rPr lang="en-US" sz="2400" dirty="0"/>
              <a:t>3</a:t>
            </a:r>
          </a:p>
        </p:txBody>
      </p:sp>
      <p:sp>
        <p:nvSpPr>
          <p:cNvPr id="36" name="TextBox 35"/>
          <p:cNvSpPr txBox="1"/>
          <p:nvPr/>
        </p:nvSpPr>
        <p:spPr>
          <a:xfrm>
            <a:off x="882125" y="4170692"/>
            <a:ext cx="909508" cy="461665"/>
          </a:xfrm>
          <a:prstGeom prst="rect">
            <a:avLst/>
          </a:prstGeom>
          <a:solidFill>
            <a:schemeClr val="tx2">
              <a:lumMod val="40000"/>
              <a:lumOff val="60000"/>
            </a:schemeClr>
          </a:solidFill>
          <a:ln>
            <a:solidFill>
              <a:schemeClr val="tx1"/>
            </a:solidFill>
          </a:ln>
        </p:spPr>
        <p:txBody>
          <a:bodyPr wrap="square" rtlCol="0">
            <a:spAutoFit/>
          </a:bodyPr>
          <a:lstStyle/>
          <a:p>
            <a:pPr algn="ctr"/>
            <a:r>
              <a:rPr lang="en-US" sz="2400" dirty="0"/>
              <a:t>10</a:t>
            </a:r>
          </a:p>
        </p:txBody>
      </p:sp>
      <p:sp>
        <p:nvSpPr>
          <p:cNvPr id="39" name="TextBox 38"/>
          <p:cNvSpPr txBox="1"/>
          <p:nvPr/>
        </p:nvSpPr>
        <p:spPr>
          <a:xfrm>
            <a:off x="1791634" y="4172746"/>
            <a:ext cx="469586" cy="461665"/>
          </a:xfrm>
          <a:prstGeom prst="rect">
            <a:avLst/>
          </a:prstGeom>
          <a:solidFill>
            <a:schemeClr val="accent1">
              <a:lumMod val="40000"/>
              <a:lumOff val="60000"/>
            </a:schemeClr>
          </a:solidFill>
          <a:ln>
            <a:solidFill>
              <a:schemeClr val="tx1"/>
            </a:solidFill>
          </a:ln>
        </p:spPr>
        <p:txBody>
          <a:bodyPr wrap="square" rtlCol="0">
            <a:spAutoFit/>
          </a:bodyPr>
          <a:lstStyle/>
          <a:p>
            <a:pPr algn="ctr"/>
            <a:r>
              <a:rPr lang="en-US" sz="2400" dirty="0">
                <a:solidFill>
                  <a:srgbClr val="FF0000"/>
                </a:solidFill>
              </a:rPr>
              <a:t>5</a:t>
            </a:r>
          </a:p>
        </p:txBody>
      </p:sp>
      <p:sp>
        <p:nvSpPr>
          <p:cNvPr id="50" name="TextBox 49"/>
          <p:cNvSpPr txBox="1"/>
          <p:nvPr/>
        </p:nvSpPr>
        <p:spPr>
          <a:xfrm>
            <a:off x="1422698" y="3825367"/>
            <a:ext cx="1064715" cy="369332"/>
          </a:xfrm>
          <a:prstGeom prst="rect">
            <a:avLst/>
          </a:prstGeom>
          <a:noFill/>
        </p:spPr>
        <p:txBody>
          <a:bodyPr wrap="none" rtlCol="0">
            <a:spAutoFit/>
          </a:bodyPr>
          <a:lstStyle/>
          <a:p>
            <a:r>
              <a:rPr lang="en-US" dirty="0"/>
              <a:t>5 MB free</a:t>
            </a:r>
          </a:p>
        </p:txBody>
      </p:sp>
      <p:cxnSp>
        <p:nvCxnSpPr>
          <p:cNvPr id="38" name="Straight Arrow Connector 37"/>
          <p:cNvCxnSpPr/>
          <p:nvPr/>
        </p:nvCxnSpPr>
        <p:spPr>
          <a:xfrm flipV="1">
            <a:off x="2026427" y="4650869"/>
            <a:ext cx="0" cy="637372"/>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2583883" y="4139864"/>
            <a:ext cx="843006" cy="521357"/>
          </a:xfrm>
          <a:prstGeom prst="rect">
            <a:avLst/>
          </a:prstGeom>
          <a:noFill/>
          <a:ln w="38100">
            <a:solidFill>
              <a:srgbClr val="FF0000"/>
            </a:solidFill>
          </a:ln>
        </p:spPr>
        <p:txBody>
          <a:bodyPr wrap="square" rtlCol="0">
            <a:spAutoFit/>
          </a:bodyPr>
          <a:lstStyle/>
          <a:p>
            <a:endParaRPr lang="en-US" dirty="0"/>
          </a:p>
        </p:txBody>
      </p:sp>
      <p:cxnSp>
        <p:nvCxnSpPr>
          <p:cNvPr id="42" name="Straight Arrow Connector 41">
            <a:extLst>
              <a:ext uri="{FF2B5EF4-FFF2-40B4-BE49-F238E27FC236}">
                <a16:creationId xmlns:a16="http://schemas.microsoft.com/office/drawing/2014/main" id="{4CC46527-593D-44E4-9BCC-0228C80FA7E4}"/>
              </a:ext>
            </a:extLst>
          </p:cNvPr>
          <p:cNvCxnSpPr/>
          <p:nvPr/>
        </p:nvCxnSpPr>
        <p:spPr>
          <a:xfrm flipV="1">
            <a:off x="2987757" y="4789004"/>
            <a:ext cx="0" cy="637372"/>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373A0CC0-78A4-4BF2-B951-2CA425748739}"/>
              </a:ext>
            </a:extLst>
          </p:cNvPr>
          <p:cNvSpPr txBox="1"/>
          <p:nvPr/>
        </p:nvSpPr>
        <p:spPr>
          <a:xfrm>
            <a:off x="5740454" y="4842197"/>
            <a:ext cx="336952" cy="461665"/>
          </a:xfrm>
          <a:prstGeom prst="rect">
            <a:avLst/>
          </a:prstGeom>
          <a:noFill/>
          <a:ln>
            <a:solidFill>
              <a:schemeClr val="tx1"/>
            </a:solidFill>
          </a:ln>
        </p:spPr>
        <p:txBody>
          <a:bodyPr wrap="none" rtlCol="0">
            <a:spAutoFit/>
          </a:bodyPr>
          <a:lstStyle/>
          <a:p>
            <a:r>
              <a:rPr lang="en-US" sz="2400" dirty="0"/>
              <a:t>5</a:t>
            </a:r>
          </a:p>
        </p:txBody>
      </p:sp>
      <p:sp>
        <p:nvSpPr>
          <p:cNvPr id="44" name="TextBox 43">
            <a:extLst>
              <a:ext uri="{FF2B5EF4-FFF2-40B4-BE49-F238E27FC236}">
                <a16:creationId xmlns:a16="http://schemas.microsoft.com/office/drawing/2014/main" id="{3E9C9CFC-9330-42C8-B5C0-59C108DAC77D}"/>
              </a:ext>
            </a:extLst>
          </p:cNvPr>
          <p:cNvSpPr txBox="1"/>
          <p:nvPr/>
        </p:nvSpPr>
        <p:spPr>
          <a:xfrm>
            <a:off x="6077406" y="4842197"/>
            <a:ext cx="469586" cy="461665"/>
          </a:xfrm>
          <a:prstGeom prst="rect">
            <a:avLst/>
          </a:prstGeom>
          <a:noFill/>
          <a:ln>
            <a:solidFill>
              <a:schemeClr val="tx1"/>
            </a:solidFill>
          </a:ln>
        </p:spPr>
        <p:txBody>
          <a:bodyPr wrap="square" rtlCol="0">
            <a:spAutoFit/>
          </a:bodyPr>
          <a:lstStyle/>
          <a:p>
            <a:pPr algn="ctr"/>
            <a:r>
              <a:rPr lang="en-US" sz="2400" dirty="0"/>
              <a:t>7</a:t>
            </a:r>
          </a:p>
        </p:txBody>
      </p:sp>
      <p:sp>
        <p:nvSpPr>
          <p:cNvPr id="45" name="TextBox 44">
            <a:extLst>
              <a:ext uri="{FF2B5EF4-FFF2-40B4-BE49-F238E27FC236}">
                <a16:creationId xmlns:a16="http://schemas.microsoft.com/office/drawing/2014/main" id="{D833916C-5612-4DC7-92F9-F0DED5CBAEB4}"/>
              </a:ext>
            </a:extLst>
          </p:cNvPr>
          <p:cNvSpPr txBox="1"/>
          <p:nvPr/>
        </p:nvSpPr>
        <p:spPr>
          <a:xfrm>
            <a:off x="7926087" y="4839163"/>
            <a:ext cx="336952" cy="461665"/>
          </a:xfrm>
          <a:prstGeom prst="rect">
            <a:avLst/>
          </a:prstGeom>
          <a:noFill/>
          <a:ln>
            <a:solidFill>
              <a:schemeClr val="tx1"/>
            </a:solidFill>
          </a:ln>
        </p:spPr>
        <p:txBody>
          <a:bodyPr wrap="none" rtlCol="0">
            <a:spAutoFit/>
          </a:bodyPr>
          <a:lstStyle/>
          <a:p>
            <a:r>
              <a:rPr lang="en-US" sz="2400" dirty="0"/>
              <a:t>5</a:t>
            </a:r>
          </a:p>
        </p:txBody>
      </p:sp>
      <p:sp>
        <p:nvSpPr>
          <p:cNvPr id="46" name="TextBox 45">
            <a:extLst>
              <a:ext uri="{FF2B5EF4-FFF2-40B4-BE49-F238E27FC236}">
                <a16:creationId xmlns:a16="http://schemas.microsoft.com/office/drawing/2014/main" id="{2304A1A7-13A3-49E5-82F4-4CEA391085B8}"/>
              </a:ext>
            </a:extLst>
          </p:cNvPr>
          <p:cNvSpPr txBox="1"/>
          <p:nvPr/>
        </p:nvSpPr>
        <p:spPr>
          <a:xfrm>
            <a:off x="9088805" y="4839163"/>
            <a:ext cx="419071" cy="461665"/>
          </a:xfrm>
          <a:prstGeom prst="rect">
            <a:avLst/>
          </a:prstGeom>
          <a:noFill/>
          <a:ln>
            <a:solidFill>
              <a:schemeClr val="tx1"/>
            </a:solidFill>
          </a:ln>
        </p:spPr>
        <p:txBody>
          <a:bodyPr wrap="square" rtlCol="0">
            <a:spAutoFit/>
          </a:bodyPr>
          <a:lstStyle/>
          <a:p>
            <a:pPr algn="ctr"/>
            <a:r>
              <a:rPr lang="en-US" sz="2400" dirty="0"/>
              <a:t>8</a:t>
            </a:r>
          </a:p>
        </p:txBody>
      </p:sp>
      <p:sp>
        <p:nvSpPr>
          <p:cNvPr id="47" name="TextBox 46">
            <a:extLst>
              <a:ext uri="{FF2B5EF4-FFF2-40B4-BE49-F238E27FC236}">
                <a16:creationId xmlns:a16="http://schemas.microsoft.com/office/drawing/2014/main" id="{DA704781-1F12-470F-B22B-D54A1A90DDDF}"/>
              </a:ext>
            </a:extLst>
          </p:cNvPr>
          <p:cNvSpPr txBox="1"/>
          <p:nvPr/>
        </p:nvSpPr>
        <p:spPr>
          <a:xfrm>
            <a:off x="8263039" y="4839163"/>
            <a:ext cx="825766" cy="461665"/>
          </a:xfrm>
          <a:prstGeom prst="rect">
            <a:avLst/>
          </a:prstGeom>
          <a:solidFill>
            <a:schemeClr val="bg2">
              <a:lumMod val="85000"/>
            </a:schemeClr>
          </a:solidFill>
          <a:ln>
            <a:solidFill>
              <a:schemeClr val="tx1"/>
            </a:solidFill>
          </a:ln>
        </p:spPr>
        <p:txBody>
          <a:bodyPr wrap="square" rtlCol="0">
            <a:spAutoFit/>
          </a:bodyPr>
          <a:lstStyle/>
          <a:p>
            <a:pPr algn="ctr"/>
            <a:r>
              <a:rPr lang="en-US" sz="2400" dirty="0">
                <a:solidFill>
                  <a:srgbClr val="FF0000"/>
                </a:solidFill>
              </a:rPr>
              <a:t>11</a:t>
            </a:r>
          </a:p>
        </p:txBody>
      </p:sp>
      <p:sp>
        <p:nvSpPr>
          <p:cNvPr id="48" name="TextBox 47">
            <a:extLst>
              <a:ext uri="{FF2B5EF4-FFF2-40B4-BE49-F238E27FC236}">
                <a16:creationId xmlns:a16="http://schemas.microsoft.com/office/drawing/2014/main" id="{0EC54907-9C88-4A3E-8924-16BA2A260874}"/>
              </a:ext>
            </a:extLst>
          </p:cNvPr>
          <p:cNvSpPr txBox="1"/>
          <p:nvPr/>
        </p:nvSpPr>
        <p:spPr>
          <a:xfrm>
            <a:off x="9507876" y="4839163"/>
            <a:ext cx="1940899" cy="461665"/>
          </a:xfrm>
          <a:prstGeom prst="rect">
            <a:avLst/>
          </a:prstGeom>
          <a:solidFill>
            <a:schemeClr val="bg2">
              <a:lumMod val="85000"/>
            </a:schemeClr>
          </a:solidFill>
          <a:ln>
            <a:solidFill>
              <a:schemeClr val="tx1"/>
            </a:solidFill>
          </a:ln>
        </p:spPr>
        <p:txBody>
          <a:bodyPr wrap="square" rtlCol="0">
            <a:spAutoFit/>
          </a:bodyPr>
          <a:lstStyle/>
          <a:p>
            <a:pPr algn="ctr"/>
            <a:r>
              <a:rPr lang="en-US" sz="2400" dirty="0">
                <a:solidFill>
                  <a:srgbClr val="FF0000"/>
                </a:solidFill>
              </a:rPr>
              <a:t>20</a:t>
            </a:r>
          </a:p>
        </p:txBody>
      </p:sp>
      <p:sp>
        <p:nvSpPr>
          <p:cNvPr id="49" name="TextBox 48">
            <a:extLst>
              <a:ext uri="{FF2B5EF4-FFF2-40B4-BE49-F238E27FC236}">
                <a16:creationId xmlns:a16="http://schemas.microsoft.com/office/drawing/2014/main" id="{77DFAB5B-1246-4328-967A-4207C85E18BD}"/>
              </a:ext>
            </a:extLst>
          </p:cNvPr>
          <p:cNvSpPr txBox="1"/>
          <p:nvPr/>
        </p:nvSpPr>
        <p:spPr>
          <a:xfrm>
            <a:off x="11448775" y="4839163"/>
            <a:ext cx="336952" cy="461665"/>
          </a:xfrm>
          <a:prstGeom prst="rect">
            <a:avLst/>
          </a:prstGeom>
          <a:noFill/>
          <a:ln>
            <a:solidFill>
              <a:schemeClr val="tx1"/>
            </a:solidFill>
          </a:ln>
        </p:spPr>
        <p:txBody>
          <a:bodyPr wrap="none" rtlCol="0">
            <a:spAutoFit/>
          </a:bodyPr>
          <a:lstStyle/>
          <a:p>
            <a:r>
              <a:rPr lang="en-US" sz="2400" dirty="0"/>
              <a:t>4</a:t>
            </a:r>
          </a:p>
        </p:txBody>
      </p:sp>
      <p:sp>
        <p:nvSpPr>
          <p:cNvPr id="51" name="TextBox 50">
            <a:extLst>
              <a:ext uri="{FF2B5EF4-FFF2-40B4-BE49-F238E27FC236}">
                <a16:creationId xmlns:a16="http://schemas.microsoft.com/office/drawing/2014/main" id="{03CCABFE-23B1-4563-9AB2-5DBE35C5B463}"/>
              </a:ext>
            </a:extLst>
          </p:cNvPr>
          <p:cNvSpPr txBox="1"/>
          <p:nvPr/>
        </p:nvSpPr>
        <p:spPr>
          <a:xfrm>
            <a:off x="11785727" y="4839162"/>
            <a:ext cx="336952" cy="461665"/>
          </a:xfrm>
          <a:prstGeom prst="rect">
            <a:avLst/>
          </a:prstGeom>
          <a:noFill/>
          <a:ln>
            <a:solidFill>
              <a:schemeClr val="tx1"/>
            </a:solidFill>
          </a:ln>
        </p:spPr>
        <p:txBody>
          <a:bodyPr wrap="none" rtlCol="0">
            <a:spAutoFit/>
          </a:bodyPr>
          <a:lstStyle/>
          <a:p>
            <a:r>
              <a:rPr lang="en-US" sz="2400" dirty="0"/>
              <a:t>3</a:t>
            </a:r>
          </a:p>
        </p:txBody>
      </p:sp>
      <p:sp>
        <p:nvSpPr>
          <p:cNvPr id="54" name="TextBox 53">
            <a:extLst>
              <a:ext uri="{FF2B5EF4-FFF2-40B4-BE49-F238E27FC236}">
                <a16:creationId xmlns:a16="http://schemas.microsoft.com/office/drawing/2014/main" id="{C8C108FD-D2B0-4AE6-A2D9-5E9249E2B21B}"/>
              </a:ext>
            </a:extLst>
          </p:cNvPr>
          <p:cNvSpPr txBox="1"/>
          <p:nvPr/>
        </p:nvSpPr>
        <p:spPr>
          <a:xfrm>
            <a:off x="6560359" y="4840143"/>
            <a:ext cx="909508" cy="461665"/>
          </a:xfrm>
          <a:prstGeom prst="rect">
            <a:avLst/>
          </a:prstGeom>
          <a:solidFill>
            <a:schemeClr val="tx2">
              <a:lumMod val="40000"/>
              <a:lumOff val="60000"/>
            </a:schemeClr>
          </a:solidFill>
          <a:ln>
            <a:solidFill>
              <a:schemeClr val="tx1"/>
            </a:solidFill>
          </a:ln>
        </p:spPr>
        <p:txBody>
          <a:bodyPr wrap="square" rtlCol="0">
            <a:spAutoFit/>
          </a:bodyPr>
          <a:lstStyle/>
          <a:p>
            <a:pPr algn="ctr"/>
            <a:r>
              <a:rPr lang="en-US" sz="2400" dirty="0"/>
              <a:t>10</a:t>
            </a:r>
          </a:p>
        </p:txBody>
      </p:sp>
      <p:sp>
        <p:nvSpPr>
          <p:cNvPr id="55" name="TextBox 54">
            <a:extLst>
              <a:ext uri="{FF2B5EF4-FFF2-40B4-BE49-F238E27FC236}">
                <a16:creationId xmlns:a16="http://schemas.microsoft.com/office/drawing/2014/main" id="{3231B1DD-83D2-4CF2-9CCA-A09DF5BA8B53}"/>
              </a:ext>
            </a:extLst>
          </p:cNvPr>
          <p:cNvSpPr txBox="1"/>
          <p:nvPr/>
        </p:nvSpPr>
        <p:spPr>
          <a:xfrm>
            <a:off x="7469868" y="4842197"/>
            <a:ext cx="469586" cy="461665"/>
          </a:xfrm>
          <a:prstGeom prst="rect">
            <a:avLst/>
          </a:prstGeom>
          <a:solidFill>
            <a:schemeClr val="accent1">
              <a:lumMod val="40000"/>
              <a:lumOff val="60000"/>
            </a:schemeClr>
          </a:solidFill>
          <a:ln>
            <a:solidFill>
              <a:schemeClr val="tx1"/>
            </a:solidFill>
          </a:ln>
        </p:spPr>
        <p:txBody>
          <a:bodyPr wrap="square" rtlCol="0">
            <a:spAutoFit/>
          </a:bodyPr>
          <a:lstStyle/>
          <a:p>
            <a:pPr algn="ctr"/>
            <a:r>
              <a:rPr lang="en-US" sz="2400" dirty="0">
                <a:solidFill>
                  <a:srgbClr val="FF0000"/>
                </a:solidFill>
              </a:rPr>
              <a:t>5</a:t>
            </a:r>
          </a:p>
        </p:txBody>
      </p:sp>
      <p:sp>
        <p:nvSpPr>
          <p:cNvPr id="64" name="TextBox 63">
            <a:extLst>
              <a:ext uri="{FF2B5EF4-FFF2-40B4-BE49-F238E27FC236}">
                <a16:creationId xmlns:a16="http://schemas.microsoft.com/office/drawing/2014/main" id="{3BC33656-9D54-4C96-B208-AAAF4A771B3E}"/>
              </a:ext>
            </a:extLst>
          </p:cNvPr>
          <p:cNvSpPr txBox="1"/>
          <p:nvPr/>
        </p:nvSpPr>
        <p:spPr>
          <a:xfrm>
            <a:off x="7477929" y="4824616"/>
            <a:ext cx="511289" cy="461665"/>
          </a:xfrm>
          <a:prstGeom prst="rect">
            <a:avLst/>
          </a:prstGeom>
          <a:solidFill>
            <a:schemeClr val="tx2">
              <a:lumMod val="40000"/>
              <a:lumOff val="60000"/>
            </a:schemeClr>
          </a:solidFill>
          <a:ln>
            <a:solidFill>
              <a:schemeClr val="tx1"/>
            </a:solidFill>
          </a:ln>
        </p:spPr>
        <p:txBody>
          <a:bodyPr wrap="square" rtlCol="0">
            <a:spAutoFit/>
          </a:bodyPr>
          <a:lstStyle/>
          <a:p>
            <a:pPr algn="ctr"/>
            <a:r>
              <a:rPr lang="en-US" sz="2400" dirty="0"/>
              <a:t>10</a:t>
            </a:r>
          </a:p>
        </p:txBody>
      </p:sp>
      <p:sp>
        <p:nvSpPr>
          <p:cNvPr id="65" name="TextBox 64">
            <a:extLst>
              <a:ext uri="{FF2B5EF4-FFF2-40B4-BE49-F238E27FC236}">
                <a16:creationId xmlns:a16="http://schemas.microsoft.com/office/drawing/2014/main" id="{32258493-EE82-46E6-BDB7-9D470B0DFC4D}"/>
              </a:ext>
            </a:extLst>
          </p:cNvPr>
          <p:cNvSpPr txBox="1"/>
          <p:nvPr/>
        </p:nvSpPr>
        <p:spPr>
          <a:xfrm>
            <a:off x="5732854" y="6023143"/>
            <a:ext cx="336952" cy="461665"/>
          </a:xfrm>
          <a:prstGeom prst="rect">
            <a:avLst/>
          </a:prstGeom>
          <a:noFill/>
          <a:ln>
            <a:solidFill>
              <a:schemeClr val="tx1"/>
            </a:solidFill>
          </a:ln>
        </p:spPr>
        <p:txBody>
          <a:bodyPr wrap="none" rtlCol="0">
            <a:spAutoFit/>
          </a:bodyPr>
          <a:lstStyle/>
          <a:p>
            <a:r>
              <a:rPr lang="en-US" sz="2400" dirty="0"/>
              <a:t>5</a:t>
            </a:r>
          </a:p>
        </p:txBody>
      </p:sp>
      <p:sp>
        <p:nvSpPr>
          <p:cNvPr id="66" name="TextBox 65">
            <a:extLst>
              <a:ext uri="{FF2B5EF4-FFF2-40B4-BE49-F238E27FC236}">
                <a16:creationId xmlns:a16="http://schemas.microsoft.com/office/drawing/2014/main" id="{DB46A090-140D-475E-9B85-100230FA3A9D}"/>
              </a:ext>
            </a:extLst>
          </p:cNvPr>
          <p:cNvSpPr txBox="1"/>
          <p:nvPr/>
        </p:nvSpPr>
        <p:spPr>
          <a:xfrm>
            <a:off x="6069806" y="6023143"/>
            <a:ext cx="469586" cy="461665"/>
          </a:xfrm>
          <a:prstGeom prst="rect">
            <a:avLst/>
          </a:prstGeom>
          <a:noFill/>
          <a:ln>
            <a:solidFill>
              <a:schemeClr val="tx1"/>
            </a:solidFill>
          </a:ln>
        </p:spPr>
        <p:txBody>
          <a:bodyPr wrap="square" rtlCol="0">
            <a:spAutoFit/>
          </a:bodyPr>
          <a:lstStyle/>
          <a:p>
            <a:pPr algn="ctr"/>
            <a:r>
              <a:rPr lang="en-US" sz="2400" dirty="0"/>
              <a:t>7</a:t>
            </a:r>
          </a:p>
        </p:txBody>
      </p:sp>
      <p:sp>
        <p:nvSpPr>
          <p:cNvPr id="67" name="TextBox 66">
            <a:extLst>
              <a:ext uri="{FF2B5EF4-FFF2-40B4-BE49-F238E27FC236}">
                <a16:creationId xmlns:a16="http://schemas.microsoft.com/office/drawing/2014/main" id="{4AE087D7-77A1-4ADA-AF0D-99D9B359643D}"/>
              </a:ext>
            </a:extLst>
          </p:cNvPr>
          <p:cNvSpPr txBox="1"/>
          <p:nvPr/>
        </p:nvSpPr>
        <p:spPr>
          <a:xfrm>
            <a:off x="7918487" y="6020109"/>
            <a:ext cx="336952" cy="461665"/>
          </a:xfrm>
          <a:prstGeom prst="rect">
            <a:avLst/>
          </a:prstGeom>
          <a:noFill/>
          <a:ln>
            <a:solidFill>
              <a:schemeClr val="tx1"/>
            </a:solidFill>
          </a:ln>
        </p:spPr>
        <p:txBody>
          <a:bodyPr wrap="none" rtlCol="0">
            <a:spAutoFit/>
          </a:bodyPr>
          <a:lstStyle/>
          <a:p>
            <a:r>
              <a:rPr lang="en-US" sz="2400" dirty="0"/>
              <a:t>5</a:t>
            </a:r>
          </a:p>
        </p:txBody>
      </p:sp>
      <p:sp>
        <p:nvSpPr>
          <p:cNvPr id="68" name="TextBox 67">
            <a:extLst>
              <a:ext uri="{FF2B5EF4-FFF2-40B4-BE49-F238E27FC236}">
                <a16:creationId xmlns:a16="http://schemas.microsoft.com/office/drawing/2014/main" id="{0D6819A8-EAE6-45CB-B57A-41668BB8E246}"/>
              </a:ext>
            </a:extLst>
          </p:cNvPr>
          <p:cNvSpPr txBox="1"/>
          <p:nvPr/>
        </p:nvSpPr>
        <p:spPr>
          <a:xfrm>
            <a:off x="9081205" y="6020109"/>
            <a:ext cx="419071" cy="461665"/>
          </a:xfrm>
          <a:prstGeom prst="rect">
            <a:avLst/>
          </a:prstGeom>
          <a:noFill/>
          <a:ln>
            <a:solidFill>
              <a:schemeClr val="tx1"/>
            </a:solidFill>
          </a:ln>
        </p:spPr>
        <p:txBody>
          <a:bodyPr wrap="square" rtlCol="0">
            <a:spAutoFit/>
          </a:bodyPr>
          <a:lstStyle/>
          <a:p>
            <a:pPr algn="ctr"/>
            <a:r>
              <a:rPr lang="en-US" sz="2400" dirty="0"/>
              <a:t>8</a:t>
            </a:r>
          </a:p>
        </p:txBody>
      </p:sp>
      <p:sp>
        <p:nvSpPr>
          <p:cNvPr id="69" name="TextBox 68">
            <a:extLst>
              <a:ext uri="{FF2B5EF4-FFF2-40B4-BE49-F238E27FC236}">
                <a16:creationId xmlns:a16="http://schemas.microsoft.com/office/drawing/2014/main" id="{E13C9865-4486-493F-B675-A7F34A3C9980}"/>
              </a:ext>
            </a:extLst>
          </p:cNvPr>
          <p:cNvSpPr txBox="1"/>
          <p:nvPr/>
        </p:nvSpPr>
        <p:spPr>
          <a:xfrm>
            <a:off x="8255439" y="6020109"/>
            <a:ext cx="825766" cy="461665"/>
          </a:xfrm>
          <a:prstGeom prst="rect">
            <a:avLst/>
          </a:prstGeom>
          <a:solidFill>
            <a:schemeClr val="bg2">
              <a:lumMod val="85000"/>
            </a:schemeClr>
          </a:solidFill>
          <a:ln>
            <a:solidFill>
              <a:schemeClr val="tx1"/>
            </a:solidFill>
          </a:ln>
        </p:spPr>
        <p:txBody>
          <a:bodyPr wrap="square" rtlCol="0">
            <a:spAutoFit/>
          </a:bodyPr>
          <a:lstStyle/>
          <a:p>
            <a:pPr algn="ctr"/>
            <a:r>
              <a:rPr lang="en-US" sz="2400" dirty="0">
                <a:solidFill>
                  <a:srgbClr val="FF0000"/>
                </a:solidFill>
              </a:rPr>
              <a:t>11</a:t>
            </a:r>
          </a:p>
        </p:txBody>
      </p:sp>
      <p:sp>
        <p:nvSpPr>
          <p:cNvPr id="70" name="TextBox 69">
            <a:extLst>
              <a:ext uri="{FF2B5EF4-FFF2-40B4-BE49-F238E27FC236}">
                <a16:creationId xmlns:a16="http://schemas.microsoft.com/office/drawing/2014/main" id="{9C916533-0020-4AE4-97EB-D425C4BBDA4C}"/>
              </a:ext>
            </a:extLst>
          </p:cNvPr>
          <p:cNvSpPr txBox="1"/>
          <p:nvPr/>
        </p:nvSpPr>
        <p:spPr>
          <a:xfrm>
            <a:off x="9500276" y="6020109"/>
            <a:ext cx="1940899" cy="461665"/>
          </a:xfrm>
          <a:prstGeom prst="rect">
            <a:avLst/>
          </a:prstGeom>
          <a:solidFill>
            <a:schemeClr val="bg2">
              <a:lumMod val="85000"/>
            </a:schemeClr>
          </a:solidFill>
          <a:ln>
            <a:solidFill>
              <a:schemeClr val="tx1"/>
            </a:solidFill>
          </a:ln>
        </p:spPr>
        <p:txBody>
          <a:bodyPr wrap="square" rtlCol="0">
            <a:spAutoFit/>
          </a:bodyPr>
          <a:lstStyle/>
          <a:p>
            <a:pPr algn="ctr"/>
            <a:r>
              <a:rPr lang="en-US" sz="2400" dirty="0">
                <a:solidFill>
                  <a:srgbClr val="FF0000"/>
                </a:solidFill>
              </a:rPr>
              <a:t>20</a:t>
            </a:r>
          </a:p>
        </p:txBody>
      </p:sp>
      <p:sp>
        <p:nvSpPr>
          <p:cNvPr id="71" name="TextBox 70">
            <a:extLst>
              <a:ext uri="{FF2B5EF4-FFF2-40B4-BE49-F238E27FC236}">
                <a16:creationId xmlns:a16="http://schemas.microsoft.com/office/drawing/2014/main" id="{1EF65E20-0229-44B0-89C1-DD3001B6E028}"/>
              </a:ext>
            </a:extLst>
          </p:cNvPr>
          <p:cNvSpPr txBox="1"/>
          <p:nvPr/>
        </p:nvSpPr>
        <p:spPr>
          <a:xfrm>
            <a:off x="11441175" y="6020109"/>
            <a:ext cx="336952" cy="461665"/>
          </a:xfrm>
          <a:prstGeom prst="rect">
            <a:avLst/>
          </a:prstGeom>
          <a:noFill/>
          <a:ln>
            <a:solidFill>
              <a:schemeClr val="tx1"/>
            </a:solidFill>
          </a:ln>
        </p:spPr>
        <p:txBody>
          <a:bodyPr wrap="none" rtlCol="0">
            <a:spAutoFit/>
          </a:bodyPr>
          <a:lstStyle/>
          <a:p>
            <a:r>
              <a:rPr lang="en-US" sz="2400" dirty="0"/>
              <a:t>4</a:t>
            </a:r>
          </a:p>
        </p:txBody>
      </p:sp>
      <p:sp>
        <p:nvSpPr>
          <p:cNvPr id="72" name="TextBox 71">
            <a:extLst>
              <a:ext uri="{FF2B5EF4-FFF2-40B4-BE49-F238E27FC236}">
                <a16:creationId xmlns:a16="http://schemas.microsoft.com/office/drawing/2014/main" id="{31FFCC83-316F-478C-AB54-36FCD3E14D8E}"/>
              </a:ext>
            </a:extLst>
          </p:cNvPr>
          <p:cNvSpPr txBox="1"/>
          <p:nvPr/>
        </p:nvSpPr>
        <p:spPr>
          <a:xfrm>
            <a:off x="11778127" y="6020108"/>
            <a:ext cx="336952" cy="461665"/>
          </a:xfrm>
          <a:prstGeom prst="rect">
            <a:avLst/>
          </a:prstGeom>
          <a:noFill/>
          <a:ln>
            <a:solidFill>
              <a:schemeClr val="tx1"/>
            </a:solidFill>
          </a:ln>
        </p:spPr>
        <p:txBody>
          <a:bodyPr wrap="none" rtlCol="0">
            <a:spAutoFit/>
          </a:bodyPr>
          <a:lstStyle/>
          <a:p>
            <a:r>
              <a:rPr lang="en-US" sz="2400" dirty="0"/>
              <a:t>3</a:t>
            </a:r>
          </a:p>
        </p:txBody>
      </p:sp>
      <p:sp>
        <p:nvSpPr>
          <p:cNvPr id="73" name="TextBox 72">
            <a:extLst>
              <a:ext uri="{FF2B5EF4-FFF2-40B4-BE49-F238E27FC236}">
                <a16:creationId xmlns:a16="http://schemas.microsoft.com/office/drawing/2014/main" id="{E486C8FF-B7EC-4F34-BB45-04CFF85A49A0}"/>
              </a:ext>
            </a:extLst>
          </p:cNvPr>
          <p:cNvSpPr txBox="1"/>
          <p:nvPr/>
        </p:nvSpPr>
        <p:spPr>
          <a:xfrm>
            <a:off x="6552759" y="6021089"/>
            <a:ext cx="909508" cy="461665"/>
          </a:xfrm>
          <a:prstGeom prst="rect">
            <a:avLst/>
          </a:prstGeom>
          <a:solidFill>
            <a:schemeClr val="tx2">
              <a:lumMod val="40000"/>
              <a:lumOff val="60000"/>
            </a:schemeClr>
          </a:solidFill>
          <a:ln>
            <a:solidFill>
              <a:schemeClr val="tx1"/>
            </a:solidFill>
          </a:ln>
        </p:spPr>
        <p:txBody>
          <a:bodyPr wrap="square" rtlCol="0">
            <a:spAutoFit/>
          </a:bodyPr>
          <a:lstStyle/>
          <a:p>
            <a:pPr algn="ctr"/>
            <a:r>
              <a:rPr lang="en-US" sz="2400" dirty="0"/>
              <a:t>10</a:t>
            </a:r>
          </a:p>
        </p:txBody>
      </p:sp>
      <p:sp>
        <p:nvSpPr>
          <p:cNvPr id="74" name="TextBox 73">
            <a:extLst>
              <a:ext uri="{FF2B5EF4-FFF2-40B4-BE49-F238E27FC236}">
                <a16:creationId xmlns:a16="http://schemas.microsoft.com/office/drawing/2014/main" id="{286AB470-0B0D-4EE7-B866-1CC4AF926213}"/>
              </a:ext>
            </a:extLst>
          </p:cNvPr>
          <p:cNvSpPr txBox="1"/>
          <p:nvPr/>
        </p:nvSpPr>
        <p:spPr>
          <a:xfrm>
            <a:off x="7462268" y="6023143"/>
            <a:ext cx="469586" cy="461665"/>
          </a:xfrm>
          <a:prstGeom prst="rect">
            <a:avLst/>
          </a:prstGeom>
          <a:solidFill>
            <a:schemeClr val="accent1">
              <a:lumMod val="40000"/>
              <a:lumOff val="60000"/>
            </a:schemeClr>
          </a:solidFill>
          <a:ln>
            <a:solidFill>
              <a:schemeClr val="tx1"/>
            </a:solidFill>
          </a:ln>
        </p:spPr>
        <p:txBody>
          <a:bodyPr wrap="square" rtlCol="0">
            <a:spAutoFit/>
          </a:bodyPr>
          <a:lstStyle/>
          <a:p>
            <a:pPr algn="ctr"/>
            <a:r>
              <a:rPr lang="en-US" sz="2400" dirty="0">
                <a:solidFill>
                  <a:srgbClr val="FF0000"/>
                </a:solidFill>
              </a:rPr>
              <a:t>5</a:t>
            </a:r>
          </a:p>
        </p:txBody>
      </p:sp>
      <p:sp>
        <p:nvSpPr>
          <p:cNvPr id="75" name="TextBox 74">
            <a:extLst>
              <a:ext uri="{FF2B5EF4-FFF2-40B4-BE49-F238E27FC236}">
                <a16:creationId xmlns:a16="http://schemas.microsoft.com/office/drawing/2014/main" id="{23C1398E-8592-4060-A40D-09092A4E62A6}"/>
              </a:ext>
            </a:extLst>
          </p:cNvPr>
          <p:cNvSpPr txBox="1"/>
          <p:nvPr/>
        </p:nvSpPr>
        <p:spPr>
          <a:xfrm>
            <a:off x="7093332" y="5649260"/>
            <a:ext cx="1064715" cy="369332"/>
          </a:xfrm>
          <a:prstGeom prst="rect">
            <a:avLst/>
          </a:prstGeom>
          <a:noFill/>
        </p:spPr>
        <p:txBody>
          <a:bodyPr wrap="none" rtlCol="0">
            <a:spAutoFit/>
          </a:bodyPr>
          <a:lstStyle/>
          <a:p>
            <a:r>
              <a:rPr lang="en-US" dirty="0"/>
              <a:t>5 MB free</a:t>
            </a:r>
          </a:p>
        </p:txBody>
      </p:sp>
      <p:sp>
        <p:nvSpPr>
          <p:cNvPr id="76" name="TextBox 75">
            <a:extLst>
              <a:ext uri="{FF2B5EF4-FFF2-40B4-BE49-F238E27FC236}">
                <a16:creationId xmlns:a16="http://schemas.microsoft.com/office/drawing/2014/main" id="{23E984D9-63DF-4263-B5F7-A196AFC12692}"/>
              </a:ext>
            </a:extLst>
          </p:cNvPr>
          <p:cNvSpPr txBox="1"/>
          <p:nvPr/>
        </p:nvSpPr>
        <p:spPr>
          <a:xfrm>
            <a:off x="8767853" y="6020106"/>
            <a:ext cx="312741" cy="461665"/>
          </a:xfrm>
          <a:prstGeom prst="rect">
            <a:avLst/>
          </a:prstGeom>
          <a:solidFill>
            <a:schemeClr val="bg2">
              <a:lumMod val="85000"/>
            </a:schemeClr>
          </a:solidFill>
          <a:ln>
            <a:solidFill>
              <a:schemeClr val="tx1"/>
            </a:solidFill>
          </a:ln>
        </p:spPr>
        <p:txBody>
          <a:bodyPr wrap="square" rtlCol="0">
            <a:spAutoFit/>
          </a:bodyPr>
          <a:lstStyle/>
          <a:p>
            <a:pPr algn="ctr"/>
            <a:r>
              <a:rPr lang="en-US" sz="2400" dirty="0">
                <a:solidFill>
                  <a:srgbClr val="FF0000"/>
                </a:solidFill>
              </a:rPr>
              <a:t>1</a:t>
            </a:r>
          </a:p>
        </p:txBody>
      </p:sp>
      <p:cxnSp>
        <p:nvCxnSpPr>
          <p:cNvPr id="77" name="Straight Arrow Connector 76">
            <a:extLst>
              <a:ext uri="{FF2B5EF4-FFF2-40B4-BE49-F238E27FC236}">
                <a16:creationId xmlns:a16="http://schemas.microsoft.com/office/drawing/2014/main" id="{483C09CF-C6EA-458D-A032-5BD036EA22CD}"/>
              </a:ext>
            </a:extLst>
          </p:cNvPr>
          <p:cNvCxnSpPr/>
          <p:nvPr/>
        </p:nvCxnSpPr>
        <p:spPr>
          <a:xfrm flipH="1">
            <a:off x="8504208" y="5621472"/>
            <a:ext cx="6875" cy="43124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EE3F09D2-A9E2-4C8F-A02D-FBCC024A0047}"/>
              </a:ext>
            </a:extLst>
          </p:cNvPr>
          <p:cNvSpPr txBox="1"/>
          <p:nvPr/>
        </p:nvSpPr>
        <p:spPr>
          <a:xfrm>
            <a:off x="8685687" y="5647786"/>
            <a:ext cx="1064715" cy="369332"/>
          </a:xfrm>
          <a:prstGeom prst="rect">
            <a:avLst/>
          </a:prstGeom>
          <a:noFill/>
        </p:spPr>
        <p:txBody>
          <a:bodyPr wrap="none" rtlCol="0">
            <a:spAutoFit/>
          </a:bodyPr>
          <a:lstStyle/>
          <a:p>
            <a:r>
              <a:rPr lang="en-US" dirty="0"/>
              <a:t>1 MB free</a:t>
            </a:r>
          </a:p>
        </p:txBody>
      </p:sp>
      <p:sp>
        <p:nvSpPr>
          <p:cNvPr id="79" name="TextBox 78">
            <a:extLst>
              <a:ext uri="{FF2B5EF4-FFF2-40B4-BE49-F238E27FC236}">
                <a16:creationId xmlns:a16="http://schemas.microsoft.com/office/drawing/2014/main" id="{B7F16A6D-0D72-40BF-98CF-945642B74B8E}"/>
              </a:ext>
            </a:extLst>
          </p:cNvPr>
          <p:cNvSpPr txBox="1"/>
          <p:nvPr/>
        </p:nvSpPr>
        <p:spPr>
          <a:xfrm>
            <a:off x="8255439" y="6017118"/>
            <a:ext cx="511289" cy="461665"/>
          </a:xfrm>
          <a:prstGeom prst="rect">
            <a:avLst/>
          </a:prstGeom>
          <a:solidFill>
            <a:schemeClr val="tx2">
              <a:lumMod val="40000"/>
              <a:lumOff val="60000"/>
            </a:schemeClr>
          </a:solidFill>
          <a:ln>
            <a:solidFill>
              <a:schemeClr val="tx1"/>
            </a:solidFill>
          </a:ln>
        </p:spPr>
        <p:txBody>
          <a:bodyPr wrap="square" rtlCol="0">
            <a:spAutoFit/>
          </a:bodyPr>
          <a:lstStyle/>
          <a:p>
            <a:pPr algn="ctr"/>
            <a:r>
              <a:rPr lang="en-US" sz="2400" dirty="0"/>
              <a:t>10</a:t>
            </a:r>
          </a:p>
        </p:txBody>
      </p:sp>
      <p:sp>
        <p:nvSpPr>
          <p:cNvPr id="80" name="TextBox 79">
            <a:extLst>
              <a:ext uri="{FF2B5EF4-FFF2-40B4-BE49-F238E27FC236}">
                <a16:creationId xmlns:a16="http://schemas.microsoft.com/office/drawing/2014/main" id="{1E5B155E-903C-42AE-8279-D7206FB2AC57}"/>
              </a:ext>
            </a:extLst>
          </p:cNvPr>
          <p:cNvSpPr txBox="1"/>
          <p:nvPr/>
        </p:nvSpPr>
        <p:spPr>
          <a:xfrm>
            <a:off x="8087083" y="5295192"/>
            <a:ext cx="968535" cy="400110"/>
          </a:xfrm>
          <a:prstGeom prst="rect">
            <a:avLst/>
          </a:prstGeom>
          <a:noFill/>
        </p:spPr>
        <p:txBody>
          <a:bodyPr wrap="none" rtlCol="0">
            <a:spAutoFit/>
          </a:bodyPr>
          <a:lstStyle/>
          <a:p>
            <a:r>
              <a:rPr lang="en-US" sz="2000" dirty="0"/>
              <a:t>Next Fit</a:t>
            </a:r>
          </a:p>
        </p:txBody>
      </p:sp>
    </p:spTree>
    <p:extLst>
      <p:ext uri="{BB962C8B-B14F-4D97-AF65-F5344CB8AC3E}">
        <p14:creationId xmlns:p14="http://schemas.microsoft.com/office/powerpoint/2010/main" val="3643865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5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9"/>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5"/>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7"/>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38"/>
                                        </p:tgtEl>
                                        <p:attrNameLst>
                                          <p:attrName>style.visibility</p:attrName>
                                        </p:attrNameLst>
                                      </p:cBhvr>
                                      <p:to>
                                        <p:strVal val="visible"/>
                                      </p:to>
                                    </p:set>
                                  </p:childTnLst>
                                </p:cTn>
                              </p:par>
                              <p:par>
                                <p:cTn id="81" presetID="26" presetClass="emph" presetSubtype="0" repeatCount="indefinite" fill="hold" nodeType="withEffect">
                                  <p:stCondLst>
                                    <p:cond delay="0"/>
                                  </p:stCondLst>
                                  <p:endCondLst>
                                    <p:cond evt="onNext" delay="0">
                                      <p:tgtEl>
                                        <p:sldTgt/>
                                      </p:tgtEl>
                                    </p:cond>
                                  </p:endCondLst>
                                  <p:childTnLst>
                                    <p:animEffect transition="out" filter="fade">
                                      <p:cBhvr>
                                        <p:cTn id="82" dur="500" tmFilter="0, 0; .2, .5; .8, .5; 1, 0"/>
                                        <p:tgtEl>
                                          <p:spTgt spid="38"/>
                                        </p:tgtEl>
                                      </p:cBhvr>
                                    </p:animEffect>
                                    <p:animScale>
                                      <p:cBhvr>
                                        <p:cTn id="83" dur="250" autoRev="1" fill="hold"/>
                                        <p:tgtEl>
                                          <p:spTgt spid="38"/>
                                        </p:tgtEl>
                                      </p:cBhvr>
                                      <p:by x="105000" y="105000"/>
                                    </p:animScale>
                                  </p:childTnLst>
                                </p:cTn>
                              </p:par>
                            </p:childTnLst>
                          </p:cTn>
                        </p:par>
                      </p:childTnLst>
                    </p:cTn>
                  </p:par>
                  <p:par>
                    <p:cTn id="84" fill="hold">
                      <p:stCondLst>
                        <p:cond delay="indefinite"/>
                      </p:stCondLst>
                      <p:childTnLst>
                        <p:par>
                          <p:cTn id="85" fill="hold">
                            <p:stCondLst>
                              <p:cond delay="0"/>
                            </p:stCondLst>
                            <p:childTnLst>
                              <p:par>
                                <p:cTn id="86" presetID="63" presetClass="path" presetSubtype="0" accel="50000" decel="50000" fill="hold" nodeType="clickEffect">
                                  <p:stCondLst>
                                    <p:cond delay="0"/>
                                  </p:stCondLst>
                                  <p:childTnLst>
                                    <p:animMotion origin="layout" path="M 4.16667E-6 2.96296E-6 L 0.08099 0.00393 " pathEditMode="relative" rAng="0" ptsTypes="AA">
                                      <p:cBhvr>
                                        <p:cTn id="87" dur="2000" fill="hold"/>
                                        <p:tgtEl>
                                          <p:spTgt spid="38"/>
                                        </p:tgtEl>
                                        <p:attrNameLst>
                                          <p:attrName>ppt_x</p:attrName>
                                          <p:attrName>ppt_y</p:attrName>
                                        </p:attrNameLst>
                                      </p:cBhvr>
                                      <p:rCtr x="4049" y="185"/>
                                    </p:animMotion>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41"/>
                                        </p:tgtEl>
                                        <p:attrNameLst>
                                          <p:attrName>style.visibility</p:attrName>
                                        </p:attrNameLst>
                                      </p:cBhvr>
                                      <p:to>
                                        <p:strVal val="visible"/>
                                      </p:to>
                                    </p:set>
                                  </p:childTnLst>
                                </p:cTn>
                              </p:par>
                              <p:par>
                                <p:cTn id="92" presetID="26" presetClass="emph" presetSubtype="0" repeatCount="indefinite" fill="hold" grpId="1" nodeType="withEffect">
                                  <p:stCondLst>
                                    <p:cond delay="0"/>
                                  </p:stCondLst>
                                  <p:endCondLst>
                                    <p:cond evt="onNext" delay="0">
                                      <p:tgtEl>
                                        <p:sldTgt/>
                                      </p:tgtEl>
                                    </p:cond>
                                  </p:endCondLst>
                                  <p:childTnLst>
                                    <p:animEffect transition="out" filter="fade">
                                      <p:cBhvr>
                                        <p:cTn id="93" dur="500" tmFilter="0, 0; .2, .5; .8, .5; 1, 0"/>
                                        <p:tgtEl>
                                          <p:spTgt spid="41"/>
                                        </p:tgtEl>
                                      </p:cBhvr>
                                    </p:animEffect>
                                    <p:animScale>
                                      <p:cBhvr>
                                        <p:cTn id="94" dur="250" autoRev="1" fill="hold"/>
                                        <p:tgtEl>
                                          <p:spTgt spid="41"/>
                                        </p:tgtEl>
                                      </p:cBhvr>
                                      <p:by x="105000" y="105000"/>
                                    </p:animScale>
                                  </p:childTnLst>
                                </p:cTn>
                              </p:par>
                            </p:childTnLst>
                          </p:cTn>
                        </p:par>
                      </p:childTnLst>
                    </p:cTn>
                  </p:par>
                  <p:par>
                    <p:cTn id="95" fill="hold">
                      <p:stCondLst>
                        <p:cond delay="indefinite"/>
                      </p:stCondLst>
                      <p:childTnLst>
                        <p:par>
                          <p:cTn id="96" fill="hold">
                            <p:stCondLst>
                              <p:cond delay="0"/>
                            </p:stCondLst>
                            <p:childTnLst>
                              <p:par>
                                <p:cTn id="97" presetID="1" presetClass="exit" presetSubtype="0" fill="hold" nodeType="clickEffect">
                                  <p:stCondLst>
                                    <p:cond delay="0"/>
                                  </p:stCondLst>
                                  <p:childTnLst>
                                    <p:set>
                                      <p:cBhvr>
                                        <p:cTn id="98" dur="1" fill="hold">
                                          <p:stCondLst>
                                            <p:cond delay="0"/>
                                          </p:stCondLst>
                                        </p:cTn>
                                        <p:tgtEl>
                                          <p:spTgt spid="38"/>
                                        </p:tgtEl>
                                        <p:attrNameLst>
                                          <p:attrName>style.visibility</p:attrName>
                                        </p:attrNameLst>
                                      </p:cBhvr>
                                      <p:to>
                                        <p:strVal val="hidden"/>
                                      </p:to>
                                    </p:set>
                                  </p:childTnLst>
                                </p:cTn>
                              </p:par>
                              <p:par>
                                <p:cTn id="99" presetID="1" presetClass="exit" presetSubtype="0" fill="hold" grpId="2" nodeType="withEffect">
                                  <p:stCondLst>
                                    <p:cond delay="0"/>
                                  </p:stCondLst>
                                  <p:childTnLst>
                                    <p:set>
                                      <p:cBhvr>
                                        <p:cTn id="100" dur="1" fill="hold">
                                          <p:stCondLst>
                                            <p:cond delay="0"/>
                                          </p:stCondLst>
                                        </p:cTn>
                                        <p:tgtEl>
                                          <p:spTgt spid="41"/>
                                        </p:tgtEl>
                                        <p:attrNameLst>
                                          <p:attrName>style.visibility</p:attrName>
                                        </p:attrNameLst>
                                      </p:cBhvr>
                                      <p:to>
                                        <p:strVal val="hidden"/>
                                      </p:to>
                                    </p:set>
                                  </p:childTnLst>
                                </p:cTn>
                              </p:par>
                              <p:par>
                                <p:cTn id="101" presetID="1" presetClass="entr" presetSubtype="0" fill="hold" nodeType="withEffect">
                                  <p:stCondLst>
                                    <p:cond delay="0"/>
                                  </p:stCondLst>
                                  <p:childTnLst>
                                    <p:set>
                                      <p:cBhvr>
                                        <p:cTn id="102" dur="1" fill="hold">
                                          <p:stCondLst>
                                            <p:cond delay="0"/>
                                          </p:stCondLst>
                                        </p:cTn>
                                        <p:tgtEl>
                                          <p:spTgt spid="42"/>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43"/>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44"/>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45"/>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46"/>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47"/>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48"/>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49"/>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51"/>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54"/>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55"/>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64"/>
                                        </p:tgtEl>
                                        <p:attrNameLst>
                                          <p:attrName>style.visibility</p:attrName>
                                        </p:attrNameLst>
                                      </p:cBhvr>
                                      <p:to>
                                        <p:strVal val="visible"/>
                                      </p:to>
                                    </p:set>
                                  </p:childTnLst>
                                </p:cTn>
                              </p:par>
                              <p:par>
                                <p:cTn id="129" presetID="63" presetClass="path" presetSubtype="0" accel="50000" decel="50000" fill="hold" grpId="1" nodeType="withEffect">
                                  <p:stCondLst>
                                    <p:cond delay="0"/>
                                  </p:stCondLst>
                                  <p:childTnLst>
                                    <p:animMotion origin="layout" path="M 5E-6 2.96296E-6 L 0.06563 -0.00093 " pathEditMode="relative" rAng="0" ptsTypes="AA">
                                      <p:cBhvr>
                                        <p:cTn id="130" dur="2000" fill="hold"/>
                                        <p:tgtEl>
                                          <p:spTgt spid="64"/>
                                        </p:tgtEl>
                                        <p:attrNameLst>
                                          <p:attrName>ppt_x</p:attrName>
                                          <p:attrName>ppt_y</p:attrName>
                                        </p:attrNameLst>
                                      </p:cBhvr>
                                      <p:rCtr x="3281" y="-46"/>
                                    </p:animMotion>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65"/>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66"/>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67"/>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68"/>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69"/>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70"/>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71"/>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72"/>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73"/>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75"/>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74"/>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79"/>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 presetClass="entr" presetSubtype="0" fill="hold" grpId="0" nodeType="clickEffect">
                                  <p:stCondLst>
                                    <p:cond delay="0"/>
                                  </p:stCondLst>
                                  <p:childTnLst>
                                    <p:set>
                                      <p:cBhvr>
                                        <p:cTn id="160" dur="1" fill="hold">
                                          <p:stCondLst>
                                            <p:cond delay="0"/>
                                          </p:stCondLst>
                                        </p:cTn>
                                        <p:tgtEl>
                                          <p:spTgt spid="76"/>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78"/>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nodeType="clickEffect">
                                  <p:stCondLst>
                                    <p:cond delay="0"/>
                                  </p:stCondLst>
                                  <p:childTnLst>
                                    <p:set>
                                      <p:cBhvr>
                                        <p:cTn id="166" dur="1" fill="hold">
                                          <p:stCondLst>
                                            <p:cond delay="0"/>
                                          </p:stCondLst>
                                        </p:cTn>
                                        <p:tgtEl>
                                          <p:spTgt spid="77"/>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2" grpId="0" animBg="1"/>
      <p:bldP spid="13" grpId="0"/>
      <p:bldP spid="17" grpId="0"/>
      <p:bldP spid="23" grpId="0" animBg="1"/>
      <p:bldP spid="24" grpId="0" animBg="1"/>
      <p:bldP spid="25" grpId="0" animBg="1"/>
      <p:bldP spid="26" grpId="0" animBg="1"/>
      <p:bldP spid="27" grpId="0" animBg="1"/>
      <p:bldP spid="28" grpId="0" animBg="1"/>
      <p:bldP spid="29" grpId="0" animBg="1"/>
      <p:bldP spid="30" grpId="0" animBg="1"/>
      <p:bldP spid="31" grpId="0" animBg="1"/>
      <p:bldP spid="36" grpId="0" animBg="1"/>
      <p:bldP spid="39" grpId="0" animBg="1"/>
      <p:bldP spid="50" grpId="0"/>
      <p:bldP spid="41" grpId="0" animBg="1"/>
      <p:bldP spid="41" grpId="1" animBg="1"/>
      <p:bldP spid="41" grpId="2" animBg="1"/>
      <p:bldP spid="43" grpId="0" animBg="1"/>
      <p:bldP spid="44" grpId="0" animBg="1"/>
      <p:bldP spid="45" grpId="0" animBg="1"/>
      <p:bldP spid="46" grpId="0" animBg="1"/>
      <p:bldP spid="47" grpId="0" animBg="1"/>
      <p:bldP spid="48" grpId="0" animBg="1"/>
      <p:bldP spid="49" grpId="0" animBg="1"/>
      <p:bldP spid="51" grpId="0" animBg="1"/>
      <p:bldP spid="54" grpId="0" animBg="1"/>
      <p:bldP spid="55" grpId="0" animBg="1"/>
      <p:bldP spid="64" grpId="0" animBg="1"/>
      <p:bldP spid="64" grpId="1"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p:bldP spid="76" grpId="0" animBg="1"/>
      <p:bldP spid="78" grpId="0"/>
      <p:bldP spid="79" grpId="0" animBg="1"/>
      <p:bldP spid="80"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Strategies to select partition(Conti..) </a:t>
            </a:r>
          </a:p>
        </p:txBody>
      </p:sp>
      <p:sp>
        <p:nvSpPr>
          <p:cNvPr id="3" name="Content Placeholder 2"/>
          <p:cNvSpPr>
            <a:spLocks noGrp="1"/>
          </p:cNvSpPr>
          <p:nvPr>
            <p:ph idx="1"/>
          </p:nvPr>
        </p:nvSpPr>
        <p:spPr/>
        <p:txBody>
          <a:bodyPr/>
          <a:lstStyle/>
          <a:p>
            <a:pPr marL="0" indent="0">
              <a:buNone/>
            </a:pPr>
            <a:r>
              <a:rPr lang="en-US" b="1" dirty="0">
                <a:solidFill>
                  <a:schemeClr val="accent6"/>
                </a:solidFill>
              </a:rPr>
              <a:t>Best Fit : </a:t>
            </a:r>
            <a:r>
              <a:rPr lang="en-US" dirty="0">
                <a:solidFill>
                  <a:schemeClr val="accent6"/>
                </a:solidFill>
              </a:rPr>
              <a:t>  </a:t>
            </a:r>
          </a:p>
          <a:p>
            <a:pPr lvl="1"/>
            <a:r>
              <a:rPr lang="en-US" dirty="0">
                <a:solidFill>
                  <a:schemeClr val="accent6"/>
                </a:solidFill>
              </a:rPr>
              <a:t>Entire memory is searched.</a:t>
            </a:r>
          </a:p>
          <a:p>
            <a:pPr lvl="1"/>
            <a:r>
              <a:rPr lang="en-US" dirty="0">
                <a:solidFill>
                  <a:schemeClr val="accent6"/>
                </a:solidFill>
              </a:rPr>
              <a:t>Smallest available hole </a:t>
            </a:r>
            <a:r>
              <a:rPr lang="en-US" dirty="0"/>
              <a:t>, which is large enough to </a:t>
            </a:r>
            <a:r>
              <a:rPr lang="en-US" dirty="0">
                <a:solidFill>
                  <a:schemeClr val="accent6"/>
                </a:solidFill>
              </a:rPr>
              <a:t>hold process </a:t>
            </a:r>
            <a:r>
              <a:rPr lang="en-US" dirty="0"/>
              <a:t>is Selected for allocation.</a:t>
            </a:r>
            <a:r>
              <a:rPr lang="en-US" b="1" dirty="0"/>
              <a:t>  </a:t>
            </a:r>
            <a:endParaRPr lang="en-US" dirty="0"/>
          </a:p>
          <a:p>
            <a:pPr lvl="1"/>
            <a:r>
              <a:rPr lang="en-US" dirty="0"/>
              <a:t>Search time is high as it searches entire memory.</a:t>
            </a:r>
          </a:p>
          <a:p>
            <a:pPr lvl="1"/>
            <a:r>
              <a:rPr lang="en-US" dirty="0"/>
              <a:t>Memory loss is less, As it leaves tiny holes into which no process can fit.</a:t>
            </a:r>
          </a:p>
          <a:p>
            <a:r>
              <a:rPr lang="en-US" dirty="0"/>
              <a:t>Example : Free partition selected for </a:t>
            </a:r>
            <a:r>
              <a:rPr lang="en-US" dirty="0">
                <a:solidFill>
                  <a:schemeClr val="accent6"/>
                </a:solidFill>
              </a:rPr>
              <a:t>allocation</a:t>
            </a:r>
            <a:r>
              <a:rPr lang="en-US" dirty="0"/>
              <a:t> of </a:t>
            </a:r>
            <a:r>
              <a:rPr lang="en-US" dirty="0">
                <a:solidFill>
                  <a:schemeClr val="accent6"/>
                </a:solidFill>
              </a:rPr>
              <a:t>10 MB</a:t>
            </a:r>
          </a:p>
          <a:p>
            <a:pPr marL="0" indent="-87312">
              <a:buNone/>
            </a:pPr>
            <a:endParaRPr lang="en-US" dirty="0"/>
          </a:p>
        </p:txBody>
      </p:sp>
      <p:sp>
        <p:nvSpPr>
          <p:cNvPr id="4" name="TextBox 3"/>
          <p:cNvSpPr txBox="1"/>
          <p:nvPr/>
        </p:nvSpPr>
        <p:spPr>
          <a:xfrm>
            <a:off x="119699" y="4254801"/>
            <a:ext cx="336952" cy="461665"/>
          </a:xfrm>
          <a:prstGeom prst="rect">
            <a:avLst/>
          </a:prstGeom>
          <a:noFill/>
          <a:ln>
            <a:solidFill>
              <a:schemeClr val="tx1"/>
            </a:solidFill>
          </a:ln>
        </p:spPr>
        <p:txBody>
          <a:bodyPr wrap="none" rtlCol="0">
            <a:spAutoFit/>
          </a:bodyPr>
          <a:lstStyle/>
          <a:p>
            <a:r>
              <a:rPr lang="en-US" sz="2400" dirty="0"/>
              <a:t>5</a:t>
            </a:r>
          </a:p>
        </p:txBody>
      </p:sp>
      <p:sp>
        <p:nvSpPr>
          <p:cNvPr id="5" name="TextBox 4"/>
          <p:cNvSpPr txBox="1"/>
          <p:nvPr/>
        </p:nvSpPr>
        <p:spPr>
          <a:xfrm>
            <a:off x="456651" y="4254801"/>
            <a:ext cx="469586" cy="461665"/>
          </a:xfrm>
          <a:prstGeom prst="rect">
            <a:avLst/>
          </a:prstGeom>
          <a:noFill/>
          <a:ln>
            <a:solidFill>
              <a:schemeClr val="tx1"/>
            </a:solidFill>
          </a:ln>
        </p:spPr>
        <p:txBody>
          <a:bodyPr wrap="square" rtlCol="0">
            <a:spAutoFit/>
          </a:bodyPr>
          <a:lstStyle/>
          <a:p>
            <a:pPr algn="ctr"/>
            <a:r>
              <a:rPr lang="en-US" sz="2400" dirty="0"/>
              <a:t>7</a:t>
            </a:r>
          </a:p>
        </p:txBody>
      </p:sp>
      <p:sp>
        <p:nvSpPr>
          <p:cNvPr id="7" name="TextBox 6"/>
          <p:cNvSpPr txBox="1"/>
          <p:nvPr/>
        </p:nvSpPr>
        <p:spPr>
          <a:xfrm>
            <a:off x="2305332" y="4251767"/>
            <a:ext cx="336952" cy="461665"/>
          </a:xfrm>
          <a:prstGeom prst="rect">
            <a:avLst/>
          </a:prstGeom>
          <a:noFill/>
          <a:ln>
            <a:solidFill>
              <a:schemeClr val="tx1"/>
            </a:solidFill>
          </a:ln>
        </p:spPr>
        <p:txBody>
          <a:bodyPr wrap="none" rtlCol="0">
            <a:spAutoFit/>
          </a:bodyPr>
          <a:lstStyle/>
          <a:p>
            <a:r>
              <a:rPr lang="en-US" sz="2400" dirty="0"/>
              <a:t>5</a:t>
            </a:r>
          </a:p>
        </p:txBody>
      </p:sp>
      <p:sp>
        <p:nvSpPr>
          <p:cNvPr id="8" name="TextBox 7"/>
          <p:cNvSpPr txBox="1"/>
          <p:nvPr/>
        </p:nvSpPr>
        <p:spPr>
          <a:xfrm>
            <a:off x="3468050" y="4251767"/>
            <a:ext cx="419071" cy="461665"/>
          </a:xfrm>
          <a:prstGeom prst="rect">
            <a:avLst/>
          </a:prstGeom>
          <a:noFill/>
          <a:ln>
            <a:solidFill>
              <a:schemeClr val="tx1"/>
            </a:solidFill>
          </a:ln>
        </p:spPr>
        <p:txBody>
          <a:bodyPr wrap="square" rtlCol="0">
            <a:spAutoFit/>
          </a:bodyPr>
          <a:lstStyle/>
          <a:p>
            <a:pPr algn="ctr"/>
            <a:r>
              <a:rPr lang="en-US" sz="2400" dirty="0"/>
              <a:t>8</a:t>
            </a:r>
          </a:p>
        </p:txBody>
      </p:sp>
      <p:sp>
        <p:nvSpPr>
          <p:cNvPr id="9" name="TextBox 8"/>
          <p:cNvSpPr txBox="1"/>
          <p:nvPr/>
        </p:nvSpPr>
        <p:spPr>
          <a:xfrm>
            <a:off x="2642284" y="4251767"/>
            <a:ext cx="825766" cy="461665"/>
          </a:xfrm>
          <a:prstGeom prst="rect">
            <a:avLst/>
          </a:prstGeom>
          <a:solidFill>
            <a:schemeClr val="bg2">
              <a:lumMod val="85000"/>
            </a:schemeClr>
          </a:solidFill>
          <a:ln>
            <a:solidFill>
              <a:schemeClr val="tx1"/>
            </a:solidFill>
          </a:ln>
        </p:spPr>
        <p:txBody>
          <a:bodyPr wrap="square" rtlCol="0">
            <a:spAutoFit/>
          </a:bodyPr>
          <a:lstStyle/>
          <a:p>
            <a:pPr algn="ctr"/>
            <a:r>
              <a:rPr lang="en-US" sz="2400" dirty="0">
                <a:solidFill>
                  <a:srgbClr val="FF0000"/>
                </a:solidFill>
              </a:rPr>
              <a:t>11</a:t>
            </a:r>
          </a:p>
        </p:txBody>
      </p:sp>
      <p:sp>
        <p:nvSpPr>
          <p:cNvPr id="10" name="TextBox 9"/>
          <p:cNvSpPr txBox="1"/>
          <p:nvPr/>
        </p:nvSpPr>
        <p:spPr>
          <a:xfrm>
            <a:off x="3887121" y="4251767"/>
            <a:ext cx="1940899" cy="461665"/>
          </a:xfrm>
          <a:prstGeom prst="rect">
            <a:avLst/>
          </a:prstGeom>
          <a:solidFill>
            <a:schemeClr val="bg2">
              <a:lumMod val="85000"/>
            </a:schemeClr>
          </a:solidFill>
          <a:ln>
            <a:solidFill>
              <a:schemeClr val="tx1"/>
            </a:solidFill>
          </a:ln>
        </p:spPr>
        <p:txBody>
          <a:bodyPr wrap="square" rtlCol="0">
            <a:spAutoFit/>
          </a:bodyPr>
          <a:lstStyle/>
          <a:p>
            <a:pPr algn="ctr"/>
            <a:r>
              <a:rPr lang="en-US" sz="2400" dirty="0">
                <a:solidFill>
                  <a:srgbClr val="FF0000"/>
                </a:solidFill>
              </a:rPr>
              <a:t>20</a:t>
            </a:r>
          </a:p>
        </p:txBody>
      </p:sp>
      <p:sp>
        <p:nvSpPr>
          <p:cNvPr id="11" name="TextBox 10"/>
          <p:cNvSpPr txBox="1"/>
          <p:nvPr/>
        </p:nvSpPr>
        <p:spPr>
          <a:xfrm>
            <a:off x="5828020" y="4251767"/>
            <a:ext cx="336952" cy="461665"/>
          </a:xfrm>
          <a:prstGeom prst="rect">
            <a:avLst/>
          </a:prstGeom>
          <a:noFill/>
          <a:ln>
            <a:solidFill>
              <a:schemeClr val="tx1"/>
            </a:solidFill>
          </a:ln>
        </p:spPr>
        <p:txBody>
          <a:bodyPr wrap="none" rtlCol="0">
            <a:spAutoFit/>
          </a:bodyPr>
          <a:lstStyle/>
          <a:p>
            <a:r>
              <a:rPr lang="en-US" sz="2400" dirty="0"/>
              <a:t>4</a:t>
            </a:r>
          </a:p>
        </p:txBody>
      </p:sp>
      <p:sp>
        <p:nvSpPr>
          <p:cNvPr id="12" name="TextBox 11"/>
          <p:cNvSpPr txBox="1"/>
          <p:nvPr/>
        </p:nvSpPr>
        <p:spPr>
          <a:xfrm>
            <a:off x="6164972" y="4251766"/>
            <a:ext cx="336952" cy="461665"/>
          </a:xfrm>
          <a:prstGeom prst="rect">
            <a:avLst/>
          </a:prstGeom>
          <a:noFill/>
          <a:ln>
            <a:solidFill>
              <a:schemeClr val="tx1"/>
            </a:solidFill>
          </a:ln>
        </p:spPr>
        <p:txBody>
          <a:bodyPr wrap="none" rtlCol="0">
            <a:spAutoFit/>
          </a:bodyPr>
          <a:lstStyle/>
          <a:p>
            <a:r>
              <a:rPr lang="en-US" sz="2400" dirty="0"/>
              <a:t>3</a:t>
            </a:r>
          </a:p>
        </p:txBody>
      </p:sp>
      <p:sp>
        <p:nvSpPr>
          <p:cNvPr id="13" name="TextBox 12"/>
          <p:cNvSpPr txBox="1"/>
          <p:nvPr/>
        </p:nvSpPr>
        <p:spPr>
          <a:xfrm>
            <a:off x="943444" y="5170241"/>
            <a:ext cx="955711" cy="400110"/>
          </a:xfrm>
          <a:prstGeom prst="rect">
            <a:avLst/>
          </a:prstGeom>
          <a:noFill/>
        </p:spPr>
        <p:txBody>
          <a:bodyPr wrap="none" rtlCol="0">
            <a:spAutoFit/>
          </a:bodyPr>
          <a:lstStyle/>
          <a:p>
            <a:r>
              <a:rPr lang="en-US" sz="2000" dirty="0"/>
              <a:t>First Fit</a:t>
            </a:r>
          </a:p>
        </p:txBody>
      </p:sp>
      <p:cxnSp>
        <p:nvCxnSpPr>
          <p:cNvPr id="15" name="Straight Arrow Connector 14"/>
          <p:cNvCxnSpPr>
            <a:stCxn id="13" idx="0"/>
          </p:cNvCxnSpPr>
          <p:nvPr/>
        </p:nvCxnSpPr>
        <p:spPr>
          <a:xfrm flipV="1">
            <a:off x="1421300" y="4710396"/>
            <a:ext cx="0" cy="45984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16211" y="3249616"/>
            <a:ext cx="2173993" cy="646331"/>
          </a:xfrm>
          <a:prstGeom prst="rect">
            <a:avLst/>
          </a:prstGeom>
          <a:noFill/>
        </p:spPr>
        <p:txBody>
          <a:bodyPr wrap="none" rtlCol="0">
            <a:spAutoFit/>
          </a:bodyPr>
          <a:lstStyle/>
          <a:p>
            <a:r>
              <a:rPr lang="en-US" dirty="0">
                <a:solidFill>
                  <a:schemeClr val="accent6"/>
                </a:solidFill>
              </a:rPr>
              <a:t>Search entire memory</a:t>
            </a:r>
          </a:p>
          <a:p>
            <a:r>
              <a:rPr lang="en-US" dirty="0">
                <a:solidFill>
                  <a:schemeClr val="accent6"/>
                </a:solidFill>
              </a:rPr>
              <a:t>Find smallest hole</a:t>
            </a:r>
          </a:p>
        </p:txBody>
      </p:sp>
      <p:sp>
        <p:nvSpPr>
          <p:cNvPr id="23" name="TextBox 22"/>
          <p:cNvSpPr txBox="1"/>
          <p:nvPr/>
        </p:nvSpPr>
        <p:spPr>
          <a:xfrm>
            <a:off x="5446719" y="3201201"/>
            <a:ext cx="336952" cy="461665"/>
          </a:xfrm>
          <a:prstGeom prst="rect">
            <a:avLst/>
          </a:prstGeom>
          <a:noFill/>
          <a:ln>
            <a:solidFill>
              <a:schemeClr val="tx1"/>
            </a:solidFill>
          </a:ln>
        </p:spPr>
        <p:txBody>
          <a:bodyPr wrap="none" rtlCol="0">
            <a:spAutoFit/>
          </a:bodyPr>
          <a:lstStyle/>
          <a:p>
            <a:r>
              <a:rPr lang="en-US" sz="2400" dirty="0"/>
              <a:t>5</a:t>
            </a:r>
          </a:p>
        </p:txBody>
      </p:sp>
      <p:sp>
        <p:nvSpPr>
          <p:cNvPr id="24" name="TextBox 23"/>
          <p:cNvSpPr txBox="1"/>
          <p:nvPr/>
        </p:nvSpPr>
        <p:spPr>
          <a:xfrm>
            <a:off x="5783671" y="3201201"/>
            <a:ext cx="469586" cy="461665"/>
          </a:xfrm>
          <a:prstGeom prst="rect">
            <a:avLst/>
          </a:prstGeom>
          <a:noFill/>
          <a:ln>
            <a:solidFill>
              <a:schemeClr val="tx1"/>
            </a:solidFill>
          </a:ln>
        </p:spPr>
        <p:txBody>
          <a:bodyPr wrap="square" rtlCol="0">
            <a:spAutoFit/>
          </a:bodyPr>
          <a:lstStyle/>
          <a:p>
            <a:pPr algn="ctr"/>
            <a:r>
              <a:rPr lang="en-US" sz="2400" dirty="0"/>
              <a:t>7</a:t>
            </a:r>
          </a:p>
        </p:txBody>
      </p:sp>
      <p:sp>
        <p:nvSpPr>
          <p:cNvPr id="25" name="TextBox 24"/>
          <p:cNvSpPr txBox="1"/>
          <p:nvPr/>
        </p:nvSpPr>
        <p:spPr>
          <a:xfrm>
            <a:off x="6253257" y="3201201"/>
            <a:ext cx="1379095" cy="461665"/>
          </a:xfrm>
          <a:prstGeom prst="rect">
            <a:avLst/>
          </a:prstGeom>
          <a:solidFill>
            <a:schemeClr val="bg2">
              <a:lumMod val="85000"/>
            </a:schemeClr>
          </a:solidFill>
          <a:ln>
            <a:solidFill>
              <a:schemeClr val="tx1"/>
            </a:solidFill>
          </a:ln>
        </p:spPr>
        <p:txBody>
          <a:bodyPr wrap="square" rtlCol="0">
            <a:spAutoFit/>
          </a:bodyPr>
          <a:lstStyle/>
          <a:p>
            <a:pPr algn="ctr"/>
            <a:r>
              <a:rPr lang="en-US" sz="2400" dirty="0">
                <a:solidFill>
                  <a:srgbClr val="FF0000"/>
                </a:solidFill>
              </a:rPr>
              <a:t>15</a:t>
            </a:r>
          </a:p>
        </p:txBody>
      </p:sp>
      <p:sp>
        <p:nvSpPr>
          <p:cNvPr id="26" name="TextBox 25"/>
          <p:cNvSpPr txBox="1"/>
          <p:nvPr/>
        </p:nvSpPr>
        <p:spPr>
          <a:xfrm>
            <a:off x="7632352" y="3198167"/>
            <a:ext cx="336952" cy="461665"/>
          </a:xfrm>
          <a:prstGeom prst="rect">
            <a:avLst/>
          </a:prstGeom>
          <a:noFill/>
          <a:ln>
            <a:solidFill>
              <a:schemeClr val="tx1"/>
            </a:solidFill>
          </a:ln>
        </p:spPr>
        <p:txBody>
          <a:bodyPr wrap="none" rtlCol="0">
            <a:spAutoFit/>
          </a:bodyPr>
          <a:lstStyle/>
          <a:p>
            <a:r>
              <a:rPr lang="en-US" sz="2400" dirty="0"/>
              <a:t>5</a:t>
            </a:r>
          </a:p>
        </p:txBody>
      </p:sp>
      <p:sp>
        <p:nvSpPr>
          <p:cNvPr id="27" name="TextBox 26"/>
          <p:cNvSpPr txBox="1"/>
          <p:nvPr/>
        </p:nvSpPr>
        <p:spPr>
          <a:xfrm>
            <a:off x="8795070" y="3198167"/>
            <a:ext cx="419071" cy="461665"/>
          </a:xfrm>
          <a:prstGeom prst="rect">
            <a:avLst/>
          </a:prstGeom>
          <a:noFill/>
          <a:ln>
            <a:solidFill>
              <a:schemeClr val="tx1"/>
            </a:solidFill>
          </a:ln>
        </p:spPr>
        <p:txBody>
          <a:bodyPr wrap="square" rtlCol="0">
            <a:spAutoFit/>
          </a:bodyPr>
          <a:lstStyle/>
          <a:p>
            <a:pPr algn="ctr"/>
            <a:r>
              <a:rPr lang="en-US" sz="2400" dirty="0"/>
              <a:t>8</a:t>
            </a:r>
          </a:p>
        </p:txBody>
      </p:sp>
      <p:sp>
        <p:nvSpPr>
          <p:cNvPr id="28" name="TextBox 27"/>
          <p:cNvSpPr txBox="1"/>
          <p:nvPr/>
        </p:nvSpPr>
        <p:spPr>
          <a:xfrm>
            <a:off x="7969304" y="3198167"/>
            <a:ext cx="825766" cy="461665"/>
          </a:xfrm>
          <a:prstGeom prst="rect">
            <a:avLst/>
          </a:prstGeom>
          <a:solidFill>
            <a:schemeClr val="bg2">
              <a:lumMod val="85000"/>
            </a:schemeClr>
          </a:solidFill>
          <a:ln>
            <a:solidFill>
              <a:schemeClr val="tx1"/>
            </a:solidFill>
          </a:ln>
        </p:spPr>
        <p:txBody>
          <a:bodyPr wrap="square" rtlCol="0">
            <a:spAutoFit/>
          </a:bodyPr>
          <a:lstStyle/>
          <a:p>
            <a:pPr algn="ctr"/>
            <a:r>
              <a:rPr lang="en-US" sz="2400" dirty="0">
                <a:solidFill>
                  <a:srgbClr val="FF0000"/>
                </a:solidFill>
              </a:rPr>
              <a:t>11</a:t>
            </a:r>
          </a:p>
        </p:txBody>
      </p:sp>
      <p:sp>
        <p:nvSpPr>
          <p:cNvPr id="29" name="TextBox 28"/>
          <p:cNvSpPr txBox="1"/>
          <p:nvPr/>
        </p:nvSpPr>
        <p:spPr>
          <a:xfrm>
            <a:off x="9214141" y="3198167"/>
            <a:ext cx="1940899" cy="461665"/>
          </a:xfrm>
          <a:prstGeom prst="rect">
            <a:avLst/>
          </a:prstGeom>
          <a:solidFill>
            <a:schemeClr val="bg2">
              <a:lumMod val="85000"/>
            </a:schemeClr>
          </a:solidFill>
          <a:ln>
            <a:solidFill>
              <a:schemeClr val="tx1"/>
            </a:solidFill>
          </a:ln>
        </p:spPr>
        <p:txBody>
          <a:bodyPr wrap="square" rtlCol="0">
            <a:spAutoFit/>
          </a:bodyPr>
          <a:lstStyle/>
          <a:p>
            <a:pPr algn="ctr"/>
            <a:r>
              <a:rPr lang="en-US" sz="2400" dirty="0">
                <a:solidFill>
                  <a:srgbClr val="FF0000"/>
                </a:solidFill>
              </a:rPr>
              <a:t>20</a:t>
            </a:r>
          </a:p>
        </p:txBody>
      </p:sp>
      <p:sp>
        <p:nvSpPr>
          <p:cNvPr id="30" name="TextBox 29"/>
          <p:cNvSpPr txBox="1"/>
          <p:nvPr/>
        </p:nvSpPr>
        <p:spPr>
          <a:xfrm>
            <a:off x="11155040" y="3198167"/>
            <a:ext cx="336952" cy="461665"/>
          </a:xfrm>
          <a:prstGeom prst="rect">
            <a:avLst/>
          </a:prstGeom>
          <a:noFill/>
          <a:ln>
            <a:solidFill>
              <a:schemeClr val="tx1"/>
            </a:solidFill>
          </a:ln>
        </p:spPr>
        <p:txBody>
          <a:bodyPr wrap="none" rtlCol="0">
            <a:spAutoFit/>
          </a:bodyPr>
          <a:lstStyle/>
          <a:p>
            <a:r>
              <a:rPr lang="en-US" sz="2400" dirty="0"/>
              <a:t>4</a:t>
            </a:r>
          </a:p>
        </p:txBody>
      </p:sp>
      <p:sp>
        <p:nvSpPr>
          <p:cNvPr id="31" name="TextBox 30"/>
          <p:cNvSpPr txBox="1"/>
          <p:nvPr/>
        </p:nvSpPr>
        <p:spPr>
          <a:xfrm>
            <a:off x="11491992" y="3198166"/>
            <a:ext cx="336952" cy="461665"/>
          </a:xfrm>
          <a:prstGeom prst="rect">
            <a:avLst/>
          </a:prstGeom>
          <a:noFill/>
          <a:ln>
            <a:solidFill>
              <a:schemeClr val="tx1"/>
            </a:solidFill>
          </a:ln>
        </p:spPr>
        <p:txBody>
          <a:bodyPr wrap="none" rtlCol="0">
            <a:spAutoFit/>
          </a:bodyPr>
          <a:lstStyle/>
          <a:p>
            <a:r>
              <a:rPr lang="en-US" sz="2400" dirty="0"/>
              <a:t>3</a:t>
            </a:r>
          </a:p>
        </p:txBody>
      </p:sp>
      <p:sp>
        <p:nvSpPr>
          <p:cNvPr id="36" name="TextBox 35"/>
          <p:cNvSpPr txBox="1"/>
          <p:nvPr/>
        </p:nvSpPr>
        <p:spPr>
          <a:xfrm>
            <a:off x="939604" y="4252747"/>
            <a:ext cx="909508" cy="461665"/>
          </a:xfrm>
          <a:prstGeom prst="rect">
            <a:avLst/>
          </a:prstGeom>
          <a:solidFill>
            <a:schemeClr val="accent5">
              <a:lumMod val="40000"/>
              <a:lumOff val="60000"/>
            </a:schemeClr>
          </a:solidFill>
          <a:ln>
            <a:solidFill>
              <a:schemeClr val="tx1"/>
            </a:solidFill>
          </a:ln>
        </p:spPr>
        <p:txBody>
          <a:bodyPr wrap="square" rtlCol="0">
            <a:spAutoFit/>
          </a:bodyPr>
          <a:lstStyle/>
          <a:p>
            <a:pPr algn="ctr"/>
            <a:r>
              <a:rPr lang="en-US" sz="2400" dirty="0"/>
              <a:t>10</a:t>
            </a:r>
          </a:p>
        </p:txBody>
      </p:sp>
      <p:sp>
        <p:nvSpPr>
          <p:cNvPr id="39" name="TextBox 38"/>
          <p:cNvSpPr txBox="1"/>
          <p:nvPr/>
        </p:nvSpPr>
        <p:spPr>
          <a:xfrm>
            <a:off x="1849113" y="4254801"/>
            <a:ext cx="469586" cy="461665"/>
          </a:xfrm>
          <a:prstGeom prst="rect">
            <a:avLst/>
          </a:prstGeom>
          <a:solidFill>
            <a:schemeClr val="accent1">
              <a:lumMod val="40000"/>
              <a:lumOff val="60000"/>
            </a:schemeClr>
          </a:solidFill>
          <a:ln>
            <a:solidFill>
              <a:schemeClr val="tx1"/>
            </a:solidFill>
          </a:ln>
        </p:spPr>
        <p:txBody>
          <a:bodyPr wrap="square" rtlCol="0">
            <a:spAutoFit/>
          </a:bodyPr>
          <a:lstStyle/>
          <a:p>
            <a:pPr algn="ctr"/>
            <a:r>
              <a:rPr lang="en-US" sz="2400" dirty="0">
                <a:solidFill>
                  <a:srgbClr val="FF0000"/>
                </a:solidFill>
              </a:rPr>
              <a:t>5</a:t>
            </a:r>
          </a:p>
        </p:txBody>
      </p:sp>
      <p:sp>
        <p:nvSpPr>
          <p:cNvPr id="50" name="TextBox 49"/>
          <p:cNvSpPr txBox="1"/>
          <p:nvPr/>
        </p:nvSpPr>
        <p:spPr>
          <a:xfrm>
            <a:off x="1480177" y="3880918"/>
            <a:ext cx="1064715" cy="369332"/>
          </a:xfrm>
          <a:prstGeom prst="rect">
            <a:avLst/>
          </a:prstGeom>
          <a:noFill/>
        </p:spPr>
        <p:txBody>
          <a:bodyPr wrap="none" rtlCol="0">
            <a:spAutoFit/>
          </a:bodyPr>
          <a:lstStyle/>
          <a:p>
            <a:r>
              <a:rPr lang="en-US" dirty="0"/>
              <a:t>5 MB free</a:t>
            </a:r>
          </a:p>
        </p:txBody>
      </p:sp>
      <p:cxnSp>
        <p:nvCxnSpPr>
          <p:cNvPr id="38" name="Straight Arrow Connector 37"/>
          <p:cNvCxnSpPr/>
          <p:nvPr/>
        </p:nvCxnSpPr>
        <p:spPr>
          <a:xfrm flipV="1">
            <a:off x="269394" y="4710396"/>
            <a:ext cx="0" cy="637372"/>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691A0952-5AE2-4495-A5E5-CFB244C66DD3}"/>
              </a:ext>
            </a:extLst>
          </p:cNvPr>
          <p:cNvSpPr txBox="1"/>
          <p:nvPr/>
        </p:nvSpPr>
        <p:spPr>
          <a:xfrm>
            <a:off x="5717451" y="5330351"/>
            <a:ext cx="336952" cy="461665"/>
          </a:xfrm>
          <a:prstGeom prst="rect">
            <a:avLst/>
          </a:prstGeom>
          <a:noFill/>
          <a:ln>
            <a:solidFill>
              <a:schemeClr val="tx1"/>
            </a:solidFill>
          </a:ln>
        </p:spPr>
        <p:txBody>
          <a:bodyPr wrap="none" rtlCol="0">
            <a:spAutoFit/>
          </a:bodyPr>
          <a:lstStyle/>
          <a:p>
            <a:r>
              <a:rPr lang="en-US" sz="2400" dirty="0"/>
              <a:t>5</a:t>
            </a:r>
          </a:p>
        </p:txBody>
      </p:sp>
      <p:sp>
        <p:nvSpPr>
          <p:cNvPr id="43" name="TextBox 42">
            <a:extLst>
              <a:ext uri="{FF2B5EF4-FFF2-40B4-BE49-F238E27FC236}">
                <a16:creationId xmlns:a16="http://schemas.microsoft.com/office/drawing/2014/main" id="{AB28DDCD-B907-40BB-8FA7-B4C754BC9522}"/>
              </a:ext>
            </a:extLst>
          </p:cNvPr>
          <p:cNvSpPr txBox="1"/>
          <p:nvPr/>
        </p:nvSpPr>
        <p:spPr>
          <a:xfrm>
            <a:off x="6054403" y="5330351"/>
            <a:ext cx="469586" cy="461665"/>
          </a:xfrm>
          <a:prstGeom prst="rect">
            <a:avLst/>
          </a:prstGeom>
          <a:noFill/>
          <a:ln>
            <a:solidFill>
              <a:schemeClr val="tx1"/>
            </a:solidFill>
          </a:ln>
        </p:spPr>
        <p:txBody>
          <a:bodyPr wrap="square" rtlCol="0">
            <a:spAutoFit/>
          </a:bodyPr>
          <a:lstStyle/>
          <a:p>
            <a:pPr algn="ctr"/>
            <a:r>
              <a:rPr lang="en-US" sz="2400" dirty="0"/>
              <a:t>7</a:t>
            </a:r>
          </a:p>
        </p:txBody>
      </p:sp>
      <p:sp>
        <p:nvSpPr>
          <p:cNvPr id="44" name="TextBox 43">
            <a:extLst>
              <a:ext uri="{FF2B5EF4-FFF2-40B4-BE49-F238E27FC236}">
                <a16:creationId xmlns:a16="http://schemas.microsoft.com/office/drawing/2014/main" id="{E5C266C5-8188-4117-B0AE-D45E41005C9F}"/>
              </a:ext>
            </a:extLst>
          </p:cNvPr>
          <p:cNvSpPr txBox="1"/>
          <p:nvPr/>
        </p:nvSpPr>
        <p:spPr>
          <a:xfrm>
            <a:off x="7903084" y="5327317"/>
            <a:ext cx="336952" cy="461665"/>
          </a:xfrm>
          <a:prstGeom prst="rect">
            <a:avLst/>
          </a:prstGeom>
          <a:noFill/>
          <a:ln>
            <a:solidFill>
              <a:schemeClr val="tx1"/>
            </a:solidFill>
          </a:ln>
        </p:spPr>
        <p:txBody>
          <a:bodyPr wrap="none" rtlCol="0">
            <a:spAutoFit/>
          </a:bodyPr>
          <a:lstStyle/>
          <a:p>
            <a:r>
              <a:rPr lang="en-US" sz="2400" dirty="0"/>
              <a:t>5</a:t>
            </a:r>
          </a:p>
        </p:txBody>
      </p:sp>
      <p:sp>
        <p:nvSpPr>
          <p:cNvPr id="45" name="TextBox 44">
            <a:extLst>
              <a:ext uri="{FF2B5EF4-FFF2-40B4-BE49-F238E27FC236}">
                <a16:creationId xmlns:a16="http://schemas.microsoft.com/office/drawing/2014/main" id="{6DF8DAAB-D11F-4EA9-A8B8-5B606AC5DBC5}"/>
              </a:ext>
            </a:extLst>
          </p:cNvPr>
          <p:cNvSpPr txBox="1"/>
          <p:nvPr/>
        </p:nvSpPr>
        <p:spPr>
          <a:xfrm>
            <a:off x="9065802" y="5327317"/>
            <a:ext cx="419071" cy="461665"/>
          </a:xfrm>
          <a:prstGeom prst="rect">
            <a:avLst/>
          </a:prstGeom>
          <a:noFill/>
          <a:ln>
            <a:solidFill>
              <a:schemeClr val="tx1"/>
            </a:solidFill>
          </a:ln>
        </p:spPr>
        <p:txBody>
          <a:bodyPr wrap="square" rtlCol="0">
            <a:spAutoFit/>
          </a:bodyPr>
          <a:lstStyle/>
          <a:p>
            <a:pPr algn="ctr"/>
            <a:r>
              <a:rPr lang="en-US" sz="2400" dirty="0"/>
              <a:t>8</a:t>
            </a:r>
          </a:p>
        </p:txBody>
      </p:sp>
      <p:sp>
        <p:nvSpPr>
          <p:cNvPr id="46" name="TextBox 45">
            <a:extLst>
              <a:ext uri="{FF2B5EF4-FFF2-40B4-BE49-F238E27FC236}">
                <a16:creationId xmlns:a16="http://schemas.microsoft.com/office/drawing/2014/main" id="{4DF28776-1018-486E-895B-2A6A6D772385}"/>
              </a:ext>
            </a:extLst>
          </p:cNvPr>
          <p:cNvSpPr txBox="1"/>
          <p:nvPr/>
        </p:nvSpPr>
        <p:spPr>
          <a:xfrm>
            <a:off x="8240036" y="5327317"/>
            <a:ext cx="825766" cy="461665"/>
          </a:xfrm>
          <a:prstGeom prst="rect">
            <a:avLst/>
          </a:prstGeom>
          <a:solidFill>
            <a:schemeClr val="bg2">
              <a:lumMod val="85000"/>
            </a:schemeClr>
          </a:solidFill>
          <a:ln>
            <a:solidFill>
              <a:schemeClr val="tx1"/>
            </a:solidFill>
          </a:ln>
        </p:spPr>
        <p:txBody>
          <a:bodyPr wrap="square" rtlCol="0">
            <a:spAutoFit/>
          </a:bodyPr>
          <a:lstStyle/>
          <a:p>
            <a:pPr algn="ctr"/>
            <a:r>
              <a:rPr lang="en-US" sz="2400" dirty="0">
                <a:solidFill>
                  <a:srgbClr val="FF0000"/>
                </a:solidFill>
              </a:rPr>
              <a:t>11</a:t>
            </a:r>
          </a:p>
        </p:txBody>
      </p:sp>
      <p:sp>
        <p:nvSpPr>
          <p:cNvPr id="47" name="TextBox 46">
            <a:extLst>
              <a:ext uri="{FF2B5EF4-FFF2-40B4-BE49-F238E27FC236}">
                <a16:creationId xmlns:a16="http://schemas.microsoft.com/office/drawing/2014/main" id="{DD34C7B1-5739-47BD-B694-069F8F0F6E97}"/>
              </a:ext>
            </a:extLst>
          </p:cNvPr>
          <p:cNvSpPr txBox="1"/>
          <p:nvPr/>
        </p:nvSpPr>
        <p:spPr>
          <a:xfrm>
            <a:off x="9484873" y="5327317"/>
            <a:ext cx="1940899" cy="461665"/>
          </a:xfrm>
          <a:prstGeom prst="rect">
            <a:avLst/>
          </a:prstGeom>
          <a:solidFill>
            <a:schemeClr val="bg2">
              <a:lumMod val="85000"/>
            </a:schemeClr>
          </a:solidFill>
          <a:ln>
            <a:solidFill>
              <a:schemeClr val="tx1"/>
            </a:solidFill>
          </a:ln>
        </p:spPr>
        <p:txBody>
          <a:bodyPr wrap="square" rtlCol="0">
            <a:spAutoFit/>
          </a:bodyPr>
          <a:lstStyle/>
          <a:p>
            <a:pPr algn="ctr"/>
            <a:r>
              <a:rPr lang="en-US" sz="2400" dirty="0">
                <a:solidFill>
                  <a:srgbClr val="FF0000"/>
                </a:solidFill>
              </a:rPr>
              <a:t>20</a:t>
            </a:r>
          </a:p>
        </p:txBody>
      </p:sp>
      <p:sp>
        <p:nvSpPr>
          <p:cNvPr id="48" name="TextBox 47">
            <a:extLst>
              <a:ext uri="{FF2B5EF4-FFF2-40B4-BE49-F238E27FC236}">
                <a16:creationId xmlns:a16="http://schemas.microsoft.com/office/drawing/2014/main" id="{86454A25-7CD0-403C-B0E5-C530F3FA4C5D}"/>
              </a:ext>
            </a:extLst>
          </p:cNvPr>
          <p:cNvSpPr txBox="1"/>
          <p:nvPr/>
        </p:nvSpPr>
        <p:spPr>
          <a:xfrm>
            <a:off x="11425772" y="5327317"/>
            <a:ext cx="336952" cy="461665"/>
          </a:xfrm>
          <a:prstGeom prst="rect">
            <a:avLst/>
          </a:prstGeom>
          <a:noFill/>
          <a:ln>
            <a:solidFill>
              <a:schemeClr val="tx1"/>
            </a:solidFill>
          </a:ln>
        </p:spPr>
        <p:txBody>
          <a:bodyPr wrap="none" rtlCol="0">
            <a:spAutoFit/>
          </a:bodyPr>
          <a:lstStyle/>
          <a:p>
            <a:r>
              <a:rPr lang="en-US" sz="2400" dirty="0"/>
              <a:t>4</a:t>
            </a:r>
          </a:p>
        </p:txBody>
      </p:sp>
      <p:sp>
        <p:nvSpPr>
          <p:cNvPr id="49" name="TextBox 48">
            <a:extLst>
              <a:ext uri="{FF2B5EF4-FFF2-40B4-BE49-F238E27FC236}">
                <a16:creationId xmlns:a16="http://schemas.microsoft.com/office/drawing/2014/main" id="{01300A86-6571-4BD1-9904-4D4D4C264845}"/>
              </a:ext>
            </a:extLst>
          </p:cNvPr>
          <p:cNvSpPr txBox="1"/>
          <p:nvPr/>
        </p:nvSpPr>
        <p:spPr>
          <a:xfrm>
            <a:off x="11762724" y="5327316"/>
            <a:ext cx="336952" cy="461665"/>
          </a:xfrm>
          <a:prstGeom prst="rect">
            <a:avLst/>
          </a:prstGeom>
          <a:noFill/>
          <a:ln>
            <a:solidFill>
              <a:schemeClr val="tx1"/>
            </a:solidFill>
          </a:ln>
        </p:spPr>
        <p:txBody>
          <a:bodyPr wrap="none" rtlCol="0">
            <a:spAutoFit/>
          </a:bodyPr>
          <a:lstStyle/>
          <a:p>
            <a:r>
              <a:rPr lang="en-US" sz="2400" dirty="0"/>
              <a:t>3</a:t>
            </a:r>
          </a:p>
        </p:txBody>
      </p:sp>
      <p:sp>
        <p:nvSpPr>
          <p:cNvPr id="51" name="TextBox 50">
            <a:extLst>
              <a:ext uri="{FF2B5EF4-FFF2-40B4-BE49-F238E27FC236}">
                <a16:creationId xmlns:a16="http://schemas.microsoft.com/office/drawing/2014/main" id="{0678C1DA-B6E3-4401-A9B2-654D798B045F}"/>
              </a:ext>
            </a:extLst>
          </p:cNvPr>
          <p:cNvSpPr txBox="1"/>
          <p:nvPr/>
        </p:nvSpPr>
        <p:spPr>
          <a:xfrm>
            <a:off x="6541196" y="6245791"/>
            <a:ext cx="955711" cy="400110"/>
          </a:xfrm>
          <a:prstGeom prst="rect">
            <a:avLst/>
          </a:prstGeom>
          <a:noFill/>
        </p:spPr>
        <p:txBody>
          <a:bodyPr wrap="none" rtlCol="0">
            <a:spAutoFit/>
          </a:bodyPr>
          <a:lstStyle/>
          <a:p>
            <a:r>
              <a:rPr lang="en-US" sz="2000" dirty="0"/>
              <a:t>First Fit</a:t>
            </a:r>
          </a:p>
        </p:txBody>
      </p:sp>
      <p:cxnSp>
        <p:nvCxnSpPr>
          <p:cNvPr id="52" name="Straight Arrow Connector 51">
            <a:extLst>
              <a:ext uri="{FF2B5EF4-FFF2-40B4-BE49-F238E27FC236}">
                <a16:creationId xmlns:a16="http://schemas.microsoft.com/office/drawing/2014/main" id="{7408FB11-F400-4397-B250-F1934F6D8E80}"/>
              </a:ext>
            </a:extLst>
          </p:cNvPr>
          <p:cNvCxnSpPr>
            <a:stCxn id="51" idx="0"/>
          </p:cNvCxnSpPr>
          <p:nvPr/>
        </p:nvCxnSpPr>
        <p:spPr>
          <a:xfrm flipV="1">
            <a:off x="7019052" y="5785946"/>
            <a:ext cx="0" cy="45984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8BE4643D-64D0-48B6-B503-F05F94C6A1ED}"/>
              </a:ext>
            </a:extLst>
          </p:cNvPr>
          <p:cNvSpPr txBox="1"/>
          <p:nvPr/>
        </p:nvSpPr>
        <p:spPr>
          <a:xfrm>
            <a:off x="6537356" y="5328297"/>
            <a:ext cx="909508" cy="461665"/>
          </a:xfrm>
          <a:prstGeom prst="rect">
            <a:avLst/>
          </a:prstGeom>
          <a:solidFill>
            <a:schemeClr val="accent5">
              <a:lumMod val="40000"/>
              <a:lumOff val="60000"/>
            </a:schemeClr>
          </a:solidFill>
          <a:ln>
            <a:solidFill>
              <a:schemeClr val="tx1"/>
            </a:solidFill>
          </a:ln>
        </p:spPr>
        <p:txBody>
          <a:bodyPr wrap="square" rtlCol="0">
            <a:spAutoFit/>
          </a:bodyPr>
          <a:lstStyle/>
          <a:p>
            <a:pPr algn="ctr"/>
            <a:r>
              <a:rPr lang="en-US" sz="2400" dirty="0"/>
              <a:t>10</a:t>
            </a:r>
          </a:p>
        </p:txBody>
      </p:sp>
      <p:sp>
        <p:nvSpPr>
          <p:cNvPr id="54" name="TextBox 53">
            <a:extLst>
              <a:ext uri="{FF2B5EF4-FFF2-40B4-BE49-F238E27FC236}">
                <a16:creationId xmlns:a16="http://schemas.microsoft.com/office/drawing/2014/main" id="{23663230-7EFC-45DC-AE56-D06D873BDDF8}"/>
              </a:ext>
            </a:extLst>
          </p:cNvPr>
          <p:cNvSpPr txBox="1"/>
          <p:nvPr/>
        </p:nvSpPr>
        <p:spPr>
          <a:xfrm>
            <a:off x="7446865" y="5330351"/>
            <a:ext cx="469586" cy="461665"/>
          </a:xfrm>
          <a:prstGeom prst="rect">
            <a:avLst/>
          </a:prstGeom>
          <a:solidFill>
            <a:schemeClr val="accent1">
              <a:lumMod val="40000"/>
              <a:lumOff val="60000"/>
            </a:schemeClr>
          </a:solidFill>
          <a:ln>
            <a:solidFill>
              <a:schemeClr val="tx1"/>
            </a:solidFill>
          </a:ln>
        </p:spPr>
        <p:txBody>
          <a:bodyPr wrap="square" rtlCol="0">
            <a:spAutoFit/>
          </a:bodyPr>
          <a:lstStyle/>
          <a:p>
            <a:pPr algn="ctr"/>
            <a:r>
              <a:rPr lang="en-US" sz="2400" dirty="0">
                <a:solidFill>
                  <a:srgbClr val="FF0000"/>
                </a:solidFill>
              </a:rPr>
              <a:t>5</a:t>
            </a:r>
          </a:p>
        </p:txBody>
      </p:sp>
      <p:sp>
        <p:nvSpPr>
          <p:cNvPr id="55" name="TextBox 54">
            <a:extLst>
              <a:ext uri="{FF2B5EF4-FFF2-40B4-BE49-F238E27FC236}">
                <a16:creationId xmlns:a16="http://schemas.microsoft.com/office/drawing/2014/main" id="{80DA8810-F1FE-495A-89A5-8BEEA254D3C9}"/>
              </a:ext>
            </a:extLst>
          </p:cNvPr>
          <p:cNvSpPr txBox="1"/>
          <p:nvPr/>
        </p:nvSpPr>
        <p:spPr>
          <a:xfrm>
            <a:off x="7077929" y="4956468"/>
            <a:ext cx="1064715" cy="369332"/>
          </a:xfrm>
          <a:prstGeom prst="rect">
            <a:avLst/>
          </a:prstGeom>
          <a:noFill/>
        </p:spPr>
        <p:txBody>
          <a:bodyPr wrap="none" rtlCol="0">
            <a:spAutoFit/>
          </a:bodyPr>
          <a:lstStyle/>
          <a:p>
            <a:r>
              <a:rPr lang="en-US" dirty="0"/>
              <a:t>5 MB free</a:t>
            </a:r>
          </a:p>
        </p:txBody>
      </p:sp>
      <p:sp>
        <p:nvSpPr>
          <p:cNvPr id="56" name="TextBox 55">
            <a:extLst>
              <a:ext uri="{FF2B5EF4-FFF2-40B4-BE49-F238E27FC236}">
                <a16:creationId xmlns:a16="http://schemas.microsoft.com/office/drawing/2014/main" id="{A6FFF567-9B36-474F-881B-CFC02BD0ED46}"/>
              </a:ext>
            </a:extLst>
          </p:cNvPr>
          <p:cNvSpPr txBox="1"/>
          <p:nvPr/>
        </p:nvSpPr>
        <p:spPr>
          <a:xfrm>
            <a:off x="8240036" y="5321247"/>
            <a:ext cx="511289" cy="461665"/>
          </a:xfrm>
          <a:prstGeom prst="rect">
            <a:avLst/>
          </a:prstGeom>
          <a:solidFill>
            <a:schemeClr val="tx2">
              <a:lumMod val="40000"/>
              <a:lumOff val="60000"/>
            </a:schemeClr>
          </a:solidFill>
          <a:ln>
            <a:solidFill>
              <a:schemeClr val="tx1"/>
            </a:solidFill>
          </a:ln>
        </p:spPr>
        <p:txBody>
          <a:bodyPr wrap="square" rtlCol="0">
            <a:spAutoFit/>
          </a:bodyPr>
          <a:lstStyle/>
          <a:p>
            <a:pPr algn="ctr"/>
            <a:r>
              <a:rPr lang="en-US" sz="2400" dirty="0"/>
              <a:t>10</a:t>
            </a:r>
          </a:p>
        </p:txBody>
      </p:sp>
      <p:sp>
        <p:nvSpPr>
          <p:cNvPr id="57" name="TextBox 56">
            <a:extLst>
              <a:ext uri="{FF2B5EF4-FFF2-40B4-BE49-F238E27FC236}">
                <a16:creationId xmlns:a16="http://schemas.microsoft.com/office/drawing/2014/main" id="{7F46B802-5ADF-4836-B3FA-87C1A97A0288}"/>
              </a:ext>
            </a:extLst>
          </p:cNvPr>
          <p:cNvSpPr txBox="1"/>
          <p:nvPr/>
        </p:nvSpPr>
        <p:spPr>
          <a:xfrm>
            <a:off x="8752450" y="5327314"/>
            <a:ext cx="312741" cy="461665"/>
          </a:xfrm>
          <a:prstGeom prst="rect">
            <a:avLst/>
          </a:prstGeom>
          <a:solidFill>
            <a:schemeClr val="bg2">
              <a:lumMod val="85000"/>
            </a:schemeClr>
          </a:solidFill>
          <a:ln>
            <a:solidFill>
              <a:schemeClr val="tx1"/>
            </a:solidFill>
          </a:ln>
        </p:spPr>
        <p:txBody>
          <a:bodyPr wrap="square" rtlCol="0">
            <a:spAutoFit/>
          </a:bodyPr>
          <a:lstStyle/>
          <a:p>
            <a:pPr algn="ctr"/>
            <a:r>
              <a:rPr lang="en-US" sz="2400" dirty="0">
                <a:solidFill>
                  <a:srgbClr val="FF0000"/>
                </a:solidFill>
              </a:rPr>
              <a:t>1</a:t>
            </a:r>
          </a:p>
        </p:txBody>
      </p:sp>
      <p:sp>
        <p:nvSpPr>
          <p:cNvPr id="58" name="TextBox 57">
            <a:extLst>
              <a:ext uri="{FF2B5EF4-FFF2-40B4-BE49-F238E27FC236}">
                <a16:creationId xmlns:a16="http://schemas.microsoft.com/office/drawing/2014/main" id="{AD7EBE94-5F85-46FE-B157-1EF2965D5439}"/>
              </a:ext>
            </a:extLst>
          </p:cNvPr>
          <p:cNvSpPr txBox="1"/>
          <p:nvPr/>
        </p:nvSpPr>
        <p:spPr>
          <a:xfrm>
            <a:off x="7915977" y="4562948"/>
            <a:ext cx="954107" cy="400110"/>
          </a:xfrm>
          <a:prstGeom prst="rect">
            <a:avLst/>
          </a:prstGeom>
          <a:noFill/>
        </p:spPr>
        <p:txBody>
          <a:bodyPr wrap="none" rtlCol="0">
            <a:spAutoFit/>
          </a:bodyPr>
          <a:lstStyle/>
          <a:p>
            <a:r>
              <a:rPr lang="en-US" sz="2000" dirty="0"/>
              <a:t>Best Fit</a:t>
            </a:r>
          </a:p>
        </p:txBody>
      </p:sp>
      <p:cxnSp>
        <p:nvCxnSpPr>
          <p:cNvPr id="59" name="Straight Arrow Connector 58">
            <a:extLst>
              <a:ext uri="{FF2B5EF4-FFF2-40B4-BE49-F238E27FC236}">
                <a16:creationId xmlns:a16="http://schemas.microsoft.com/office/drawing/2014/main" id="{8D60B74A-6480-4340-9DCF-94A3206125E6}"/>
              </a:ext>
            </a:extLst>
          </p:cNvPr>
          <p:cNvCxnSpPr>
            <a:cxnSpLocks/>
            <a:endCxn id="56" idx="0"/>
          </p:cNvCxnSpPr>
          <p:nvPr/>
        </p:nvCxnSpPr>
        <p:spPr>
          <a:xfrm>
            <a:off x="8488466" y="4928680"/>
            <a:ext cx="7215" cy="39256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0A6ED601-D877-454C-800F-5B5E9768998F}"/>
              </a:ext>
            </a:extLst>
          </p:cNvPr>
          <p:cNvSpPr txBox="1"/>
          <p:nvPr/>
        </p:nvSpPr>
        <p:spPr>
          <a:xfrm>
            <a:off x="8670284" y="4954994"/>
            <a:ext cx="1064715" cy="369332"/>
          </a:xfrm>
          <a:prstGeom prst="rect">
            <a:avLst/>
          </a:prstGeom>
          <a:noFill/>
        </p:spPr>
        <p:txBody>
          <a:bodyPr wrap="none" rtlCol="0">
            <a:spAutoFit/>
          </a:bodyPr>
          <a:lstStyle/>
          <a:p>
            <a:r>
              <a:rPr lang="en-US" dirty="0"/>
              <a:t>1 MB free</a:t>
            </a:r>
          </a:p>
        </p:txBody>
      </p:sp>
      <p:cxnSp>
        <p:nvCxnSpPr>
          <p:cNvPr id="62" name="Straight Arrow Connector 61">
            <a:extLst>
              <a:ext uri="{FF2B5EF4-FFF2-40B4-BE49-F238E27FC236}">
                <a16:creationId xmlns:a16="http://schemas.microsoft.com/office/drawing/2014/main" id="{2DF50733-C523-4A84-97BA-09FA21EC1E74}"/>
              </a:ext>
            </a:extLst>
          </p:cNvPr>
          <p:cNvCxnSpPr/>
          <p:nvPr/>
        </p:nvCxnSpPr>
        <p:spPr>
          <a:xfrm flipV="1">
            <a:off x="2892253" y="4801561"/>
            <a:ext cx="0" cy="637372"/>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11D1541F-096A-4A95-8E9D-ABE84BA8B849}"/>
              </a:ext>
            </a:extLst>
          </p:cNvPr>
          <p:cNvSpPr txBox="1"/>
          <p:nvPr/>
        </p:nvSpPr>
        <p:spPr>
          <a:xfrm>
            <a:off x="2645352" y="4224256"/>
            <a:ext cx="843006" cy="521357"/>
          </a:xfrm>
          <a:prstGeom prst="rect">
            <a:avLst/>
          </a:prstGeom>
          <a:noFill/>
          <a:ln w="38100">
            <a:solidFill>
              <a:srgbClr val="FF0000"/>
            </a:solidFill>
          </a:ln>
        </p:spPr>
        <p:txBody>
          <a:bodyPr wrap="square" rtlCol="0">
            <a:spAutoFit/>
          </a:bodyPr>
          <a:lstStyle/>
          <a:p>
            <a:endParaRPr lang="en-US" dirty="0"/>
          </a:p>
        </p:txBody>
      </p:sp>
      <p:cxnSp>
        <p:nvCxnSpPr>
          <p:cNvPr id="64" name="Straight Arrow Connector 63">
            <a:extLst>
              <a:ext uri="{FF2B5EF4-FFF2-40B4-BE49-F238E27FC236}">
                <a16:creationId xmlns:a16="http://schemas.microsoft.com/office/drawing/2014/main" id="{7AE5EA64-4D5F-4E48-A8EF-2A0C656B21A0}"/>
              </a:ext>
            </a:extLst>
          </p:cNvPr>
          <p:cNvCxnSpPr>
            <a:cxnSpLocks/>
          </p:cNvCxnSpPr>
          <p:nvPr/>
        </p:nvCxnSpPr>
        <p:spPr>
          <a:xfrm flipV="1">
            <a:off x="6335077" y="4710396"/>
            <a:ext cx="0" cy="311341"/>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10414990-82F6-44C3-9502-C6245AC92044}"/>
              </a:ext>
            </a:extLst>
          </p:cNvPr>
          <p:cNvSpPr txBox="1"/>
          <p:nvPr/>
        </p:nvSpPr>
        <p:spPr>
          <a:xfrm>
            <a:off x="2789437" y="5275856"/>
            <a:ext cx="968535" cy="400110"/>
          </a:xfrm>
          <a:prstGeom prst="rect">
            <a:avLst/>
          </a:prstGeom>
          <a:noFill/>
        </p:spPr>
        <p:txBody>
          <a:bodyPr wrap="none" rtlCol="0">
            <a:spAutoFit/>
          </a:bodyPr>
          <a:lstStyle/>
          <a:p>
            <a:r>
              <a:rPr lang="en-US" sz="2000" dirty="0"/>
              <a:t>Next Fit</a:t>
            </a:r>
          </a:p>
        </p:txBody>
      </p:sp>
      <p:cxnSp>
        <p:nvCxnSpPr>
          <p:cNvPr id="65" name="Straight Arrow Connector 64">
            <a:extLst>
              <a:ext uri="{FF2B5EF4-FFF2-40B4-BE49-F238E27FC236}">
                <a16:creationId xmlns:a16="http://schemas.microsoft.com/office/drawing/2014/main" id="{218F92D9-0E6A-47B7-B1F7-BD6BF1B1340D}"/>
              </a:ext>
            </a:extLst>
          </p:cNvPr>
          <p:cNvCxnSpPr>
            <a:cxnSpLocks/>
          </p:cNvCxnSpPr>
          <p:nvPr/>
        </p:nvCxnSpPr>
        <p:spPr>
          <a:xfrm flipH="1" flipV="1">
            <a:off x="3177562" y="4811864"/>
            <a:ext cx="17528" cy="50959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9945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9"/>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1"/>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65"/>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8"/>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63" presetClass="path" presetSubtype="0" accel="50000" decel="50000" fill="hold" nodeType="clickEffect">
                                  <p:stCondLst>
                                    <p:cond delay="0"/>
                                  </p:stCondLst>
                                  <p:childTnLst>
                                    <p:animMotion origin="layout" path="M 4.58333E-6 -3.33333E-6 L 0.49609 -0.00208 " pathEditMode="relative" rAng="0" ptsTypes="AA">
                                      <p:cBhvr>
                                        <p:cTn id="78" dur="2500" fill="hold"/>
                                        <p:tgtEl>
                                          <p:spTgt spid="38"/>
                                        </p:tgtEl>
                                        <p:attrNameLst>
                                          <p:attrName>ppt_x</p:attrName>
                                          <p:attrName>ppt_y</p:attrName>
                                        </p:attrNameLst>
                                      </p:cBhvr>
                                      <p:rCtr x="24805" y="-116"/>
                                    </p:animMotion>
                                  </p:childTnLst>
                                </p:cTn>
                              </p:par>
                              <p:par>
                                <p:cTn id="79" presetID="1" presetClass="entr" presetSubtype="0" fill="hold" grpId="0" nodeType="withEffect">
                                  <p:stCondLst>
                                    <p:cond delay="0"/>
                                  </p:stCondLst>
                                  <p:childTnLst>
                                    <p:set>
                                      <p:cBhvr>
                                        <p:cTn id="80" dur="1" fill="hold">
                                          <p:stCondLst>
                                            <p:cond delay="0"/>
                                          </p:stCondLst>
                                        </p:cTn>
                                        <p:tgtEl>
                                          <p:spTgt spid="17"/>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xit" presetSubtype="0" fill="hold" nodeType="clickEffect">
                                  <p:stCondLst>
                                    <p:cond delay="0"/>
                                  </p:stCondLst>
                                  <p:childTnLst>
                                    <p:set>
                                      <p:cBhvr>
                                        <p:cTn id="84" dur="1" fill="hold">
                                          <p:stCondLst>
                                            <p:cond delay="0"/>
                                          </p:stCondLst>
                                        </p:cTn>
                                        <p:tgtEl>
                                          <p:spTgt spid="38"/>
                                        </p:tgtEl>
                                        <p:attrNameLst>
                                          <p:attrName>style.visibility</p:attrName>
                                        </p:attrNameLst>
                                      </p:cBhvr>
                                      <p:to>
                                        <p:strVal val="hidden"/>
                                      </p:to>
                                    </p:set>
                                  </p:childTnLst>
                                </p:cTn>
                              </p:par>
                              <p:par>
                                <p:cTn id="85" presetID="1" presetClass="entr" presetSubtype="0" fill="hold" nodeType="withEffect">
                                  <p:stCondLst>
                                    <p:cond delay="0"/>
                                  </p:stCondLst>
                                  <p:childTnLst>
                                    <p:set>
                                      <p:cBhvr>
                                        <p:cTn id="86" dur="1" fill="hold">
                                          <p:stCondLst>
                                            <p:cond delay="0"/>
                                          </p:stCondLst>
                                        </p:cTn>
                                        <p:tgtEl>
                                          <p:spTgt spid="64"/>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62"/>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63"/>
                                        </p:tgtEl>
                                        <p:attrNameLst>
                                          <p:attrName>style.visibility</p:attrName>
                                        </p:attrNameLst>
                                      </p:cBhvr>
                                      <p:to>
                                        <p:strVal val="visible"/>
                                      </p:to>
                                    </p:set>
                                  </p:childTnLst>
                                </p:cTn>
                              </p:par>
                              <p:par>
                                <p:cTn id="91" presetID="26" presetClass="emph" presetSubtype="0" repeatCount="indefinite" fill="hold" grpId="1" nodeType="withEffect">
                                  <p:stCondLst>
                                    <p:cond delay="0"/>
                                  </p:stCondLst>
                                  <p:endCondLst>
                                    <p:cond evt="onNext" delay="0">
                                      <p:tgtEl>
                                        <p:sldTgt/>
                                      </p:tgtEl>
                                    </p:cond>
                                  </p:endCondLst>
                                  <p:childTnLst>
                                    <p:animEffect transition="out" filter="fade">
                                      <p:cBhvr>
                                        <p:cTn id="92" dur="500" tmFilter="0, 0; .2, .5; .8, .5; 1, 0"/>
                                        <p:tgtEl>
                                          <p:spTgt spid="63"/>
                                        </p:tgtEl>
                                      </p:cBhvr>
                                    </p:animEffect>
                                    <p:animScale>
                                      <p:cBhvr>
                                        <p:cTn id="93" dur="250" autoRev="1" fill="hold"/>
                                        <p:tgtEl>
                                          <p:spTgt spid="63"/>
                                        </p:tgtEl>
                                      </p:cBhvr>
                                      <p:by x="105000" y="105000"/>
                                    </p:animScale>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grpId="0" nodeType="clickEffect">
                                  <p:stCondLst>
                                    <p:cond delay="0"/>
                                  </p:stCondLst>
                                  <p:childTnLst>
                                    <p:set>
                                      <p:cBhvr>
                                        <p:cTn id="97" dur="1" fill="hold">
                                          <p:stCondLst>
                                            <p:cond delay="0"/>
                                          </p:stCondLst>
                                        </p:cTn>
                                        <p:tgtEl>
                                          <p:spTgt spid="41"/>
                                        </p:tgtEl>
                                        <p:attrNameLst>
                                          <p:attrName>style.visibility</p:attrName>
                                        </p:attrNameLst>
                                      </p:cBhvr>
                                      <p:to>
                                        <p:strVal val="visible"/>
                                      </p:to>
                                    </p:set>
                                  </p:childTnLst>
                                </p:cTn>
                              </p:par>
                              <p:par>
                                <p:cTn id="98" presetID="1" presetClass="exit" presetSubtype="0" fill="hold" nodeType="withEffect">
                                  <p:stCondLst>
                                    <p:cond delay="0"/>
                                  </p:stCondLst>
                                  <p:childTnLst>
                                    <p:set>
                                      <p:cBhvr>
                                        <p:cTn id="99" dur="1" fill="hold">
                                          <p:stCondLst>
                                            <p:cond delay="0"/>
                                          </p:stCondLst>
                                        </p:cTn>
                                        <p:tgtEl>
                                          <p:spTgt spid="64"/>
                                        </p:tgtEl>
                                        <p:attrNameLst>
                                          <p:attrName>style.visibility</p:attrName>
                                        </p:attrNameLst>
                                      </p:cBhvr>
                                      <p:to>
                                        <p:strVal val="hidden"/>
                                      </p:to>
                                    </p:set>
                                  </p:childTnLst>
                                </p:cTn>
                              </p:par>
                              <p:par>
                                <p:cTn id="100" presetID="1" presetClass="entr" presetSubtype="0" fill="hold" grpId="0" nodeType="withEffect">
                                  <p:stCondLst>
                                    <p:cond delay="0"/>
                                  </p:stCondLst>
                                  <p:childTnLst>
                                    <p:set>
                                      <p:cBhvr>
                                        <p:cTn id="101" dur="1" fill="hold">
                                          <p:stCondLst>
                                            <p:cond delay="0"/>
                                          </p:stCondLst>
                                        </p:cTn>
                                        <p:tgtEl>
                                          <p:spTgt spid="43"/>
                                        </p:tgtEl>
                                        <p:attrNameLst>
                                          <p:attrName>style.visibility</p:attrName>
                                        </p:attrNameLst>
                                      </p:cBhvr>
                                      <p:to>
                                        <p:strVal val="visible"/>
                                      </p:to>
                                    </p:set>
                                  </p:childTnLst>
                                </p:cTn>
                              </p:par>
                              <p:par>
                                <p:cTn id="102" presetID="1" presetClass="entr" presetSubtype="0" fill="hold" grpId="0" nodeType="withEffect">
                                  <p:stCondLst>
                                    <p:cond delay="0"/>
                                  </p:stCondLst>
                                  <p:childTnLst>
                                    <p:set>
                                      <p:cBhvr>
                                        <p:cTn id="103" dur="1" fill="hold">
                                          <p:stCondLst>
                                            <p:cond delay="0"/>
                                          </p:stCondLst>
                                        </p:cTn>
                                        <p:tgtEl>
                                          <p:spTgt spid="44"/>
                                        </p:tgtEl>
                                        <p:attrNameLst>
                                          <p:attrName>style.visibility</p:attrName>
                                        </p:attrNameLst>
                                      </p:cBhvr>
                                      <p:to>
                                        <p:strVal val="visible"/>
                                      </p:to>
                                    </p:set>
                                  </p:childTnLst>
                                </p:cTn>
                              </p:par>
                              <p:par>
                                <p:cTn id="104" presetID="1" presetClass="entr" presetSubtype="0" fill="hold" grpId="0" nodeType="withEffect">
                                  <p:stCondLst>
                                    <p:cond delay="0"/>
                                  </p:stCondLst>
                                  <p:childTnLst>
                                    <p:set>
                                      <p:cBhvr>
                                        <p:cTn id="105" dur="1" fill="hold">
                                          <p:stCondLst>
                                            <p:cond delay="0"/>
                                          </p:stCondLst>
                                        </p:cTn>
                                        <p:tgtEl>
                                          <p:spTgt spid="45"/>
                                        </p:tgtEl>
                                        <p:attrNameLst>
                                          <p:attrName>style.visibility</p:attrName>
                                        </p:attrNameLst>
                                      </p:cBhvr>
                                      <p:to>
                                        <p:strVal val="visible"/>
                                      </p:to>
                                    </p:set>
                                  </p:childTnLst>
                                </p:cTn>
                              </p:par>
                              <p:par>
                                <p:cTn id="106" presetID="1" presetClass="entr" presetSubtype="0" fill="hold" grpId="0" nodeType="withEffect">
                                  <p:stCondLst>
                                    <p:cond delay="0"/>
                                  </p:stCondLst>
                                  <p:childTnLst>
                                    <p:set>
                                      <p:cBhvr>
                                        <p:cTn id="107" dur="1" fill="hold">
                                          <p:stCondLst>
                                            <p:cond delay="0"/>
                                          </p:stCondLst>
                                        </p:cTn>
                                        <p:tgtEl>
                                          <p:spTgt spid="46"/>
                                        </p:tgtEl>
                                        <p:attrNameLst>
                                          <p:attrName>style.visibility</p:attrName>
                                        </p:attrNameLst>
                                      </p:cBhvr>
                                      <p:to>
                                        <p:strVal val="visible"/>
                                      </p:to>
                                    </p:set>
                                  </p:childTnLst>
                                </p:cTn>
                              </p:par>
                              <p:par>
                                <p:cTn id="108" presetID="1" presetClass="entr" presetSubtype="0" fill="hold" grpId="0" nodeType="withEffect">
                                  <p:stCondLst>
                                    <p:cond delay="0"/>
                                  </p:stCondLst>
                                  <p:childTnLst>
                                    <p:set>
                                      <p:cBhvr>
                                        <p:cTn id="109" dur="1" fill="hold">
                                          <p:stCondLst>
                                            <p:cond delay="0"/>
                                          </p:stCondLst>
                                        </p:cTn>
                                        <p:tgtEl>
                                          <p:spTgt spid="47"/>
                                        </p:tgtEl>
                                        <p:attrNameLst>
                                          <p:attrName>style.visibility</p:attrName>
                                        </p:attrNameLst>
                                      </p:cBhvr>
                                      <p:to>
                                        <p:strVal val="visible"/>
                                      </p:to>
                                    </p:set>
                                  </p:childTnLst>
                                </p:cTn>
                              </p:par>
                              <p:par>
                                <p:cTn id="110" presetID="1" presetClass="entr" presetSubtype="0" fill="hold" grpId="0" nodeType="withEffect">
                                  <p:stCondLst>
                                    <p:cond delay="0"/>
                                  </p:stCondLst>
                                  <p:childTnLst>
                                    <p:set>
                                      <p:cBhvr>
                                        <p:cTn id="111" dur="1" fill="hold">
                                          <p:stCondLst>
                                            <p:cond delay="0"/>
                                          </p:stCondLst>
                                        </p:cTn>
                                        <p:tgtEl>
                                          <p:spTgt spid="48"/>
                                        </p:tgtEl>
                                        <p:attrNameLst>
                                          <p:attrName>style.visibility</p:attrName>
                                        </p:attrNameLst>
                                      </p:cBhvr>
                                      <p:to>
                                        <p:strVal val="visible"/>
                                      </p:to>
                                    </p:set>
                                  </p:childTnLst>
                                </p:cTn>
                              </p:par>
                              <p:par>
                                <p:cTn id="112" presetID="1" presetClass="entr" presetSubtype="0" fill="hold" grpId="0" nodeType="withEffect">
                                  <p:stCondLst>
                                    <p:cond delay="0"/>
                                  </p:stCondLst>
                                  <p:childTnLst>
                                    <p:set>
                                      <p:cBhvr>
                                        <p:cTn id="113" dur="1" fill="hold">
                                          <p:stCondLst>
                                            <p:cond delay="0"/>
                                          </p:stCondLst>
                                        </p:cTn>
                                        <p:tgtEl>
                                          <p:spTgt spid="49"/>
                                        </p:tgtEl>
                                        <p:attrNameLst>
                                          <p:attrName>style.visibility</p:attrName>
                                        </p:attrNameLst>
                                      </p:cBhvr>
                                      <p:to>
                                        <p:strVal val="visible"/>
                                      </p:to>
                                    </p:set>
                                  </p:childTnLst>
                                </p:cTn>
                              </p:par>
                              <p:par>
                                <p:cTn id="114" presetID="1" presetClass="entr" presetSubtype="0" fill="hold" grpId="0" nodeType="withEffect">
                                  <p:stCondLst>
                                    <p:cond delay="0"/>
                                  </p:stCondLst>
                                  <p:childTnLst>
                                    <p:set>
                                      <p:cBhvr>
                                        <p:cTn id="115" dur="1" fill="hold">
                                          <p:stCondLst>
                                            <p:cond delay="0"/>
                                          </p:stCondLst>
                                        </p:cTn>
                                        <p:tgtEl>
                                          <p:spTgt spid="53"/>
                                        </p:tgtEl>
                                        <p:attrNameLst>
                                          <p:attrName>style.visibility</p:attrName>
                                        </p:attrNameLst>
                                      </p:cBhvr>
                                      <p:to>
                                        <p:strVal val="visible"/>
                                      </p:to>
                                    </p:set>
                                  </p:childTnLst>
                                </p:cTn>
                              </p:par>
                              <p:par>
                                <p:cTn id="116" presetID="1" presetClass="entr" presetSubtype="0" fill="hold" grpId="0" nodeType="withEffect">
                                  <p:stCondLst>
                                    <p:cond delay="0"/>
                                  </p:stCondLst>
                                  <p:childTnLst>
                                    <p:set>
                                      <p:cBhvr>
                                        <p:cTn id="117" dur="1" fill="hold">
                                          <p:stCondLst>
                                            <p:cond delay="0"/>
                                          </p:stCondLst>
                                        </p:cTn>
                                        <p:tgtEl>
                                          <p:spTgt spid="55"/>
                                        </p:tgtEl>
                                        <p:attrNameLst>
                                          <p:attrName>style.visibility</p:attrName>
                                        </p:attrNameLst>
                                      </p:cBhvr>
                                      <p:to>
                                        <p:strVal val="visible"/>
                                      </p:to>
                                    </p:set>
                                  </p:childTnLst>
                                </p:cTn>
                              </p:par>
                              <p:par>
                                <p:cTn id="118" presetID="1" presetClass="entr" presetSubtype="0" fill="hold" grpId="0" nodeType="withEffect">
                                  <p:stCondLst>
                                    <p:cond delay="0"/>
                                  </p:stCondLst>
                                  <p:childTnLst>
                                    <p:set>
                                      <p:cBhvr>
                                        <p:cTn id="119" dur="1" fill="hold">
                                          <p:stCondLst>
                                            <p:cond delay="0"/>
                                          </p:stCondLst>
                                        </p:cTn>
                                        <p:tgtEl>
                                          <p:spTgt spid="54"/>
                                        </p:tgtEl>
                                        <p:attrNameLst>
                                          <p:attrName>style.visibility</p:attrName>
                                        </p:attrNameLst>
                                      </p:cBhvr>
                                      <p:to>
                                        <p:strVal val="visible"/>
                                      </p:to>
                                    </p:set>
                                  </p:childTnLst>
                                </p:cTn>
                              </p:par>
                              <p:par>
                                <p:cTn id="120" presetID="1" presetClass="entr" presetSubtype="0" fill="hold" nodeType="withEffect">
                                  <p:stCondLst>
                                    <p:cond delay="0"/>
                                  </p:stCondLst>
                                  <p:childTnLst>
                                    <p:set>
                                      <p:cBhvr>
                                        <p:cTn id="121" dur="1" fill="hold">
                                          <p:stCondLst>
                                            <p:cond delay="0"/>
                                          </p:stCondLst>
                                        </p:cTn>
                                        <p:tgtEl>
                                          <p:spTgt spid="52"/>
                                        </p:tgtEl>
                                        <p:attrNameLst>
                                          <p:attrName>style.visibility</p:attrName>
                                        </p:attrNameLst>
                                      </p:cBhvr>
                                      <p:to>
                                        <p:strVal val="visible"/>
                                      </p:to>
                                    </p:set>
                                  </p:childTnLst>
                                </p:cTn>
                              </p:par>
                              <p:par>
                                <p:cTn id="122" presetID="1" presetClass="entr" presetSubtype="0" fill="hold" grpId="0" nodeType="withEffect">
                                  <p:stCondLst>
                                    <p:cond delay="0"/>
                                  </p:stCondLst>
                                  <p:childTnLst>
                                    <p:set>
                                      <p:cBhvr>
                                        <p:cTn id="123" dur="1" fill="hold">
                                          <p:stCondLst>
                                            <p:cond delay="0"/>
                                          </p:stCondLst>
                                        </p:cTn>
                                        <p:tgtEl>
                                          <p:spTgt spid="51"/>
                                        </p:tgtEl>
                                        <p:attrNameLst>
                                          <p:attrName>style.visibility</p:attrName>
                                        </p:attrNameLst>
                                      </p:cBhvr>
                                      <p:to>
                                        <p:strVal val="visible"/>
                                      </p:to>
                                    </p:set>
                                  </p:childTnLst>
                                </p:cTn>
                              </p:par>
                              <p:par>
                                <p:cTn id="124" presetID="2" presetClass="entr" presetSubtype="8" fill="hold" grpId="0" nodeType="withEffect">
                                  <p:stCondLst>
                                    <p:cond delay="0"/>
                                  </p:stCondLst>
                                  <p:childTnLst>
                                    <p:set>
                                      <p:cBhvr>
                                        <p:cTn id="125" dur="1" fill="hold">
                                          <p:stCondLst>
                                            <p:cond delay="0"/>
                                          </p:stCondLst>
                                        </p:cTn>
                                        <p:tgtEl>
                                          <p:spTgt spid="56"/>
                                        </p:tgtEl>
                                        <p:attrNameLst>
                                          <p:attrName>style.visibility</p:attrName>
                                        </p:attrNameLst>
                                      </p:cBhvr>
                                      <p:to>
                                        <p:strVal val="visible"/>
                                      </p:to>
                                    </p:set>
                                    <p:anim calcmode="lin" valueType="num">
                                      <p:cBhvr additive="base">
                                        <p:cTn id="126" dur="1000" fill="hold"/>
                                        <p:tgtEl>
                                          <p:spTgt spid="56"/>
                                        </p:tgtEl>
                                        <p:attrNameLst>
                                          <p:attrName>ppt_x</p:attrName>
                                        </p:attrNameLst>
                                      </p:cBhvr>
                                      <p:tavLst>
                                        <p:tav tm="0">
                                          <p:val>
                                            <p:strVal val="0-#ppt_w/2"/>
                                          </p:val>
                                        </p:tav>
                                        <p:tav tm="100000">
                                          <p:val>
                                            <p:strVal val="#ppt_x"/>
                                          </p:val>
                                        </p:tav>
                                      </p:tavLst>
                                    </p:anim>
                                    <p:anim calcmode="lin" valueType="num">
                                      <p:cBhvr additive="base">
                                        <p:cTn id="127" dur="1000" fill="hold"/>
                                        <p:tgtEl>
                                          <p:spTgt spid="56"/>
                                        </p:tgtEl>
                                        <p:attrNameLst>
                                          <p:attrName>ppt_y</p:attrName>
                                        </p:attrNameLst>
                                      </p:cBhvr>
                                      <p:tavLst>
                                        <p:tav tm="0">
                                          <p:val>
                                            <p:strVal val="#ppt_y"/>
                                          </p:val>
                                        </p:tav>
                                        <p:tav tm="100000">
                                          <p:val>
                                            <p:strVal val="#ppt_y"/>
                                          </p:val>
                                        </p:tav>
                                      </p:tavLst>
                                    </p:anim>
                                  </p:childTnLst>
                                </p:cTn>
                              </p:par>
                            </p:childTnLst>
                          </p:cTn>
                        </p:par>
                      </p:childTnLst>
                    </p:cTn>
                  </p:par>
                  <p:par>
                    <p:cTn id="128" fill="hold">
                      <p:stCondLst>
                        <p:cond delay="indefinite"/>
                      </p:stCondLst>
                      <p:childTnLst>
                        <p:par>
                          <p:cTn id="129" fill="hold">
                            <p:stCondLst>
                              <p:cond delay="0"/>
                            </p:stCondLst>
                            <p:childTnLst>
                              <p:par>
                                <p:cTn id="130" presetID="1" presetClass="entr" presetSubtype="0" fill="hold" grpId="0" nodeType="clickEffect">
                                  <p:stCondLst>
                                    <p:cond delay="0"/>
                                  </p:stCondLst>
                                  <p:childTnLst>
                                    <p:set>
                                      <p:cBhvr>
                                        <p:cTn id="131" dur="1" fill="hold">
                                          <p:stCondLst>
                                            <p:cond delay="0"/>
                                          </p:stCondLst>
                                        </p:cTn>
                                        <p:tgtEl>
                                          <p:spTgt spid="58"/>
                                        </p:tgtEl>
                                        <p:attrNameLst>
                                          <p:attrName>style.visibility</p:attrName>
                                        </p:attrNameLst>
                                      </p:cBhvr>
                                      <p:to>
                                        <p:strVal val="visible"/>
                                      </p:to>
                                    </p:set>
                                  </p:childTnLst>
                                </p:cTn>
                              </p:par>
                              <p:par>
                                <p:cTn id="132" presetID="1" presetClass="entr" presetSubtype="0" fill="hold" nodeType="withEffect">
                                  <p:stCondLst>
                                    <p:cond delay="0"/>
                                  </p:stCondLst>
                                  <p:childTnLst>
                                    <p:set>
                                      <p:cBhvr>
                                        <p:cTn id="133" dur="1" fill="hold">
                                          <p:stCondLst>
                                            <p:cond delay="0"/>
                                          </p:stCondLst>
                                        </p:cTn>
                                        <p:tgtEl>
                                          <p:spTgt spid="59"/>
                                        </p:tgtEl>
                                        <p:attrNameLst>
                                          <p:attrName>style.visibility</p:attrName>
                                        </p:attrNameLst>
                                      </p:cBhvr>
                                      <p:to>
                                        <p:strVal val="visible"/>
                                      </p:to>
                                    </p:set>
                                  </p:childTnLst>
                                </p:cTn>
                              </p:par>
                            </p:childTnLst>
                          </p:cTn>
                        </p:par>
                      </p:childTnLst>
                    </p:cTn>
                  </p:par>
                  <p:par>
                    <p:cTn id="134" fill="hold">
                      <p:stCondLst>
                        <p:cond delay="indefinite"/>
                      </p:stCondLst>
                      <p:childTnLst>
                        <p:par>
                          <p:cTn id="135" fill="hold">
                            <p:stCondLst>
                              <p:cond delay="0"/>
                            </p:stCondLst>
                            <p:childTnLst>
                              <p:par>
                                <p:cTn id="136" presetID="1" presetClass="entr" presetSubtype="0" fill="hold" grpId="0" nodeType="clickEffect">
                                  <p:stCondLst>
                                    <p:cond delay="0"/>
                                  </p:stCondLst>
                                  <p:childTnLst>
                                    <p:set>
                                      <p:cBhvr>
                                        <p:cTn id="137" dur="1" fill="hold">
                                          <p:stCondLst>
                                            <p:cond delay="0"/>
                                          </p:stCondLst>
                                        </p:cTn>
                                        <p:tgtEl>
                                          <p:spTgt spid="57"/>
                                        </p:tgtEl>
                                        <p:attrNameLst>
                                          <p:attrName>style.visibility</p:attrName>
                                        </p:attrNameLst>
                                      </p:cBhvr>
                                      <p:to>
                                        <p:strVal val="visible"/>
                                      </p:to>
                                    </p:set>
                                  </p:childTnLst>
                                </p:cTn>
                              </p:par>
                              <p:par>
                                <p:cTn id="138" presetID="1" presetClass="entr" presetSubtype="0" fill="hold" grpId="0" nodeType="withEffect">
                                  <p:stCondLst>
                                    <p:cond delay="0"/>
                                  </p:stCondLst>
                                  <p:childTnLst>
                                    <p:set>
                                      <p:cBhvr>
                                        <p:cTn id="139"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2" grpId="0" animBg="1"/>
      <p:bldP spid="13" grpId="0"/>
      <p:bldP spid="17" grpId="0"/>
      <p:bldP spid="23" grpId="0" animBg="1"/>
      <p:bldP spid="24" grpId="0" animBg="1"/>
      <p:bldP spid="25" grpId="0" animBg="1"/>
      <p:bldP spid="26" grpId="0" animBg="1"/>
      <p:bldP spid="27" grpId="0" animBg="1"/>
      <p:bldP spid="28" grpId="0" animBg="1"/>
      <p:bldP spid="29" grpId="0" animBg="1"/>
      <p:bldP spid="30" grpId="0" animBg="1"/>
      <p:bldP spid="31" grpId="0" animBg="1"/>
      <p:bldP spid="36" grpId="0" animBg="1"/>
      <p:bldP spid="39" grpId="0" animBg="1"/>
      <p:bldP spid="50" grpId="0"/>
      <p:bldP spid="41" grpId="0" animBg="1"/>
      <p:bldP spid="43" grpId="0" animBg="1"/>
      <p:bldP spid="44" grpId="0" animBg="1"/>
      <p:bldP spid="45" grpId="0" animBg="1"/>
      <p:bldP spid="46" grpId="0" animBg="1"/>
      <p:bldP spid="47" grpId="0" animBg="1"/>
      <p:bldP spid="48" grpId="0" animBg="1"/>
      <p:bldP spid="49" grpId="0" animBg="1"/>
      <p:bldP spid="51" grpId="0"/>
      <p:bldP spid="53" grpId="0" animBg="1"/>
      <p:bldP spid="54" grpId="0" animBg="1"/>
      <p:bldP spid="55" grpId="0"/>
      <p:bldP spid="56" grpId="0" animBg="1"/>
      <p:bldP spid="57" grpId="0" animBg="1"/>
      <p:bldP spid="58" grpId="0"/>
      <p:bldP spid="60" grpId="0"/>
      <p:bldP spid="63" grpId="0" animBg="1"/>
      <p:bldP spid="63" grpId="1" animBg="1"/>
      <p:bldP spid="61"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Strategies to select partition(Conti..) </a:t>
            </a:r>
          </a:p>
        </p:txBody>
      </p:sp>
      <p:sp>
        <p:nvSpPr>
          <p:cNvPr id="3" name="Content Placeholder 2"/>
          <p:cNvSpPr>
            <a:spLocks noGrp="1"/>
          </p:cNvSpPr>
          <p:nvPr>
            <p:ph idx="1"/>
          </p:nvPr>
        </p:nvSpPr>
        <p:spPr/>
        <p:txBody>
          <a:bodyPr/>
          <a:lstStyle/>
          <a:p>
            <a:pPr marL="0" indent="0">
              <a:buNone/>
            </a:pPr>
            <a:r>
              <a:rPr lang="en-US" b="1" dirty="0">
                <a:solidFill>
                  <a:schemeClr val="accent6"/>
                </a:solidFill>
              </a:rPr>
              <a:t>Worst Fit : </a:t>
            </a:r>
            <a:r>
              <a:rPr lang="en-US" dirty="0">
                <a:solidFill>
                  <a:schemeClr val="accent6"/>
                </a:solidFill>
              </a:rPr>
              <a:t>  </a:t>
            </a:r>
          </a:p>
          <a:p>
            <a:pPr lvl="1"/>
            <a:r>
              <a:rPr lang="en-US" dirty="0">
                <a:solidFill>
                  <a:schemeClr val="accent6"/>
                </a:solidFill>
              </a:rPr>
              <a:t>Entire memory is searched.</a:t>
            </a:r>
          </a:p>
          <a:p>
            <a:pPr lvl="1"/>
            <a:r>
              <a:rPr lang="en-US" dirty="0">
                <a:solidFill>
                  <a:schemeClr val="accent6"/>
                </a:solidFill>
              </a:rPr>
              <a:t>Largest available hole </a:t>
            </a:r>
            <a:r>
              <a:rPr lang="en-US" dirty="0"/>
              <a:t>, which is large enough to </a:t>
            </a:r>
            <a:r>
              <a:rPr lang="en-US" dirty="0">
                <a:solidFill>
                  <a:schemeClr val="accent6"/>
                </a:solidFill>
              </a:rPr>
              <a:t>hold process</a:t>
            </a:r>
            <a:r>
              <a:rPr lang="en-US" dirty="0"/>
              <a:t> is Selected for allocation.</a:t>
            </a:r>
            <a:r>
              <a:rPr lang="en-US" b="1" dirty="0"/>
              <a:t>  </a:t>
            </a:r>
            <a:endParaRPr lang="en-US" dirty="0"/>
          </a:p>
          <a:p>
            <a:pPr lvl="1"/>
            <a:r>
              <a:rPr lang="en-US" dirty="0"/>
              <a:t>This can be used only for dynamic partition.</a:t>
            </a:r>
          </a:p>
          <a:p>
            <a:pPr lvl="1"/>
            <a:r>
              <a:rPr lang="en-US" dirty="0"/>
              <a:t>This is not used for fixed partitioning.</a:t>
            </a:r>
          </a:p>
          <a:p>
            <a:r>
              <a:rPr lang="en-US" dirty="0"/>
              <a:t>Example : Free partition selected for </a:t>
            </a:r>
            <a:r>
              <a:rPr lang="en-US" dirty="0">
                <a:solidFill>
                  <a:schemeClr val="accent6"/>
                </a:solidFill>
              </a:rPr>
              <a:t>allocation</a:t>
            </a:r>
            <a:r>
              <a:rPr lang="en-US" dirty="0"/>
              <a:t> of </a:t>
            </a:r>
            <a:r>
              <a:rPr lang="en-US" dirty="0">
                <a:solidFill>
                  <a:schemeClr val="accent6"/>
                </a:solidFill>
              </a:rPr>
              <a:t>10 MB</a:t>
            </a:r>
          </a:p>
          <a:p>
            <a:pPr marL="0" indent="-87312">
              <a:buNone/>
            </a:pPr>
            <a:endParaRPr lang="en-US" dirty="0"/>
          </a:p>
        </p:txBody>
      </p:sp>
      <p:sp>
        <p:nvSpPr>
          <p:cNvPr id="4" name="TextBox 3"/>
          <p:cNvSpPr txBox="1"/>
          <p:nvPr/>
        </p:nvSpPr>
        <p:spPr>
          <a:xfrm>
            <a:off x="475015" y="4427375"/>
            <a:ext cx="336952" cy="461665"/>
          </a:xfrm>
          <a:prstGeom prst="rect">
            <a:avLst/>
          </a:prstGeom>
          <a:noFill/>
          <a:ln>
            <a:solidFill>
              <a:schemeClr val="tx1"/>
            </a:solidFill>
          </a:ln>
        </p:spPr>
        <p:txBody>
          <a:bodyPr wrap="none" rtlCol="0">
            <a:spAutoFit/>
          </a:bodyPr>
          <a:lstStyle/>
          <a:p>
            <a:r>
              <a:rPr lang="en-US" sz="2400" dirty="0"/>
              <a:t>5</a:t>
            </a:r>
          </a:p>
        </p:txBody>
      </p:sp>
      <p:sp>
        <p:nvSpPr>
          <p:cNvPr id="5" name="TextBox 4"/>
          <p:cNvSpPr txBox="1"/>
          <p:nvPr/>
        </p:nvSpPr>
        <p:spPr>
          <a:xfrm>
            <a:off x="811967" y="4427375"/>
            <a:ext cx="469586" cy="461665"/>
          </a:xfrm>
          <a:prstGeom prst="rect">
            <a:avLst/>
          </a:prstGeom>
          <a:noFill/>
          <a:ln>
            <a:solidFill>
              <a:schemeClr val="tx1"/>
            </a:solidFill>
          </a:ln>
        </p:spPr>
        <p:txBody>
          <a:bodyPr wrap="square" rtlCol="0">
            <a:spAutoFit/>
          </a:bodyPr>
          <a:lstStyle/>
          <a:p>
            <a:pPr algn="ctr"/>
            <a:r>
              <a:rPr lang="en-US" sz="2400" dirty="0"/>
              <a:t>7</a:t>
            </a:r>
          </a:p>
        </p:txBody>
      </p:sp>
      <p:sp>
        <p:nvSpPr>
          <p:cNvPr id="7" name="TextBox 6"/>
          <p:cNvSpPr txBox="1"/>
          <p:nvPr/>
        </p:nvSpPr>
        <p:spPr>
          <a:xfrm>
            <a:off x="2660648" y="4424341"/>
            <a:ext cx="336952" cy="461665"/>
          </a:xfrm>
          <a:prstGeom prst="rect">
            <a:avLst/>
          </a:prstGeom>
          <a:noFill/>
          <a:ln>
            <a:solidFill>
              <a:schemeClr val="tx1"/>
            </a:solidFill>
          </a:ln>
        </p:spPr>
        <p:txBody>
          <a:bodyPr wrap="none" rtlCol="0">
            <a:spAutoFit/>
          </a:bodyPr>
          <a:lstStyle/>
          <a:p>
            <a:r>
              <a:rPr lang="en-US" sz="2400" dirty="0"/>
              <a:t>5</a:t>
            </a:r>
          </a:p>
        </p:txBody>
      </p:sp>
      <p:sp>
        <p:nvSpPr>
          <p:cNvPr id="8" name="TextBox 7"/>
          <p:cNvSpPr txBox="1"/>
          <p:nvPr/>
        </p:nvSpPr>
        <p:spPr>
          <a:xfrm>
            <a:off x="3823366" y="4424341"/>
            <a:ext cx="419071" cy="461665"/>
          </a:xfrm>
          <a:prstGeom prst="rect">
            <a:avLst/>
          </a:prstGeom>
          <a:noFill/>
          <a:ln>
            <a:solidFill>
              <a:schemeClr val="tx1"/>
            </a:solidFill>
          </a:ln>
        </p:spPr>
        <p:txBody>
          <a:bodyPr wrap="square" rtlCol="0">
            <a:spAutoFit/>
          </a:bodyPr>
          <a:lstStyle/>
          <a:p>
            <a:pPr algn="ctr"/>
            <a:r>
              <a:rPr lang="en-US" sz="2400" dirty="0"/>
              <a:t>8</a:t>
            </a:r>
          </a:p>
        </p:txBody>
      </p:sp>
      <p:sp>
        <p:nvSpPr>
          <p:cNvPr id="9" name="TextBox 8"/>
          <p:cNvSpPr txBox="1"/>
          <p:nvPr/>
        </p:nvSpPr>
        <p:spPr>
          <a:xfrm>
            <a:off x="2997600" y="4424341"/>
            <a:ext cx="825766" cy="461665"/>
          </a:xfrm>
          <a:prstGeom prst="rect">
            <a:avLst/>
          </a:prstGeom>
          <a:solidFill>
            <a:schemeClr val="bg2">
              <a:lumMod val="85000"/>
            </a:schemeClr>
          </a:solidFill>
          <a:ln>
            <a:solidFill>
              <a:schemeClr val="tx1"/>
            </a:solidFill>
          </a:ln>
        </p:spPr>
        <p:txBody>
          <a:bodyPr wrap="square" rtlCol="0">
            <a:spAutoFit/>
          </a:bodyPr>
          <a:lstStyle/>
          <a:p>
            <a:pPr algn="ctr"/>
            <a:r>
              <a:rPr lang="en-US" sz="2400" dirty="0"/>
              <a:t>11</a:t>
            </a:r>
          </a:p>
        </p:txBody>
      </p:sp>
      <p:sp>
        <p:nvSpPr>
          <p:cNvPr id="10" name="TextBox 9"/>
          <p:cNvSpPr txBox="1"/>
          <p:nvPr/>
        </p:nvSpPr>
        <p:spPr>
          <a:xfrm>
            <a:off x="4242437" y="4424341"/>
            <a:ext cx="1940899" cy="461665"/>
          </a:xfrm>
          <a:prstGeom prst="rect">
            <a:avLst/>
          </a:prstGeom>
          <a:solidFill>
            <a:schemeClr val="bg2">
              <a:lumMod val="85000"/>
            </a:schemeClr>
          </a:solidFill>
          <a:ln>
            <a:solidFill>
              <a:schemeClr val="tx1"/>
            </a:solidFill>
          </a:ln>
        </p:spPr>
        <p:txBody>
          <a:bodyPr wrap="square" rtlCol="0">
            <a:spAutoFit/>
          </a:bodyPr>
          <a:lstStyle/>
          <a:p>
            <a:pPr algn="ctr"/>
            <a:r>
              <a:rPr lang="en-US" sz="2400" dirty="0">
                <a:solidFill>
                  <a:srgbClr val="FF0000"/>
                </a:solidFill>
              </a:rPr>
              <a:t>20</a:t>
            </a:r>
          </a:p>
        </p:txBody>
      </p:sp>
      <p:sp>
        <p:nvSpPr>
          <p:cNvPr id="11" name="TextBox 10"/>
          <p:cNvSpPr txBox="1"/>
          <p:nvPr/>
        </p:nvSpPr>
        <p:spPr>
          <a:xfrm>
            <a:off x="6183336" y="4424341"/>
            <a:ext cx="336952" cy="461665"/>
          </a:xfrm>
          <a:prstGeom prst="rect">
            <a:avLst/>
          </a:prstGeom>
          <a:noFill/>
          <a:ln>
            <a:solidFill>
              <a:schemeClr val="tx1"/>
            </a:solidFill>
          </a:ln>
        </p:spPr>
        <p:txBody>
          <a:bodyPr wrap="none" rtlCol="0">
            <a:spAutoFit/>
          </a:bodyPr>
          <a:lstStyle/>
          <a:p>
            <a:r>
              <a:rPr lang="en-US" sz="2400" dirty="0"/>
              <a:t>4</a:t>
            </a:r>
          </a:p>
        </p:txBody>
      </p:sp>
      <p:sp>
        <p:nvSpPr>
          <p:cNvPr id="12" name="TextBox 11"/>
          <p:cNvSpPr txBox="1"/>
          <p:nvPr/>
        </p:nvSpPr>
        <p:spPr>
          <a:xfrm>
            <a:off x="6520288" y="4424340"/>
            <a:ext cx="336952" cy="461665"/>
          </a:xfrm>
          <a:prstGeom prst="rect">
            <a:avLst/>
          </a:prstGeom>
          <a:noFill/>
          <a:ln>
            <a:solidFill>
              <a:schemeClr val="tx1"/>
            </a:solidFill>
          </a:ln>
        </p:spPr>
        <p:txBody>
          <a:bodyPr wrap="none" rtlCol="0">
            <a:spAutoFit/>
          </a:bodyPr>
          <a:lstStyle/>
          <a:p>
            <a:r>
              <a:rPr lang="en-US" sz="2400" dirty="0"/>
              <a:t>3</a:t>
            </a:r>
          </a:p>
        </p:txBody>
      </p:sp>
      <p:sp>
        <p:nvSpPr>
          <p:cNvPr id="13" name="TextBox 12"/>
          <p:cNvSpPr txBox="1"/>
          <p:nvPr/>
        </p:nvSpPr>
        <p:spPr>
          <a:xfrm>
            <a:off x="1298760" y="5342815"/>
            <a:ext cx="955711" cy="400110"/>
          </a:xfrm>
          <a:prstGeom prst="rect">
            <a:avLst/>
          </a:prstGeom>
          <a:noFill/>
        </p:spPr>
        <p:txBody>
          <a:bodyPr wrap="none" rtlCol="0">
            <a:spAutoFit/>
          </a:bodyPr>
          <a:lstStyle/>
          <a:p>
            <a:r>
              <a:rPr lang="en-US" sz="2000" dirty="0"/>
              <a:t>First Fit</a:t>
            </a:r>
          </a:p>
        </p:txBody>
      </p:sp>
      <p:cxnSp>
        <p:nvCxnSpPr>
          <p:cNvPr id="15" name="Straight Arrow Connector 14"/>
          <p:cNvCxnSpPr>
            <a:stCxn id="13" idx="0"/>
          </p:cNvCxnSpPr>
          <p:nvPr/>
        </p:nvCxnSpPr>
        <p:spPr>
          <a:xfrm flipV="1">
            <a:off x="1776616" y="4882970"/>
            <a:ext cx="0" cy="45984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84012" y="3347112"/>
            <a:ext cx="2173993" cy="646331"/>
          </a:xfrm>
          <a:prstGeom prst="rect">
            <a:avLst/>
          </a:prstGeom>
          <a:noFill/>
        </p:spPr>
        <p:txBody>
          <a:bodyPr wrap="none" rtlCol="0">
            <a:spAutoFit/>
          </a:bodyPr>
          <a:lstStyle/>
          <a:p>
            <a:r>
              <a:rPr lang="en-US" dirty="0">
                <a:solidFill>
                  <a:schemeClr val="accent6"/>
                </a:solidFill>
              </a:rPr>
              <a:t>Search entire memory</a:t>
            </a:r>
          </a:p>
          <a:p>
            <a:r>
              <a:rPr lang="en-US" dirty="0">
                <a:solidFill>
                  <a:schemeClr val="accent6"/>
                </a:solidFill>
              </a:rPr>
              <a:t>Find Largest hole</a:t>
            </a:r>
          </a:p>
        </p:txBody>
      </p:sp>
      <p:sp>
        <p:nvSpPr>
          <p:cNvPr id="23" name="TextBox 22"/>
          <p:cNvSpPr txBox="1"/>
          <p:nvPr/>
        </p:nvSpPr>
        <p:spPr>
          <a:xfrm>
            <a:off x="5625763" y="3194525"/>
            <a:ext cx="336952" cy="461665"/>
          </a:xfrm>
          <a:prstGeom prst="rect">
            <a:avLst/>
          </a:prstGeom>
          <a:noFill/>
          <a:ln>
            <a:solidFill>
              <a:schemeClr val="tx1"/>
            </a:solidFill>
          </a:ln>
        </p:spPr>
        <p:txBody>
          <a:bodyPr wrap="none" rtlCol="0">
            <a:spAutoFit/>
          </a:bodyPr>
          <a:lstStyle/>
          <a:p>
            <a:r>
              <a:rPr lang="en-US" sz="2400" dirty="0"/>
              <a:t>5</a:t>
            </a:r>
          </a:p>
        </p:txBody>
      </p:sp>
      <p:sp>
        <p:nvSpPr>
          <p:cNvPr id="24" name="TextBox 23"/>
          <p:cNvSpPr txBox="1"/>
          <p:nvPr/>
        </p:nvSpPr>
        <p:spPr>
          <a:xfrm>
            <a:off x="5962715" y="3194525"/>
            <a:ext cx="469586" cy="461665"/>
          </a:xfrm>
          <a:prstGeom prst="rect">
            <a:avLst/>
          </a:prstGeom>
          <a:noFill/>
          <a:ln>
            <a:solidFill>
              <a:schemeClr val="tx1"/>
            </a:solidFill>
          </a:ln>
        </p:spPr>
        <p:txBody>
          <a:bodyPr wrap="square" rtlCol="0">
            <a:spAutoFit/>
          </a:bodyPr>
          <a:lstStyle/>
          <a:p>
            <a:pPr algn="ctr"/>
            <a:r>
              <a:rPr lang="en-US" sz="2400" dirty="0"/>
              <a:t>7</a:t>
            </a:r>
          </a:p>
        </p:txBody>
      </p:sp>
      <p:sp>
        <p:nvSpPr>
          <p:cNvPr id="25" name="TextBox 24"/>
          <p:cNvSpPr txBox="1"/>
          <p:nvPr/>
        </p:nvSpPr>
        <p:spPr>
          <a:xfrm>
            <a:off x="6432301" y="3194525"/>
            <a:ext cx="1379095" cy="461665"/>
          </a:xfrm>
          <a:prstGeom prst="rect">
            <a:avLst/>
          </a:prstGeom>
          <a:solidFill>
            <a:schemeClr val="bg2">
              <a:lumMod val="85000"/>
            </a:schemeClr>
          </a:solidFill>
          <a:ln>
            <a:solidFill>
              <a:schemeClr val="tx1"/>
            </a:solidFill>
          </a:ln>
        </p:spPr>
        <p:txBody>
          <a:bodyPr wrap="square" rtlCol="0">
            <a:spAutoFit/>
          </a:bodyPr>
          <a:lstStyle/>
          <a:p>
            <a:pPr algn="ctr"/>
            <a:r>
              <a:rPr lang="en-US" sz="2400" dirty="0">
                <a:solidFill>
                  <a:srgbClr val="FF0000"/>
                </a:solidFill>
              </a:rPr>
              <a:t>15</a:t>
            </a:r>
          </a:p>
        </p:txBody>
      </p:sp>
      <p:sp>
        <p:nvSpPr>
          <p:cNvPr id="26" name="TextBox 25"/>
          <p:cNvSpPr txBox="1"/>
          <p:nvPr/>
        </p:nvSpPr>
        <p:spPr>
          <a:xfrm>
            <a:off x="7811396" y="3191491"/>
            <a:ext cx="336952" cy="461665"/>
          </a:xfrm>
          <a:prstGeom prst="rect">
            <a:avLst/>
          </a:prstGeom>
          <a:noFill/>
          <a:ln>
            <a:solidFill>
              <a:schemeClr val="tx1"/>
            </a:solidFill>
          </a:ln>
        </p:spPr>
        <p:txBody>
          <a:bodyPr wrap="none" rtlCol="0">
            <a:spAutoFit/>
          </a:bodyPr>
          <a:lstStyle/>
          <a:p>
            <a:r>
              <a:rPr lang="en-US" sz="2400" dirty="0"/>
              <a:t>5</a:t>
            </a:r>
          </a:p>
        </p:txBody>
      </p:sp>
      <p:sp>
        <p:nvSpPr>
          <p:cNvPr id="27" name="TextBox 26"/>
          <p:cNvSpPr txBox="1"/>
          <p:nvPr/>
        </p:nvSpPr>
        <p:spPr>
          <a:xfrm>
            <a:off x="8974114" y="3191491"/>
            <a:ext cx="419071" cy="461665"/>
          </a:xfrm>
          <a:prstGeom prst="rect">
            <a:avLst/>
          </a:prstGeom>
          <a:noFill/>
          <a:ln>
            <a:solidFill>
              <a:schemeClr val="tx1"/>
            </a:solidFill>
          </a:ln>
        </p:spPr>
        <p:txBody>
          <a:bodyPr wrap="square" rtlCol="0">
            <a:spAutoFit/>
          </a:bodyPr>
          <a:lstStyle/>
          <a:p>
            <a:pPr algn="ctr"/>
            <a:r>
              <a:rPr lang="en-US" sz="2400" dirty="0"/>
              <a:t>8</a:t>
            </a:r>
          </a:p>
        </p:txBody>
      </p:sp>
      <p:sp>
        <p:nvSpPr>
          <p:cNvPr id="28" name="TextBox 27"/>
          <p:cNvSpPr txBox="1"/>
          <p:nvPr/>
        </p:nvSpPr>
        <p:spPr>
          <a:xfrm>
            <a:off x="8148348" y="3191491"/>
            <a:ext cx="825766" cy="461665"/>
          </a:xfrm>
          <a:prstGeom prst="rect">
            <a:avLst/>
          </a:prstGeom>
          <a:solidFill>
            <a:schemeClr val="bg2">
              <a:lumMod val="85000"/>
            </a:schemeClr>
          </a:solidFill>
          <a:ln>
            <a:solidFill>
              <a:schemeClr val="tx1"/>
            </a:solidFill>
          </a:ln>
        </p:spPr>
        <p:txBody>
          <a:bodyPr wrap="square" rtlCol="0">
            <a:spAutoFit/>
          </a:bodyPr>
          <a:lstStyle/>
          <a:p>
            <a:pPr algn="ctr"/>
            <a:r>
              <a:rPr lang="en-US" sz="2400" dirty="0">
                <a:solidFill>
                  <a:srgbClr val="FF0000"/>
                </a:solidFill>
              </a:rPr>
              <a:t>11</a:t>
            </a:r>
          </a:p>
        </p:txBody>
      </p:sp>
      <p:sp>
        <p:nvSpPr>
          <p:cNvPr id="29" name="TextBox 28"/>
          <p:cNvSpPr txBox="1"/>
          <p:nvPr/>
        </p:nvSpPr>
        <p:spPr>
          <a:xfrm>
            <a:off x="9393185" y="3191491"/>
            <a:ext cx="1940899" cy="461665"/>
          </a:xfrm>
          <a:prstGeom prst="rect">
            <a:avLst/>
          </a:prstGeom>
          <a:solidFill>
            <a:schemeClr val="bg2">
              <a:lumMod val="85000"/>
            </a:schemeClr>
          </a:solidFill>
          <a:ln>
            <a:solidFill>
              <a:schemeClr val="tx1"/>
            </a:solidFill>
          </a:ln>
        </p:spPr>
        <p:txBody>
          <a:bodyPr wrap="square" rtlCol="0">
            <a:spAutoFit/>
          </a:bodyPr>
          <a:lstStyle/>
          <a:p>
            <a:pPr algn="ctr"/>
            <a:r>
              <a:rPr lang="en-US" sz="2400" dirty="0">
                <a:solidFill>
                  <a:srgbClr val="FF0000"/>
                </a:solidFill>
              </a:rPr>
              <a:t>20</a:t>
            </a:r>
          </a:p>
        </p:txBody>
      </p:sp>
      <p:sp>
        <p:nvSpPr>
          <p:cNvPr id="30" name="TextBox 29"/>
          <p:cNvSpPr txBox="1"/>
          <p:nvPr/>
        </p:nvSpPr>
        <p:spPr>
          <a:xfrm>
            <a:off x="11334084" y="3191491"/>
            <a:ext cx="336952" cy="461665"/>
          </a:xfrm>
          <a:prstGeom prst="rect">
            <a:avLst/>
          </a:prstGeom>
          <a:noFill/>
          <a:ln>
            <a:solidFill>
              <a:schemeClr val="tx1"/>
            </a:solidFill>
          </a:ln>
        </p:spPr>
        <p:txBody>
          <a:bodyPr wrap="none" rtlCol="0">
            <a:spAutoFit/>
          </a:bodyPr>
          <a:lstStyle/>
          <a:p>
            <a:r>
              <a:rPr lang="en-US" sz="2400" dirty="0"/>
              <a:t>4</a:t>
            </a:r>
          </a:p>
        </p:txBody>
      </p:sp>
      <p:sp>
        <p:nvSpPr>
          <p:cNvPr id="31" name="TextBox 30"/>
          <p:cNvSpPr txBox="1"/>
          <p:nvPr/>
        </p:nvSpPr>
        <p:spPr>
          <a:xfrm>
            <a:off x="11671036" y="3191490"/>
            <a:ext cx="336952" cy="461665"/>
          </a:xfrm>
          <a:prstGeom prst="rect">
            <a:avLst/>
          </a:prstGeom>
          <a:noFill/>
          <a:ln>
            <a:solidFill>
              <a:schemeClr val="tx1"/>
            </a:solidFill>
          </a:ln>
        </p:spPr>
        <p:txBody>
          <a:bodyPr wrap="none" rtlCol="0">
            <a:spAutoFit/>
          </a:bodyPr>
          <a:lstStyle/>
          <a:p>
            <a:r>
              <a:rPr lang="en-US" sz="2400" dirty="0"/>
              <a:t>3</a:t>
            </a:r>
          </a:p>
        </p:txBody>
      </p:sp>
      <p:sp>
        <p:nvSpPr>
          <p:cNvPr id="36" name="TextBox 35"/>
          <p:cNvSpPr txBox="1"/>
          <p:nvPr/>
        </p:nvSpPr>
        <p:spPr>
          <a:xfrm>
            <a:off x="1294920" y="4425321"/>
            <a:ext cx="909508" cy="461665"/>
          </a:xfrm>
          <a:prstGeom prst="rect">
            <a:avLst/>
          </a:prstGeom>
          <a:solidFill>
            <a:schemeClr val="accent5">
              <a:lumMod val="40000"/>
              <a:lumOff val="60000"/>
            </a:schemeClr>
          </a:solidFill>
          <a:ln>
            <a:solidFill>
              <a:schemeClr val="tx1"/>
            </a:solidFill>
          </a:ln>
        </p:spPr>
        <p:txBody>
          <a:bodyPr wrap="square" rtlCol="0">
            <a:spAutoFit/>
          </a:bodyPr>
          <a:lstStyle/>
          <a:p>
            <a:pPr algn="ctr"/>
            <a:r>
              <a:rPr lang="en-US" sz="2400" dirty="0"/>
              <a:t>10</a:t>
            </a:r>
          </a:p>
        </p:txBody>
      </p:sp>
      <p:sp>
        <p:nvSpPr>
          <p:cNvPr id="39" name="TextBox 38"/>
          <p:cNvSpPr txBox="1"/>
          <p:nvPr/>
        </p:nvSpPr>
        <p:spPr>
          <a:xfrm>
            <a:off x="2204429" y="4427375"/>
            <a:ext cx="469586" cy="461665"/>
          </a:xfrm>
          <a:prstGeom prst="rect">
            <a:avLst/>
          </a:prstGeom>
          <a:solidFill>
            <a:schemeClr val="accent1">
              <a:lumMod val="40000"/>
              <a:lumOff val="60000"/>
            </a:schemeClr>
          </a:solidFill>
          <a:ln>
            <a:solidFill>
              <a:schemeClr val="tx1"/>
            </a:solidFill>
          </a:ln>
        </p:spPr>
        <p:txBody>
          <a:bodyPr wrap="square" rtlCol="0">
            <a:spAutoFit/>
          </a:bodyPr>
          <a:lstStyle/>
          <a:p>
            <a:pPr algn="ctr"/>
            <a:r>
              <a:rPr lang="en-US" sz="2400" dirty="0">
                <a:solidFill>
                  <a:srgbClr val="FF0000"/>
                </a:solidFill>
              </a:rPr>
              <a:t>5</a:t>
            </a:r>
          </a:p>
        </p:txBody>
      </p:sp>
      <p:sp>
        <p:nvSpPr>
          <p:cNvPr id="50" name="TextBox 49"/>
          <p:cNvSpPr txBox="1"/>
          <p:nvPr/>
        </p:nvSpPr>
        <p:spPr>
          <a:xfrm>
            <a:off x="1835493" y="4053492"/>
            <a:ext cx="1064715" cy="369332"/>
          </a:xfrm>
          <a:prstGeom prst="rect">
            <a:avLst/>
          </a:prstGeom>
          <a:noFill/>
        </p:spPr>
        <p:txBody>
          <a:bodyPr wrap="none" rtlCol="0">
            <a:spAutoFit/>
          </a:bodyPr>
          <a:lstStyle/>
          <a:p>
            <a:r>
              <a:rPr lang="en-US" dirty="0"/>
              <a:t>5 MB free</a:t>
            </a:r>
          </a:p>
        </p:txBody>
      </p:sp>
      <p:sp>
        <p:nvSpPr>
          <p:cNvPr id="32" name="TextBox 31"/>
          <p:cNvSpPr txBox="1"/>
          <p:nvPr/>
        </p:nvSpPr>
        <p:spPr>
          <a:xfrm>
            <a:off x="2997600" y="4424339"/>
            <a:ext cx="511289" cy="461665"/>
          </a:xfrm>
          <a:prstGeom prst="rect">
            <a:avLst/>
          </a:prstGeom>
          <a:solidFill>
            <a:schemeClr val="accent4">
              <a:lumMod val="40000"/>
              <a:lumOff val="60000"/>
            </a:schemeClr>
          </a:solidFill>
          <a:ln>
            <a:solidFill>
              <a:schemeClr val="tx1"/>
            </a:solidFill>
          </a:ln>
        </p:spPr>
        <p:txBody>
          <a:bodyPr wrap="square" rtlCol="0">
            <a:spAutoFit/>
          </a:bodyPr>
          <a:lstStyle/>
          <a:p>
            <a:pPr algn="ctr"/>
            <a:r>
              <a:rPr lang="en-US" sz="2400" dirty="0"/>
              <a:t>10</a:t>
            </a:r>
          </a:p>
        </p:txBody>
      </p:sp>
      <p:sp>
        <p:nvSpPr>
          <p:cNvPr id="33" name="TextBox 32"/>
          <p:cNvSpPr txBox="1"/>
          <p:nvPr/>
        </p:nvSpPr>
        <p:spPr>
          <a:xfrm>
            <a:off x="3510014" y="4424338"/>
            <a:ext cx="312741" cy="461665"/>
          </a:xfrm>
          <a:prstGeom prst="rect">
            <a:avLst/>
          </a:prstGeom>
          <a:solidFill>
            <a:schemeClr val="bg2">
              <a:lumMod val="85000"/>
            </a:schemeClr>
          </a:solidFill>
          <a:ln>
            <a:solidFill>
              <a:schemeClr val="tx1"/>
            </a:solidFill>
          </a:ln>
        </p:spPr>
        <p:txBody>
          <a:bodyPr wrap="square" rtlCol="0">
            <a:spAutoFit/>
          </a:bodyPr>
          <a:lstStyle/>
          <a:p>
            <a:pPr algn="ctr"/>
            <a:r>
              <a:rPr lang="en-US" sz="2400" dirty="0">
                <a:solidFill>
                  <a:srgbClr val="FF0000"/>
                </a:solidFill>
              </a:rPr>
              <a:t>1</a:t>
            </a:r>
          </a:p>
        </p:txBody>
      </p:sp>
      <p:sp>
        <p:nvSpPr>
          <p:cNvPr id="34" name="TextBox 33"/>
          <p:cNvSpPr txBox="1"/>
          <p:nvPr/>
        </p:nvSpPr>
        <p:spPr>
          <a:xfrm>
            <a:off x="2768976" y="3625594"/>
            <a:ext cx="954107" cy="400110"/>
          </a:xfrm>
          <a:prstGeom prst="rect">
            <a:avLst/>
          </a:prstGeom>
          <a:noFill/>
        </p:spPr>
        <p:txBody>
          <a:bodyPr wrap="none" rtlCol="0">
            <a:spAutoFit/>
          </a:bodyPr>
          <a:lstStyle/>
          <a:p>
            <a:r>
              <a:rPr lang="en-US" sz="2000" dirty="0"/>
              <a:t>Best Fit</a:t>
            </a:r>
          </a:p>
        </p:txBody>
      </p:sp>
      <p:cxnSp>
        <p:nvCxnSpPr>
          <p:cNvPr id="35" name="Straight Arrow Connector 34"/>
          <p:cNvCxnSpPr>
            <a:stCxn id="34" idx="2"/>
            <a:endCxn id="32" idx="0"/>
          </p:cNvCxnSpPr>
          <p:nvPr/>
        </p:nvCxnSpPr>
        <p:spPr>
          <a:xfrm>
            <a:off x="3246030" y="4025704"/>
            <a:ext cx="7215" cy="39863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3427848" y="4052018"/>
            <a:ext cx="1064715" cy="369332"/>
          </a:xfrm>
          <a:prstGeom prst="rect">
            <a:avLst/>
          </a:prstGeom>
          <a:noFill/>
        </p:spPr>
        <p:txBody>
          <a:bodyPr wrap="none" rtlCol="0">
            <a:spAutoFit/>
          </a:bodyPr>
          <a:lstStyle/>
          <a:p>
            <a:r>
              <a:rPr lang="en-US" dirty="0"/>
              <a:t>1 MB free</a:t>
            </a:r>
          </a:p>
        </p:txBody>
      </p:sp>
      <p:cxnSp>
        <p:nvCxnSpPr>
          <p:cNvPr id="38" name="Straight Arrow Connector 37"/>
          <p:cNvCxnSpPr/>
          <p:nvPr/>
        </p:nvCxnSpPr>
        <p:spPr>
          <a:xfrm flipV="1">
            <a:off x="624710" y="4882970"/>
            <a:ext cx="0" cy="637372"/>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flipV="1">
            <a:off x="5240322" y="4882970"/>
            <a:ext cx="0" cy="637372"/>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4209696" y="4392977"/>
            <a:ext cx="1962096" cy="521357"/>
          </a:xfrm>
          <a:prstGeom prst="rect">
            <a:avLst/>
          </a:prstGeom>
          <a:noFill/>
          <a:ln w="38100">
            <a:solidFill>
              <a:srgbClr val="FF0000"/>
            </a:solidFill>
          </a:ln>
        </p:spPr>
        <p:txBody>
          <a:bodyPr wrap="square" rtlCol="0">
            <a:spAutoFit/>
          </a:bodyPr>
          <a:lstStyle/>
          <a:p>
            <a:endParaRPr lang="en-US" dirty="0"/>
          </a:p>
        </p:txBody>
      </p:sp>
      <p:cxnSp>
        <p:nvCxnSpPr>
          <p:cNvPr id="44" name="Straight Arrow Connector 43">
            <a:extLst>
              <a:ext uri="{FF2B5EF4-FFF2-40B4-BE49-F238E27FC236}">
                <a16:creationId xmlns:a16="http://schemas.microsoft.com/office/drawing/2014/main" id="{7383D0B8-BF96-4C3B-B04D-EB8DF868F823}"/>
              </a:ext>
            </a:extLst>
          </p:cNvPr>
          <p:cNvCxnSpPr>
            <a:cxnSpLocks/>
          </p:cNvCxnSpPr>
          <p:nvPr/>
        </p:nvCxnSpPr>
        <p:spPr>
          <a:xfrm flipV="1">
            <a:off x="6688764" y="4882970"/>
            <a:ext cx="0" cy="459845"/>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0A0ED4CA-6D7E-4C8C-BD19-B040F577160F}"/>
              </a:ext>
            </a:extLst>
          </p:cNvPr>
          <p:cNvSpPr txBox="1"/>
          <p:nvPr/>
        </p:nvSpPr>
        <p:spPr>
          <a:xfrm>
            <a:off x="5707720" y="5424840"/>
            <a:ext cx="336952" cy="461665"/>
          </a:xfrm>
          <a:prstGeom prst="rect">
            <a:avLst/>
          </a:prstGeom>
          <a:noFill/>
          <a:ln>
            <a:solidFill>
              <a:schemeClr val="tx1"/>
            </a:solidFill>
          </a:ln>
        </p:spPr>
        <p:txBody>
          <a:bodyPr wrap="none" rtlCol="0">
            <a:spAutoFit/>
          </a:bodyPr>
          <a:lstStyle/>
          <a:p>
            <a:r>
              <a:rPr lang="en-US" sz="2400" dirty="0"/>
              <a:t>5</a:t>
            </a:r>
          </a:p>
        </p:txBody>
      </p:sp>
      <p:sp>
        <p:nvSpPr>
          <p:cNvPr id="49" name="TextBox 48">
            <a:extLst>
              <a:ext uri="{FF2B5EF4-FFF2-40B4-BE49-F238E27FC236}">
                <a16:creationId xmlns:a16="http://schemas.microsoft.com/office/drawing/2014/main" id="{3334B043-DA52-4145-9CB0-1113F58030CF}"/>
              </a:ext>
            </a:extLst>
          </p:cNvPr>
          <p:cNvSpPr txBox="1"/>
          <p:nvPr/>
        </p:nvSpPr>
        <p:spPr>
          <a:xfrm>
            <a:off x="6044672" y="5424840"/>
            <a:ext cx="469586" cy="461665"/>
          </a:xfrm>
          <a:prstGeom prst="rect">
            <a:avLst/>
          </a:prstGeom>
          <a:noFill/>
          <a:ln>
            <a:solidFill>
              <a:schemeClr val="tx1"/>
            </a:solidFill>
          </a:ln>
        </p:spPr>
        <p:txBody>
          <a:bodyPr wrap="square" rtlCol="0">
            <a:spAutoFit/>
          </a:bodyPr>
          <a:lstStyle/>
          <a:p>
            <a:pPr algn="ctr"/>
            <a:r>
              <a:rPr lang="en-US" sz="2400" dirty="0"/>
              <a:t>7</a:t>
            </a:r>
          </a:p>
        </p:txBody>
      </p:sp>
      <p:sp>
        <p:nvSpPr>
          <p:cNvPr id="51" name="TextBox 50">
            <a:extLst>
              <a:ext uri="{FF2B5EF4-FFF2-40B4-BE49-F238E27FC236}">
                <a16:creationId xmlns:a16="http://schemas.microsoft.com/office/drawing/2014/main" id="{DF20D2CD-F825-49F8-A8BC-F2CBEF97697F}"/>
              </a:ext>
            </a:extLst>
          </p:cNvPr>
          <p:cNvSpPr txBox="1"/>
          <p:nvPr/>
        </p:nvSpPr>
        <p:spPr>
          <a:xfrm>
            <a:off x="7893353" y="5421806"/>
            <a:ext cx="336952" cy="461665"/>
          </a:xfrm>
          <a:prstGeom prst="rect">
            <a:avLst/>
          </a:prstGeom>
          <a:noFill/>
          <a:ln>
            <a:solidFill>
              <a:schemeClr val="tx1"/>
            </a:solidFill>
          </a:ln>
        </p:spPr>
        <p:txBody>
          <a:bodyPr wrap="none" rtlCol="0">
            <a:spAutoFit/>
          </a:bodyPr>
          <a:lstStyle/>
          <a:p>
            <a:r>
              <a:rPr lang="en-US" sz="2400" dirty="0"/>
              <a:t>5</a:t>
            </a:r>
          </a:p>
        </p:txBody>
      </p:sp>
      <p:sp>
        <p:nvSpPr>
          <p:cNvPr id="52" name="TextBox 51">
            <a:extLst>
              <a:ext uri="{FF2B5EF4-FFF2-40B4-BE49-F238E27FC236}">
                <a16:creationId xmlns:a16="http://schemas.microsoft.com/office/drawing/2014/main" id="{CBC7280F-C3DB-48BA-B695-E766BC7D447F}"/>
              </a:ext>
            </a:extLst>
          </p:cNvPr>
          <p:cNvSpPr txBox="1"/>
          <p:nvPr/>
        </p:nvSpPr>
        <p:spPr>
          <a:xfrm>
            <a:off x="9056071" y="5421806"/>
            <a:ext cx="419071" cy="461665"/>
          </a:xfrm>
          <a:prstGeom prst="rect">
            <a:avLst/>
          </a:prstGeom>
          <a:noFill/>
          <a:ln>
            <a:solidFill>
              <a:schemeClr val="tx1"/>
            </a:solidFill>
          </a:ln>
        </p:spPr>
        <p:txBody>
          <a:bodyPr wrap="square" rtlCol="0">
            <a:spAutoFit/>
          </a:bodyPr>
          <a:lstStyle/>
          <a:p>
            <a:pPr algn="ctr"/>
            <a:r>
              <a:rPr lang="en-US" sz="2400" dirty="0"/>
              <a:t>8</a:t>
            </a:r>
          </a:p>
        </p:txBody>
      </p:sp>
      <p:sp>
        <p:nvSpPr>
          <p:cNvPr id="53" name="TextBox 52">
            <a:extLst>
              <a:ext uri="{FF2B5EF4-FFF2-40B4-BE49-F238E27FC236}">
                <a16:creationId xmlns:a16="http://schemas.microsoft.com/office/drawing/2014/main" id="{8FF2E762-5C9D-4D42-B519-CF0C164D2166}"/>
              </a:ext>
            </a:extLst>
          </p:cNvPr>
          <p:cNvSpPr txBox="1"/>
          <p:nvPr/>
        </p:nvSpPr>
        <p:spPr>
          <a:xfrm>
            <a:off x="8230305" y="5421806"/>
            <a:ext cx="825766" cy="461665"/>
          </a:xfrm>
          <a:prstGeom prst="rect">
            <a:avLst/>
          </a:prstGeom>
          <a:solidFill>
            <a:schemeClr val="bg2">
              <a:lumMod val="85000"/>
            </a:schemeClr>
          </a:solidFill>
          <a:ln>
            <a:solidFill>
              <a:schemeClr val="tx1"/>
            </a:solidFill>
          </a:ln>
        </p:spPr>
        <p:txBody>
          <a:bodyPr wrap="square" rtlCol="0">
            <a:spAutoFit/>
          </a:bodyPr>
          <a:lstStyle/>
          <a:p>
            <a:pPr algn="ctr"/>
            <a:r>
              <a:rPr lang="en-US" sz="2400" dirty="0"/>
              <a:t>11</a:t>
            </a:r>
          </a:p>
        </p:txBody>
      </p:sp>
      <p:sp>
        <p:nvSpPr>
          <p:cNvPr id="54" name="TextBox 53">
            <a:extLst>
              <a:ext uri="{FF2B5EF4-FFF2-40B4-BE49-F238E27FC236}">
                <a16:creationId xmlns:a16="http://schemas.microsoft.com/office/drawing/2014/main" id="{26157DDE-5C14-4C27-8E03-F99962E25F78}"/>
              </a:ext>
            </a:extLst>
          </p:cNvPr>
          <p:cNvSpPr txBox="1"/>
          <p:nvPr/>
        </p:nvSpPr>
        <p:spPr>
          <a:xfrm>
            <a:off x="9475142" y="5421806"/>
            <a:ext cx="1940899" cy="461665"/>
          </a:xfrm>
          <a:prstGeom prst="rect">
            <a:avLst/>
          </a:prstGeom>
          <a:solidFill>
            <a:schemeClr val="bg2">
              <a:lumMod val="85000"/>
            </a:schemeClr>
          </a:solidFill>
          <a:ln>
            <a:solidFill>
              <a:schemeClr val="tx1"/>
            </a:solidFill>
          </a:ln>
        </p:spPr>
        <p:txBody>
          <a:bodyPr wrap="square" rtlCol="0">
            <a:spAutoFit/>
          </a:bodyPr>
          <a:lstStyle/>
          <a:p>
            <a:pPr algn="ctr"/>
            <a:r>
              <a:rPr lang="en-US" sz="2400" dirty="0">
                <a:solidFill>
                  <a:srgbClr val="FF0000"/>
                </a:solidFill>
              </a:rPr>
              <a:t>20</a:t>
            </a:r>
          </a:p>
        </p:txBody>
      </p:sp>
      <p:sp>
        <p:nvSpPr>
          <p:cNvPr id="55" name="TextBox 54">
            <a:extLst>
              <a:ext uri="{FF2B5EF4-FFF2-40B4-BE49-F238E27FC236}">
                <a16:creationId xmlns:a16="http://schemas.microsoft.com/office/drawing/2014/main" id="{A0814FA8-E932-47C3-B68E-70C3D56196F7}"/>
              </a:ext>
            </a:extLst>
          </p:cNvPr>
          <p:cNvSpPr txBox="1"/>
          <p:nvPr/>
        </p:nvSpPr>
        <p:spPr>
          <a:xfrm>
            <a:off x="11416041" y="5421806"/>
            <a:ext cx="336952" cy="461665"/>
          </a:xfrm>
          <a:prstGeom prst="rect">
            <a:avLst/>
          </a:prstGeom>
          <a:noFill/>
          <a:ln>
            <a:solidFill>
              <a:schemeClr val="tx1"/>
            </a:solidFill>
          </a:ln>
        </p:spPr>
        <p:txBody>
          <a:bodyPr wrap="none" rtlCol="0">
            <a:spAutoFit/>
          </a:bodyPr>
          <a:lstStyle/>
          <a:p>
            <a:r>
              <a:rPr lang="en-US" sz="2400" dirty="0"/>
              <a:t>4</a:t>
            </a:r>
          </a:p>
        </p:txBody>
      </p:sp>
      <p:sp>
        <p:nvSpPr>
          <p:cNvPr id="56" name="TextBox 55">
            <a:extLst>
              <a:ext uri="{FF2B5EF4-FFF2-40B4-BE49-F238E27FC236}">
                <a16:creationId xmlns:a16="http://schemas.microsoft.com/office/drawing/2014/main" id="{DA1F6FDF-394F-466B-94B8-50DCB7BD0C9E}"/>
              </a:ext>
            </a:extLst>
          </p:cNvPr>
          <p:cNvSpPr txBox="1"/>
          <p:nvPr/>
        </p:nvSpPr>
        <p:spPr>
          <a:xfrm>
            <a:off x="11752993" y="5421805"/>
            <a:ext cx="336952" cy="461665"/>
          </a:xfrm>
          <a:prstGeom prst="rect">
            <a:avLst/>
          </a:prstGeom>
          <a:noFill/>
          <a:ln>
            <a:solidFill>
              <a:schemeClr val="tx1"/>
            </a:solidFill>
          </a:ln>
        </p:spPr>
        <p:txBody>
          <a:bodyPr wrap="none" rtlCol="0">
            <a:spAutoFit/>
          </a:bodyPr>
          <a:lstStyle/>
          <a:p>
            <a:r>
              <a:rPr lang="en-US" sz="2400" dirty="0"/>
              <a:t>3</a:t>
            </a:r>
          </a:p>
        </p:txBody>
      </p:sp>
      <p:sp>
        <p:nvSpPr>
          <p:cNvPr id="57" name="TextBox 56">
            <a:extLst>
              <a:ext uri="{FF2B5EF4-FFF2-40B4-BE49-F238E27FC236}">
                <a16:creationId xmlns:a16="http://schemas.microsoft.com/office/drawing/2014/main" id="{C3F5D1D7-8D45-4175-B211-2652CBF984C7}"/>
              </a:ext>
            </a:extLst>
          </p:cNvPr>
          <p:cNvSpPr txBox="1"/>
          <p:nvPr/>
        </p:nvSpPr>
        <p:spPr>
          <a:xfrm>
            <a:off x="6531465" y="6234264"/>
            <a:ext cx="955711" cy="400110"/>
          </a:xfrm>
          <a:prstGeom prst="rect">
            <a:avLst/>
          </a:prstGeom>
          <a:noFill/>
        </p:spPr>
        <p:txBody>
          <a:bodyPr wrap="none" rtlCol="0">
            <a:spAutoFit/>
          </a:bodyPr>
          <a:lstStyle/>
          <a:p>
            <a:r>
              <a:rPr lang="en-US" sz="2000" dirty="0"/>
              <a:t>First Fit</a:t>
            </a:r>
          </a:p>
        </p:txBody>
      </p:sp>
      <p:cxnSp>
        <p:nvCxnSpPr>
          <p:cNvPr id="58" name="Straight Arrow Connector 57">
            <a:extLst>
              <a:ext uri="{FF2B5EF4-FFF2-40B4-BE49-F238E27FC236}">
                <a16:creationId xmlns:a16="http://schemas.microsoft.com/office/drawing/2014/main" id="{279CFA64-A348-4EAB-A9DC-FFB50C1659C8}"/>
              </a:ext>
            </a:extLst>
          </p:cNvPr>
          <p:cNvCxnSpPr>
            <a:cxnSpLocks/>
          </p:cNvCxnSpPr>
          <p:nvPr/>
        </p:nvCxnSpPr>
        <p:spPr>
          <a:xfrm flipV="1">
            <a:off x="7009321" y="5880435"/>
            <a:ext cx="0" cy="45984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76E90DE4-0B9C-4425-AD6B-E0E251577EBA}"/>
              </a:ext>
            </a:extLst>
          </p:cNvPr>
          <p:cNvSpPr txBox="1"/>
          <p:nvPr/>
        </p:nvSpPr>
        <p:spPr>
          <a:xfrm>
            <a:off x="6527625" y="5422786"/>
            <a:ext cx="909508" cy="461665"/>
          </a:xfrm>
          <a:prstGeom prst="rect">
            <a:avLst/>
          </a:prstGeom>
          <a:solidFill>
            <a:schemeClr val="accent5">
              <a:lumMod val="40000"/>
              <a:lumOff val="60000"/>
            </a:schemeClr>
          </a:solidFill>
          <a:ln>
            <a:solidFill>
              <a:schemeClr val="tx1"/>
            </a:solidFill>
          </a:ln>
        </p:spPr>
        <p:txBody>
          <a:bodyPr wrap="square" rtlCol="0">
            <a:spAutoFit/>
          </a:bodyPr>
          <a:lstStyle/>
          <a:p>
            <a:pPr algn="ctr"/>
            <a:r>
              <a:rPr lang="en-US" sz="2400" dirty="0"/>
              <a:t>10</a:t>
            </a:r>
          </a:p>
        </p:txBody>
      </p:sp>
      <p:sp>
        <p:nvSpPr>
          <p:cNvPr id="60" name="TextBox 59">
            <a:extLst>
              <a:ext uri="{FF2B5EF4-FFF2-40B4-BE49-F238E27FC236}">
                <a16:creationId xmlns:a16="http://schemas.microsoft.com/office/drawing/2014/main" id="{44A2079D-DA69-4B69-8AD1-F716F52E6A3F}"/>
              </a:ext>
            </a:extLst>
          </p:cNvPr>
          <p:cNvSpPr txBox="1"/>
          <p:nvPr/>
        </p:nvSpPr>
        <p:spPr>
          <a:xfrm>
            <a:off x="7437134" y="5424840"/>
            <a:ext cx="469586" cy="461665"/>
          </a:xfrm>
          <a:prstGeom prst="rect">
            <a:avLst/>
          </a:prstGeom>
          <a:solidFill>
            <a:schemeClr val="accent1">
              <a:lumMod val="40000"/>
              <a:lumOff val="60000"/>
            </a:schemeClr>
          </a:solidFill>
          <a:ln>
            <a:solidFill>
              <a:schemeClr val="tx1"/>
            </a:solidFill>
          </a:ln>
        </p:spPr>
        <p:txBody>
          <a:bodyPr wrap="square" rtlCol="0">
            <a:spAutoFit/>
          </a:bodyPr>
          <a:lstStyle/>
          <a:p>
            <a:pPr algn="ctr"/>
            <a:r>
              <a:rPr lang="en-US" sz="2400" dirty="0">
                <a:solidFill>
                  <a:srgbClr val="FF0000"/>
                </a:solidFill>
              </a:rPr>
              <a:t>5</a:t>
            </a:r>
          </a:p>
        </p:txBody>
      </p:sp>
      <p:sp>
        <p:nvSpPr>
          <p:cNvPr id="61" name="TextBox 60">
            <a:extLst>
              <a:ext uri="{FF2B5EF4-FFF2-40B4-BE49-F238E27FC236}">
                <a16:creationId xmlns:a16="http://schemas.microsoft.com/office/drawing/2014/main" id="{38B90D21-255E-475B-878A-E6046DF982D4}"/>
              </a:ext>
            </a:extLst>
          </p:cNvPr>
          <p:cNvSpPr txBox="1"/>
          <p:nvPr/>
        </p:nvSpPr>
        <p:spPr>
          <a:xfrm>
            <a:off x="7068198" y="5050957"/>
            <a:ext cx="1064715" cy="369332"/>
          </a:xfrm>
          <a:prstGeom prst="rect">
            <a:avLst/>
          </a:prstGeom>
          <a:noFill/>
        </p:spPr>
        <p:txBody>
          <a:bodyPr wrap="none" rtlCol="0">
            <a:spAutoFit/>
          </a:bodyPr>
          <a:lstStyle/>
          <a:p>
            <a:r>
              <a:rPr lang="en-US" dirty="0"/>
              <a:t>5 MB free</a:t>
            </a:r>
          </a:p>
        </p:txBody>
      </p:sp>
      <p:sp>
        <p:nvSpPr>
          <p:cNvPr id="62" name="TextBox 61">
            <a:extLst>
              <a:ext uri="{FF2B5EF4-FFF2-40B4-BE49-F238E27FC236}">
                <a16:creationId xmlns:a16="http://schemas.microsoft.com/office/drawing/2014/main" id="{B245EC4D-C6EA-43B8-AD86-C7675A50722E}"/>
              </a:ext>
            </a:extLst>
          </p:cNvPr>
          <p:cNvSpPr txBox="1"/>
          <p:nvPr/>
        </p:nvSpPr>
        <p:spPr>
          <a:xfrm>
            <a:off x="8230305" y="5421804"/>
            <a:ext cx="511289" cy="461665"/>
          </a:xfrm>
          <a:prstGeom prst="rect">
            <a:avLst/>
          </a:prstGeom>
          <a:solidFill>
            <a:schemeClr val="accent4">
              <a:lumMod val="40000"/>
              <a:lumOff val="60000"/>
            </a:schemeClr>
          </a:solidFill>
          <a:ln>
            <a:solidFill>
              <a:schemeClr val="tx1"/>
            </a:solidFill>
          </a:ln>
        </p:spPr>
        <p:txBody>
          <a:bodyPr wrap="square" rtlCol="0">
            <a:spAutoFit/>
          </a:bodyPr>
          <a:lstStyle/>
          <a:p>
            <a:pPr algn="ctr"/>
            <a:r>
              <a:rPr lang="en-US" sz="2400" dirty="0"/>
              <a:t>10</a:t>
            </a:r>
          </a:p>
        </p:txBody>
      </p:sp>
      <p:sp>
        <p:nvSpPr>
          <p:cNvPr id="63" name="TextBox 62">
            <a:extLst>
              <a:ext uri="{FF2B5EF4-FFF2-40B4-BE49-F238E27FC236}">
                <a16:creationId xmlns:a16="http://schemas.microsoft.com/office/drawing/2014/main" id="{436BE4B1-8185-4DE7-BB23-F7072E2A81D9}"/>
              </a:ext>
            </a:extLst>
          </p:cNvPr>
          <p:cNvSpPr txBox="1"/>
          <p:nvPr/>
        </p:nvSpPr>
        <p:spPr>
          <a:xfrm>
            <a:off x="8742719" y="5421803"/>
            <a:ext cx="312741" cy="461665"/>
          </a:xfrm>
          <a:prstGeom prst="rect">
            <a:avLst/>
          </a:prstGeom>
          <a:solidFill>
            <a:schemeClr val="bg2">
              <a:lumMod val="85000"/>
            </a:schemeClr>
          </a:solidFill>
          <a:ln>
            <a:solidFill>
              <a:schemeClr val="tx1"/>
            </a:solidFill>
          </a:ln>
        </p:spPr>
        <p:txBody>
          <a:bodyPr wrap="square" rtlCol="0">
            <a:spAutoFit/>
          </a:bodyPr>
          <a:lstStyle/>
          <a:p>
            <a:pPr algn="ctr"/>
            <a:r>
              <a:rPr lang="en-US" sz="2400" dirty="0">
                <a:solidFill>
                  <a:srgbClr val="FF0000"/>
                </a:solidFill>
              </a:rPr>
              <a:t>1</a:t>
            </a:r>
          </a:p>
        </p:txBody>
      </p:sp>
      <p:sp>
        <p:nvSpPr>
          <p:cNvPr id="64" name="TextBox 63">
            <a:extLst>
              <a:ext uri="{FF2B5EF4-FFF2-40B4-BE49-F238E27FC236}">
                <a16:creationId xmlns:a16="http://schemas.microsoft.com/office/drawing/2014/main" id="{A004D237-A2A0-4C34-B2FB-95DC4A2B0083}"/>
              </a:ext>
            </a:extLst>
          </p:cNvPr>
          <p:cNvSpPr txBox="1"/>
          <p:nvPr/>
        </p:nvSpPr>
        <p:spPr>
          <a:xfrm>
            <a:off x="8001681" y="4623059"/>
            <a:ext cx="954107" cy="400110"/>
          </a:xfrm>
          <a:prstGeom prst="rect">
            <a:avLst/>
          </a:prstGeom>
          <a:noFill/>
        </p:spPr>
        <p:txBody>
          <a:bodyPr wrap="none" rtlCol="0">
            <a:spAutoFit/>
          </a:bodyPr>
          <a:lstStyle/>
          <a:p>
            <a:r>
              <a:rPr lang="en-US" sz="2000" dirty="0"/>
              <a:t>Best Fit</a:t>
            </a:r>
          </a:p>
        </p:txBody>
      </p:sp>
      <p:cxnSp>
        <p:nvCxnSpPr>
          <p:cNvPr id="65" name="Straight Arrow Connector 64">
            <a:extLst>
              <a:ext uri="{FF2B5EF4-FFF2-40B4-BE49-F238E27FC236}">
                <a16:creationId xmlns:a16="http://schemas.microsoft.com/office/drawing/2014/main" id="{5F6509B4-128D-40DD-A4F0-455E7BD3ABF0}"/>
              </a:ext>
            </a:extLst>
          </p:cNvPr>
          <p:cNvCxnSpPr>
            <a:stCxn id="64" idx="2"/>
            <a:endCxn id="62" idx="0"/>
          </p:cNvCxnSpPr>
          <p:nvPr/>
        </p:nvCxnSpPr>
        <p:spPr>
          <a:xfrm>
            <a:off x="8478735" y="5023169"/>
            <a:ext cx="7215" cy="39863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E6ADFC81-06AE-4E90-90BC-8220459A9993}"/>
              </a:ext>
            </a:extLst>
          </p:cNvPr>
          <p:cNvSpPr txBox="1"/>
          <p:nvPr/>
        </p:nvSpPr>
        <p:spPr>
          <a:xfrm>
            <a:off x="8660553" y="5049483"/>
            <a:ext cx="1064715" cy="369332"/>
          </a:xfrm>
          <a:prstGeom prst="rect">
            <a:avLst/>
          </a:prstGeom>
          <a:noFill/>
        </p:spPr>
        <p:txBody>
          <a:bodyPr wrap="none" rtlCol="0">
            <a:spAutoFit/>
          </a:bodyPr>
          <a:lstStyle/>
          <a:p>
            <a:r>
              <a:rPr lang="en-US" dirty="0"/>
              <a:t>1 MB free</a:t>
            </a:r>
          </a:p>
        </p:txBody>
      </p:sp>
      <p:sp>
        <p:nvSpPr>
          <p:cNvPr id="71" name="TextBox 70">
            <a:extLst>
              <a:ext uri="{FF2B5EF4-FFF2-40B4-BE49-F238E27FC236}">
                <a16:creationId xmlns:a16="http://schemas.microsoft.com/office/drawing/2014/main" id="{6FC7CAE8-62F9-453C-99A6-A6B85E166C8A}"/>
              </a:ext>
            </a:extLst>
          </p:cNvPr>
          <p:cNvSpPr txBox="1"/>
          <p:nvPr/>
        </p:nvSpPr>
        <p:spPr>
          <a:xfrm>
            <a:off x="9446212" y="4608376"/>
            <a:ext cx="1096775" cy="400110"/>
          </a:xfrm>
          <a:prstGeom prst="rect">
            <a:avLst/>
          </a:prstGeom>
          <a:noFill/>
        </p:spPr>
        <p:txBody>
          <a:bodyPr wrap="none" rtlCol="0">
            <a:spAutoFit/>
          </a:bodyPr>
          <a:lstStyle/>
          <a:p>
            <a:r>
              <a:rPr lang="en-US" sz="2000" dirty="0"/>
              <a:t>Worst Fit</a:t>
            </a:r>
          </a:p>
        </p:txBody>
      </p:sp>
      <p:sp>
        <p:nvSpPr>
          <p:cNvPr id="72" name="TextBox 71">
            <a:extLst>
              <a:ext uri="{FF2B5EF4-FFF2-40B4-BE49-F238E27FC236}">
                <a16:creationId xmlns:a16="http://schemas.microsoft.com/office/drawing/2014/main" id="{6A2ECC58-AA0B-4060-B874-5876E68E83D0}"/>
              </a:ext>
            </a:extLst>
          </p:cNvPr>
          <p:cNvSpPr txBox="1"/>
          <p:nvPr/>
        </p:nvSpPr>
        <p:spPr>
          <a:xfrm>
            <a:off x="9491889" y="5419751"/>
            <a:ext cx="1009991" cy="461665"/>
          </a:xfrm>
          <a:prstGeom prst="rect">
            <a:avLst/>
          </a:prstGeom>
          <a:solidFill>
            <a:schemeClr val="tx2">
              <a:lumMod val="40000"/>
              <a:lumOff val="60000"/>
            </a:schemeClr>
          </a:solidFill>
          <a:ln>
            <a:solidFill>
              <a:schemeClr val="tx1"/>
            </a:solidFill>
          </a:ln>
        </p:spPr>
        <p:txBody>
          <a:bodyPr wrap="square" rtlCol="0">
            <a:spAutoFit/>
          </a:bodyPr>
          <a:lstStyle/>
          <a:p>
            <a:pPr algn="ctr"/>
            <a:r>
              <a:rPr lang="en-US" sz="2400" dirty="0"/>
              <a:t>10</a:t>
            </a:r>
          </a:p>
        </p:txBody>
      </p:sp>
      <p:sp>
        <p:nvSpPr>
          <p:cNvPr id="73" name="TextBox 72">
            <a:extLst>
              <a:ext uri="{FF2B5EF4-FFF2-40B4-BE49-F238E27FC236}">
                <a16:creationId xmlns:a16="http://schemas.microsoft.com/office/drawing/2014/main" id="{ED121006-3EA5-48C8-A9A2-AB2C2AD4E49E}"/>
              </a:ext>
            </a:extLst>
          </p:cNvPr>
          <p:cNvSpPr txBox="1"/>
          <p:nvPr/>
        </p:nvSpPr>
        <p:spPr>
          <a:xfrm>
            <a:off x="10507138" y="5409906"/>
            <a:ext cx="943014" cy="461665"/>
          </a:xfrm>
          <a:prstGeom prst="rect">
            <a:avLst/>
          </a:prstGeom>
          <a:solidFill>
            <a:schemeClr val="accent1">
              <a:lumMod val="40000"/>
              <a:lumOff val="60000"/>
            </a:schemeClr>
          </a:solidFill>
          <a:ln>
            <a:solidFill>
              <a:schemeClr val="tx1"/>
            </a:solidFill>
          </a:ln>
        </p:spPr>
        <p:txBody>
          <a:bodyPr wrap="square" rtlCol="0">
            <a:spAutoFit/>
          </a:bodyPr>
          <a:lstStyle/>
          <a:p>
            <a:pPr algn="ctr"/>
            <a:r>
              <a:rPr lang="en-US" sz="2400" dirty="0">
                <a:solidFill>
                  <a:srgbClr val="FF0000"/>
                </a:solidFill>
              </a:rPr>
              <a:t>10</a:t>
            </a:r>
          </a:p>
        </p:txBody>
      </p:sp>
      <p:cxnSp>
        <p:nvCxnSpPr>
          <p:cNvPr id="74" name="Straight Arrow Connector 73">
            <a:extLst>
              <a:ext uri="{FF2B5EF4-FFF2-40B4-BE49-F238E27FC236}">
                <a16:creationId xmlns:a16="http://schemas.microsoft.com/office/drawing/2014/main" id="{CD044FDC-70B2-48BC-AFC8-E675D69DB9EF}"/>
              </a:ext>
            </a:extLst>
          </p:cNvPr>
          <p:cNvCxnSpPr/>
          <p:nvPr/>
        </p:nvCxnSpPr>
        <p:spPr>
          <a:xfrm flipH="1">
            <a:off x="9994599" y="4958004"/>
            <a:ext cx="11363" cy="43856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8B3B6BD4-73B4-45FF-B1CB-173CE1E92951}"/>
              </a:ext>
            </a:extLst>
          </p:cNvPr>
          <p:cNvSpPr txBox="1"/>
          <p:nvPr/>
        </p:nvSpPr>
        <p:spPr>
          <a:xfrm>
            <a:off x="10413364" y="5044469"/>
            <a:ext cx="1178528" cy="369332"/>
          </a:xfrm>
          <a:prstGeom prst="rect">
            <a:avLst/>
          </a:prstGeom>
          <a:noFill/>
        </p:spPr>
        <p:txBody>
          <a:bodyPr wrap="none" rtlCol="0">
            <a:spAutoFit/>
          </a:bodyPr>
          <a:lstStyle/>
          <a:p>
            <a:r>
              <a:rPr lang="en-US" dirty="0"/>
              <a:t>10 MB free</a:t>
            </a:r>
          </a:p>
        </p:txBody>
      </p:sp>
      <p:sp>
        <p:nvSpPr>
          <p:cNvPr id="67" name="TextBox 66">
            <a:extLst>
              <a:ext uri="{FF2B5EF4-FFF2-40B4-BE49-F238E27FC236}">
                <a16:creationId xmlns:a16="http://schemas.microsoft.com/office/drawing/2014/main" id="{CD3C62EA-644B-4C09-8541-9585F8A544E4}"/>
              </a:ext>
            </a:extLst>
          </p:cNvPr>
          <p:cNvSpPr txBox="1"/>
          <p:nvPr/>
        </p:nvSpPr>
        <p:spPr>
          <a:xfrm>
            <a:off x="8066080" y="6137775"/>
            <a:ext cx="968535" cy="400110"/>
          </a:xfrm>
          <a:prstGeom prst="rect">
            <a:avLst/>
          </a:prstGeom>
          <a:noFill/>
        </p:spPr>
        <p:txBody>
          <a:bodyPr wrap="none" rtlCol="0">
            <a:spAutoFit/>
          </a:bodyPr>
          <a:lstStyle/>
          <a:p>
            <a:r>
              <a:rPr lang="en-US" sz="2000" dirty="0"/>
              <a:t>Next Fit</a:t>
            </a:r>
          </a:p>
        </p:txBody>
      </p:sp>
      <p:cxnSp>
        <p:nvCxnSpPr>
          <p:cNvPr id="68" name="Straight Arrow Connector 67">
            <a:extLst>
              <a:ext uri="{FF2B5EF4-FFF2-40B4-BE49-F238E27FC236}">
                <a16:creationId xmlns:a16="http://schemas.microsoft.com/office/drawing/2014/main" id="{B8871D99-9C5B-496F-BA2F-75DEEA3538BE}"/>
              </a:ext>
            </a:extLst>
          </p:cNvPr>
          <p:cNvCxnSpPr>
            <a:cxnSpLocks/>
          </p:cNvCxnSpPr>
          <p:nvPr/>
        </p:nvCxnSpPr>
        <p:spPr>
          <a:xfrm flipV="1">
            <a:off x="8467457" y="5938828"/>
            <a:ext cx="0" cy="29543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056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9"/>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5"/>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3"/>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2"/>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3"/>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4"/>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37"/>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35"/>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38"/>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63" presetClass="path" presetSubtype="0" accel="50000" decel="50000" fill="hold" nodeType="clickEffect">
                                  <p:stCondLst>
                                    <p:cond delay="0"/>
                                  </p:stCondLst>
                                  <p:childTnLst>
                                    <p:animMotion origin="layout" path="M -2.08333E-6 -3.33333E-6 L 0.4961 -0.00208 " pathEditMode="relative" rAng="0" ptsTypes="AA">
                                      <p:cBhvr>
                                        <p:cTn id="92" dur="2000" fill="hold"/>
                                        <p:tgtEl>
                                          <p:spTgt spid="38"/>
                                        </p:tgtEl>
                                        <p:attrNameLst>
                                          <p:attrName>ppt_x</p:attrName>
                                          <p:attrName>ppt_y</p:attrName>
                                        </p:attrNameLst>
                                      </p:cBhvr>
                                      <p:rCtr x="24805" y="-116"/>
                                    </p:animMotion>
                                  </p:childTnLst>
                                </p:cTn>
                              </p:par>
                              <p:par>
                                <p:cTn id="93" presetID="1" presetClass="entr" presetSubtype="0" fill="hold" grpId="0" nodeType="withEffect">
                                  <p:stCondLst>
                                    <p:cond delay="0"/>
                                  </p:stCondLst>
                                  <p:childTnLst>
                                    <p:set>
                                      <p:cBhvr>
                                        <p:cTn id="94" dur="1" fill="hold">
                                          <p:stCondLst>
                                            <p:cond delay="0"/>
                                          </p:stCondLst>
                                        </p:cTn>
                                        <p:tgtEl>
                                          <p:spTgt spid="17"/>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xit" presetSubtype="0" fill="hold" nodeType="clickEffect">
                                  <p:stCondLst>
                                    <p:cond delay="0"/>
                                  </p:stCondLst>
                                  <p:childTnLst>
                                    <p:set>
                                      <p:cBhvr>
                                        <p:cTn id="98" dur="1" fill="hold">
                                          <p:stCondLst>
                                            <p:cond delay="0"/>
                                          </p:stCondLst>
                                        </p:cTn>
                                        <p:tgtEl>
                                          <p:spTgt spid="38"/>
                                        </p:tgtEl>
                                        <p:attrNameLst>
                                          <p:attrName>style.visibility</p:attrName>
                                        </p:attrNameLst>
                                      </p:cBhvr>
                                      <p:to>
                                        <p:strVal val="hidden"/>
                                      </p:to>
                                    </p:set>
                                  </p:childTnLst>
                                </p:cTn>
                              </p:par>
                              <p:par>
                                <p:cTn id="99" presetID="1" presetClass="entr" presetSubtype="0" fill="hold" nodeType="withEffect">
                                  <p:stCondLst>
                                    <p:cond delay="0"/>
                                  </p:stCondLst>
                                  <p:childTnLst>
                                    <p:set>
                                      <p:cBhvr>
                                        <p:cTn id="100" dur="1" fill="hold">
                                          <p:stCondLst>
                                            <p:cond delay="0"/>
                                          </p:stCondLst>
                                        </p:cTn>
                                        <p:tgtEl>
                                          <p:spTgt spid="44"/>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48"/>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43"/>
                                        </p:tgtEl>
                                        <p:attrNameLst>
                                          <p:attrName>style.visibility</p:attrName>
                                        </p:attrNameLst>
                                      </p:cBhvr>
                                      <p:to>
                                        <p:strVal val="visible"/>
                                      </p:to>
                                    </p:set>
                                  </p:childTnLst>
                                </p:cTn>
                              </p:par>
                              <p:par>
                                <p:cTn id="105" presetID="26" presetClass="emph" presetSubtype="0" repeatCount="indefinite" fill="hold" grpId="1" nodeType="withEffect">
                                  <p:stCondLst>
                                    <p:cond delay="0"/>
                                  </p:stCondLst>
                                  <p:endCondLst>
                                    <p:cond evt="onNext" delay="0">
                                      <p:tgtEl>
                                        <p:sldTgt/>
                                      </p:tgtEl>
                                    </p:cond>
                                  </p:endCondLst>
                                  <p:childTnLst>
                                    <p:animEffect transition="out" filter="fade">
                                      <p:cBhvr>
                                        <p:cTn id="106" dur="500" tmFilter="0, 0; .2, .5; .8, .5; 1, 0"/>
                                        <p:tgtEl>
                                          <p:spTgt spid="43"/>
                                        </p:tgtEl>
                                      </p:cBhvr>
                                    </p:animEffect>
                                    <p:animScale>
                                      <p:cBhvr>
                                        <p:cTn id="107" dur="250" autoRev="1" fill="hold"/>
                                        <p:tgtEl>
                                          <p:spTgt spid="43"/>
                                        </p:tgtEl>
                                      </p:cBhvr>
                                      <p:by x="105000" y="105000"/>
                                    </p:animScale>
                                  </p:childTnLst>
                                </p:cTn>
                              </p:par>
                            </p:childTnLst>
                          </p:cTn>
                        </p:par>
                      </p:childTnLst>
                    </p:cTn>
                  </p:par>
                  <p:par>
                    <p:cTn id="108" fill="hold">
                      <p:stCondLst>
                        <p:cond delay="indefinite"/>
                      </p:stCondLst>
                      <p:childTnLst>
                        <p:par>
                          <p:cTn id="109" fill="hold">
                            <p:stCondLst>
                              <p:cond delay="0"/>
                            </p:stCondLst>
                            <p:childTnLst>
                              <p:par>
                                <p:cTn id="110" presetID="1" presetClass="exit" presetSubtype="0" fill="hold" grpId="2" nodeType="clickEffect">
                                  <p:stCondLst>
                                    <p:cond delay="0"/>
                                  </p:stCondLst>
                                  <p:childTnLst>
                                    <p:set>
                                      <p:cBhvr>
                                        <p:cTn id="111" dur="1" fill="hold">
                                          <p:stCondLst>
                                            <p:cond delay="0"/>
                                          </p:stCondLst>
                                        </p:cTn>
                                        <p:tgtEl>
                                          <p:spTgt spid="43"/>
                                        </p:tgtEl>
                                        <p:attrNameLst>
                                          <p:attrName>style.visibility</p:attrName>
                                        </p:attrNameLst>
                                      </p:cBhvr>
                                      <p:to>
                                        <p:strVal val="hidden"/>
                                      </p:to>
                                    </p:set>
                                  </p:childTnLst>
                                </p:cTn>
                              </p:par>
                              <p:par>
                                <p:cTn id="112" presetID="1" presetClass="exit" presetSubtype="0" fill="hold" nodeType="withEffect">
                                  <p:stCondLst>
                                    <p:cond delay="0"/>
                                  </p:stCondLst>
                                  <p:childTnLst>
                                    <p:set>
                                      <p:cBhvr>
                                        <p:cTn id="113" dur="1" fill="hold">
                                          <p:stCondLst>
                                            <p:cond delay="0"/>
                                          </p:stCondLst>
                                        </p:cTn>
                                        <p:tgtEl>
                                          <p:spTgt spid="48"/>
                                        </p:tgtEl>
                                        <p:attrNameLst>
                                          <p:attrName>style.visibility</p:attrName>
                                        </p:attrNameLst>
                                      </p:cBhvr>
                                      <p:to>
                                        <p:strVal val="hidden"/>
                                      </p:to>
                                    </p:set>
                                  </p:childTnLst>
                                </p:cTn>
                              </p:par>
                              <p:par>
                                <p:cTn id="114" presetID="1" presetClass="exit" presetSubtype="0" fill="hold" nodeType="withEffect">
                                  <p:stCondLst>
                                    <p:cond delay="0"/>
                                  </p:stCondLst>
                                  <p:childTnLst>
                                    <p:set>
                                      <p:cBhvr>
                                        <p:cTn id="115" dur="1" fill="hold">
                                          <p:stCondLst>
                                            <p:cond delay="0"/>
                                          </p:stCondLst>
                                        </p:cTn>
                                        <p:tgtEl>
                                          <p:spTgt spid="44"/>
                                        </p:tgtEl>
                                        <p:attrNameLst>
                                          <p:attrName>style.visibility</p:attrName>
                                        </p:attrNameLst>
                                      </p:cBhvr>
                                      <p:to>
                                        <p:strVal val="hidden"/>
                                      </p:to>
                                    </p:set>
                                  </p:childTnLst>
                                </p:cTn>
                              </p:par>
                              <p:par>
                                <p:cTn id="116" presetID="1" presetClass="entr" presetSubtype="0" fill="hold" grpId="0" nodeType="withEffect">
                                  <p:stCondLst>
                                    <p:cond delay="0"/>
                                  </p:stCondLst>
                                  <p:childTnLst>
                                    <p:set>
                                      <p:cBhvr>
                                        <p:cTn id="117" dur="1" fill="hold">
                                          <p:stCondLst>
                                            <p:cond delay="0"/>
                                          </p:stCondLst>
                                        </p:cTn>
                                        <p:tgtEl>
                                          <p:spTgt spid="45"/>
                                        </p:tgtEl>
                                        <p:attrNameLst>
                                          <p:attrName>style.visibility</p:attrName>
                                        </p:attrNameLst>
                                      </p:cBhvr>
                                      <p:to>
                                        <p:strVal val="visible"/>
                                      </p:to>
                                    </p:set>
                                  </p:childTnLst>
                                </p:cTn>
                              </p:par>
                              <p:par>
                                <p:cTn id="118" presetID="1" presetClass="entr" presetSubtype="0" fill="hold" grpId="0" nodeType="withEffect">
                                  <p:stCondLst>
                                    <p:cond delay="0"/>
                                  </p:stCondLst>
                                  <p:childTnLst>
                                    <p:set>
                                      <p:cBhvr>
                                        <p:cTn id="119" dur="1" fill="hold">
                                          <p:stCondLst>
                                            <p:cond delay="0"/>
                                          </p:stCondLst>
                                        </p:cTn>
                                        <p:tgtEl>
                                          <p:spTgt spid="49"/>
                                        </p:tgtEl>
                                        <p:attrNameLst>
                                          <p:attrName>style.visibility</p:attrName>
                                        </p:attrNameLst>
                                      </p:cBhvr>
                                      <p:to>
                                        <p:strVal val="visible"/>
                                      </p:to>
                                    </p:set>
                                  </p:childTnLst>
                                </p:cTn>
                              </p:par>
                              <p:par>
                                <p:cTn id="120" presetID="1" presetClass="entr" presetSubtype="0" fill="hold" grpId="0" nodeType="withEffect">
                                  <p:stCondLst>
                                    <p:cond delay="0"/>
                                  </p:stCondLst>
                                  <p:childTnLst>
                                    <p:set>
                                      <p:cBhvr>
                                        <p:cTn id="121" dur="1" fill="hold">
                                          <p:stCondLst>
                                            <p:cond delay="0"/>
                                          </p:stCondLst>
                                        </p:cTn>
                                        <p:tgtEl>
                                          <p:spTgt spid="51"/>
                                        </p:tgtEl>
                                        <p:attrNameLst>
                                          <p:attrName>style.visibility</p:attrName>
                                        </p:attrNameLst>
                                      </p:cBhvr>
                                      <p:to>
                                        <p:strVal val="visible"/>
                                      </p:to>
                                    </p:set>
                                  </p:childTnLst>
                                </p:cTn>
                              </p:par>
                              <p:par>
                                <p:cTn id="122" presetID="1" presetClass="entr" presetSubtype="0" fill="hold" grpId="0" nodeType="withEffect">
                                  <p:stCondLst>
                                    <p:cond delay="0"/>
                                  </p:stCondLst>
                                  <p:childTnLst>
                                    <p:set>
                                      <p:cBhvr>
                                        <p:cTn id="123" dur="1" fill="hold">
                                          <p:stCondLst>
                                            <p:cond delay="0"/>
                                          </p:stCondLst>
                                        </p:cTn>
                                        <p:tgtEl>
                                          <p:spTgt spid="52"/>
                                        </p:tgtEl>
                                        <p:attrNameLst>
                                          <p:attrName>style.visibility</p:attrName>
                                        </p:attrNameLst>
                                      </p:cBhvr>
                                      <p:to>
                                        <p:strVal val="visible"/>
                                      </p:to>
                                    </p:set>
                                  </p:childTnLst>
                                </p:cTn>
                              </p:par>
                              <p:par>
                                <p:cTn id="124" presetID="1" presetClass="entr" presetSubtype="0" fill="hold" grpId="0" nodeType="withEffect">
                                  <p:stCondLst>
                                    <p:cond delay="0"/>
                                  </p:stCondLst>
                                  <p:childTnLst>
                                    <p:set>
                                      <p:cBhvr>
                                        <p:cTn id="125" dur="1" fill="hold">
                                          <p:stCondLst>
                                            <p:cond delay="0"/>
                                          </p:stCondLst>
                                        </p:cTn>
                                        <p:tgtEl>
                                          <p:spTgt spid="53"/>
                                        </p:tgtEl>
                                        <p:attrNameLst>
                                          <p:attrName>style.visibility</p:attrName>
                                        </p:attrNameLst>
                                      </p:cBhvr>
                                      <p:to>
                                        <p:strVal val="visible"/>
                                      </p:to>
                                    </p:set>
                                  </p:childTnLst>
                                </p:cTn>
                              </p:par>
                              <p:par>
                                <p:cTn id="126" presetID="1" presetClass="entr" presetSubtype="0" fill="hold" grpId="0" nodeType="withEffect">
                                  <p:stCondLst>
                                    <p:cond delay="0"/>
                                  </p:stCondLst>
                                  <p:childTnLst>
                                    <p:set>
                                      <p:cBhvr>
                                        <p:cTn id="127" dur="1" fill="hold">
                                          <p:stCondLst>
                                            <p:cond delay="0"/>
                                          </p:stCondLst>
                                        </p:cTn>
                                        <p:tgtEl>
                                          <p:spTgt spid="54"/>
                                        </p:tgtEl>
                                        <p:attrNameLst>
                                          <p:attrName>style.visibility</p:attrName>
                                        </p:attrNameLst>
                                      </p:cBhvr>
                                      <p:to>
                                        <p:strVal val="visible"/>
                                      </p:to>
                                    </p:set>
                                  </p:childTnLst>
                                </p:cTn>
                              </p:par>
                              <p:par>
                                <p:cTn id="128" presetID="1" presetClass="entr" presetSubtype="0" fill="hold" grpId="0" nodeType="withEffect">
                                  <p:stCondLst>
                                    <p:cond delay="0"/>
                                  </p:stCondLst>
                                  <p:childTnLst>
                                    <p:set>
                                      <p:cBhvr>
                                        <p:cTn id="129" dur="1" fill="hold">
                                          <p:stCondLst>
                                            <p:cond delay="0"/>
                                          </p:stCondLst>
                                        </p:cTn>
                                        <p:tgtEl>
                                          <p:spTgt spid="55"/>
                                        </p:tgtEl>
                                        <p:attrNameLst>
                                          <p:attrName>style.visibility</p:attrName>
                                        </p:attrNameLst>
                                      </p:cBhvr>
                                      <p:to>
                                        <p:strVal val="visible"/>
                                      </p:to>
                                    </p:set>
                                  </p:childTnLst>
                                </p:cTn>
                              </p:par>
                              <p:par>
                                <p:cTn id="130" presetID="1" presetClass="entr" presetSubtype="0" fill="hold" grpId="0" nodeType="withEffect">
                                  <p:stCondLst>
                                    <p:cond delay="0"/>
                                  </p:stCondLst>
                                  <p:childTnLst>
                                    <p:set>
                                      <p:cBhvr>
                                        <p:cTn id="131" dur="1" fill="hold">
                                          <p:stCondLst>
                                            <p:cond delay="0"/>
                                          </p:stCondLst>
                                        </p:cTn>
                                        <p:tgtEl>
                                          <p:spTgt spid="56"/>
                                        </p:tgtEl>
                                        <p:attrNameLst>
                                          <p:attrName>style.visibility</p:attrName>
                                        </p:attrNameLst>
                                      </p:cBhvr>
                                      <p:to>
                                        <p:strVal val="visible"/>
                                      </p:to>
                                    </p:set>
                                  </p:childTnLst>
                                </p:cTn>
                              </p:par>
                              <p:par>
                                <p:cTn id="132" presetID="1" presetClass="entr" presetSubtype="0" fill="hold" grpId="0" nodeType="withEffect">
                                  <p:stCondLst>
                                    <p:cond delay="0"/>
                                  </p:stCondLst>
                                  <p:childTnLst>
                                    <p:set>
                                      <p:cBhvr>
                                        <p:cTn id="133" dur="1" fill="hold">
                                          <p:stCondLst>
                                            <p:cond delay="0"/>
                                          </p:stCondLst>
                                        </p:cTn>
                                        <p:tgtEl>
                                          <p:spTgt spid="59"/>
                                        </p:tgtEl>
                                        <p:attrNameLst>
                                          <p:attrName>style.visibility</p:attrName>
                                        </p:attrNameLst>
                                      </p:cBhvr>
                                      <p:to>
                                        <p:strVal val="visible"/>
                                      </p:to>
                                    </p:set>
                                  </p:childTnLst>
                                </p:cTn>
                              </p:par>
                              <p:par>
                                <p:cTn id="134" presetID="1" presetClass="entr" presetSubtype="0" fill="hold" grpId="0" nodeType="withEffect">
                                  <p:stCondLst>
                                    <p:cond delay="0"/>
                                  </p:stCondLst>
                                  <p:childTnLst>
                                    <p:set>
                                      <p:cBhvr>
                                        <p:cTn id="135" dur="1" fill="hold">
                                          <p:stCondLst>
                                            <p:cond delay="0"/>
                                          </p:stCondLst>
                                        </p:cTn>
                                        <p:tgtEl>
                                          <p:spTgt spid="61"/>
                                        </p:tgtEl>
                                        <p:attrNameLst>
                                          <p:attrName>style.visibility</p:attrName>
                                        </p:attrNameLst>
                                      </p:cBhvr>
                                      <p:to>
                                        <p:strVal val="visible"/>
                                      </p:to>
                                    </p:set>
                                  </p:childTnLst>
                                </p:cTn>
                              </p:par>
                              <p:par>
                                <p:cTn id="136" presetID="1" presetClass="entr" presetSubtype="0" fill="hold" grpId="0" nodeType="withEffect">
                                  <p:stCondLst>
                                    <p:cond delay="0"/>
                                  </p:stCondLst>
                                  <p:childTnLst>
                                    <p:set>
                                      <p:cBhvr>
                                        <p:cTn id="137" dur="1" fill="hold">
                                          <p:stCondLst>
                                            <p:cond delay="0"/>
                                          </p:stCondLst>
                                        </p:cTn>
                                        <p:tgtEl>
                                          <p:spTgt spid="60"/>
                                        </p:tgtEl>
                                        <p:attrNameLst>
                                          <p:attrName>style.visibility</p:attrName>
                                        </p:attrNameLst>
                                      </p:cBhvr>
                                      <p:to>
                                        <p:strVal val="visible"/>
                                      </p:to>
                                    </p:set>
                                  </p:childTnLst>
                                </p:cTn>
                              </p:par>
                              <p:par>
                                <p:cTn id="138" presetID="1" presetClass="entr" presetSubtype="0" fill="hold" nodeType="withEffect">
                                  <p:stCondLst>
                                    <p:cond delay="0"/>
                                  </p:stCondLst>
                                  <p:childTnLst>
                                    <p:set>
                                      <p:cBhvr>
                                        <p:cTn id="139" dur="1" fill="hold">
                                          <p:stCondLst>
                                            <p:cond delay="0"/>
                                          </p:stCondLst>
                                        </p:cTn>
                                        <p:tgtEl>
                                          <p:spTgt spid="58"/>
                                        </p:tgtEl>
                                        <p:attrNameLst>
                                          <p:attrName>style.visibility</p:attrName>
                                        </p:attrNameLst>
                                      </p:cBhvr>
                                      <p:to>
                                        <p:strVal val="visible"/>
                                      </p:to>
                                    </p:set>
                                  </p:childTnLst>
                                </p:cTn>
                              </p:par>
                              <p:par>
                                <p:cTn id="140" presetID="1" presetClass="entr" presetSubtype="0" fill="hold" grpId="0" nodeType="withEffect">
                                  <p:stCondLst>
                                    <p:cond delay="0"/>
                                  </p:stCondLst>
                                  <p:childTnLst>
                                    <p:set>
                                      <p:cBhvr>
                                        <p:cTn id="141" dur="1" fill="hold">
                                          <p:stCondLst>
                                            <p:cond delay="0"/>
                                          </p:stCondLst>
                                        </p:cTn>
                                        <p:tgtEl>
                                          <p:spTgt spid="57"/>
                                        </p:tgtEl>
                                        <p:attrNameLst>
                                          <p:attrName>style.visibility</p:attrName>
                                        </p:attrNameLst>
                                      </p:cBhvr>
                                      <p:to>
                                        <p:strVal val="visible"/>
                                      </p:to>
                                    </p:set>
                                  </p:childTnLst>
                                </p:cTn>
                              </p:par>
                              <p:par>
                                <p:cTn id="142" presetID="1" presetClass="entr" presetSubtype="0" fill="hold" grpId="0" nodeType="withEffect">
                                  <p:stCondLst>
                                    <p:cond delay="0"/>
                                  </p:stCondLst>
                                  <p:childTnLst>
                                    <p:set>
                                      <p:cBhvr>
                                        <p:cTn id="143" dur="1" fill="hold">
                                          <p:stCondLst>
                                            <p:cond delay="0"/>
                                          </p:stCondLst>
                                        </p:cTn>
                                        <p:tgtEl>
                                          <p:spTgt spid="62"/>
                                        </p:tgtEl>
                                        <p:attrNameLst>
                                          <p:attrName>style.visibility</p:attrName>
                                        </p:attrNameLst>
                                      </p:cBhvr>
                                      <p:to>
                                        <p:strVal val="visible"/>
                                      </p:to>
                                    </p:set>
                                  </p:childTnLst>
                                </p:cTn>
                              </p:par>
                              <p:par>
                                <p:cTn id="144" presetID="1" presetClass="entr" presetSubtype="0" fill="hold" grpId="0" nodeType="withEffect">
                                  <p:stCondLst>
                                    <p:cond delay="0"/>
                                  </p:stCondLst>
                                  <p:childTnLst>
                                    <p:set>
                                      <p:cBhvr>
                                        <p:cTn id="145" dur="1" fill="hold">
                                          <p:stCondLst>
                                            <p:cond delay="0"/>
                                          </p:stCondLst>
                                        </p:cTn>
                                        <p:tgtEl>
                                          <p:spTgt spid="63"/>
                                        </p:tgtEl>
                                        <p:attrNameLst>
                                          <p:attrName>style.visibility</p:attrName>
                                        </p:attrNameLst>
                                      </p:cBhvr>
                                      <p:to>
                                        <p:strVal val="visible"/>
                                      </p:to>
                                    </p:set>
                                  </p:childTnLst>
                                </p:cTn>
                              </p:par>
                              <p:par>
                                <p:cTn id="146" presetID="1" presetClass="entr" presetSubtype="0" fill="hold" grpId="0" nodeType="withEffect">
                                  <p:stCondLst>
                                    <p:cond delay="0"/>
                                  </p:stCondLst>
                                  <p:childTnLst>
                                    <p:set>
                                      <p:cBhvr>
                                        <p:cTn id="147" dur="1" fill="hold">
                                          <p:stCondLst>
                                            <p:cond delay="0"/>
                                          </p:stCondLst>
                                        </p:cTn>
                                        <p:tgtEl>
                                          <p:spTgt spid="64"/>
                                        </p:tgtEl>
                                        <p:attrNameLst>
                                          <p:attrName>style.visibility</p:attrName>
                                        </p:attrNameLst>
                                      </p:cBhvr>
                                      <p:to>
                                        <p:strVal val="visible"/>
                                      </p:to>
                                    </p:set>
                                  </p:childTnLst>
                                </p:cTn>
                              </p:par>
                              <p:par>
                                <p:cTn id="148" presetID="1" presetClass="entr" presetSubtype="0" fill="hold" grpId="0" nodeType="withEffect">
                                  <p:stCondLst>
                                    <p:cond delay="0"/>
                                  </p:stCondLst>
                                  <p:childTnLst>
                                    <p:set>
                                      <p:cBhvr>
                                        <p:cTn id="149" dur="1" fill="hold">
                                          <p:stCondLst>
                                            <p:cond delay="0"/>
                                          </p:stCondLst>
                                        </p:cTn>
                                        <p:tgtEl>
                                          <p:spTgt spid="66"/>
                                        </p:tgtEl>
                                        <p:attrNameLst>
                                          <p:attrName>style.visibility</p:attrName>
                                        </p:attrNameLst>
                                      </p:cBhvr>
                                      <p:to>
                                        <p:strVal val="visible"/>
                                      </p:to>
                                    </p:set>
                                  </p:childTnLst>
                                </p:cTn>
                              </p:par>
                              <p:par>
                                <p:cTn id="150" presetID="1" presetClass="entr" presetSubtype="0" fill="hold" nodeType="withEffect">
                                  <p:stCondLst>
                                    <p:cond delay="0"/>
                                  </p:stCondLst>
                                  <p:childTnLst>
                                    <p:set>
                                      <p:cBhvr>
                                        <p:cTn id="151" dur="1" fill="hold">
                                          <p:stCondLst>
                                            <p:cond delay="0"/>
                                          </p:stCondLst>
                                        </p:cTn>
                                        <p:tgtEl>
                                          <p:spTgt spid="65"/>
                                        </p:tgtEl>
                                        <p:attrNameLst>
                                          <p:attrName>style.visibility</p:attrName>
                                        </p:attrNameLst>
                                      </p:cBhvr>
                                      <p:to>
                                        <p:strVal val="visible"/>
                                      </p:to>
                                    </p:set>
                                  </p:childTnLst>
                                </p:cTn>
                              </p:par>
                              <p:par>
                                <p:cTn id="152" presetID="2" presetClass="entr" presetSubtype="4" fill="hold" grpId="0" nodeType="withEffect">
                                  <p:stCondLst>
                                    <p:cond delay="0"/>
                                  </p:stCondLst>
                                  <p:childTnLst>
                                    <p:set>
                                      <p:cBhvr>
                                        <p:cTn id="153" dur="1" fill="hold">
                                          <p:stCondLst>
                                            <p:cond delay="0"/>
                                          </p:stCondLst>
                                        </p:cTn>
                                        <p:tgtEl>
                                          <p:spTgt spid="72"/>
                                        </p:tgtEl>
                                        <p:attrNameLst>
                                          <p:attrName>style.visibility</p:attrName>
                                        </p:attrNameLst>
                                      </p:cBhvr>
                                      <p:to>
                                        <p:strVal val="visible"/>
                                      </p:to>
                                    </p:set>
                                    <p:anim calcmode="lin" valueType="num">
                                      <p:cBhvr additive="base">
                                        <p:cTn id="154" dur="500" fill="hold"/>
                                        <p:tgtEl>
                                          <p:spTgt spid="72"/>
                                        </p:tgtEl>
                                        <p:attrNameLst>
                                          <p:attrName>ppt_x</p:attrName>
                                        </p:attrNameLst>
                                      </p:cBhvr>
                                      <p:tavLst>
                                        <p:tav tm="0">
                                          <p:val>
                                            <p:strVal val="#ppt_x"/>
                                          </p:val>
                                        </p:tav>
                                        <p:tav tm="100000">
                                          <p:val>
                                            <p:strVal val="#ppt_x"/>
                                          </p:val>
                                        </p:tav>
                                      </p:tavLst>
                                    </p:anim>
                                    <p:anim calcmode="lin" valueType="num">
                                      <p:cBhvr additive="base">
                                        <p:cTn id="155" dur="500" fill="hold"/>
                                        <p:tgtEl>
                                          <p:spTgt spid="72"/>
                                        </p:tgtEl>
                                        <p:attrNameLst>
                                          <p:attrName>ppt_y</p:attrName>
                                        </p:attrNameLst>
                                      </p:cBhvr>
                                      <p:tavLst>
                                        <p:tav tm="0">
                                          <p:val>
                                            <p:strVal val="1+#ppt_h/2"/>
                                          </p:val>
                                        </p:tav>
                                        <p:tav tm="100000">
                                          <p:val>
                                            <p:strVal val="#ppt_y"/>
                                          </p:val>
                                        </p:tav>
                                      </p:tavLst>
                                    </p:anim>
                                  </p:childTnLst>
                                </p:cTn>
                              </p:par>
                              <p:par>
                                <p:cTn id="156" presetID="1" presetClass="entr" presetSubtype="0" fill="hold" grpId="0" nodeType="withEffect">
                                  <p:stCondLst>
                                    <p:cond delay="0"/>
                                  </p:stCondLst>
                                  <p:childTnLst>
                                    <p:set>
                                      <p:cBhvr>
                                        <p:cTn id="157" dur="1" fill="hold">
                                          <p:stCondLst>
                                            <p:cond delay="0"/>
                                          </p:stCondLst>
                                        </p:cTn>
                                        <p:tgtEl>
                                          <p:spTgt spid="67"/>
                                        </p:tgtEl>
                                        <p:attrNameLst>
                                          <p:attrName>style.visibility</p:attrName>
                                        </p:attrNameLst>
                                      </p:cBhvr>
                                      <p:to>
                                        <p:strVal val="visible"/>
                                      </p:to>
                                    </p:set>
                                  </p:childTnLst>
                                </p:cTn>
                              </p:par>
                              <p:par>
                                <p:cTn id="158" presetID="1" presetClass="entr" presetSubtype="0" fill="hold" nodeType="withEffect">
                                  <p:stCondLst>
                                    <p:cond delay="0"/>
                                  </p:stCondLst>
                                  <p:childTnLst>
                                    <p:set>
                                      <p:cBhvr>
                                        <p:cTn id="159" dur="1" fill="hold">
                                          <p:stCondLst>
                                            <p:cond delay="0"/>
                                          </p:stCondLst>
                                        </p:cTn>
                                        <p:tgtEl>
                                          <p:spTgt spid="68"/>
                                        </p:tgtEl>
                                        <p:attrNameLst>
                                          <p:attrName>style.visibility</p:attrName>
                                        </p:attrNameLst>
                                      </p:cBhvr>
                                      <p:to>
                                        <p:strVal val="visible"/>
                                      </p:to>
                                    </p:set>
                                  </p:childTnLst>
                                </p:cTn>
                              </p:par>
                            </p:childTnLst>
                          </p:cTn>
                        </p:par>
                      </p:childTnLst>
                    </p:cTn>
                  </p:par>
                  <p:par>
                    <p:cTn id="160" fill="hold">
                      <p:stCondLst>
                        <p:cond delay="indefinite"/>
                      </p:stCondLst>
                      <p:childTnLst>
                        <p:par>
                          <p:cTn id="161" fill="hold">
                            <p:stCondLst>
                              <p:cond delay="0"/>
                            </p:stCondLst>
                            <p:childTnLst>
                              <p:par>
                                <p:cTn id="162" presetID="1" presetClass="entr" presetSubtype="0" fill="hold" grpId="0" nodeType="clickEffect">
                                  <p:stCondLst>
                                    <p:cond delay="0"/>
                                  </p:stCondLst>
                                  <p:childTnLst>
                                    <p:set>
                                      <p:cBhvr>
                                        <p:cTn id="163" dur="1" fill="hold">
                                          <p:stCondLst>
                                            <p:cond delay="0"/>
                                          </p:stCondLst>
                                        </p:cTn>
                                        <p:tgtEl>
                                          <p:spTgt spid="71"/>
                                        </p:tgtEl>
                                        <p:attrNameLst>
                                          <p:attrName>style.visibility</p:attrName>
                                        </p:attrNameLst>
                                      </p:cBhvr>
                                      <p:to>
                                        <p:strVal val="visible"/>
                                      </p:to>
                                    </p:set>
                                  </p:childTnLst>
                                </p:cTn>
                              </p:par>
                              <p:par>
                                <p:cTn id="164" presetID="1" presetClass="entr" presetSubtype="0" fill="hold" nodeType="withEffect">
                                  <p:stCondLst>
                                    <p:cond delay="0"/>
                                  </p:stCondLst>
                                  <p:childTnLst>
                                    <p:set>
                                      <p:cBhvr>
                                        <p:cTn id="165" dur="1" fill="hold">
                                          <p:stCondLst>
                                            <p:cond delay="0"/>
                                          </p:stCondLst>
                                        </p:cTn>
                                        <p:tgtEl>
                                          <p:spTgt spid="74"/>
                                        </p:tgtEl>
                                        <p:attrNameLst>
                                          <p:attrName>style.visibility</p:attrName>
                                        </p:attrNameLst>
                                      </p:cBhvr>
                                      <p:to>
                                        <p:strVal val="visible"/>
                                      </p:to>
                                    </p:set>
                                  </p:childTnLst>
                                </p:cTn>
                              </p:par>
                            </p:childTnLst>
                          </p:cTn>
                        </p:par>
                      </p:childTnLst>
                    </p:cTn>
                  </p:par>
                  <p:par>
                    <p:cTn id="166" fill="hold">
                      <p:stCondLst>
                        <p:cond delay="indefinite"/>
                      </p:stCondLst>
                      <p:childTnLst>
                        <p:par>
                          <p:cTn id="167" fill="hold">
                            <p:stCondLst>
                              <p:cond delay="0"/>
                            </p:stCondLst>
                            <p:childTnLst>
                              <p:par>
                                <p:cTn id="168" presetID="1" presetClass="entr" presetSubtype="0" fill="hold" grpId="0" nodeType="clickEffect">
                                  <p:stCondLst>
                                    <p:cond delay="0"/>
                                  </p:stCondLst>
                                  <p:childTnLst>
                                    <p:set>
                                      <p:cBhvr>
                                        <p:cTn id="169" dur="1" fill="hold">
                                          <p:stCondLst>
                                            <p:cond delay="0"/>
                                          </p:stCondLst>
                                        </p:cTn>
                                        <p:tgtEl>
                                          <p:spTgt spid="73"/>
                                        </p:tgtEl>
                                        <p:attrNameLst>
                                          <p:attrName>style.visibility</p:attrName>
                                        </p:attrNameLst>
                                      </p:cBhvr>
                                      <p:to>
                                        <p:strVal val="visible"/>
                                      </p:to>
                                    </p:set>
                                  </p:childTnLst>
                                </p:cTn>
                              </p:par>
                              <p:par>
                                <p:cTn id="170" presetID="1" presetClass="entr" presetSubtype="0" fill="hold" grpId="0" nodeType="withEffect">
                                  <p:stCondLst>
                                    <p:cond delay="0"/>
                                  </p:stCondLst>
                                  <p:childTnLst>
                                    <p:set>
                                      <p:cBhvr>
                                        <p:cTn id="171"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2" grpId="0" animBg="1"/>
      <p:bldP spid="13" grpId="0"/>
      <p:bldP spid="17" grpId="0"/>
      <p:bldP spid="23" grpId="0" animBg="1"/>
      <p:bldP spid="24" grpId="0" animBg="1"/>
      <p:bldP spid="25" grpId="0" animBg="1"/>
      <p:bldP spid="26" grpId="0" animBg="1"/>
      <p:bldP spid="27" grpId="0" animBg="1"/>
      <p:bldP spid="28" grpId="0" animBg="1"/>
      <p:bldP spid="29" grpId="0" animBg="1"/>
      <p:bldP spid="30" grpId="0" animBg="1"/>
      <p:bldP spid="31" grpId="0" animBg="1"/>
      <p:bldP spid="36" grpId="0" animBg="1"/>
      <p:bldP spid="39" grpId="0" animBg="1"/>
      <p:bldP spid="50" grpId="0"/>
      <p:bldP spid="32" grpId="0" animBg="1"/>
      <p:bldP spid="33" grpId="0" animBg="1"/>
      <p:bldP spid="34" grpId="0"/>
      <p:bldP spid="37" grpId="0"/>
      <p:bldP spid="43" grpId="0" animBg="1"/>
      <p:bldP spid="43" grpId="1" animBg="1"/>
      <p:bldP spid="43" grpId="2" animBg="1"/>
      <p:bldP spid="45" grpId="0" animBg="1"/>
      <p:bldP spid="49" grpId="0" animBg="1"/>
      <p:bldP spid="51" grpId="0" animBg="1"/>
      <p:bldP spid="52" grpId="0" animBg="1"/>
      <p:bldP spid="53" grpId="0" animBg="1"/>
      <p:bldP spid="54" grpId="0" animBg="1"/>
      <p:bldP spid="55" grpId="0" animBg="1"/>
      <p:bldP spid="56" grpId="0" animBg="1"/>
      <p:bldP spid="57" grpId="0"/>
      <p:bldP spid="59" grpId="0" animBg="1"/>
      <p:bldP spid="60" grpId="0" animBg="1"/>
      <p:bldP spid="61" grpId="0"/>
      <p:bldP spid="62" grpId="0" animBg="1"/>
      <p:bldP spid="63" grpId="0" animBg="1"/>
      <p:bldP spid="64" grpId="0"/>
      <p:bldP spid="66" grpId="0"/>
      <p:bldP spid="71" grpId="0"/>
      <p:bldP spid="72" grpId="0" animBg="1"/>
      <p:bldP spid="73" grpId="0" animBg="1"/>
      <p:bldP spid="75" grpId="0"/>
      <p:bldP spid="67" grpId="0"/>
    </p:bldLst>
  </p:timing>
</p:sld>
</file>

<file path=ppt/slides/slide5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fr-FR" dirty="0">
                <a:solidFill>
                  <a:schemeClr val="accent6">
                    <a:lumMod val="50000"/>
                  </a:schemeClr>
                </a:solidFill>
              </a:rPr>
              <a:t>Page Replacement Algorithmes: FIFO, LRU, OPT</a:t>
            </a:r>
          </a:p>
        </p:txBody>
      </p:sp>
      <p:sp>
        <p:nvSpPr>
          <p:cNvPr id="5" name="Text Placeholder 4"/>
          <p:cNvSpPr>
            <a:spLocks noGrp="1"/>
          </p:cNvSpPr>
          <p:nvPr>
            <p:ph type="body" idx="1"/>
          </p:nvPr>
        </p:nvSpPr>
        <p:spPr/>
        <p:txBody>
          <a:bodyPr/>
          <a:lstStyle/>
          <a:p>
            <a:r>
              <a:rPr lang="en-US" dirty="0"/>
              <a:t>Section - 7</a:t>
            </a:r>
          </a:p>
          <a:p>
            <a:endParaRPr lang="en-US" dirty="0"/>
          </a:p>
        </p:txBody>
      </p:sp>
    </p:spTree>
    <p:extLst>
      <p:ext uri="{BB962C8B-B14F-4D97-AF65-F5344CB8AC3E}">
        <p14:creationId xmlns:p14="http://schemas.microsoft.com/office/powerpoint/2010/main" val="4029632865"/>
      </p:ext>
    </p:extLst>
  </p:cSld>
  <p:clrMapOvr>
    <a:overrideClrMapping bg1="lt1" tx1="dk1" bg2="lt2" tx2="dk2" accent1="accent1" accent2="accent2" accent3="accent3" accent4="accent4" accent5="accent5" accent6="accent6" hlink="hlink" folHlink="folHlink"/>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Page replacement algorithms</a:t>
            </a:r>
          </a:p>
        </p:txBody>
      </p:sp>
      <p:sp>
        <p:nvSpPr>
          <p:cNvPr id="3" name="Content Placeholder 2"/>
          <p:cNvSpPr>
            <a:spLocks noGrp="1"/>
          </p:cNvSpPr>
          <p:nvPr>
            <p:ph idx="1"/>
          </p:nvPr>
        </p:nvSpPr>
        <p:spPr/>
        <p:txBody>
          <a:bodyPr/>
          <a:lstStyle/>
          <a:p>
            <a:r>
              <a:rPr lang="en-US" dirty="0"/>
              <a:t>Following are different types of page replacement algorithms</a:t>
            </a:r>
          </a:p>
          <a:p>
            <a:pPr marL="914400" lvl="1" indent="-457200">
              <a:buFont typeface="+mj-lt"/>
              <a:buAutoNum type="arabicPeriod"/>
            </a:pPr>
            <a:endParaRPr lang="en-US" dirty="0"/>
          </a:p>
          <a:p>
            <a:pPr marL="914400" lvl="1" indent="-457200">
              <a:buFont typeface="+mj-lt"/>
              <a:buAutoNum type="arabicPeriod"/>
            </a:pPr>
            <a:r>
              <a:rPr lang="en-US" dirty="0"/>
              <a:t>FIFO (First In First Out Page ) Page Replacement Algorithm</a:t>
            </a:r>
          </a:p>
          <a:p>
            <a:pPr marL="914400" lvl="1" indent="-457200">
              <a:buFont typeface="+mj-lt"/>
              <a:buAutoNum type="arabicPeriod"/>
            </a:pPr>
            <a:r>
              <a:rPr lang="en-US" dirty="0"/>
              <a:t>LRU (Least Recently Used) Page Replacement Algorithm</a:t>
            </a:r>
          </a:p>
          <a:p>
            <a:pPr marL="914400" lvl="1" indent="-457200">
              <a:buFont typeface="+mj-lt"/>
              <a:buAutoNum type="arabicPeriod"/>
            </a:pPr>
            <a:r>
              <a:rPr lang="en-US" dirty="0"/>
              <a:t>OPT (Optimal) Page Replacement Algorithm</a:t>
            </a:r>
          </a:p>
        </p:txBody>
      </p:sp>
    </p:spTree>
    <p:extLst>
      <p:ext uri="{BB962C8B-B14F-4D97-AF65-F5344CB8AC3E}">
        <p14:creationId xmlns:p14="http://schemas.microsoft.com/office/powerpoint/2010/main" val="1990657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5B6C9-15C8-7841-3528-CC4DBEEA717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D7F7D3D-021F-4FBC-487F-408E8770F588}"/>
              </a:ext>
            </a:extLst>
          </p:cNvPr>
          <p:cNvSpPr>
            <a:spLocks noGrp="1"/>
          </p:cNvSpPr>
          <p:nvPr>
            <p:ph type="title"/>
          </p:nvPr>
        </p:nvSpPr>
        <p:spPr/>
        <p:txBody>
          <a:bodyPr>
            <a:normAutofit/>
          </a:bodyPr>
          <a:lstStyle/>
          <a:p>
            <a:r>
              <a:rPr lang="fr-FR" dirty="0">
                <a:solidFill>
                  <a:schemeClr val="accent6">
                    <a:lumMod val="50000"/>
                  </a:schemeClr>
                </a:solidFill>
              </a:rPr>
              <a:t>Page Replacement Algorithme: FIFO(</a:t>
            </a:r>
            <a:r>
              <a:rPr lang="en-US" dirty="0">
                <a:solidFill>
                  <a:schemeClr val="accent6">
                    <a:lumMod val="50000"/>
                  </a:schemeClr>
                </a:solidFill>
              </a:rPr>
              <a:t>First In First Out Page </a:t>
            </a:r>
            <a:r>
              <a:rPr lang="fr-FR" dirty="0">
                <a:solidFill>
                  <a:schemeClr val="accent6">
                    <a:lumMod val="50000"/>
                  </a:schemeClr>
                </a:solidFill>
              </a:rPr>
              <a:t>) </a:t>
            </a:r>
          </a:p>
        </p:txBody>
      </p:sp>
      <p:sp>
        <p:nvSpPr>
          <p:cNvPr id="5" name="Text Placeholder 4">
            <a:extLst>
              <a:ext uri="{FF2B5EF4-FFF2-40B4-BE49-F238E27FC236}">
                <a16:creationId xmlns:a16="http://schemas.microsoft.com/office/drawing/2014/main" id="{AA81202A-05F0-0E15-EDF7-F2433BCE78D4}"/>
              </a:ext>
            </a:extLst>
          </p:cNvPr>
          <p:cNvSpPr>
            <a:spLocks noGrp="1"/>
          </p:cNvSpPr>
          <p:nvPr>
            <p:ph type="body" idx="1"/>
          </p:nvPr>
        </p:nvSpPr>
        <p:spPr/>
        <p:txBody>
          <a:bodyPr/>
          <a:lstStyle/>
          <a:p>
            <a:r>
              <a:rPr lang="en-US" dirty="0"/>
              <a:t>Section – 7.1</a:t>
            </a:r>
          </a:p>
          <a:p>
            <a:endParaRPr lang="en-US" dirty="0"/>
          </a:p>
        </p:txBody>
      </p:sp>
    </p:spTree>
    <p:extLst>
      <p:ext uri="{BB962C8B-B14F-4D97-AF65-F5344CB8AC3E}">
        <p14:creationId xmlns:p14="http://schemas.microsoft.com/office/powerpoint/2010/main" val="370001973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FIFO Page Replacement Algorithm</a:t>
            </a:r>
          </a:p>
        </p:txBody>
      </p:sp>
      <p:sp>
        <p:nvSpPr>
          <p:cNvPr id="3" name="Content Placeholder 2"/>
          <p:cNvSpPr>
            <a:spLocks noGrp="1"/>
          </p:cNvSpPr>
          <p:nvPr>
            <p:ph idx="1"/>
          </p:nvPr>
        </p:nvSpPr>
        <p:spPr/>
        <p:txBody>
          <a:bodyPr/>
          <a:lstStyle/>
          <a:p>
            <a:r>
              <a:rPr lang="en-US" dirty="0"/>
              <a:t>The </a:t>
            </a:r>
            <a:r>
              <a:rPr lang="en-US" b="1" dirty="0">
                <a:solidFill>
                  <a:schemeClr val="accent6"/>
                </a:solidFill>
              </a:rPr>
              <a:t>First In First Out Page </a:t>
            </a:r>
            <a:r>
              <a:rPr lang="en-US" dirty="0"/>
              <a:t>replacement algorithm is the simplest page replacement algorithm.</a:t>
            </a:r>
          </a:p>
          <a:p>
            <a:r>
              <a:rPr lang="en-US" dirty="0"/>
              <a:t>The operating system </a:t>
            </a:r>
            <a:r>
              <a:rPr lang="en-US" b="1" dirty="0">
                <a:solidFill>
                  <a:schemeClr val="accent6"/>
                </a:solidFill>
              </a:rPr>
              <a:t>maintains a list of all pages currently in memory, with the most recently arrived page at the tail and least recent at the head</a:t>
            </a:r>
            <a:r>
              <a:rPr lang="en-US" dirty="0"/>
              <a:t>.</a:t>
            </a:r>
          </a:p>
          <a:p>
            <a:r>
              <a:rPr lang="en-US" dirty="0"/>
              <a:t>On a page fault, the </a:t>
            </a:r>
            <a:r>
              <a:rPr lang="en-US" b="1" dirty="0">
                <a:solidFill>
                  <a:schemeClr val="accent6"/>
                </a:solidFill>
              </a:rPr>
              <a:t>page at head is removed and the new page is added to the tail</a:t>
            </a:r>
            <a:r>
              <a:rPr lang="en-US" dirty="0"/>
              <a:t>.</a:t>
            </a:r>
          </a:p>
          <a:p>
            <a:r>
              <a:rPr lang="en-US" dirty="0"/>
              <a:t>The performance of the FIFO algorithm is </a:t>
            </a:r>
            <a:r>
              <a:rPr lang="en-US" b="1" dirty="0">
                <a:solidFill>
                  <a:schemeClr val="accent6"/>
                </a:solidFill>
              </a:rPr>
              <a:t>not always good </a:t>
            </a:r>
            <a:r>
              <a:rPr lang="en-US" dirty="0"/>
              <a:t>because it may happen that the page which is the oldest is frequently referred by OS. </a:t>
            </a:r>
          </a:p>
          <a:p>
            <a:r>
              <a:rPr lang="en-US" dirty="0"/>
              <a:t>Hence removing the </a:t>
            </a:r>
            <a:r>
              <a:rPr lang="en-US" b="1" dirty="0">
                <a:solidFill>
                  <a:schemeClr val="accent6"/>
                </a:solidFill>
              </a:rPr>
              <a:t>oldest page may create page fault again</a:t>
            </a:r>
            <a:r>
              <a:rPr lang="en-US" dirty="0"/>
              <a:t>.</a:t>
            </a:r>
          </a:p>
        </p:txBody>
      </p:sp>
    </p:spTree>
    <p:extLst>
      <p:ext uri="{BB962C8B-B14F-4D97-AF65-F5344CB8AC3E}">
        <p14:creationId xmlns:p14="http://schemas.microsoft.com/office/powerpoint/2010/main" val="1267647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FIFO Page Replacement Algorithm</a:t>
            </a:r>
          </a:p>
        </p:txBody>
      </p:sp>
      <p:sp>
        <p:nvSpPr>
          <p:cNvPr id="3" name="Content Placeholder 2"/>
          <p:cNvSpPr>
            <a:spLocks noGrp="1"/>
          </p:cNvSpPr>
          <p:nvPr>
            <p:ph idx="1"/>
          </p:nvPr>
        </p:nvSpPr>
        <p:spPr/>
        <p:txBody>
          <a:bodyPr/>
          <a:lstStyle/>
          <a:p>
            <a:r>
              <a:rPr lang="en-US" dirty="0"/>
              <a:t>Page Reference String: </a:t>
            </a:r>
          </a:p>
          <a:p>
            <a:pPr lvl="1"/>
            <a:r>
              <a:rPr lang="en-US" spc="600" dirty="0"/>
              <a:t>4,7,6,1,7,6,1,2,7,2</a:t>
            </a:r>
          </a:p>
          <a:p>
            <a:pPr lvl="1"/>
            <a:r>
              <a:rPr lang="en-US" dirty="0"/>
              <a:t>Three frames</a:t>
            </a:r>
          </a:p>
        </p:txBody>
      </p:sp>
      <p:graphicFrame>
        <p:nvGraphicFramePr>
          <p:cNvPr id="4" name="Table 3"/>
          <p:cNvGraphicFramePr>
            <a:graphicFrameLocks noGrp="1"/>
          </p:cNvGraphicFramePr>
          <p:nvPr>
            <p:extLst>
              <p:ext uri="{D42A27DB-BD31-4B8C-83A1-F6EECF244321}">
                <p14:modId xmlns:p14="http://schemas.microsoft.com/office/powerpoint/2010/main" val="1729409824"/>
              </p:ext>
            </p:extLst>
          </p:nvPr>
        </p:nvGraphicFramePr>
        <p:xfrm>
          <a:off x="1019969" y="2248428"/>
          <a:ext cx="8324056" cy="457200"/>
        </p:xfrm>
        <a:graphic>
          <a:graphicData uri="http://schemas.openxmlformats.org/drawingml/2006/table">
            <a:tbl>
              <a:tblPr firstRow="1" bandRow="1">
                <a:tableStyleId>{93296810-A885-4BE3-A3E7-6D5BEEA58F35}</a:tableStyleId>
              </a:tblPr>
              <a:tblGrid>
                <a:gridCol w="2630126">
                  <a:extLst>
                    <a:ext uri="{9D8B030D-6E8A-4147-A177-3AD203B41FA5}">
                      <a16:colId xmlns:a16="http://schemas.microsoft.com/office/drawing/2014/main" val="20000"/>
                    </a:ext>
                  </a:extLst>
                </a:gridCol>
                <a:gridCol w="569393">
                  <a:extLst>
                    <a:ext uri="{9D8B030D-6E8A-4147-A177-3AD203B41FA5}">
                      <a16:colId xmlns:a16="http://schemas.microsoft.com/office/drawing/2014/main" val="20001"/>
                    </a:ext>
                  </a:extLst>
                </a:gridCol>
                <a:gridCol w="569393">
                  <a:extLst>
                    <a:ext uri="{9D8B030D-6E8A-4147-A177-3AD203B41FA5}">
                      <a16:colId xmlns:a16="http://schemas.microsoft.com/office/drawing/2014/main" val="20002"/>
                    </a:ext>
                  </a:extLst>
                </a:gridCol>
                <a:gridCol w="569393">
                  <a:extLst>
                    <a:ext uri="{9D8B030D-6E8A-4147-A177-3AD203B41FA5}">
                      <a16:colId xmlns:a16="http://schemas.microsoft.com/office/drawing/2014/main" val="20003"/>
                    </a:ext>
                  </a:extLst>
                </a:gridCol>
                <a:gridCol w="569393">
                  <a:extLst>
                    <a:ext uri="{9D8B030D-6E8A-4147-A177-3AD203B41FA5}">
                      <a16:colId xmlns:a16="http://schemas.microsoft.com/office/drawing/2014/main" val="20004"/>
                    </a:ext>
                  </a:extLst>
                </a:gridCol>
                <a:gridCol w="569393">
                  <a:extLst>
                    <a:ext uri="{9D8B030D-6E8A-4147-A177-3AD203B41FA5}">
                      <a16:colId xmlns:a16="http://schemas.microsoft.com/office/drawing/2014/main" val="20005"/>
                    </a:ext>
                  </a:extLst>
                </a:gridCol>
                <a:gridCol w="569393">
                  <a:extLst>
                    <a:ext uri="{9D8B030D-6E8A-4147-A177-3AD203B41FA5}">
                      <a16:colId xmlns:a16="http://schemas.microsoft.com/office/drawing/2014/main" val="20006"/>
                    </a:ext>
                  </a:extLst>
                </a:gridCol>
                <a:gridCol w="569393">
                  <a:extLst>
                    <a:ext uri="{9D8B030D-6E8A-4147-A177-3AD203B41FA5}">
                      <a16:colId xmlns:a16="http://schemas.microsoft.com/office/drawing/2014/main" val="20007"/>
                    </a:ext>
                  </a:extLst>
                </a:gridCol>
                <a:gridCol w="569393">
                  <a:extLst>
                    <a:ext uri="{9D8B030D-6E8A-4147-A177-3AD203B41FA5}">
                      <a16:colId xmlns:a16="http://schemas.microsoft.com/office/drawing/2014/main" val="20008"/>
                    </a:ext>
                  </a:extLst>
                </a:gridCol>
                <a:gridCol w="569393">
                  <a:extLst>
                    <a:ext uri="{9D8B030D-6E8A-4147-A177-3AD203B41FA5}">
                      <a16:colId xmlns:a16="http://schemas.microsoft.com/office/drawing/2014/main" val="20009"/>
                    </a:ext>
                  </a:extLst>
                </a:gridCol>
                <a:gridCol w="569393">
                  <a:extLst>
                    <a:ext uri="{9D8B030D-6E8A-4147-A177-3AD203B41FA5}">
                      <a16:colId xmlns:a16="http://schemas.microsoft.com/office/drawing/2014/main" val="20010"/>
                    </a:ext>
                  </a:extLst>
                </a:gridCol>
              </a:tblGrid>
              <a:tr h="370840">
                <a:tc>
                  <a:txBody>
                    <a:bodyPr/>
                    <a:lstStyle/>
                    <a:p>
                      <a:r>
                        <a:rPr lang="en-US" sz="2400" dirty="0"/>
                        <a:t>Page</a:t>
                      </a:r>
                      <a:r>
                        <a:rPr lang="en-US" sz="2400" baseline="0" dirty="0"/>
                        <a:t> Request</a:t>
                      </a:r>
                      <a:endParaRPr lang="en-US" sz="2400" dirty="0"/>
                    </a:p>
                  </a:txBody>
                  <a:tcPr/>
                </a:tc>
                <a:tc>
                  <a:txBody>
                    <a:bodyPr/>
                    <a:lstStyle/>
                    <a:p>
                      <a:pPr algn="ctr"/>
                      <a:r>
                        <a:rPr lang="en-US" sz="2400" dirty="0"/>
                        <a:t>4</a:t>
                      </a:r>
                    </a:p>
                  </a:txBody>
                  <a:tcPr/>
                </a:tc>
                <a:tc>
                  <a:txBody>
                    <a:bodyPr/>
                    <a:lstStyle/>
                    <a:p>
                      <a:pPr algn="ctr"/>
                      <a:r>
                        <a:rPr lang="en-US" sz="2400" dirty="0"/>
                        <a:t>7</a:t>
                      </a:r>
                    </a:p>
                  </a:txBody>
                  <a:tcPr/>
                </a:tc>
                <a:tc>
                  <a:txBody>
                    <a:bodyPr/>
                    <a:lstStyle/>
                    <a:p>
                      <a:pPr algn="ctr"/>
                      <a:r>
                        <a:rPr lang="en-US" sz="2400" dirty="0"/>
                        <a:t>6</a:t>
                      </a:r>
                    </a:p>
                  </a:txBody>
                  <a:tcPr/>
                </a:tc>
                <a:tc>
                  <a:txBody>
                    <a:bodyPr/>
                    <a:lstStyle/>
                    <a:p>
                      <a:pPr algn="ctr"/>
                      <a:r>
                        <a:rPr lang="en-US" sz="2400" dirty="0"/>
                        <a:t>1</a:t>
                      </a:r>
                    </a:p>
                  </a:txBody>
                  <a:tcPr/>
                </a:tc>
                <a:tc>
                  <a:txBody>
                    <a:bodyPr/>
                    <a:lstStyle/>
                    <a:p>
                      <a:pPr algn="ctr"/>
                      <a:r>
                        <a:rPr lang="en-US" sz="2400" dirty="0"/>
                        <a:t>7</a:t>
                      </a:r>
                    </a:p>
                  </a:txBody>
                  <a:tcPr/>
                </a:tc>
                <a:tc>
                  <a:txBody>
                    <a:bodyPr/>
                    <a:lstStyle/>
                    <a:p>
                      <a:pPr algn="ctr"/>
                      <a:r>
                        <a:rPr lang="en-US" sz="2400" dirty="0"/>
                        <a:t>6</a:t>
                      </a:r>
                    </a:p>
                  </a:txBody>
                  <a:tcPr/>
                </a:tc>
                <a:tc>
                  <a:txBody>
                    <a:bodyPr/>
                    <a:lstStyle/>
                    <a:p>
                      <a:pPr algn="ctr"/>
                      <a:r>
                        <a:rPr lang="en-US" sz="2400" dirty="0"/>
                        <a:t>1</a:t>
                      </a:r>
                    </a:p>
                  </a:txBody>
                  <a:tcPr/>
                </a:tc>
                <a:tc>
                  <a:txBody>
                    <a:bodyPr/>
                    <a:lstStyle/>
                    <a:p>
                      <a:pPr algn="ctr"/>
                      <a:r>
                        <a:rPr lang="en-US" sz="2400" dirty="0"/>
                        <a:t>2</a:t>
                      </a:r>
                    </a:p>
                  </a:txBody>
                  <a:tcPr/>
                </a:tc>
                <a:tc>
                  <a:txBody>
                    <a:bodyPr/>
                    <a:lstStyle/>
                    <a:p>
                      <a:pPr algn="ctr"/>
                      <a:r>
                        <a:rPr lang="en-US" sz="2400" dirty="0"/>
                        <a:t>7</a:t>
                      </a:r>
                    </a:p>
                  </a:txBody>
                  <a:tcPr/>
                </a:tc>
                <a:tc>
                  <a:txBody>
                    <a:bodyPr/>
                    <a:lstStyle/>
                    <a:p>
                      <a:pPr algn="ctr"/>
                      <a:r>
                        <a:rPr lang="en-US" sz="2400" dirty="0"/>
                        <a:t>2</a:t>
                      </a:r>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71711583"/>
              </p:ext>
            </p:extLst>
          </p:nvPr>
        </p:nvGraphicFramePr>
        <p:xfrm>
          <a:off x="1019969" y="2705152"/>
          <a:ext cx="8324056" cy="1371600"/>
        </p:xfrm>
        <a:graphic>
          <a:graphicData uri="http://schemas.openxmlformats.org/drawingml/2006/table">
            <a:tbl>
              <a:tblPr firstRow="1" bandRow="1">
                <a:tableStyleId>{2D5ABB26-0587-4C30-8999-92F81FD0307C}</a:tableStyleId>
              </a:tblPr>
              <a:tblGrid>
                <a:gridCol w="2630126">
                  <a:extLst>
                    <a:ext uri="{9D8B030D-6E8A-4147-A177-3AD203B41FA5}">
                      <a16:colId xmlns:a16="http://schemas.microsoft.com/office/drawing/2014/main" val="20000"/>
                    </a:ext>
                  </a:extLst>
                </a:gridCol>
                <a:gridCol w="569393">
                  <a:extLst>
                    <a:ext uri="{9D8B030D-6E8A-4147-A177-3AD203B41FA5}">
                      <a16:colId xmlns:a16="http://schemas.microsoft.com/office/drawing/2014/main" val="20001"/>
                    </a:ext>
                  </a:extLst>
                </a:gridCol>
                <a:gridCol w="569393">
                  <a:extLst>
                    <a:ext uri="{9D8B030D-6E8A-4147-A177-3AD203B41FA5}">
                      <a16:colId xmlns:a16="http://schemas.microsoft.com/office/drawing/2014/main" val="20002"/>
                    </a:ext>
                  </a:extLst>
                </a:gridCol>
                <a:gridCol w="569393">
                  <a:extLst>
                    <a:ext uri="{9D8B030D-6E8A-4147-A177-3AD203B41FA5}">
                      <a16:colId xmlns:a16="http://schemas.microsoft.com/office/drawing/2014/main" val="20003"/>
                    </a:ext>
                  </a:extLst>
                </a:gridCol>
                <a:gridCol w="569393">
                  <a:extLst>
                    <a:ext uri="{9D8B030D-6E8A-4147-A177-3AD203B41FA5}">
                      <a16:colId xmlns:a16="http://schemas.microsoft.com/office/drawing/2014/main" val="20004"/>
                    </a:ext>
                  </a:extLst>
                </a:gridCol>
                <a:gridCol w="569393">
                  <a:extLst>
                    <a:ext uri="{9D8B030D-6E8A-4147-A177-3AD203B41FA5}">
                      <a16:colId xmlns:a16="http://schemas.microsoft.com/office/drawing/2014/main" val="20005"/>
                    </a:ext>
                  </a:extLst>
                </a:gridCol>
                <a:gridCol w="569393">
                  <a:extLst>
                    <a:ext uri="{9D8B030D-6E8A-4147-A177-3AD203B41FA5}">
                      <a16:colId xmlns:a16="http://schemas.microsoft.com/office/drawing/2014/main" val="20006"/>
                    </a:ext>
                  </a:extLst>
                </a:gridCol>
                <a:gridCol w="569393">
                  <a:extLst>
                    <a:ext uri="{9D8B030D-6E8A-4147-A177-3AD203B41FA5}">
                      <a16:colId xmlns:a16="http://schemas.microsoft.com/office/drawing/2014/main" val="20007"/>
                    </a:ext>
                  </a:extLst>
                </a:gridCol>
                <a:gridCol w="569393">
                  <a:extLst>
                    <a:ext uri="{9D8B030D-6E8A-4147-A177-3AD203B41FA5}">
                      <a16:colId xmlns:a16="http://schemas.microsoft.com/office/drawing/2014/main" val="20008"/>
                    </a:ext>
                  </a:extLst>
                </a:gridCol>
                <a:gridCol w="569393">
                  <a:extLst>
                    <a:ext uri="{9D8B030D-6E8A-4147-A177-3AD203B41FA5}">
                      <a16:colId xmlns:a16="http://schemas.microsoft.com/office/drawing/2014/main" val="20009"/>
                    </a:ext>
                  </a:extLst>
                </a:gridCol>
                <a:gridCol w="569393">
                  <a:extLst>
                    <a:ext uri="{9D8B030D-6E8A-4147-A177-3AD203B41FA5}">
                      <a16:colId xmlns:a16="http://schemas.microsoft.com/office/drawing/2014/main" val="20010"/>
                    </a:ext>
                  </a:extLst>
                </a:gridCol>
              </a:tblGrid>
              <a:tr h="370840">
                <a:tc>
                  <a:txBody>
                    <a:bodyPr/>
                    <a:lstStyle/>
                    <a:p>
                      <a:r>
                        <a:rPr lang="en-US" sz="2400" dirty="0"/>
                        <a:t>Frame – 1</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Frame – 2</a:t>
                      </a:r>
                      <a:endParaRPr lang="en-US" sz="24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1"/>
                  </a:ext>
                </a:extLst>
              </a:tr>
              <a:tr h="40333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Frame – 3</a:t>
                      </a:r>
                      <a:endParaRPr lang="en-US" sz="24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2"/>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2136552676"/>
              </p:ext>
            </p:extLst>
          </p:nvPr>
        </p:nvGraphicFramePr>
        <p:xfrm>
          <a:off x="1019969" y="4078382"/>
          <a:ext cx="8324056" cy="426720"/>
        </p:xfrm>
        <a:graphic>
          <a:graphicData uri="http://schemas.openxmlformats.org/drawingml/2006/table">
            <a:tbl>
              <a:tblPr firstRow="1" bandRow="1">
                <a:tableStyleId>{93296810-A885-4BE3-A3E7-6D5BEEA58F35}</a:tableStyleId>
              </a:tblPr>
              <a:tblGrid>
                <a:gridCol w="2630126">
                  <a:extLst>
                    <a:ext uri="{9D8B030D-6E8A-4147-A177-3AD203B41FA5}">
                      <a16:colId xmlns:a16="http://schemas.microsoft.com/office/drawing/2014/main" val="20000"/>
                    </a:ext>
                  </a:extLst>
                </a:gridCol>
                <a:gridCol w="569393">
                  <a:extLst>
                    <a:ext uri="{9D8B030D-6E8A-4147-A177-3AD203B41FA5}">
                      <a16:colId xmlns:a16="http://schemas.microsoft.com/office/drawing/2014/main" val="20001"/>
                    </a:ext>
                  </a:extLst>
                </a:gridCol>
                <a:gridCol w="569393">
                  <a:extLst>
                    <a:ext uri="{9D8B030D-6E8A-4147-A177-3AD203B41FA5}">
                      <a16:colId xmlns:a16="http://schemas.microsoft.com/office/drawing/2014/main" val="20002"/>
                    </a:ext>
                  </a:extLst>
                </a:gridCol>
                <a:gridCol w="569393">
                  <a:extLst>
                    <a:ext uri="{9D8B030D-6E8A-4147-A177-3AD203B41FA5}">
                      <a16:colId xmlns:a16="http://schemas.microsoft.com/office/drawing/2014/main" val="20003"/>
                    </a:ext>
                  </a:extLst>
                </a:gridCol>
                <a:gridCol w="569393">
                  <a:extLst>
                    <a:ext uri="{9D8B030D-6E8A-4147-A177-3AD203B41FA5}">
                      <a16:colId xmlns:a16="http://schemas.microsoft.com/office/drawing/2014/main" val="20004"/>
                    </a:ext>
                  </a:extLst>
                </a:gridCol>
                <a:gridCol w="569393">
                  <a:extLst>
                    <a:ext uri="{9D8B030D-6E8A-4147-A177-3AD203B41FA5}">
                      <a16:colId xmlns:a16="http://schemas.microsoft.com/office/drawing/2014/main" val="20005"/>
                    </a:ext>
                  </a:extLst>
                </a:gridCol>
                <a:gridCol w="569393">
                  <a:extLst>
                    <a:ext uri="{9D8B030D-6E8A-4147-A177-3AD203B41FA5}">
                      <a16:colId xmlns:a16="http://schemas.microsoft.com/office/drawing/2014/main" val="20006"/>
                    </a:ext>
                  </a:extLst>
                </a:gridCol>
                <a:gridCol w="569393">
                  <a:extLst>
                    <a:ext uri="{9D8B030D-6E8A-4147-A177-3AD203B41FA5}">
                      <a16:colId xmlns:a16="http://schemas.microsoft.com/office/drawing/2014/main" val="20007"/>
                    </a:ext>
                  </a:extLst>
                </a:gridCol>
                <a:gridCol w="569393">
                  <a:extLst>
                    <a:ext uri="{9D8B030D-6E8A-4147-A177-3AD203B41FA5}">
                      <a16:colId xmlns:a16="http://schemas.microsoft.com/office/drawing/2014/main" val="20008"/>
                    </a:ext>
                  </a:extLst>
                </a:gridCol>
                <a:gridCol w="569393">
                  <a:extLst>
                    <a:ext uri="{9D8B030D-6E8A-4147-A177-3AD203B41FA5}">
                      <a16:colId xmlns:a16="http://schemas.microsoft.com/office/drawing/2014/main" val="20009"/>
                    </a:ext>
                  </a:extLst>
                </a:gridCol>
                <a:gridCol w="569393">
                  <a:extLst>
                    <a:ext uri="{9D8B030D-6E8A-4147-A177-3AD203B41FA5}">
                      <a16:colId xmlns:a16="http://schemas.microsoft.com/office/drawing/2014/main" val="20010"/>
                    </a:ext>
                  </a:extLst>
                </a:gridCol>
              </a:tblGrid>
              <a:tr h="370840">
                <a:tc>
                  <a:txBody>
                    <a:bodyPr/>
                    <a:lstStyle/>
                    <a:p>
                      <a:r>
                        <a:rPr lang="en-US" sz="1900" b="0" dirty="0">
                          <a:solidFill>
                            <a:schemeClr val="tx1"/>
                          </a:solidFill>
                        </a:rPr>
                        <a:t>Page</a:t>
                      </a:r>
                      <a:r>
                        <a:rPr lang="en-US" sz="1900" b="0" baseline="0" dirty="0">
                          <a:solidFill>
                            <a:schemeClr val="tx1"/>
                          </a:solidFill>
                        </a:rPr>
                        <a:t> Faults </a:t>
                      </a:r>
                      <a:r>
                        <a:rPr lang="en-US" sz="1900" b="1" baseline="0" dirty="0">
                          <a:solidFill>
                            <a:schemeClr val="accent6"/>
                          </a:solidFill>
                        </a:rPr>
                        <a:t>(6)</a:t>
                      </a:r>
                      <a:endParaRPr lang="en-US" sz="1900" b="1" dirty="0">
                        <a:solidFill>
                          <a:schemeClr val="accent6"/>
                        </a:solidFill>
                      </a:endParaRPr>
                    </a:p>
                  </a:txBody>
                  <a:tcPr anchor="ctr">
                    <a:solidFill>
                      <a:schemeClr val="accent6">
                        <a:lumMod val="20000"/>
                        <a:lumOff val="80000"/>
                      </a:schemeClr>
                    </a:solidFill>
                  </a:tcPr>
                </a:tc>
                <a:tc>
                  <a:txBody>
                    <a:bodyPr/>
                    <a:lstStyle/>
                    <a:p>
                      <a:pPr algn="ctr"/>
                      <a:r>
                        <a:rPr lang="en-US" sz="2200" b="0" dirty="0">
                          <a:solidFill>
                            <a:schemeClr val="tx1"/>
                          </a:solidFill>
                        </a:rPr>
                        <a:t>F</a:t>
                      </a:r>
                    </a:p>
                  </a:txBody>
                  <a:tcPr>
                    <a:solidFill>
                      <a:schemeClr val="accent6">
                        <a:lumMod val="20000"/>
                        <a:lumOff val="80000"/>
                      </a:schemeClr>
                    </a:solidFill>
                  </a:tcPr>
                </a:tc>
                <a:tc>
                  <a:txBody>
                    <a:bodyPr/>
                    <a:lstStyle/>
                    <a:p>
                      <a:pPr algn="ctr"/>
                      <a:r>
                        <a:rPr lang="en-US" sz="2200" b="0" dirty="0">
                          <a:solidFill>
                            <a:schemeClr val="tx1"/>
                          </a:solidFill>
                        </a:rPr>
                        <a:t>F</a:t>
                      </a:r>
                    </a:p>
                  </a:txBody>
                  <a:tcPr>
                    <a:solidFill>
                      <a:schemeClr val="accent6">
                        <a:lumMod val="20000"/>
                        <a:lumOff val="80000"/>
                      </a:schemeClr>
                    </a:solidFill>
                  </a:tcPr>
                </a:tc>
                <a:tc>
                  <a:txBody>
                    <a:bodyPr/>
                    <a:lstStyle/>
                    <a:p>
                      <a:pPr algn="ctr"/>
                      <a:r>
                        <a:rPr lang="en-US" sz="2200" b="0" dirty="0">
                          <a:solidFill>
                            <a:schemeClr val="tx1"/>
                          </a:solidFill>
                        </a:rPr>
                        <a:t>F</a:t>
                      </a:r>
                    </a:p>
                  </a:txBody>
                  <a:tcPr>
                    <a:solidFill>
                      <a:schemeClr val="accent6">
                        <a:lumMod val="20000"/>
                        <a:lumOff val="80000"/>
                      </a:schemeClr>
                    </a:solidFill>
                  </a:tcPr>
                </a:tc>
                <a:tc>
                  <a:txBody>
                    <a:bodyPr/>
                    <a:lstStyle/>
                    <a:p>
                      <a:pPr algn="ctr"/>
                      <a:r>
                        <a:rPr lang="en-US" sz="2200" b="0" dirty="0">
                          <a:solidFill>
                            <a:schemeClr val="tx1"/>
                          </a:solidFill>
                        </a:rPr>
                        <a:t>F</a:t>
                      </a:r>
                    </a:p>
                  </a:txBody>
                  <a:tcPr>
                    <a:solidFill>
                      <a:schemeClr val="accent6">
                        <a:lumMod val="20000"/>
                        <a:lumOff val="80000"/>
                      </a:schemeClr>
                    </a:solidFill>
                  </a:tcPr>
                </a:tc>
                <a:tc>
                  <a:txBody>
                    <a:bodyPr/>
                    <a:lstStyle/>
                    <a:p>
                      <a:pPr algn="ctr"/>
                      <a:endParaRPr lang="en-US" sz="2200" b="0" dirty="0">
                        <a:solidFill>
                          <a:schemeClr val="tx1"/>
                        </a:solidFill>
                      </a:endParaRPr>
                    </a:p>
                  </a:txBody>
                  <a:tcPr>
                    <a:solidFill>
                      <a:schemeClr val="accent6">
                        <a:lumMod val="20000"/>
                        <a:lumOff val="80000"/>
                      </a:schemeClr>
                    </a:solidFill>
                  </a:tcPr>
                </a:tc>
                <a:tc>
                  <a:txBody>
                    <a:bodyPr/>
                    <a:lstStyle/>
                    <a:p>
                      <a:pPr algn="ctr"/>
                      <a:endParaRPr lang="en-US" sz="2200" b="0" dirty="0">
                        <a:solidFill>
                          <a:schemeClr val="tx1"/>
                        </a:solidFill>
                      </a:endParaRPr>
                    </a:p>
                  </a:txBody>
                  <a:tcPr>
                    <a:solidFill>
                      <a:schemeClr val="accent6">
                        <a:lumMod val="20000"/>
                        <a:lumOff val="80000"/>
                      </a:schemeClr>
                    </a:solidFill>
                  </a:tcPr>
                </a:tc>
                <a:tc>
                  <a:txBody>
                    <a:bodyPr/>
                    <a:lstStyle/>
                    <a:p>
                      <a:pPr algn="ctr"/>
                      <a:endParaRPr lang="en-US" sz="2200" b="0" dirty="0">
                        <a:solidFill>
                          <a:schemeClr val="tx1"/>
                        </a:solidFill>
                      </a:endParaRPr>
                    </a:p>
                  </a:txBody>
                  <a:tcPr>
                    <a:solidFill>
                      <a:schemeClr val="accent6">
                        <a:lumMod val="20000"/>
                        <a:lumOff val="80000"/>
                      </a:schemeClr>
                    </a:solidFill>
                  </a:tcPr>
                </a:tc>
                <a:tc>
                  <a:txBody>
                    <a:bodyPr/>
                    <a:lstStyle/>
                    <a:p>
                      <a:pPr algn="ctr"/>
                      <a:r>
                        <a:rPr lang="en-US" sz="2200" b="0" dirty="0">
                          <a:solidFill>
                            <a:schemeClr val="tx1"/>
                          </a:solidFill>
                        </a:rPr>
                        <a:t>F</a:t>
                      </a:r>
                    </a:p>
                  </a:txBody>
                  <a:tcPr>
                    <a:solidFill>
                      <a:schemeClr val="accent6">
                        <a:lumMod val="20000"/>
                        <a:lumOff val="80000"/>
                      </a:schemeClr>
                    </a:solidFill>
                  </a:tcPr>
                </a:tc>
                <a:tc>
                  <a:txBody>
                    <a:bodyPr/>
                    <a:lstStyle/>
                    <a:p>
                      <a:pPr algn="ctr"/>
                      <a:r>
                        <a:rPr lang="en-US" sz="2200" b="0" dirty="0">
                          <a:solidFill>
                            <a:schemeClr val="tx1"/>
                          </a:solidFill>
                        </a:rPr>
                        <a:t>F</a:t>
                      </a:r>
                    </a:p>
                  </a:txBody>
                  <a:tcPr>
                    <a:solidFill>
                      <a:schemeClr val="accent6">
                        <a:lumMod val="20000"/>
                        <a:lumOff val="80000"/>
                      </a:schemeClr>
                    </a:solidFill>
                  </a:tcPr>
                </a:tc>
                <a:tc>
                  <a:txBody>
                    <a:bodyPr/>
                    <a:lstStyle/>
                    <a:p>
                      <a:pPr algn="ctr"/>
                      <a:endParaRPr lang="en-US" sz="2200" b="0" dirty="0">
                        <a:solidFill>
                          <a:schemeClr val="tx1"/>
                        </a:solidFill>
                      </a:endParaRPr>
                    </a:p>
                  </a:txBody>
                  <a:tcPr>
                    <a:solidFill>
                      <a:schemeClr val="accent6">
                        <a:lumMod val="20000"/>
                        <a:lumOff val="80000"/>
                      </a:schemeClr>
                    </a:solidFill>
                  </a:tcPr>
                </a:tc>
                <a:extLst>
                  <a:ext uri="{0D108BD9-81ED-4DB2-BD59-A6C34878D82A}">
                    <a16:rowId xmlns:a16="http://schemas.microsoft.com/office/drawing/2014/main" val="10000"/>
                  </a:ext>
                </a:extLst>
              </a:tr>
            </a:tbl>
          </a:graphicData>
        </a:graphic>
      </p:graphicFrame>
      <p:cxnSp>
        <p:nvCxnSpPr>
          <p:cNvPr id="7" name="Straight Arrow Connector 6"/>
          <p:cNvCxnSpPr/>
          <p:nvPr/>
        </p:nvCxnSpPr>
        <p:spPr>
          <a:xfrm>
            <a:off x="3950494" y="1868772"/>
            <a:ext cx="1" cy="295965"/>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3729038" y="2248428"/>
            <a:ext cx="442914" cy="426720"/>
          </a:xfrm>
          <a:prstGeom prst="rect">
            <a:avLst/>
          </a:prstGeom>
          <a:noFill/>
          <a:ln w="38100">
            <a:solidFill>
              <a:srgbClr val="92D050"/>
            </a:solidFill>
          </a:ln>
        </p:spPr>
        <p:txBody>
          <a:bodyPr wrap="square" rtlCol="0">
            <a:spAutoFit/>
          </a:bodyPr>
          <a:lstStyle/>
          <a:p>
            <a:endParaRPr lang="en-US" dirty="0">
              <a:solidFill>
                <a:srgbClr val="212121"/>
              </a:solidFill>
            </a:endParaRPr>
          </a:p>
        </p:txBody>
      </p:sp>
      <p:cxnSp>
        <p:nvCxnSpPr>
          <p:cNvPr id="13" name="Straight Arrow Connector 12"/>
          <p:cNvCxnSpPr/>
          <p:nvPr/>
        </p:nvCxnSpPr>
        <p:spPr>
          <a:xfrm>
            <a:off x="4486280" y="1868771"/>
            <a:ext cx="1" cy="295965"/>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4329116" y="2263430"/>
            <a:ext cx="442914" cy="426720"/>
          </a:xfrm>
          <a:prstGeom prst="rect">
            <a:avLst/>
          </a:prstGeom>
          <a:noFill/>
          <a:ln w="38100">
            <a:solidFill>
              <a:srgbClr val="92D050"/>
            </a:solidFill>
          </a:ln>
        </p:spPr>
        <p:txBody>
          <a:bodyPr wrap="square" rtlCol="0">
            <a:spAutoFit/>
          </a:bodyPr>
          <a:lstStyle/>
          <a:p>
            <a:endParaRPr lang="en-US" dirty="0">
              <a:solidFill>
                <a:srgbClr val="212121"/>
              </a:solidFill>
            </a:endParaRPr>
          </a:p>
        </p:txBody>
      </p:sp>
      <p:cxnSp>
        <p:nvCxnSpPr>
          <p:cNvPr id="15" name="Straight Arrow Connector 14"/>
          <p:cNvCxnSpPr/>
          <p:nvPr/>
        </p:nvCxnSpPr>
        <p:spPr>
          <a:xfrm>
            <a:off x="5079213" y="1868772"/>
            <a:ext cx="1" cy="295965"/>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857757" y="2248428"/>
            <a:ext cx="442914" cy="426720"/>
          </a:xfrm>
          <a:prstGeom prst="rect">
            <a:avLst/>
          </a:prstGeom>
          <a:noFill/>
          <a:ln w="38100">
            <a:solidFill>
              <a:srgbClr val="92D050"/>
            </a:solidFill>
          </a:ln>
        </p:spPr>
        <p:txBody>
          <a:bodyPr wrap="square" rtlCol="0">
            <a:spAutoFit/>
          </a:bodyPr>
          <a:lstStyle/>
          <a:p>
            <a:endParaRPr lang="en-US" dirty="0">
              <a:solidFill>
                <a:srgbClr val="212121"/>
              </a:solidFill>
            </a:endParaRPr>
          </a:p>
        </p:txBody>
      </p:sp>
      <p:cxnSp>
        <p:nvCxnSpPr>
          <p:cNvPr id="17" name="Straight Arrow Connector 16"/>
          <p:cNvCxnSpPr/>
          <p:nvPr/>
        </p:nvCxnSpPr>
        <p:spPr>
          <a:xfrm>
            <a:off x="5623220" y="1843252"/>
            <a:ext cx="1" cy="295965"/>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5401764" y="2222908"/>
            <a:ext cx="442914" cy="426720"/>
          </a:xfrm>
          <a:prstGeom prst="rect">
            <a:avLst/>
          </a:prstGeom>
          <a:noFill/>
          <a:ln w="38100">
            <a:solidFill>
              <a:srgbClr val="92D050"/>
            </a:solidFill>
          </a:ln>
        </p:spPr>
        <p:txBody>
          <a:bodyPr wrap="square" rtlCol="0">
            <a:spAutoFit/>
          </a:bodyPr>
          <a:lstStyle/>
          <a:p>
            <a:endParaRPr lang="en-US" dirty="0">
              <a:solidFill>
                <a:srgbClr val="212121"/>
              </a:solidFill>
            </a:endParaRPr>
          </a:p>
        </p:txBody>
      </p:sp>
      <p:cxnSp>
        <p:nvCxnSpPr>
          <p:cNvPr id="19" name="Straight Arrow Connector 18"/>
          <p:cNvCxnSpPr/>
          <p:nvPr/>
        </p:nvCxnSpPr>
        <p:spPr>
          <a:xfrm>
            <a:off x="6228809" y="1832480"/>
            <a:ext cx="1" cy="295965"/>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6007353" y="2212136"/>
            <a:ext cx="442914" cy="426720"/>
          </a:xfrm>
          <a:prstGeom prst="rect">
            <a:avLst/>
          </a:prstGeom>
          <a:noFill/>
          <a:ln w="38100">
            <a:solidFill>
              <a:srgbClr val="92D050"/>
            </a:solidFill>
          </a:ln>
        </p:spPr>
        <p:txBody>
          <a:bodyPr wrap="square" rtlCol="0">
            <a:spAutoFit/>
          </a:bodyPr>
          <a:lstStyle/>
          <a:p>
            <a:endParaRPr lang="en-US" dirty="0">
              <a:solidFill>
                <a:srgbClr val="212121"/>
              </a:solidFill>
            </a:endParaRPr>
          </a:p>
        </p:txBody>
      </p:sp>
      <p:cxnSp>
        <p:nvCxnSpPr>
          <p:cNvPr id="21" name="Straight Arrow Connector 20"/>
          <p:cNvCxnSpPr/>
          <p:nvPr/>
        </p:nvCxnSpPr>
        <p:spPr>
          <a:xfrm>
            <a:off x="6786566" y="1868772"/>
            <a:ext cx="1" cy="295965"/>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6565110" y="2248428"/>
            <a:ext cx="442914" cy="426720"/>
          </a:xfrm>
          <a:prstGeom prst="rect">
            <a:avLst/>
          </a:prstGeom>
          <a:noFill/>
          <a:ln w="38100">
            <a:solidFill>
              <a:srgbClr val="92D050"/>
            </a:solidFill>
          </a:ln>
        </p:spPr>
        <p:txBody>
          <a:bodyPr wrap="square" rtlCol="0">
            <a:spAutoFit/>
          </a:bodyPr>
          <a:lstStyle/>
          <a:p>
            <a:endParaRPr lang="en-US" dirty="0">
              <a:solidFill>
                <a:srgbClr val="212121"/>
              </a:solidFill>
            </a:endParaRPr>
          </a:p>
        </p:txBody>
      </p:sp>
      <p:cxnSp>
        <p:nvCxnSpPr>
          <p:cNvPr id="23" name="Straight Arrow Connector 22"/>
          <p:cNvCxnSpPr/>
          <p:nvPr/>
        </p:nvCxnSpPr>
        <p:spPr>
          <a:xfrm>
            <a:off x="7355853" y="1843252"/>
            <a:ext cx="1" cy="295965"/>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7134397" y="2222908"/>
            <a:ext cx="442914" cy="426720"/>
          </a:xfrm>
          <a:prstGeom prst="rect">
            <a:avLst/>
          </a:prstGeom>
          <a:noFill/>
          <a:ln w="38100">
            <a:solidFill>
              <a:srgbClr val="92D050"/>
            </a:solidFill>
          </a:ln>
        </p:spPr>
        <p:txBody>
          <a:bodyPr wrap="square" rtlCol="0">
            <a:spAutoFit/>
          </a:bodyPr>
          <a:lstStyle/>
          <a:p>
            <a:endParaRPr lang="en-US" dirty="0">
              <a:solidFill>
                <a:srgbClr val="212121"/>
              </a:solidFill>
            </a:endParaRPr>
          </a:p>
        </p:txBody>
      </p:sp>
      <p:cxnSp>
        <p:nvCxnSpPr>
          <p:cNvPr id="25" name="Straight Arrow Connector 24"/>
          <p:cNvCxnSpPr/>
          <p:nvPr/>
        </p:nvCxnSpPr>
        <p:spPr>
          <a:xfrm>
            <a:off x="7936161" y="1844168"/>
            <a:ext cx="1" cy="295965"/>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7714705" y="2223824"/>
            <a:ext cx="442914" cy="426720"/>
          </a:xfrm>
          <a:prstGeom prst="rect">
            <a:avLst/>
          </a:prstGeom>
          <a:noFill/>
          <a:ln w="38100">
            <a:solidFill>
              <a:srgbClr val="92D050"/>
            </a:solidFill>
          </a:ln>
        </p:spPr>
        <p:txBody>
          <a:bodyPr wrap="square" rtlCol="0">
            <a:spAutoFit/>
          </a:bodyPr>
          <a:lstStyle/>
          <a:p>
            <a:endParaRPr lang="en-US" dirty="0">
              <a:solidFill>
                <a:srgbClr val="212121"/>
              </a:solidFill>
            </a:endParaRPr>
          </a:p>
        </p:txBody>
      </p:sp>
      <p:cxnSp>
        <p:nvCxnSpPr>
          <p:cNvPr id="27" name="Straight Arrow Connector 26"/>
          <p:cNvCxnSpPr/>
          <p:nvPr/>
        </p:nvCxnSpPr>
        <p:spPr>
          <a:xfrm>
            <a:off x="8487332" y="1829165"/>
            <a:ext cx="1" cy="295965"/>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8265875" y="2222908"/>
            <a:ext cx="442914" cy="426720"/>
          </a:xfrm>
          <a:prstGeom prst="rect">
            <a:avLst/>
          </a:prstGeom>
          <a:noFill/>
          <a:ln w="38100">
            <a:solidFill>
              <a:srgbClr val="92D050"/>
            </a:solidFill>
          </a:ln>
        </p:spPr>
        <p:txBody>
          <a:bodyPr wrap="square" rtlCol="0">
            <a:spAutoFit/>
          </a:bodyPr>
          <a:lstStyle/>
          <a:p>
            <a:endParaRPr lang="en-US" dirty="0">
              <a:solidFill>
                <a:srgbClr val="212121"/>
              </a:solidFill>
            </a:endParaRPr>
          </a:p>
        </p:txBody>
      </p:sp>
      <p:cxnSp>
        <p:nvCxnSpPr>
          <p:cNvPr id="29" name="Straight Arrow Connector 28"/>
          <p:cNvCxnSpPr/>
          <p:nvPr/>
        </p:nvCxnSpPr>
        <p:spPr>
          <a:xfrm>
            <a:off x="9085756" y="1832480"/>
            <a:ext cx="1" cy="295965"/>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8864300" y="2212136"/>
            <a:ext cx="442914" cy="426720"/>
          </a:xfrm>
          <a:prstGeom prst="rect">
            <a:avLst/>
          </a:prstGeom>
          <a:noFill/>
          <a:ln w="38100">
            <a:solidFill>
              <a:srgbClr val="92D050"/>
            </a:solidFill>
          </a:ln>
        </p:spPr>
        <p:txBody>
          <a:bodyPr wrap="square" rtlCol="0">
            <a:spAutoFit/>
          </a:bodyPr>
          <a:lstStyle/>
          <a:p>
            <a:endParaRPr lang="en-US" dirty="0">
              <a:solidFill>
                <a:srgbClr val="212121"/>
              </a:solidFill>
            </a:endParaRPr>
          </a:p>
        </p:txBody>
      </p:sp>
      <p:sp>
        <p:nvSpPr>
          <p:cNvPr id="32" name="TextBox 31"/>
          <p:cNvSpPr txBox="1"/>
          <p:nvPr/>
        </p:nvSpPr>
        <p:spPr>
          <a:xfrm>
            <a:off x="5401764" y="2730232"/>
            <a:ext cx="442914" cy="369332"/>
          </a:xfrm>
          <a:prstGeom prst="rect">
            <a:avLst/>
          </a:prstGeom>
          <a:noFill/>
          <a:ln w="38100">
            <a:solidFill>
              <a:srgbClr val="FFFF00"/>
            </a:solidFill>
          </a:ln>
        </p:spPr>
        <p:txBody>
          <a:bodyPr wrap="square" rtlCol="0">
            <a:spAutoFit/>
          </a:bodyPr>
          <a:lstStyle>
            <a:defPPr>
              <a:defRPr lang="en-US"/>
            </a:defPPr>
            <a:lvl1pPr>
              <a:defRPr>
                <a:solidFill>
                  <a:srgbClr val="212121"/>
                </a:solidFill>
              </a:defRPr>
            </a:lvl1pPr>
          </a:lstStyle>
          <a:p>
            <a:endParaRPr lang="en-US" dirty="0">
              <a:solidFill>
                <a:srgbClr val="FFFF00"/>
              </a:solidFill>
            </a:endParaRPr>
          </a:p>
        </p:txBody>
      </p:sp>
      <p:sp>
        <p:nvSpPr>
          <p:cNvPr id="33" name="TextBox 32"/>
          <p:cNvSpPr txBox="1"/>
          <p:nvPr/>
        </p:nvSpPr>
        <p:spPr>
          <a:xfrm>
            <a:off x="7701508" y="3177830"/>
            <a:ext cx="442914" cy="426720"/>
          </a:xfrm>
          <a:prstGeom prst="rect">
            <a:avLst/>
          </a:prstGeom>
          <a:noFill/>
          <a:ln w="38100">
            <a:solidFill>
              <a:srgbClr val="FFFF00"/>
            </a:solidFill>
          </a:ln>
        </p:spPr>
        <p:txBody>
          <a:bodyPr wrap="square" rtlCol="0">
            <a:spAutoFit/>
          </a:bodyPr>
          <a:lstStyle/>
          <a:p>
            <a:endParaRPr lang="en-US" dirty="0">
              <a:solidFill>
                <a:srgbClr val="212121"/>
              </a:solidFill>
            </a:endParaRPr>
          </a:p>
        </p:txBody>
      </p:sp>
      <p:sp>
        <p:nvSpPr>
          <p:cNvPr id="31" name="TextBox 30"/>
          <p:cNvSpPr txBox="1"/>
          <p:nvPr/>
        </p:nvSpPr>
        <p:spPr>
          <a:xfrm>
            <a:off x="8259287" y="3604550"/>
            <a:ext cx="442914" cy="426720"/>
          </a:xfrm>
          <a:prstGeom prst="rect">
            <a:avLst/>
          </a:prstGeom>
          <a:noFill/>
          <a:ln w="38100">
            <a:solidFill>
              <a:srgbClr val="FFFF00"/>
            </a:solidFill>
          </a:ln>
        </p:spPr>
        <p:txBody>
          <a:bodyPr wrap="square" rtlCol="0">
            <a:spAutoFit/>
          </a:bodyPr>
          <a:lstStyle/>
          <a:p>
            <a:endParaRPr lang="en-US" dirty="0">
              <a:solidFill>
                <a:srgbClr val="212121"/>
              </a:solidFill>
            </a:endParaRPr>
          </a:p>
        </p:txBody>
      </p:sp>
    </p:spTree>
    <p:extLst>
      <p:ext uri="{BB962C8B-B14F-4D97-AF65-F5344CB8AC3E}">
        <p14:creationId xmlns:p14="http://schemas.microsoft.com/office/powerpoint/2010/main" val="2979165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left)">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left)">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left)">
                                      <p:cBhvr>
                                        <p:cTn id="30" dur="500"/>
                                        <p:tgtEl>
                                          <p:spTgt spid="8"/>
                                        </p:tgtEl>
                                      </p:cBhvr>
                                    </p:animEffect>
                                  </p:childTnLst>
                                </p:cTn>
                              </p:par>
                              <p:par>
                                <p:cTn id="31" presetID="1" presetClass="entr" presetSubtype="0" fill="hold" nodeType="withEffect">
                                  <p:stCondLst>
                                    <p:cond delay="0"/>
                                  </p:stCondLst>
                                  <p:childTnLst>
                                    <p:set>
                                      <p:cBhvr>
                                        <p:cTn id="32" dur="1" fill="hold">
                                          <p:stCondLst>
                                            <p:cond delay="0"/>
                                          </p:stCondLst>
                                        </p:cTn>
                                        <p:tgtEl>
                                          <p:spTgt spid="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childTnLst>
                                </p:cTn>
                              </p:par>
                              <p:par>
                                <p:cTn id="35" presetID="26" presetClass="emph" presetSubtype="0" repeatCount="indefinite" fill="hold" grpId="1" nodeType="withEffect">
                                  <p:stCondLst>
                                    <p:cond delay="0"/>
                                  </p:stCondLst>
                                  <p:endCondLst>
                                    <p:cond evt="onNext" delay="0">
                                      <p:tgtEl>
                                        <p:sldTgt/>
                                      </p:tgtEl>
                                    </p:cond>
                                  </p:endCondLst>
                                  <p:childTnLst>
                                    <p:animEffect transition="out" filter="fade">
                                      <p:cBhvr>
                                        <p:cTn id="36" dur="500" tmFilter="0, 0; .2, .5; .8, .5; 1, 0"/>
                                        <p:tgtEl>
                                          <p:spTgt spid="9"/>
                                        </p:tgtEl>
                                      </p:cBhvr>
                                    </p:animEffect>
                                    <p:animScale>
                                      <p:cBhvr>
                                        <p:cTn id="37" dur="250" autoRev="1" fill="hold"/>
                                        <p:tgtEl>
                                          <p:spTgt spid="9"/>
                                        </p:tgtEl>
                                      </p:cBhvr>
                                      <p:by x="105000" y="105000"/>
                                    </p:animScale>
                                  </p:childTnLst>
                                </p:cTn>
                              </p:par>
                            </p:childTnLst>
                          </p:cTn>
                        </p:par>
                      </p:childTnLst>
                    </p:cTn>
                  </p:par>
                  <p:par>
                    <p:cTn id="38" fill="hold">
                      <p:stCondLst>
                        <p:cond delay="indefinite"/>
                      </p:stCondLst>
                      <p:childTnLst>
                        <p:par>
                          <p:cTn id="39" fill="hold">
                            <p:stCondLst>
                              <p:cond delay="0"/>
                            </p:stCondLst>
                            <p:childTnLst>
                              <p:par>
                                <p:cTn id="40" presetID="1" presetClass="exit" presetSubtype="0" fill="hold" grpId="2" nodeType="clickEffect">
                                  <p:stCondLst>
                                    <p:cond delay="0"/>
                                  </p:stCondLst>
                                  <p:childTnLst>
                                    <p:set>
                                      <p:cBhvr>
                                        <p:cTn id="41" dur="1" fill="hold">
                                          <p:stCondLst>
                                            <p:cond delay="0"/>
                                          </p:stCondLst>
                                        </p:cTn>
                                        <p:tgtEl>
                                          <p:spTgt spid="9"/>
                                        </p:tgtEl>
                                        <p:attrNameLst>
                                          <p:attrName>style.visibility</p:attrName>
                                        </p:attrNameLst>
                                      </p:cBhvr>
                                      <p:to>
                                        <p:strVal val="hidden"/>
                                      </p:to>
                                    </p:set>
                                  </p:childTnLst>
                                </p:cTn>
                              </p:par>
                              <p:par>
                                <p:cTn id="42" presetID="1" presetClass="exit" presetSubtype="0" fill="hold" nodeType="withEffect">
                                  <p:stCondLst>
                                    <p:cond delay="0"/>
                                  </p:stCondLst>
                                  <p:childTnLst>
                                    <p:set>
                                      <p:cBhvr>
                                        <p:cTn id="43" dur="1" fill="hold">
                                          <p:stCondLst>
                                            <p:cond delay="0"/>
                                          </p:stCondLst>
                                        </p:cTn>
                                        <p:tgtEl>
                                          <p:spTgt spid="7"/>
                                        </p:tgtEl>
                                        <p:attrNameLst>
                                          <p:attrName>style.visibility</p:attrName>
                                        </p:attrNameLst>
                                      </p:cBhvr>
                                      <p:to>
                                        <p:strVal val="hidden"/>
                                      </p:to>
                                    </p:set>
                                  </p:childTnLst>
                                </p:cTn>
                              </p:par>
                              <p:par>
                                <p:cTn id="44" presetID="1" presetClass="entr" presetSubtype="0" fill="hold" nodeType="withEffect">
                                  <p:stCondLst>
                                    <p:cond delay="0"/>
                                  </p:stCondLst>
                                  <p:childTnLst>
                                    <p:set>
                                      <p:cBhvr>
                                        <p:cTn id="45" dur="1" fill="hold">
                                          <p:stCondLst>
                                            <p:cond delay="0"/>
                                          </p:stCondLst>
                                        </p:cTn>
                                        <p:tgtEl>
                                          <p:spTgt spid="13"/>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14"/>
                                        </p:tgtEl>
                                        <p:attrNameLst>
                                          <p:attrName>style.visibility</p:attrName>
                                        </p:attrNameLst>
                                      </p:cBhvr>
                                      <p:to>
                                        <p:strVal val="visible"/>
                                      </p:to>
                                    </p:set>
                                  </p:childTnLst>
                                </p:cTn>
                              </p:par>
                              <p:par>
                                <p:cTn id="48" presetID="26" presetClass="emph" presetSubtype="0" repeatCount="indefinite" fill="hold" grpId="1" nodeType="withEffect">
                                  <p:stCondLst>
                                    <p:cond delay="0"/>
                                  </p:stCondLst>
                                  <p:endCondLst>
                                    <p:cond evt="onNext" delay="0">
                                      <p:tgtEl>
                                        <p:sldTgt/>
                                      </p:tgtEl>
                                    </p:cond>
                                  </p:endCondLst>
                                  <p:childTnLst>
                                    <p:animEffect transition="out" filter="fade">
                                      <p:cBhvr>
                                        <p:cTn id="49" dur="500" tmFilter="0, 0; .2, .5; .8, .5; 1, 0"/>
                                        <p:tgtEl>
                                          <p:spTgt spid="14"/>
                                        </p:tgtEl>
                                      </p:cBhvr>
                                    </p:animEffect>
                                    <p:animScale>
                                      <p:cBhvr>
                                        <p:cTn id="50" dur="250" autoRev="1" fill="hold"/>
                                        <p:tgtEl>
                                          <p:spTgt spid="14"/>
                                        </p:tgtEl>
                                      </p:cBhvr>
                                      <p:by x="105000" y="105000"/>
                                    </p:animScale>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grpId="2" nodeType="clickEffect">
                                  <p:stCondLst>
                                    <p:cond delay="0"/>
                                  </p:stCondLst>
                                  <p:childTnLst>
                                    <p:set>
                                      <p:cBhvr>
                                        <p:cTn id="54" dur="1" fill="hold">
                                          <p:stCondLst>
                                            <p:cond delay="0"/>
                                          </p:stCondLst>
                                        </p:cTn>
                                        <p:tgtEl>
                                          <p:spTgt spid="14"/>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13"/>
                                        </p:tgtEl>
                                        <p:attrNameLst>
                                          <p:attrName>style.visibility</p:attrName>
                                        </p:attrNameLst>
                                      </p:cBhvr>
                                      <p:to>
                                        <p:strVal val="hidden"/>
                                      </p:to>
                                    </p:set>
                                  </p:childTnLst>
                                </p:cTn>
                              </p:par>
                              <p:par>
                                <p:cTn id="57" presetID="1" presetClass="entr" presetSubtype="0" fill="hold" nodeType="withEffect">
                                  <p:stCondLst>
                                    <p:cond delay="0"/>
                                  </p:stCondLst>
                                  <p:childTnLst>
                                    <p:set>
                                      <p:cBhvr>
                                        <p:cTn id="58" dur="1" fill="hold">
                                          <p:stCondLst>
                                            <p:cond delay="0"/>
                                          </p:stCondLst>
                                        </p:cTn>
                                        <p:tgtEl>
                                          <p:spTgt spid="1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6"/>
                                        </p:tgtEl>
                                        <p:attrNameLst>
                                          <p:attrName>style.visibility</p:attrName>
                                        </p:attrNameLst>
                                      </p:cBhvr>
                                      <p:to>
                                        <p:strVal val="visible"/>
                                      </p:to>
                                    </p:set>
                                  </p:childTnLst>
                                </p:cTn>
                              </p:par>
                              <p:par>
                                <p:cTn id="61" presetID="26" presetClass="emph" presetSubtype="0" repeatCount="indefinite" fill="hold" grpId="1" nodeType="withEffect">
                                  <p:stCondLst>
                                    <p:cond delay="0"/>
                                  </p:stCondLst>
                                  <p:endCondLst>
                                    <p:cond evt="onNext" delay="0">
                                      <p:tgtEl>
                                        <p:sldTgt/>
                                      </p:tgtEl>
                                    </p:cond>
                                  </p:endCondLst>
                                  <p:childTnLst>
                                    <p:animEffect transition="out" filter="fade">
                                      <p:cBhvr>
                                        <p:cTn id="62" dur="500" tmFilter="0, 0; .2, .5; .8, .5; 1, 0"/>
                                        <p:tgtEl>
                                          <p:spTgt spid="16"/>
                                        </p:tgtEl>
                                      </p:cBhvr>
                                    </p:animEffect>
                                    <p:animScale>
                                      <p:cBhvr>
                                        <p:cTn id="63" dur="250" autoRev="1" fill="hold"/>
                                        <p:tgtEl>
                                          <p:spTgt spid="16"/>
                                        </p:tgtEl>
                                      </p:cBhvr>
                                      <p:by x="105000" y="105000"/>
                                    </p:animScale>
                                  </p:childTnLst>
                                </p:cTn>
                              </p:par>
                            </p:childTnLst>
                          </p:cTn>
                        </p:par>
                      </p:childTnLst>
                    </p:cTn>
                  </p:par>
                  <p:par>
                    <p:cTn id="64" fill="hold">
                      <p:stCondLst>
                        <p:cond delay="indefinite"/>
                      </p:stCondLst>
                      <p:childTnLst>
                        <p:par>
                          <p:cTn id="65" fill="hold">
                            <p:stCondLst>
                              <p:cond delay="0"/>
                            </p:stCondLst>
                            <p:childTnLst>
                              <p:par>
                                <p:cTn id="66" presetID="1" presetClass="exit" presetSubtype="0" fill="hold" grpId="2" nodeType="clickEffect">
                                  <p:stCondLst>
                                    <p:cond delay="0"/>
                                  </p:stCondLst>
                                  <p:childTnLst>
                                    <p:set>
                                      <p:cBhvr>
                                        <p:cTn id="67" dur="1" fill="hold">
                                          <p:stCondLst>
                                            <p:cond delay="0"/>
                                          </p:stCondLst>
                                        </p:cTn>
                                        <p:tgtEl>
                                          <p:spTgt spid="16"/>
                                        </p:tgtEl>
                                        <p:attrNameLst>
                                          <p:attrName>style.visibility</p:attrName>
                                        </p:attrNameLst>
                                      </p:cBhvr>
                                      <p:to>
                                        <p:strVal val="hidden"/>
                                      </p:to>
                                    </p:set>
                                  </p:childTnLst>
                                </p:cTn>
                              </p:par>
                              <p:par>
                                <p:cTn id="68" presetID="1" presetClass="exit" presetSubtype="0" fill="hold" nodeType="withEffect">
                                  <p:stCondLst>
                                    <p:cond delay="0"/>
                                  </p:stCondLst>
                                  <p:childTnLst>
                                    <p:set>
                                      <p:cBhvr>
                                        <p:cTn id="69" dur="1" fill="hold">
                                          <p:stCondLst>
                                            <p:cond delay="0"/>
                                          </p:stCondLst>
                                        </p:cTn>
                                        <p:tgtEl>
                                          <p:spTgt spid="15"/>
                                        </p:tgtEl>
                                        <p:attrNameLst>
                                          <p:attrName>style.visibility</p:attrName>
                                        </p:attrNameLst>
                                      </p:cBhvr>
                                      <p:to>
                                        <p:strVal val="hidden"/>
                                      </p:to>
                                    </p:set>
                                  </p:childTnLst>
                                </p:cTn>
                              </p:par>
                              <p:par>
                                <p:cTn id="70" presetID="1" presetClass="entr" presetSubtype="0" fill="hold" nodeType="withEffect">
                                  <p:stCondLst>
                                    <p:cond delay="0"/>
                                  </p:stCondLst>
                                  <p:childTnLst>
                                    <p:set>
                                      <p:cBhvr>
                                        <p:cTn id="71" dur="1" fill="hold">
                                          <p:stCondLst>
                                            <p:cond delay="0"/>
                                          </p:stCondLst>
                                        </p:cTn>
                                        <p:tgtEl>
                                          <p:spTgt spid="17"/>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18"/>
                                        </p:tgtEl>
                                        <p:attrNameLst>
                                          <p:attrName>style.visibility</p:attrName>
                                        </p:attrNameLst>
                                      </p:cBhvr>
                                      <p:to>
                                        <p:strVal val="visible"/>
                                      </p:to>
                                    </p:set>
                                  </p:childTnLst>
                                </p:cTn>
                              </p:par>
                              <p:par>
                                <p:cTn id="74" presetID="26" presetClass="emph" presetSubtype="0" repeatCount="indefinite" fill="hold" grpId="1" nodeType="withEffect">
                                  <p:stCondLst>
                                    <p:cond delay="0"/>
                                  </p:stCondLst>
                                  <p:endCondLst>
                                    <p:cond evt="onNext" delay="0">
                                      <p:tgtEl>
                                        <p:sldTgt/>
                                      </p:tgtEl>
                                    </p:cond>
                                  </p:endCondLst>
                                  <p:childTnLst>
                                    <p:animEffect transition="out" filter="fade">
                                      <p:cBhvr>
                                        <p:cTn id="75" dur="500" tmFilter="0, 0; .2, .5; .8, .5; 1, 0"/>
                                        <p:tgtEl>
                                          <p:spTgt spid="18"/>
                                        </p:tgtEl>
                                      </p:cBhvr>
                                    </p:animEffect>
                                    <p:animScale>
                                      <p:cBhvr>
                                        <p:cTn id="76" dur="250" autoRev="1" fill="hold"/>
                                        <p:tgtEl>
                                          <p:spTgt spid="18"/>
                                        </p:tgtEl>
                                      </p:cBhvr>
                                      <p:by x="105000" y="105000"/>
                                    </p:animScale>
                                  </p:childTnLst>
                                </p:cTn>
                              </p:par>
                              <p:par>
                                <p:cTn id="77" presetID="1" presetClass="entr" presetSubtype="0" fill="hold" grpId="0" nodeType="withEffect">
                                  <p:stCondLst>
                                    <p:cond delay="0"/>
                                  </p:stCondLst>
                                  <p:childTnLst>
                                    <p:set>
                                      <p:cBhvr>
                                        <p:cTn id="78" dur="1" fill="hold">
                                          <p:stCondLst>
                                            <p:cond delay="0"/>
                                          </p:stCondLst>
                                        </p:cTn>
                                        <p:tgtEl>
                                          <p:spTgt spid="32"/>
                                        </p:tgtEl>
                                        <p:attrNameLst>
                                          <p:attrName>style.visibility</p:attrName>
                                        </p:attrNameLst>
                                      </p:cBhvr>
                                      <p:to>
                                        <p:strVal val="visible"/>
                                      </p:to>
                                    </p:set>
                                  </p:childTnLst>
                                </p:cTn>
                              </p:par>
                              <p:par>
                                <p:cTn id="79" presetID="26" presetClass="emph" presetSubtype="0" repeatCount="indefinite" fill="hold" grpId="1" nodeType="withEffect">
                                  <p:stCondLst>
                                    <p:cond delay="0"/>
                                  </p:stCondLst>
                                  <p:endCondLst>
                                    <p:cond evt="onNext" delay="0">
                                      <p:tgtEl>
                                        <p:sldTgt/>
                                      </p:tgtEl>
                                    </p:cond>
                                  </p:endCondLst>
                                  <p:childTnLst>
                                    <p:animEffect transition="out" filter="fade">
                                      <p:cBhvr>
                                        <p:cTn id="80" dur="500" tmFilter="0, 0; .2, .5; .8, .5; 1, 0"/>
                                        <p:tgtEl>
                                          <p:spTgt spid="32"/>
                                        </p:tgtEl>
                                      </p:cBhvr>
                                    </p:animEffect>
                                    <p:animScale>
                                      <p:cBhvr>
                                        <p:cTn id="81" dur="250" autoRev="1" fill="hold"/>
                                        <p:tgtEl>
                                          <p:spTgt spid="32"/>
                                        </p:tgtEl>
                                      </p:cBhvr>
                                      <p:by x="105000" y="105000"/>
                                    </p:animScale>
                                  </p:childTnLst>
                                </p:cTn>
                              </p:par>
                            </p:childTnLst>
                          </p:cTn>
                        </p:par>
                      </p:childTnLst>
                    </p:cTn>
                  </p:par>
                  <p:par>
                    <p:cTn id="82" fill="hold">
                      <p:stCondLst>
                        <p:cond delay="indefinite"/>
                      </p:stCondLst>
                      <p:childTnLst>
                        <p:par>
                          <p:cTn id="83" fill="hold">
                            <p:stCondLst>
                              <p:cond delay="0"/>
                            </p:stCondLst>
                            <p:childTnLst>
                              <p:par>
                                <p:cTn id="84" presetID="1" presetClass="exit" presetSubtype="0" fill="hold" grpId="2" nodeType="clickEffect">
                                  <p:stCondLst>
                                    <p:cond delay="0"/>
                                  </p:stCondLst>
                                  <p:childTnLst>
                                    <p:set>
                                      <p:cBhvr>
                                        <p:cTn id="85" dur="1" fill="hold">
                                          <p:stCondLst>
                                            <p:cond delay="0"/>
                                          </p:stCondLst>
                                        </p:cTn>
                                        <p:tgtEl>
                                          <p:spTgt spid="32"/>
                                        </p:tgtEl>
                                        <p:attrNameLst>
                                          <p:attrName>style.visibility</p:attrName>
                                        </p:attrNameLst>
                                      </p:cBhvr>
                                      <p:to>
                                        <p:strVal val="hidden"/>
                                      </p:to>
                                    </p:set>
                                  </p:childTnLst>
                                </p:cTn>
                              </p:par>
                            </p:childTnLst>
                          </p:cTn>
                        </p:par>
                      </p:childTnLst>
                    </p:cTn>
                  </p:par>
                  <p:par>
                    <p:cTn id="86" fill="hold">
                      <p:stCondLst>
                        <p:cond delay="indefinite"/>
                      </p:stCondLst>
                      <p:childTnLst>
                        <p:par>
                          <p:cTn id="87" fill="hold">
                            <p:stCondLst>
                              <p:cond delay="0"/>
                            </p:stCondLst>
                            <p:childTnLst>
                              <p:par>
                                <p:cTn id="88" presetID="1" presetClass="exit" presetSubtype="0" fill="hold" grpId="2" nodeType="clickEffect">
                                  <p:stCondLst>
                                    <p:cond delay="0"/>
                                  </p:stCondLst>
                                  <p:childTnLst>
                                    <p:set>
                                      <p:cBhvr>
                                        <p:cTn id="89" dur="1" fill="hold">
                                          <p:stCondLst>
                                            <p:cond delay="0"/>
                                          </p:stCondLst>
                                        </p:cTn>
                                        <p:tgtEl>
                                          <p:spTgt spid="18"/>
                                        </p:tgtEl>
                                        <p:attrNameLst>
                                          <p:attrName>style.visibility</p:attrName>
                                        </p:attrNameLst>
                                      </p:cBhvr>
                                      <p:to>
                                        <p:strVal val="hidden"/>
                                      </p:to>
                                    </p:set>
                                  </p:childTnLst>
                                </p:cTn>
                              </p:par>
                              <p:par>
                                <p:cTn id="90" presetID="1" presetClass="exit" presetSubtype="0" fill="hold" nodeType="withEffect">
                                  <p:stCondLst>
                                    <p:cond delay="0"/>
                                  </p:stCondLst>
                                  <p:childTnLst>
                                    <p:set>
                                      <p:cBhvr>
                                        <p:cTn id="91" dur="1" fill="hold">
                                          <p:stCondLst>
                                            <p:cond delay="0"/>
                                          </p:stCondLst>
                                        </p:cTn>
                                        <p:tgtEl>
                                          <p:spTgt spid="17"/>
                                        </p:tgtEl>
                                        <p:attrNameLst>
                                          <p:attrName>style.visibility</p:attrName>
                                        </p:attrNameLst>
                                      </p:cBhvr>
                                      <p:to>
                                        <p:strVal val="hidden"/>
                                      </p:to>
                                    </p:set>
                                  </p:childTnLst>
                                </p:cTn>
                              </p:par>
                              <p:par>
                                <p:cTn id="92" presetID="1" presetClass="entr" presetSubtype="0" fill="hold" nodeType="withEffect">
                                  <p:stCondLst>
                                    <p:cond delay="0"/>
                                  </p:stCondLst>
                                  <p:childTnLst>
                                    <p:set>
                                      <p:cBhvr>
                                        <p:cTn id="93" dur="1" fill="hold">
                                          <p:stCondLst>
                                            <p:cond delay="0"/>
                                          </p:stCondLst>
                                        </p:cTn>
                                        <p:tgtEl>
                                          <p:spTgt spid="19"/>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20"/>
                                        </p:tgtEl>
                                        <p:attrNameLst>
                                          <p:attrName>style.visibility</p:attrName>
                                        </p:attrNameLst>
                                      </p:cBhvr>
                                      <p:to>
                                        <p:strVal val="visible"/>
                                      </p:to>
                                    </p:set>
                                  </p:childTnLst>
                                </p:cTn>
                              </p:par>
                              <p:par>
                                <p:cTn id="96" presetID="26" presetClass="emph" presetSubtype="0" repeatCount="indefinite" fill="hold" grpId="1" nodeType="withEffect">
                                  <p:stCondLst>
                                    <p:cond delay="0"/>
                                  </p:stCondLst>
                                  <p:endCondLst>
                                    <p:cond evt="onNext" delay="0">
                                      <p:tgtEl>
                                        <p:sldTgt/>
                                      </p:tgtEl>
                                    </p:cond>
                                  </p:endCondLst>
                                  <p:childTnLst>
                                    <p:animEffect transition="out" filter="fade">
                                      <p:cBhvr>
                                        <p:cTn id="97" dur="500" tmFilter="0, 0; .2, .5; .8, .5; 1, 0"/>
                                        <p:tgtEl>
                                          <p:spTgt spid="20"/>
                                        </p:tgtEl>
                                      </p:cBhvr>
                                    </p:animEffect>
                                    <p:animScale>
                                      <p:cBhvr>
                                        <p:cTn id="98" dur="250" autoRev="1" fill="hold"/>
                                        <p:tgtEl>
                                          <p:spTgt spid="20"/>
                                        </p:tgtEl>
                                      </p:cBhvr>
                                      <p:by x="105000" y="105000"/>
                                    </p:animScale>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grpId="2" nodeType="clickEffect">
                                  <p:stCondLst>
                                    <p:cond delay="0"/>
                                  </p:stCondLst>
                                  <p:childTnLst>
                                    <p:set>
                                      <p:cBhvr>
                                        <p:cTn id="102" dur="1" fill="hold">
                                          <p:stCondLst>
                                            <p:cond delay="0"/>
                                          </p:stCondLst>
                                        </p:cTn>
                                        <p:tgtEl>
                                          <p:spTgt spid="20"/>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19"/>
                                        </p:tgtEl>
                                        <p:attrNameLst>
                                          <p:attrName>style.visibility</p:attrName>
                                        </p:attrNameLst>
                                      </p:cBhvr>
                                      <p:to>
                                        <p:strVal val="hidden"/>
                                      </p:to>
                                    </p:set>
                                  </p:childTnLst>
                                </p:cTn>
                              </p:par>
                              <p:par>
                                <p:cTn id="105" presetID="1" presetClass="entr" presetSubtype="0" fill="hold" nodeType="withEffect">
                                  <p:stCondLst>
                                    <p:cond delay="0"/>
                                  </p:stCondLst>
                                  <p:childTnLst>
                                    <p:set>
                                      <p:cBhvr>
                                        <p:cTn id="106" dur="1" fill="hold">
                                          <p:stCondLst>
                                            <p:cond delay="0"/>
                                          </p:stCondLst>
                                        </p:cTn>
                                        <p:tgtEl>
                                          <p:spTgt spid="21"/>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22"/>
                                        </p:tgtEl>
                                        <p:attrNameLst>
                                          <p:attrName>style.visibility</p:attrName>
                                        </p:attrNameLst>
                                      </p:cBhvr>
                                      <p:to>
                                        <p:strVal val="visible"/>
                                      </p:to>
                                    </p:set>
                                  </p:childTnLst>
                                </p:cTn>
                              </p:par>
                              <p:par>
                                <p:cTn id="109" presetID="26" presetClass="emph" presetSubtype="0" repeatCount="indefinite" fill="hold" grpId="1" nodeType="withEffect">
                                  <p:stCondLst>
                                    <p:cond delay="0"/>
                                  </p:stCondLst>
                                  <p:endCondLst>
                                    <p:cond evt="onNext" delay="0">
                                      <p:tgtEl>
                                        <p:sldTgt/>
                                      </p:tgtEl>
                                    </p:cond>
                                  </p:endCondLst>
                                  <p:childTnLst>
                                    <p:animEffect transition="out" filter="fade">
                                      <p:cBhvr>
                                        <p:cTn id="110" dur="500" tmFilter="0, 0; .2, .5; .8, .5; 1, 0"/>
                                        <p:tgtEl>
                                          <p:spTgt spid="22"/>
                                        </p:tgtEl>
                                      </p:cBhvr>
                                    </p:animEffect>
                                    <p:animScale>
                                      <p:cBhvr>
                                        <p:cTn id="111" dur="250" autoRev="1" fill="hold"/>
                                        <p:tgtEl>
                                          <p:spTgt spid="22"/>
                                        </p:tgtEl>
                                      </p:cBhvr>
                                      <p:by x="105000" y="105000"/>
                                    </p:animScale>
                                  </p:childTnLst>
                                </p:cTn>
                              </p:par>
                            </p:childTnLst>
                          </p:cTn>
                        </p:par>
                      </p:childTnLst>
                    </p:cTn>
                  </p:par>
                  <p:par>
                    <p:cTn id="112" fill="hold">
                      <p:stCondLst>
                        <p:cond delay="indefinite"/>
                      </p:stCondLst>
                      <p:childTnLst>
                        <p:par>
                          <p:cTn id="113" fill="hold">
                            <p:stCondLst>
                              <p:cond delay="0"/>
                            </p:stCondLst>
                            <p:childTnLst>
                              <p:par>
                                <p:cTn id="114" presetID="1" presetClass="exit" presetSubtype="0" fill="hold" grpId="2" nodeType="clickEffect">
                                  <p:stCondLst>
                                    <p:cond delay="0"/>
                                  </p:stCondLst>
                                  <p:childTnLst>
                                    <p:set>
                                      <p:cBhvr>
                                        <p:cTn id="115" dur="1" fill="hold">
                                          <p:stCondLst>
                                            <p:cond delay="0"/>
                                          </p:stCondLst>
                                        </p:cTn>
                                        <p:tgtEl>
                                          <p:spTgt spid="22"/>
                                        </p:tgtEl>
                                        <p:attrNameLst>
                                          <p:attrName>style.visibility</p:attrName>
                                        </p:attrNameLst>
                                      </p:cBhvr>
                                      <p:to>
                                        <p:strVal val="hidden"/>
                                      </p:to>
                                    </p:set>
                                  </p:childTnLst>
                                </p:cTn>
                              </p:par>
                              <p:par>
                                <p:cTn id="116" presetID="1" presetClass="exit" presetSubtype="0" fill="hold" nodeType="withEffect">
                                  <p:stCondLst>
                                    <p:cond delay="0"/>
                                  </p:stCondLst>
                                  <p:childTnLst>
                                    <p:set>
                                      <p:cBhvr>
                                        <p:cTn id="117" dur="1" fill="hold">
                                          <p:stCondLst>
                                            <p:cond delay="0"/>
                                          </p:stCondLst>
                                        </p:cTn>
                                        <p:tgtEl>
                                          <p:spTgt spid="21"/>
                                        </p:tgtEl>
                                        <p:attrNameLst>
                                          <p:attrName>style.visibility</p:attrName>
                                        </p:attrNameLst>
                                      </p:cBhvr>
                                      <p:to>
                                        <p:strVal val="hidden"/>
                                      </p:to>
                                    </p:set>
                                  </p:childTnLst>
                                </p:cTn>
                              </p:par>
                              <p:par>
                                <p:cTn id="118" presetID="1" presetClass="entr" presetSubtype="0" fill="hold" nodeType="withEffect">
                                  <p:stCondLst>
                                    <p:cond delay="0"/>
                                  </p:stCondLst>
                                  <p:childTnLst>
                                    <p:set>
                                      <p:cBhvr>
                                        <p:cTn id="119" dur="1" fill="hold">
                                          <p:stCondLst>
                                            <p:cond delay="0"/>
                                          </p:stCondLst>
                                        </p:cTn>
                                        <p:tgtEl>
                                          <p:spTgt spid="23"/>
                                        </p:tgtEl>
                                        <p:attrNameLst>
                                          <p:attrName>style.visibility</p:attrName>
                                        </p:attrNameLst>
                                      </p:cBhvr>
                                      <p:to>
                                        <p:strVal val="visible"/>
                                      </p:to>
                                    </p:set>
                                  </p:childTnLst>
                                </p:cTn>
                              </p:par>
                              <p:par>
                                <p:cTn id="120" presetID="1" presetClass="entr" presetSubtype="0" fill="hold" grpId="0" nodeType="withEffect">
                                  <p:stCondLst>
                                    <p:cond delay="0"/>
                                  </p:stCondLst>
                                  <p:childTnLst>
                                    <p:set>
                                      <p:cBhvr>
                                        <p:cTn id="121" dur="1" fill="hold">
                                          <p:stCondLst>
                                            <p:cond delay="0"/>
                                          </p:stCondLst>
                                        </p:cTn>
                                        <p:tgtEl>
                                          <p:spTgt spid="24"/>
                                        </p:tgtEl>
                                        <p:attrNameLst>
                                          <p:attrName>style.visibility</p:attrName>
                                        </p:attrNameLst>
                                      </p:cBhvr>
                                      <p:to>
                                        <p:strVal val="visible"/>
                                      </p:to>
                                    </p:set>
                                  </p:childTnLst>
                                </p:cTn>
                              </p:par>
                              <p:par>
                                <p:cTn id="122" presetID="26" presetClass="emph" presetSubtype="0" repeatCount="indefinite" fill="hold" grpId="1" nodeType="withEffect">
                                  <p:stCondLst>
                                    <p:cond delay="0"/>
                                  </p:stCondLst>
                                  <p:endCondLst>
                                    <p:cond evt="onNext" delay="0">
                                      <p:tgtEl>
                                        <p:sldTgt/>
                                      </p:tgtEl>
                                    </p:cond>
                                  </p:endCondLst>
                                  <p:childTnLst>
                                    <p:animEffect transition="out" filter="fade">
                                      <p:cBhvr>
                                        <p:cTn id="123" dur="500" tmFilter="0, 0; .2, .5; .8, .5; 1, 0"/>
                                        <p:tgtEl>
                                          <p:spTgt spid="24"/>
                                        </p:tgtEl>
                                      </p:cBhvr>
                                    </p:animEffect>
                                    <p:animScale>
                                      <p:cBhvr>
                                        <p:cTn id="124" dur="250" autoRev="1" fill="hold"/>
                                        <p:tgtEl>
                                          <p:spTgt spid="24"/>
                                        </p:tgtEl>
                                      </p:cBhvr>
                                      <p:by x="105000" y="105000"/>
                                    </p:animScale>
                                  </p:childTnLst>
                                </p:cTn>
                              </p:par>
                            </p:childTnLst>
                          </p:cTn>
                        </p:par>
                      </p:childTnLst>
                    </p:cTn>
                  </p:par>
                  <p:par>
                    <p:cTn id="125" fill="hold">
                      <p:stCondLst>
                        <p:cond delay="indefinite"/>
                      </p:stCondLst>
                      <p:childTnLst>
                        <p:par>
                          <p:cTn id="126" fill="hold">
                            <p:stCondLst>
                              <p:cond delay="0"/>
                            </p:stCondLst>
                            <p:childTnLst>
                              <p:par>
                                <p:cTn id="127" presetID="1" presetClass="exit" presetSubtype="0" fill="hold" grpId="2" nodeType="clickEffect">
                                  <p:stCondLst>
                                    <p:cond delay="0"/>
                                  </p:stCondLst>
                                  <p:childTnLst>
                                    <p:set>
                                      <p:cBhvr>
                                        <p:cTn id="128" dur="1" fill="hold">
                                          <p:stCondLst>
                                            <p:cond delay="0"/>
                                          </p:stCondLst>
                                        </p:cTn>
                                        <p:tgtEl>
                                          <p:spTgt spid="24"/>
                                        </p:tgtEl>
                                        <p:attrNameLst>
                                          <p:attrName>style.visibility</p:attrName>
                                        </p:attrNameLst>
                                      </p:cBhvr>
                                      <p:to>
                                        <p:strVal val="hidden"/>
                                      </p:to>
                                    </p:set>
                                  </p:childTnLst>
                                </p:cTn>
                              </p:par>
                              <p:par>
                                <p:cTn id="129" presetID="1" presetClass="exit" presetSubtype="0" fill="hold" nodeType="withEffect">
                                  <p:stCondLst>
                                    <p:cond delay="0"/>
                                  </p:stCondLst>
                                  <p:childTnLst>
                                    <p:set>
                                      <p:cBhvr>
                                        <p:cTn id="130" dur="1" fill="hold">
                                          <p:stCondLst>
                                            <p:cond delay="0"/>
                                          </p:stCondLst>
                                        </p:cTn>
                                        <p:tgtEl>
                                          <p:spTgt spid="23"/>
                                        </p:tgtEl>
                                        <p:attrNameLst>
                                          <p:attrName>style.visibility</p:attrName>
                                        </p:attrNameLst>
                                      </p:cBhvr>
                                      <p:to>
                                        <p:strVal val="hidden"/>
                                      </p:to>
                                    </p:set>
                                  </p:childTnLst>
                                </p:cTn>
                              </p:par>
                              <p:par>
                                <p:cTn id="131" presetID="1" presetClass="entr" presetSubtype="0" fill="hold" nodeType="withEffect">
                                  <p:stCondLst>
                                    <p:cond delay="0"/>
                                  </p:stCondLst>
                                  <p:childTnLst>
                                    <p:set>
                                      <p:cBhvr>
                                        <p:cTn id="132" dur="1" fill="hold">
                                          <p:stCondLst>
                                            <p:cond delay="0"/>
                                          </p:stCondLst>
                                        </p:cTn>
                                        <p:tgtEl>
                                          <p:spTgt spid="25"/>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26"/>
                                        </p:tgtEl>
                                        <p:attrNameLst>
                                          <p:attrName>style.visibility</p:attrName>
                                        </p:attrNameLst>
                                      </p:cBhvr>
                                      <p:to>
                                        <p:strVal val="visible"/>
                                      </p:to>
                                    </p:set>
                                  </p:childTnLst>
                                </p:cTn>
                              </p:par>
                              <p:par>
                                <p:cTn id="135" presetID="26" presetClass="emph" presetSubtype="0" repeatCount="indefinite" fill="hold" grpId="1" nodeType="withEffect">
                                  <p:stCondLst>
                                    <p:cond delay="0"/>
                                  </p:stCondLst>
                                  <p:endCondLst>
                                    <p:cond evt="onNext" delay="0">
                                      <p:tgtEl>
                                        <p:sldTgt/>
                                      </p:tgtEl>
                                    </p:cond>
                                  </p:endCondLst>
                                  <p:childTnLst>
                                    <p:animEffect transition="out" filter="fade">
                                      <p:cBhvr>
                                        <p:cTn id="136" dur="500" tmFilter="0, 0; .2, .5; .8, .5; 1, 0"/>
                                        <p:tgtEl>
                                          <p:spTgt spid="26"/>
                                        </p:tgtEl>
                                      </p:cBhvr>
                                    </p:animEffect>
                                    <p:animScale>
                                      <p:cBhvr>
                                        <p:cTn id="137" dur="250" autoRev="1" fill="hold"/>
                                        <p:tgtEl>
                                          <p:spTgt spid="26"/>
                                        </p:tgtEl>
                                      </p:cBhvr>
                                      <p:by x="105000" y="105000"/>
                                    </p:animScale>
                                  </p:childTnLst>
                                </p:cTn>
                              </p:par>
                              <p:par>
                                <p:cTn id="138" presetID="1" presetClass="entr" presetSubtype="0" fill="hold" grpId="0" nodeType="withEffect">
                                  <p:stCondLst>
                                    <p:cond delay="0"/>
                                  </p:stCondLst>
                                  <p:childTnLst>
                                    <p:set>
                                      <p:cBhvr>
                                        <p:cTn id="139" dur="1" fill="hold">
                                          <p:stCondLst>
                                            <p:cond delay="0"/>
                                          </p:stCondLst>
                                        </p:cTn>
                                        <p:tgtEl>
                                          <p:spTgt spid="33"/>
                                        </p:tgtEl>
                                        <p:attrNameLst>
                                          <p:attrName>style.visibility</p:attrName>
                                        </p:attrNameLst>
                                      </p:cBhvr>
                                      <p:to>
                                        <p:strVal val="visible"/>
                                      </p:to>
                                    </p:set>
                                  </p:childTnLst>
                                </p:cTn>
                              </p:par>
                              <p:par>
                                <p:cTn id="140" presetID="26" presetClass="emph" presetSubtype="0" repeatCount="indefinite" fill="hold" grpId="1" nodeType="withEffect">
                                  <p:stCondLst>
                                    <p:cond delay="0"/>
                                  </p:stCondLst>
                                  <p:endCondLst>
                                    <p:cond evt="onNext" delay="0">
                                      <p:tgtEl>
                                        <p:sldTgt/>
                                      </p:tgtEl>
                                    </p:cond>
                                  </p:endCondLst>
                                  <p:childTnLst>
                                    <p:animEffect transition="out" filter="fade">
                                      <p:cBhvr>
                                        <p:cTn id="141" dur="500" tmFilter="0, 0; .2, .5; .8, .5; 1, 0"/>
                                        <p:tgtEl>
                                          <p:spTgt spid="33"/>
                                        </p:tgtEl>
                                      </p:cBhvr>
                                    </p:animEffect>
                                    <p:animScale>
                                      <p:cBhvr>
                                        <p:cTn id="142" dur="250" autoRev="1" fill="hold"/>
                                        <p:tgtEl>
                                          <p:spTgt spid="33"/>
                                        </p:tgtEl>
                                      </p:cBhvr>
                                      <p:by x="105000" y="105000"/>
                                    </p:animScale>
                                  </p:childTnLst>
                                </p:cTn>
                              </p:par>
                            </p:childTnLst>
                          </p:cTn>
                        </p:par>
                      </p:childTnLst>
                    </p:cTn>
                  </p:par>
                  <p:par>
                    <p:cTn id="143" fill="hold">
                      <p:stCondLst>
                        <p:cond delay="indefinite"/>
                      </p:stCondLst>
                      <p:childTnLst>
                        <p:par>
                          <p:cTn id="144" fill="hold">
                            <p:stCondLst>
                              <p:cond delay="0"/>
                            </p:stCondLst>
                            <p:childTnLst>
                              <p:par>
                                <p:cTn id="145" presetID="1" presetClass="exit" presetSubtype="0" fill="hold" grpId="2" nodeType="clickEffect">
                                  <p:stCondLst>
                                    <p:cond delay="0"/>
                                  </p:stCondLst>
                                  <p:childTnLst>
                                    <p:set>
                                      <p:cBhvr>
                                        <p:cTn id="146" dur="1" fill="hold">
                                          <p:stCondLst>
                                            <p:cond delay="0"/>
                                          </p:stCondLst>
                                        </p:cTn>
                                        <p:tgtEl>
                                          <p:spTgt spid="33"/>
                                        </p:tgtEl>
                                        <p:attrNameLst>
                                          <p:attrName>style.visibility</p:attrName>
                                        </p:attrNameLst>
                                      </p:cBhvr>
                                      <p:to>
                                        <p:strVal val="hidden"/>
                                      </p:to>
                                    </p:set>
                                  </p:childTnLst>
                                </p:cTn>
                              </p:par>
                            </p:childTnLst>
                          </p:cTn>
                        </p:par>
                      </p:childTnLst>
                    </p:cTn>
                  </p:par>
                  <p:par>
                    <p:cTn id="147" fill="hold">
                      <p:stCondLst>
                        <p:cond delay="indefinite"/>
                      </p:stCondLst>
                      <p:childTnLst>
                        <p:par>
                          <p:cTn id="148" fill="hold">
                            <p:stCondLst>
                              <p:cond delay="0"/>
                            </p:stCondLst>
                            <p:childTnLst>
                              <p:par>
                                <p:cTn id="149" presetID="1" presetClass="exit" presetSubtype="0" fill="hold" grpId="2" nodeType="clickEffect">
                                  <p:stCondLst>
                                    <p:cond delay="0"/>
                                  </p:stCondLst>
                                  <p:childTnLst>
                                    <p:set>
                                      <p:cBhvr>
                                        <p:cTn id="150" dur="1" fill="hold">
                                          <p:stCondLst>
                                            <p:cond delay="0"/>
                                          </p:stCondLst>
                                        </p:cTn>
                                        <p:tgtEl>
                                          <p:spTgt spid="26"/>
                                        </p:tgtEl>
                                        <p:attrNameLst>
                                          <p:attrName>style.visibility</p:attrName>
                                        </p:attrNameLst>
                                      </p:cBhvr>
                                      <p:to>
                                        <p:strVal val="hidden"/>
                                      </p:to>
                                    </p:set>
                                  </p:childTnLst>
                                </p:cTn>
                              </p:par>
                              <p:par>
                                <p:cTn id="151" presetID="1" presetClass="exit" presetSubtype="0" fill="hold" nodeType="withEffect">
                                  <p:stCondLst>
                                    <p:cond delay="0"/>
                                  </p:stCondLst>
                                  <p:childTnLst>
                                    <p:set>
                                      <p:cBhvr>
                                        <p:cTn id="152" dur="1" fill="hold">
                                          <p:stCondLst>
                                            <p:cond delay="0"/>
                                          </p:stCondLst>
                                        </p:cTn>
                                        <p:tgtEl>
                                          <p:spTgt spid="25"/>
                                        </p:tgtEl>
                                        <p:attrNameLst>
                                          <p:attrName>style.visibility</p:attrName>
                                        </p:attrNameLst>
                                      </p:cBhvr>
                                      <p:to>
                                        <p:strVal val="hidden"/>
                                      </p:to>
                                    </p:set>
                                  </p:childTnLst>
                                </p:cTn>
                              </p:par>
                              <p:par>
                                <p:cTn id="153" presetID="1" presetClass="entr" presetSubtype="0" fill="hold" nodeType="withEffect">
                                  <p:stCondLst>
                                    <p:cond delay="0"/>
                                  </p:stCondLst>
                                  <p:childTnLst>
                                    <p:set>
                                      <p:cBhvr>
                                        <p:cTn id="154" dur="1" fill="hold">
                                          <p:stCondLst>
                                            <p:cond delay="0"/>
                                          </p:stCondLst>
                                        </p:cTn>
                                        <p:tgtEl>
                                          <p:spTgt spid="27"/>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28"/>
                                        </p:tgtEl>
                                        <p:attrNameLst>
                                          <p:attrName>style.visibility</p:attrName>
                                        </p:attrNameLst>
                                      </p:cBhvr>
                                      <p:to>
                                        <p:strVal val="visible"/>
                                      </p:to>
                                    </p:set>
                                  </p:childTnLst>
                                </p:cTn>
                              </p:par>
                              <p:par>
                                <p:cTn id="157" presetID="26" presetClass="emph" presetSubtype="0" repeatCount="indefinite" fill="hold" grpId="1" nodeType="withEffect">
                                  <p:stCondLst>
                                    <p:cond delay="0"/>
                                  </p:stCondLst>
                                  <p:endCondLst>
                                    <p:cond evt="onNext" delay="0">
                                      <p:tgtEl>
                                        <p:sldTgt/>
                                      </p:tgtEl>
                                    </p:cond>
                                  </p:endCondLst>
                                  <p:childTnLst>
                                    <p:animEffect transition="out" filter="fade">
                                      <p:cBhvr>
                                        <p:cTn id="158" dur="500" tmFilter="0, 0; .2, .5; .8, .5; 1, 0"/>
                                        <p:tgtEl>
                                          <p:spTgt spid="28"/>
                                        </p:tgtEl>
                                      </p:cBhvr>
                                    </p:animEffect>
                                    <p:animScale>
                                      <p:cBhvr>
                                        <p:cTn id="159" dur="250" autoRev="1" fill="hold"/>
                                        <p:tgtEl>
                                          <p:spTgt spid="28"/>
                                        </p:tgtEl>
                                      </p:cBhvr>
                                      <p:by x="105000" y="105000"/>
                                    </p:animScale>
                                  </p:childTnLst>
                                </p:cTn>
                              </p:par>
                            </p:childTnLst>
                          </p:cTn>
                        </p:par>
                      </p:childTnLst>
                    </p:cTn>
                  </p:par>
                  <p:par>
                    <p:cTn id="160" fill="hold">
                      <p:stCondLst>
                        <p:cond delay="indefinite"/>
                      </p:stCondLst>
                      <p:childTnLst>
                        <p:par>
                          <p:cTn id="161" fill="hold">
                            <p:stCondLst>
                              <p:cond delay="0"/>
                            </p:stCondLst>
                            <p:childTnLst>
                              <p:par>
                                <p:cTn id="162" presetID="1" presetClass="exit" presetSubtype="0" fill="hold" grpId="2" nodeType="clickEffect">
                                  <p:stCondLst>
                                    <p:cond delay="0"/>
                                  </p:stCondLst>
                                  <p:childTnLst>
                                    <p:set>
                                      <p:cBhvr>
                                        <p:cTn id="163" dur="1" fill="hold">
                                          <p:stCondLst>
                                            <p:cond delay="0"/>
                                          </p:stCondLst>
                                        </p:cTn>
                                        <p:tgtEl>
                                          <p:spTgt spid="28"/>
                                        </p:tgtEl>
                                        <p:attrNameLst>
                                          <p:attrName>style.visibility</p:attrName>
                                        </p:attrNameLst>
                                      </p:cBhvr>
                                      <p:to>
                                        <p:strVal val="hidden"/>
                                      </p:to>
                                    </p:set>
                                  </p:childTnLst>
                                </p:cTn>
                              </p:par>
                              <p:par>
                                <p:cTn id="164" presetID="1" presetClass="exit" presetSubtype="0" fill="hold" nodeType="withEffect">
                                  <p:stCondLst>
                                    <p:cond delay="0"/>
                                  </p:stCondLst>
                                  <p:childTnLst>
                                    <p:set>
                                      <p:cBhvr>
                                        <p:cTn id="165" dur="1" fill="hold">
                                          <p:stCondLst>
                                            <p:cond delay="0"/>
                                          </p:stCondLst>
                                        </p:cTn>
                                        <p:tgtEl>
                                          <p:spTgt spid="27"/>
                                        </p:tgtEl>
                                        <p:attrNameLst>
                                          <p:attrName>style.visibility</p:attrName>
                                        </p:attrNameLst>
                                      </p:cBhvr>
                                      <p:to>
                                        <p:strVal val="hidden"/>
                                      </p:to>
                                    </p:set>
                                  </p:childTnLst>
                                </p:cTn>
                              </p:par>
                              <p:par>
                                <p:cTn id="166" presetID="1" presetClass="entr" presetSubtype="0" fill="hold" nodeType="withEffect">
                                  <p:stCondLst>
                                    <p:cond delay="0"/>
                                  </p:stCondLst>
                                  <p:childTnLst>
                                    <p:set>
                                      <p:cBhvr>
                                        <p:cTn id="167" dur="1" fill="hold">
                                          <p:stCondLst>
                                            <p:cond delay="0"/>
                                          </p:stCondLst>
                                        </p:cTn>
                                        <p:tgtEl>
                                          <p:spTgt spid="29"/>
                                        </p:tgtEl>
                                        <p:attrNameLst>
                                          <p:attrName>style.visibility</p:attrName>
                                        </p:attrNameLst>
                                      </p:cBhvr>
                                      <p:to>
                                        <p:strVal val="visible"/>
                                      </p:to>
                                    </p:set>
                                  </p:childTnLst>
                                </p:cTn>
                              </p:par>
                              <p:par>
                                <p:cTn id="168" presetID="1" presetClass="entr" presetSubtype="0" fill="hold" grpId="0" nodeType="withEffect">
                                  <p:stCondLst>
                                    <p:cond delay="0"/>
                                  </p:stCondLst>
                                  <p:childTnLst>
                                    <p:set>
                                      <p:cBhvr>
                                        <p:cTn id="169" dur="1" fill="hold">
                                          <p:stCondLst>
                                            <p:cond delay="0"/>
                                          </p:stCondLst>
                                        </p:cTn>
                                        <p:tgtEl>
                                          <p:spTgt spid="30"/>
                                        </p:tgtEl>
                                        <p:attrNameLst>
                                          <p:attrName>style.visibility</p:attrName>
                                        </p:attrNameLst>
                                      </p:cBhvr>
                                      <p:to>
                                        <p:strVal val="visible"/>
                                      </p:to>
                                    </p:set>
                                  </p:childTnLst>
                                </p:cTn>
                              </p:par>
                              <p:par>
                                <p:cTn id="170" presetID="26" presetClass="emph" presetSubtype="0" repeatCount="indefinite" fill="hold" grpId="1" nodeType="withEffect">
                                  <p:stCondLst>
                                    <p:cond delay="0"/>
                                  </p:stCondLst>
                                  <p:endCondLst>
                                    <p:cond evt="onNext" delay="0">
                                      <p:tgtEl>
                                        <p:sldTgt/>
                                      </p:tgtEl>
                                    </p:cond>
                                  </p:endCondLst>
                                  <p:childTnLst>
                                    <p:animEffect transition="out" filter="fade">
                                      <p:cBhvr>
                                        <p:cTn id="171" dur="500" tmFilter="0, 0; .2, .5; .8, .5; 1, 0"/>
                                        <p:tgtEl>
                                          <p:spTgt spid="30"/>
                                        </p:tgtEl>
                                      </p:cBhvr>
                                    </p:animEffect>
                                    <p:animScale>
                                      <p:cBhvr>
                                        <p:cTn id="172" dur="250" autoRev="1" fill="hold"/>
                                        <p:tgtEl>
                                          <p:spTgt spid="30"/>
                                        </p:tgtEl>
                                      </p:cBhvr>
                                      <p:by x="105000" y="105000"/>
                                    </p:animScale>
                                  </p:childTnLst>
                                </p:cTn>
                              </p:par>
                            </p:childTnLst>
                          </p:cTn>
                        </p:par>
                      </p:childTnLst>
                    </p:cTn>
                  </p:par>
                  <p:par>
                    <p:cTn id="173" fill="hold">
                      <p:stCondLst>
                        <p:cond delay="indefinite"/>
                      </p:stCondLst>
                      <p:childTnLst>
                        <p:par>
                          <p:cTn id="174" fill="hold">
                            <p:stCondLst>
                              <p:cond delay="0"/>
                            </p:stCondLst>
                            <p:childTnLst>
                              <p:par>
                                <p:cTn id="175" presetID="1" presetClass="exit" presetSubtype="0" fill="hold" grpId="2" nodeType="clickEffect">
                                  <p:stCondLst>
                                    <p:cond delay="0"/>
                                  </p:stCondLst>
                                  <p:childTnLst>
                                    <p:set>
                                      <p:cBhvr>
                                        <p:cTn id="176" dur="1" fill="hold">
                                          <p:stCondLst>
                                            <p:cond delay="0"/>
                                          </p:stCondLst>
                                        </p:cTn>
                                        <p:tgtEl>
                                          <p:spTgt spid="30"/>
                                        </p:tgtEl>
                                        <p:attrNameLst>
                                          <p:attrName>style.visibility</p:attrName>
                                        </p:attrNameLst>
                                      </p:cBhvr>
                                      <p:to>
                                        <p:strVal val="hidden"/>
                                      </p:to>
                                    </p:set>
                                  </p:childTnLst>
                                </p:cTn>
                              </p:par>
                              <p:par>
                                <p:cTn id="177" presetID="1" presetClass="exit" presetSubtype="0" fill="hold" nodeType="withEffect">
                                  <p:stCondLst>
                                    <p:cond delay="0"/>
                                  </p:stCondLst>
                                  <p:childTnLst>
                                    <p:set>
                                      <p:cBhvr>
                                        <p:cTn id="178" dur="1" fill="hold">
                                          <p:stCondLst>
                                            <p:cond delay="0"/>
                                          </p:stCondLst>
                                        </p:cTn>
                                        <p:tgtEl>
                                          <p:spTgt spid="29"/>
                                        </p:tgtEl>
                                        <p:attrNameLst>
                                          <p:attrName>style.visibility</p:attrName>
                                        </p:attrNameLst>
                                      </p:cBhvr>
                                      <p:to>
                                        <p:strVal val="hidden"/>
                                      </p:to>
                                    </p:set>
                                  </p:childTnLst>
                                </p:cTn>
                              </p:par>
                              <p:par>
                                <p:cTn id="179" presetID="1" presetClass="entr" presetSubtype="0" fill="hold" grpId="0" nodeType="withEffect">
                                  <p:stCondLst>
                                    <p:cond delay="0"/>
                                  </p:stCondLst>
                                  <p:childTnLst>
                                    <p:set>
                                      <p:cBhvr>
                                        <p:cTn id="180" dur="1" fill="hold">
                                          <p:stCondLst>
                                            <p:cond delay="0"/>
                                          </p:stCondLst>
                                        </p:cTn>
                                        <p:tgtEl>
                                          <p:spTgt spid="31"/>
                                        </p:tgtEl>
                                        <p:attrNameLst>
                                          <p:attrName>style.visibility</p:attrName>
                                        </p:attrNameLst>
                                      </p:cBhvr>
                                      <p:to>
                                        <p:strVal val="visible"/>
                                      </p:to>
                                    </p:set>
                                  </p:childTnLst>
                                </p:cTn>
                              </p:par>
                              <p:par>
                                <p:cTn id="181" presetID="26" presetClass="emph" presetSubtype="0" repeatCount="indefinite" fill="hold" grpId="1" nodeType="withEffect">
                                  <p:stCondLst>
                                    <p:cond delay="0"/>
                                  </p:stCondLst>
                                  <p:endCondLst>
                                    <p:cond evt="onNext" delay="0">
                                      <p:tgtEl>
                                        <p:sldTgt/>
                                      </p:tgtEl>
                                    </p:cond>
                                  </p:endCondLst>
                                  <p:childTnLst>
                                    <p:animEffect transition="out" filter="fade">
                                      <p:cBhvr>
                                        <p:cTn id="182" dur="500" tmFilter="0, 0; .2, .5; .8, .5; 1, 0"/>
                                        <p:tgtEl>
                                          <p:spTgt spid="31"/>
                                        </p:tgtEl>
                                      </p:cBhvr>
                                    </p:animEffect>
                                    <p:animScale>
                                      <p:cBhvr>
                                        <p:cTn id="183" dur="250" autoRev="1" fill="hold"/>
                                        <p:tgtEl>
                                          <p:spTgt spid="31"/>
                                        </p:tgtEl>
                                      </p:cBhvr>
                                      <p:by x="105000" y="105000"/>
                                    </p:animScale>
                                  </p:childTnLst>
                                </p:cTn>
                              </p:par>
                            </p:childTnLst>
                          </p:cTn>
                        </p:par>
                      </p:childTnLst>
                    </p:cTn>
                  </p:par>
                  <p:par>
                    <p:cTn id="184" fill="hold">
                      <p:stCondLst>
                        <p:cond delay="indefinite"/>
                      </p:stCondLst>
                      <p:childTnLst>
                        <p:par>
                          <p:cTn id="185" fill="hold">
                            <p:stCondLst>
                              <p:cond delay="0"/>
                            </p:stCondLst>
                            <p:childTnLst>
                              <p:par>
                                <p:cTn id="186" presetID="1" presetClass="exit" presetSubtype="0" fill="hold" grpId="2" nodeType="clickEffect">
                                  <p:stCondLst>
                                    <p:cond delay="0"/>
                                  </p:stCondLst>
                                  <p:childTnLst>
                                    <p:set>
                                      <p:cBhvr>
                                        <p:cTn id="187" dur="1" fill="hold">
                                          <p:stCondLst>
                                            <p:cond delay="0"/>
                                          </p:stCondLst>
                                        </p:cTn>
                                        <p:tgtEl>
                                          <p:spTgt spid="3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9" grpId="2" animBg="1"/>
      <p:bldP spid="14" grpId="0" animBg="1"/>
      <p:bldP spid="14" grpId="1" animBg="1"/>
      <p:bldP spid="14" grpId="2" animBg="1"/>
      <p:bldP spid="16" grpId="0" animBg="1"/>
      <p:bldP spid="16" grpId="1" animBg="1"/>
      <p:bldP spid="16" grpId="2" animBg="1"/>
      <p:bldP spid="18" grpId="0" animBg="1"/>
      <p:bldP spid="18" grpId="1" animBg="1"/>
      <p:bldP spid="18" grpId="2" animBg="1"/>
      <p:bldP spid="20" grpId="0" animBg="1"/>
      <p:bldP spid="20" grpId="1" animBg="1"/>
      <p:bldP spid="20" grpId="2" animBg="1"/>
      <p:bldP spid="22" grpId="0" animBg="1"/>
      <p:bldP spid="22" grpId="1" animBg="1"/>
      <p:bldP spid="22" grpId="2" animBg="1"/>
      <p:bldP spid="24" grpId="0" animBg="1"/>
      <p:bldP spid="24" grpId="1" animBg="1"/>
      <p:bldP spid="24" grpId="2" animBg="1"/>
      <p:bldP spid="26" grpId="0" animBg="1"/>
      <p:bldP spid="26" grpId="1" animBg="1"/>
      <p:bldP spid="26" grpId="2" animBg="1"/>
      <p:bldP spid="28" grpId="0" animBg="1"/>
      <p:bldP spid="28" grpId="1" animBg="1"/>
      <p:bldP spid="28" grpId="2" animBg="1"/>
      <p:bldP spid="30" grpId="0" animBg="1"/>
      <p:bldP spid="30" grpId="1" animBg="1"/>
      <p:bldP spid="30" grpId="2" animBg="1"/>
      <p:bldP spid="32" grpId="0" animBg="1"/>
      <p:bldP spid="32" grpId="1" animBg="1"/>
      <p:bldP spid="32" grpId="2" animBg="1"/>
      <p:bldP spid="33" grpId="0" animBg="1"/>
      <p:bldP spid="33" grpId="1" animBg="1"/>
      <p:bldP spid="33" grpId="2" animBg="1"/>
      <p:bldP spid="31" grpId="0" animBg="1"/>
      <p:bldP spid="31" grpId="1" animBg="1"/>
      <p:bldP spid="31" grpId="2"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DC932-B11A-E79E-C164-8A83F18CACF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DAD57B4-44B5-3C46-58BF-73140A4E5DAC}"/>
              </a:ext>
            </a:extLst>
          </p:cNvPr>
          <p:cNvSpPr>
            <a:spLocks noGrp="1"/>
          </p:cNvSpPr>
          <p:nvPr>
            <p:ph type="title"/>
          </p:nvPr>
        </p:nvSpPr>
        <p:spPr>
          <a:xfrm>
            <a:off x="831850" y="1709738"/>
            <a:ext cx="10770870" cy="2852737"/>
          </a:xfrm>
        </p:spPr>
        <p:txBody>
          <a:bodyPr>
            <a:normAutofit/>
          </a:bodyPr>
          <a:lstStyle/>
          <a:p>
            <a:r>
              <a:rPr lang="fr-FR" dirty="0">
                <a:solidFill>
                  <a:schemeClr val="accent6">
                    <a:lumMod val="50000"/>
                  </a:schemeClr>
                </a:solidFill>
              </a:rPr>
              <a:t>Page Replacement Algorithme:</a:t>
            </a:r>
            <a:br>
              <a:rPr lang="fr-FR" dirty="0">
                <a:solidFill>
                  <a:schemeClr val="accent6">
                    <a:lumMod val="50000"/>
                  </a:schemeClr>
                </a:solidFill>
              </a:rPr>
            </a:br>
            <a:r>
              <a:rPr lang="en-US" dirty="0"/>
              <a:t>LRU (Least Recently Used)</a:t>
            </a:r>
            <a:endParaRPr lang="fr-FR" dirty="0">
              <a:solidFill>
                <a:schemeClr val="accent6">
                  <a:lumMod val="50000"/>
                </a:schemeClr>
              </a:solidFill>
            </a:endParaRPr>
          </a:p>
        </p:txBody>
      </p:sp>
      <p:sp>
        <p:nvSpPr>
          <p:cNvPr id="5" name="Text Placeholder 4">
            <a:extLst>
              <a:ext uri="{FF2B5EF4-FFF2-40B4-BE49-F238E27FC236}">
                <a16:creationId xmlns:a16="http://schemas.microsoft.com/office/drawing/2014/main" id="{14389B75-7E14-52BB-2733-D0CF7C253DCB}"/>
              </a:ext>
            </a:extLst>
          </p:cNvPr>
          <p:cNvSpPr>
            <a:spLocks noGrp="1"/>
          </p:cNvSpPr>
          <p:nvPr>
            <p:ph type="body" idx="1"/>
          </p:nvPr>
        </p:nvSpPr>
        <p:spPr/>
        <p:txBody>
          <a:bodyPr/>
          <a:lstStyle/>
          <a:p>
            <a:r>
              <a:rPr lang="en-US" dirty="0"/>
              <a:t>Section – 7.2</a:t>
            </a:r>
          </a:p>
          <a:p>
            <a:endParaRPr lang="en-US" dirty="0"/>
          </a:p>
        </p:txBody>
      </p:sp>
    </p:spTree>
    <p:extLst>
      <p:ext uri="{BB962C8B-B14F-4D97-AF65-F5344CB8AC3E}">
        <p14:creationId xmlns:p14="http://schemas.microsoft.com/office/powerpoint/2010/main" val="297501552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LRU (Least Recently Used) Page Replacement Algorithm</a:t>
            </a:r>
          </a:p>
        </p:txBody>
      </p:sp>
      <p:sp>
        <p:nvSpPr>
          <p:cNvPr id="3" name="Content Placeholder 2"/>
          <p:cNvSpPr>
            <a:spLocks noGrp="1"/>
          </p:cNvSpPr>
          <p:nvPr>
            <p:ph idx="1"/>
          </p:nvPr>
        </p:nvSpPr>
        <p:spPr/>
        <p:txBody>
          <a:bodyPr/>
          <a:lstStyle/>
          <a:p>
            <a:r>
              <a:rPr lang="en-US" dirty="0"/>
              <a:t>Pages that have been heavily used in last few instructions will probably be heavily used again in next few instructions.</a:t>
            </a:r>
          </a:p>
          <a:p>
            <a:r>
              <a:rPr lang="en-US" dirty="0"/>
              <a:t>When page fault occurs, </a:t>
            </a:r>
            <a:r>
              <a:rPr lang="en-US" b="1" dirty="0">
                <a:solidFill>
                  <a:schemeClr val="accent6"/>
                </a:solidFill>
              </a:rPr>
              <a:t>throw out the page that has been used for the longest time</a:t>
            </a:r>
            <a:r>
              <a:rPr lang="en-US" dirty="0"/>
              <a:t>. This strategy is called LRU (Least Recently Used) paging.</a:t>
            </a:r>
          </a:p>
          <a:p>
            <a:r>
              <a:rPr lang="en-US" dirty="0"/>
              <a:t>To fully implement LRU, it is necessary to maintain a linked list.</a:t>
            </a:r>
          </a:p>
          <a:p>
            <a:r>
              <a:rPr lang="en-US" dirty="0"/>
              <a:t>List stores </a:t>
            </a:r>
            <a:r>
              <a:rPr lang="en-US" b="1" dirty="0">
                <a:solidFill>
                  <a:schemeClr val="accent6"/>
                </a:solidFill>
              </a:rPr>
              <a:t>most recently used page at the front and the least recently used page at the rear</a:t>
            </a:r>
            <a:r>
              <a:rPr lang="en-US" dirty="0"/>
              <a:t>. </a:t>
            </a:r>
          </a:p>
          <a:p>
            <a:r>
              <a:rPr lang="en-US" dirty="0"/>
              <a:t>The list must be updated on every memory reference. </a:t>
            </a:r>
          </a:p>
          <a:p>
            <a:r>
              <a:rPr lang="en-US" dirty="0"/>
              <a:t>Finding a page in the list, deleting it, and then moving it to the front is a very time consuming operations.</a:t>
            </a:r>
          </a:p>
        </p:txBody>
      </p:sp>
    </p:spTree>
    <p:extLst>
      <p:ext uri="{BB962C8B-B14F-4D97-AF65-F5344CB8AC3E}">
        <p14:creationId xmlns:p14="http://schemas.microsoft.com/office/powerpoint/2010/main" val="906967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LRU (Least Recently Used) Page Replacement Algorithm</a:t>
            </a:r>
          </a:p>
        </p:txBody>
      </p:sp>
      <p:sp>
        <p:nvSpPr>
          <p:cNvPr id="3" name="Content Placeholder 2"/>
          <p:cNvSpPr>
            <a:spLocks noGrp="1"/>
          </p:cNvSpPr>
          <p:nvPr>
            <p:ph idx="1"/>
          </p:nvPr>
        </p:nvSpPr>
        <p:spPr/>
        <p:txBody>
          <a:bodyPr/>
          <a:lstStyle/>
          <a:p>
            <a:r>
              <a:rPr lang="en-US" dirty="0"/>
              <a:t>Page Reference String: </a:t>
            </a:r>
          </a:p>
          <a:p>
            <a:pPr lvl="1"/>
            <a:r>
              <a:rPr lang="en-US" spc="600" dirty="0"/>
              <a:t>4,7,6,1,7,6,1,2,7,2</a:t>
            </a:r>
          </a:p>
          <a:p>
            <a:pPr lvl="1"/>
            <a:r>
              <a:rPr lang="en-US" dirty="0"/>
              <a:t>Three frames</a:t>
            </a:r>
          </a:p>
        </p:txBody>
      </p:sp>
      <p:graphicFrame>
        <p:nvGraphicFramePr>
          <p:cNvPr id="4" name="Table 3"/>
          <p:cNvGraphicFramePr>
            <a:graphicFrameLocks noGrp="1"/>
          </p:cNvGraphicFramePr>
          <p:nvPr/>
        </p:nvGraphicFramePr>
        <p:xfrm>
          <a:off x="1019969" y="2248428"/>
          <a:ext cx="8324056" cy="457200"/>
        </p:xfrm>
        <a:graphic>
          <a:graphicData uri="http://schemas.openxmlformats.org/drawingml/2006/table">
            <a:tbl>
              <a:tblPr firstRow="1" bandRow="1">
                <a:tableStyleId>{93296810-A885-4BE3-A3E7-6D5BEEA58F35}</a:tableStyleId>
              </a:tblPr>
              <a:tblGrid>
                <a:gridCol w="2630126">
                  <a:extLst>
                    <a:ext uri="{9D8B030D-6E8A-4147-A177-3AD203B41FA5}">
                      <a16:colId xmlns:a16="http://schemas.microsoft.com/office/drawing/2014/main" val="20000"/>
                    </a:ext>
                  </a:extLst>
                </a:gridCol>
                <a:gridCol w="569393">
                  <a:extLst>
                    <a:ext uri="{9D8B030D-6E8A-4147-A177-3AD203B41FA5}">
                      <a16:colId xmlns:a16="http://schemas.microsoft.com/office/drawing/2014/main" val="20001"/>
                    </a:ext>
                  </a:extLst>
                </a:gridCol>
                <a:gridCol w="569393">
                  <a:extLst>
                    <a:ext uri="{9D8B030D-6E8A-4147-A177-3AD203B41FA5}">
                      <a16:colId xmlns:a16="http://schemas.microsoft.com/office/drawing/2014/main" val="20002"/>
                    </a:ext>
                  </a:extLst>
                </a:gridCol>
                <a:gridCol w="569393">
                  <a:extLst>
                    <a:ext uri="{9D8B030D-6E8A-4147-A177-3AD203B41FA5}">
                      <a16:colId xmlns:a16="http://schemas.microsoft.com/office/drawing/2014/main" val="20003"/>
                    </a:ext>
                  </a:extLst>
                </a:gridCol>
                <a:gridCol w="569393">
                  <a:extLst>
                    <a:ext uri="{9D8B030D-6E8A-4147-A177-3AD203B41FA5}">
                      <a16:colId xmlns:a16="http://schemas.microsoft.com/office/drawing/2014/main" val="20004"/>
                    </a:ext>
                  </a:extLst>
                </a:gridCol>
                <a:gridCol w="569393">
                  <a:extLst>
                    <a:ext uri="{9D8B030D-6E8A-4147-A177-3AD203B41FA5}">
                      <a16:colId xmlns:a16="http://schemas.microsoft.com/office/drawing/2014/main" val="20005"/>
                    </a:ext>
                  </a:extLst>
                </a:gridCol>
                <a:gridCol w="569393">
                  <a:extLst>
                    <a:ext uri="{9D8B030D-6E8A-4147-A177-3AD203B41FA5}">
                      <a16:colId xmlns:a16="http://schemas.microsoft.com/office/drawing/2014/main" val="20006"/>
                    </a:ext>
                  </a:extLst>
                </a:gridCol>
                <a:gridCol w="569393">
                  <a:extLst>
                    <a:ext uri="{9D8B030D-6E8A-4147-A177-3AD203B41FA5}">
                      <a16:colId xmlns:a16="http://schemas.microsoft.com/office/drawing/2014/main" val="20007"/>
                    </a:ext>
                  </a:extLst>
                </a:gridCol>
                <a:gridCol w="569393">
                  <a:extLst>
                    <a:ext uri="{9D8B030D-6E8A-4147-A177-3AD203B41FA5}">
                      <a16:colId xmlns:a16="http://schemas.microsoft.com/office/drawing/2014/main" val="20008"/>
                    </a:ext>
                  </a:extLst>
                </a:gridCol>
                <a:gridCol w="569393">
                  <a:extLst>
                    <a:ext uri="{9D8B030D-6E8A-4147-A177-3AD203B41FA5}">
                      <a16:colId xmlns:a16="http://schemas.microsoft.com/office/drawing/2014/main" val="20009"/>
                    </a:ext>
                  </a:extLst>
                </a:gridCol>
                <a:gridCol w="569393">
                  <a:extLst>
                    <a:ext uri="{9D8B030D-6E8A-4147-A177-3AD203B41FA5}">
                      <a16:colId xmlns:a16="http://schemas.microsoft.com/office/drawing/2014/main" val="20010"/>
                    </a:ext>
                  </a:extLst>
                </a:gridCol>
              </a:tblGrid>
              <a:tr h="370840">
                <a:tc>
                  <a:txBody>
                    <a:bodyPr/>
                    <a:lstStyle/>
                    <a:p>
                      <a:r>
                        <a:rPr lang="en-US" sz="2400" dirty="0"/>
                        <a:t>Page</a:t>
                      </a:r>
                      <a:r>
                        <a:rPr lang="en-US" sz="2400" baseline="0" dirty="0"/>
                        <a:t> Request</a:t>
                      </a:r>
                      <a:endParaRPr lang="en-US" sz="2400" dirty="0"/>
                    </a:p>
                  </a:txBody>
                  <a:tcPr/>
                </a:tc>
                <a:tc>
                  <a:txBody>
                    <a:bodyPr/>
                    <a:lstStyle/>
                    <a:p>
                      <a:pPr algn="ctr"/>
                      <a:r>
                        <a:rPr lang="en-US" sz="2400" dirty="0"/>
                        <a:t>4</a:t>
                      </a:r>
                    </a:p>
                  </a:txBody>
                  <a:tcPr/>
                </a:tc>
                <a:tc>
                  <a:txBody>
                    <a:bodyPr/>
                    <a:lstStyle/>
                    <a:p>
                      <a:pPr algn="ctr"/>
                      <a:r>
                        <a:rPr lang="en-US" sz="2400" dirty="0"/>
                        <a:t>7</a:t>
                      </a:r>
                    </a:p>
                  </a:txBody>
                  <a:tcPr/>
                </a:tc>
                <a:tc>
                  <a:txBody>
                    <a:bodyPr/>
                    <a:lstStyle/>
                    <a:p>
                      <a:pPr algn="ctr"/>
                      <a:r>
                        <a:rPr lang="en-US" sz="2400" dirty="0"/>
                        <a:t>6</a:t>
                      </a:r>
                    </a:p>
                  </a:txBody>
                  <a:tcPr/>
                </a:tc>
                <a:tc>
                  <a:txBody>
                    <a:bodyPr/>
                    <a:lstStyle/>
                    <a:p>
                      <a:pPr algn="ctr"/>
                      <a:r>
                        <a:rPr lang="en-US" sz="2400" dirty="0"/>
                        <a:t>1</a:t>
                      </a:r>
                    </a:p>
                  </a:txBody>
                  <a:tcPr/>
                </a:tc>
                <a:tc>
                  <a:txBody>
                    <a:bodyPr/>
                    <a:lstStyle/>
                    <a:p>
                      <a:pPr algn="ctr"/>
                      <a:r>
                        <a:rPr lang="en-US" sz="2400" dirty="0"/>
                        <a:t>7</a:t>
                      </a:r>
                    </a:p>
                  </a:txBody>
                  <a:tcPr/>
                </a:tc>
                <a:tc>
                  <a:txBody>
                    <a:bodyPr/>
                    <a:lstStyle/>
                    <a:p>
                      <a:pPr algn="ctr"/>
                      <a:r>
                        <a:rPr lang="en-US" sz="2400" dirty="0"/>
                        <a:t>6</a:t>
                      </a:r>
                    </a:p>
                  </a:txBody>
                  <a:tcPr/>
                </a:tc>
                <a:tc>
                  <a:txBody>
                    <a:bodyPr/>
                    <a:lstStyle/>
                    <a:p>
                      <a:pPr algn="ctr"/>
                      <a:r>
                        <a:rPr lang="en-US" sz="2400" dirty="0"/>
                        <a:t>1</a:t>
                      </a:r>
                    </a:p>
                  </a:txBody>
                  <a:tcPr/>
                </a:tc>
                <a:tc>
                  <a:txBody>
                    <a:bodyPr/>
                    <a:lstStyle/>
                    <a:p>
                      <a:pPr algn="ctr"/>
                      <a:r>
                        <a:rPr lang="en-US" sz="2400" dirty="0"/>
                        <a:t>2</a:t>
                      </a:r>
                    </a:p>
                  </a:txBody>
                  <a:tcPr/>
                </a:tc>
                <a:tc>
                  <a:txBody>
                    <a:bodyPr/>
                    <a:lstStyle/>
                    <a:p>
                      <a:pPr algn="ctr"/>
                      <a:r>
                        <a:rPr lang="en-US" sz="2400" dirty="0"/>
                        <a:t>7</a:t>
                      </a:r>
                    </a:p>
                  </a:txBody>
                  <a:tcPr/>
                </a:tc>
                <a:tc>
                  <a:txBody>
                    <a:bodyPr/>
                    <a:lstStyle/>
                    <a:p>
                      <a:pPr algn="ctr"/>
                      <a:r>
                        <a:rPr lang="en-US" sz="2400" dirty="0"/>
                        <a:t>2</a:t>
                      </a:r>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352489207"/>
              </p:ext>
            </p:extLst>
          </p:nvPr>
        </p:nvGraphicFramePr>
        <p:xfrm>
          <a:off x="1019969" y="2705152"/>
          <a:ext cx="8324056" cy="1371600"/>
        </p:xfrm>
        <a:graphic>
          <a:graphicData uri="http://schemas.openxmlformats.org/drawingml/2006/table">
            <a:tbl>
              <a:tblPr firstRow="1" bandRow="1">
                <a:tableStyleId>{2D5ABB26-0587-4C30-8999-92F81FD0307C}</a:tableStyleId>
              </a:tblPr>
              <a:tblGrid>
                <a:gridCol w="2630126">
                  <a:extLst>
                    <a:ext uri="{9D8B030D-6E8A-4147-A177-3AD203B41FA5}">
                      <a16:colId xmlns:a16="http://schemas.microsoft.com/office/drawing/2014/main" val="20000"/>
                    </a:ext>
                  </a:extLst>
                </a:gridCol>
                <a:gridCol w="569393">
                  <a:extLst>
                    <a:ext uri="{9D8B030D-6E8A-4147-A177-3AD203B41FA5}">
                      <a16:colId xmlns:a16="http://schemas.microsoft.com/office/drawing/2014/main" val="20001"/>
                    </a:ext>
                  </a:extLst>
                </a:gridCol>
                <a:gridCol w="569393">
                  <a:extLst>
                    <a:ext uri="{9D8B030D-6E8A-4147-A177-3AD203B41FA5}">
                      <a16:colId xmlns:a16="http://schemas.microsoft.com/office/drawing/2014/main" val="20002"/>
                    </a:ext>
                  </a:extLst>
                </a:gridCol>
                <a:gridCol w="569393">
                  <a:extLst>
                    <a:ext uri="{9D8B030D-6E8A-4147-A177-3AD203B41FA5}">
                      <a16:colId xmlns:a16="http://schemas.microsoft.com/office/drawing/2014/main" val="20003"/>
                    </a:ext>
                  </a:extLst>
                </a:gridCol>
                <a:gridCol w="569393">
                  <a:extLst>
                    <a:ext uri="{9D8B030D-6E8A-4147-A177-3AD203B41FA5}">
                      <a16:colId xmlns:a16="http://schemas.microsoft.com/office/drawing/2014/main" val="20004"/>
                    </a:ext>
                  </a:extLst>
                </a:gridCol>
                <a:gridCol w="569393">
                  <a:extLst>
                    <a:ext uri="{9D8B030D-6E8A-4147-A177-3AD203B41FA5}">
                      <a16:colId xmlns:a16="http://schemas.microsoft.com/office/drawing/2014/main" val="20005"/>
                    </a:ext>
                  </a:extLst>
                </a:gridCol>
                <a:gridCol w="569393">
                  <a:extLst>
                    <a:ext uri="{9D8B030D-6E8A-4147-A177-3AD203B41FA5}">
                      <a16:colId xmlns:a16="http://schemas.microsoft.com/office/drawing/2014/main" val="20006"/>
                    </a:ext>
                  </a:extLst>
                </a:gridCol>
                <a:gridCol w="569393">
                  <a:extLst>
                    <a:ext uri="{9D8B030D-6E8A-4147-A177-3AD203B41FA5}">
                      <a16:colId xmlns:a16="http://schemas.microsoft.com/office/drawing/2014/main" val="20007"/>
                    </a:ext>
                  </a:extLst>
                </a:gridCol>
                <a:gridCol w="569393">
                  <a:extLst>
                    <a:ext uri="{9D8B030D-6E8A-4147-A177-3AD203B41FA5}">
                      <a16:colId xmlns:a16="http://schemas.microsoft.com/office/drawing/2014/main" val="20008"/>
                    </a:ext>
                  </a:extLst>
                </a:gridCol>
                <a:gridCol w="569393">
                  <a:extLst>
                    <a:ext uri="{9D8B030D-6E8A-4147-A177-3AD203B41FA5}">
                      <a16:colId xmlns:a16="http://schemas.microsoft.com/office/drawing/2014/main" val="20009"/>
                    </a:ext>
                  </a:extLst>
                </a:gridCol>
                <a:gridCol w="569393">
                  <a:extLst>
                    <a:ext uri="{9D8B030D-6E8A-4147-A177-3AD203B41FA5}">
                      <a16:colId xmlns:a16="http://schemas.microsoft.com/office/drawing/2014/main" val="20010"/>
                    </a:ext>
                  </a:extLst>
                </a:gridCol>
              </a:tblGrid>
              <a:tr h="370840">
                <a:tc>
                  <a:txBody>
                    <a:bodyPr/>
                    <a:lstStyle/>
                    <a:p>
                      <a:r>
                        <a:rPr lang="en-US" sz="2400" dirty="0"/>
                        <a:t>Frame – 1</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Frame – 2</a:t>
                      </a:r>
                      <a:endParaRPr lang="en-US" sz="24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1"/>
                  </a:ext>
                </a:extLst>
              </a:tr>
              <a:tr h="40333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Frame – 3</a:t>
                      </a:r>
                      <a:endParaRPr lang="en-US" sz="24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2"/>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4282662240"/>
              </p:ext>
            </p:extLst>
          </p:nvPr>
        </p:nvGraphicFramePr>
        <p:xfrm>
          <a:off x="1019969" y="4078382"/>
          <a:ext cx="8324056" cy="426720"/>
        </p:xfrm>
        <a:graphic>
          <a:graphicData uri="http://schemas.openxmlformats.org/drawingml/2006/table">
            <a:tbl>
              <a:tblPr firstRow="1" bandRow="1">
                <a:tableStyleId>{93296810-A885-4BE3-A3E7-6D5BEEA58F35}</a:tableStyleId>
              </a:tblPr>
              <a:tblGrid>
                <a:gridCol w="2630126">
                  <a:extLst>
                    <a:ext uri="{9D8B030D-6E8A-4147-A177-3AD203B41FA5}">
                      <a16:colId xmlns:a16="http://schemas.microsoft.com/office/drawing/2014/main" val="20000"/>
                    </a:ext>
                  </a:extLst>
                </a:gridCol>
                <a:gridCol w="569393">
                  <a:extLst>
                    <a:ext uri="{9D8B030D-6E8A-4147-A177-3AD203B41FA5}">
                      <a16:colId xmlns:a16="http://schemas.microsoft.com/office/drawing/2014/main" val="20001"/>
                    </a:ext>
                  </a:extLst>
                </a:gridCol>
                <a:gridCol w="569393">
                  <a:extLst>
                    <a:ext uri="{9D8B030D-6E8A-4147-A177-3AD203B41FA5}">
                      <a16:colId xmlns:a16="http://schemas.microsoft.com/office/drawing/2014/main" val="20002"/>
                    </a:ext>
                  </a:extLst>
                </a:gridCol>
                <a:gridCol w="569393">
                  <a:extLst>
                    <a:ext uri="{9D8B030D-6E8A-4147-A177-3AD203B41FA5}">
                      <a16:colId xmlns:a16="http://schemas.microsoft.com/office/drawing/2014/main" val="20003"/>
                    </a:ext>
                  </a:extLst>
                </a:gridCol>
                <a:gridCol w="569393">
                  <a:extLst>
                    <a:ext uri="{9D8B030D-6E8A-4147-A177-3AD203B41FA5}">
                      <a16:colId xmlns:a16="http://schemas.microsoft.com/office/drawing/2014/main" val="20004"/>
                    </a:ext>
                  </a:extLst>
                </a:gridCol>
                <a:gridCol w="569393">
                  <a:extLst>
                    <a:ext uri="{9D8B030D-6E8A-4147-A177-3AD203B41FA5}">
                      <a16:colId xmlns:a16="http://schemas.microsoft.com/office/drawing/2014/main" val="20005"/>
                    </a:ext>
                  </a:extLst>
                </a:gridCol>
                <a:gridCol w="569393">
                  <a:extLst>
                    <a:ext uri="{9D8B030D-6E8A-4147-A177-3AD203B41FA5}">
                      <a16:colId xmlns:a16="http://schemas.microsoft.com/office/drawing/2014/main" val="20006"/>
                    </a:ext>
                  </a:extLst>
                </a:gridCol>
                <a:gridCol w="569393">
                  <a:extLst>
                    <a:ext uri="{9D8B030D-6E8A-4147-A177-3AD203B41FA5}">
                      <a16:colId xmlns:a16="http://schemas.microsoft.com/office/drawing/2014/main" val="20007"/>
                    </a:ext>
                  </a:extLst>
                </a:gridCol>
                <a:gridCol w="569393">
                  <a:extLst>
                    <a:ext uri="{9D8B030D-6E8A-4147-A177-3AD203B41FA5}">
                      <a16:colId xmlns:a16="http://schemas.microsoft.com/office/drawing/2014/main" val="20008"/>
                    </a:ext>
                  </a:extLst>
                </a:gridCol>
                <a:gridCol w="569393">
                  <a:extLst>
                    <a:ext uri="{9D8B030D-6E8A-4147-A177-3AD203B41FA5}">
                      <a16:colId xmlns:a16="http://schemas.microsoft.com/office/drawing/2014/main" val="20009"/>
                    </a:ext>
                  </a:extLst>
                </a:gridCol>
                <a:gridCol w="569393">
                  <a:extLst>
                    <a:ext uri="{9D8B030D-6E8A-4147-A177-3AD203B41FA5}">
                      <a16:colId xmlns:a16="http://schemas.microsoft.com/office/drawing/2014/main" val="20010"/>
                    </a:ext>
                  </a:extLst>
                </a:gridCol>
              </a:tblGrid>
              <a:tr h="370840">
                <a:tc>
                  <a:txBody>
                    <a:bodyPr/>
                    <a:lstStyle/>
                    <a:p>
                      <a:r>
                        <a:rPr lang="en-US" sz="1900" b="0" dirty="0">
                          <a:solidFill>
                            <a:schemeClr val="tx1"/>
                          </a:solidFill>
                        </a:rPr>
                        <a:t>Page</a:t>
                      </a:r>
                      <a:r>
                        <a:rPr lang="en-US" sz="1900" b="0" baseline="0" dirty="0">
                          <a:solidFill>
                            <a:schemeClr val="tx1"/>
                          </a:solidFill>
                        </a:rPr>
                        <a:t> Faults </a:t>
                      </a:r>
                      <a:r>
                        <a:rPr lang="en-US" sz="1900" b="1" baseline="0" dirty="0">
                          <a:solidFill>
                            <a:schemeClr val="accent6"/>
                          </a:solidFill>
                        </a:rPr>
                        <a:t>(6)</a:t>
                      </a:r>
                      <a:endParaRPr lang="en-US" sz="1900" b="1" dirty="0">
                        <a:solidFill>
                          <a:schemeClr val="accent6"/>
                        </a:solidFill>
                      </a:endParaRPr>
                    </a:p>
                  </a:txBody>
                  <a:tcPr anchor="ctr">
                    <a:solidFill>
                      <a:schemeClr val="accent6">
                        <a:lumMod val="20000"/>
                        <a:lumOff val="80000"/>
                      </a:schemeClr>
                    </a:solidFill>
                  </a:tcPr>
                </a:tc>
                <a:tc>
                  <a:txBody>
                    <a:bodyPr/>
                    <a:lstStyle/>
                    <a:p>
                      <a:pPr algn="ctr"/>
                      <a:r>
                        <a:rPr lang="en-US" sz="2200" b="0" dirty="0">
                          <a:solidFill>
                            <a:schemeClr val="tx1"/>
                          </a:solidFill>
                        </a:rPr>
                        <a:t>F</a:t>
                      </a:r>
                    </a:p>
                  </a:txBody>
                  <a:tcPr>
                    <a:solidFill>
                      <a:schemeClr val="accent6">
                        <a:lumMod val="20000"/>
                        <a:lumOff val="80000"/>
                      </a:schemeClr>
                    </a:solidFill>
                  </a:tcPr>
                </a:tc>
                <a:tc>
                  <a:txBody>
                    <a:bodyPr/>
                    <a:lstStyle/>
                    <a:p>
                      <a:pPr algn="ctr"/>
                      <a:r>
                        <a:rPr lang="en-US" sz="2200" b="0" dirty="0">
                          <a:solidFill>
                            <a:schemeClr val="tx1"/>
                          </a:solidFill>
                        </a:rPr>
                        <a:t>F</a:t>
                      </a:r>
                    </a:p>
                  </a:txBody>
                  <a:tcPr>
                    <a:solidFill>
                      <a:schemeClr val="accent6">
                        <a:lumMod val="20000"/>
                        <a:lumOff val="80000"/>
                      </a:schemeClr>
                    </a:solidFill>
                  </a:tcPr>
                </a:tc>
                <a:tc>
                  <a:txBody>
                    <a:bodyPr/>
                    <a:lstStyle/>
                    <a:p>
                      <a:pPr algn="ctr"/>
                      <a:r>
                        <a:rPr lang="en-US" sz="2200" b="0" dirty="0">
                          <a:solidFill>
                            <a:schemeClr val="tx1"/>
                          </a:solidFill>
                        </a:rPr>
                        <a:t>F</a:t>
                      </a:r>
                    </a:p>
                  </a:txBody>
                  <a:tcPr>
                    <a:solidFill>
                      <a:schemeClr val="accent6">
                        <a:lumMod val="20000"/>
                        <a:lumOff val="80000"/>
                      </a:schemeClr>
                    </a:solidFill>
                  </a:tcPr>
                </a:tc>
                <a:tc>
                  <a:txBody>
                    <a:bodyPr/>
                    <a:lstStyle/>
                    <a:p>
                      <a:pPr algn="ctr"/>
                      <a:r>
                        <a:rPr lang="en-US" sz="2200" b="0" dirty="0">
                          <a:solidFill>
                            <a:schemeClr val="tx1"/>
                          </a:solidFill>
                        </a:rPr>
                        <a:t>F</a:t>
                      </a:r>
                    </a:p>
                  </a:txBody>
                  <a:tcPr>
                    <a:solidFill>
                      <a:schemeClr val="accent6">
                        <a:lumMod val="20000"/>
                        <a:lumOff val="80000"/>
                      </a:schemeClr>
                    </a:solidFill>
                  </a:tcPr>
                </a:tc>
                <a:tc>
                  <a:txBody>
                    <a:bodyPr/>
                    <a:lstStyle/>
                    <a:p>
                      <a:pPr algn="ctr"/>
                      <a:endParaRPr lang="en-US" sz="2200" b="0" dirty="0">
                        <a:solidFill>
                          <a:schemeClr val="tx1"/>
                        </a:solidFill>
                      </a:endParaRPr>
                    </a:p>
                  </a:txBody>
                  <a:tcPr>
                    <a:solidFill>
                      <a:schemeClr val="accent6">
                        <a:lumMod val="20000"/>
                        <a:lumOff val="80000"/>
                      </a:schemeClr>
                    </a:solidFill>
                  </a:tcPr>
                </a:tc>
                <a:tc>
                  <a:txBody>
                    <a:bodyPr/>
                    <a:lstStyle/>
                    <a:p>
                      <a:pPr algn="ctr"/>
                      <a:endParaRPr lang="en-US" sz="2200" b="0" dirty="0">
                        <a:solidFill>
                          <a:schemeClr val="tx1"/>
                        </a:solidFill>
                      </a:endParaRPr>
                    </a:p>
                  </a:txBody>
                  <a:tcPr>
                    <a:solidFill>
                      <a:schemeClr val="accent6">
                        <a:lumMod val="20000"/>
                        <a:lumOff val="80000"/>
                      </a:schemeClr>
                    </a:solidFill>
                  </a:tcPr>
                </a:tc>
                <a:tc>
                  <a:txBody>
                    <a:bodyPr/>
                    <a:lstStyle/>
                    <a:p>
                      <a:pPr algn="ctr"/>
                      <a:endParaRPr lang="en-US" sz="2200" b="0" dirty="0">
                        <a:solidFill>
                          <a:schemeClr val="tx1"/>
                        </a:solidFill>
                      </a:endParaRPr>
                    </a:p>
                  </a:txBody>
                  <a:tcPr>
                    <a:solidFill>
                      <a:schemeClr val="accent6">
                        <a:lumMod val="20000"/>
                        <a:lumOff val="80000"/>
                      </a:schemeClr>
                    </a:solidFill>
                  </a:tcPr>
                </a:tc>
                <a:tc>
                  <a:txBody>
                    <a:bodyPr/>
                    <a:lstStyle/>
                    <a:p>
                      <a:pPr algn="ctr"/>
                      <a:r>
                        <a:rPr lang="en-US" sz="2200" b="0" dirty="0">
                          <a:solidFill>
                            <a:schemeClr val="tx1"/>
                          </a:solidFill>
                        </a:rPr>
                        <a:t>F</a:t>
                      </a:r>
                    </a:p>
                  </a:txBody>
                  <a:tcPr>
                    <a:solidFill>
                      <a:schemeClr val="accent6">
                        <a:lumMod val="20000"/>
                        <a:lumOff val="80000"/>
                      </a:schemeClr>
                    </a:solidFill>
                  </a:tcPr>
                </a:tc>
                <a:tc>
                  <a:txBody>
                    <a:bodyPr/>
                    <a:lstStyle/>
                    <a:p>
                      <a:pPr algn="ctr"/>
                      <a:r>
                        <a:rPr lang="en-US" sz="2200" b="0" dirty="0">
                          <a:solidFill>
                            <a:schemeClr val="tx1"/>
                          </a:solidFill>
                        </a:rPr>
                        <a:t>F</a:t>
                      </a:r>
                    </a:p>
                  </a:txBody>
                  <a:tcPr>
                    <a:solidFill>
                      <a:schemeClr val="accent6">
                        <a:lumMod val="20000"/>
                        <a:lumOff val="80000"/>
                      </a:schemeClr>
                    </a:solidFill>
                  </a:tcPr>
                </a:tc>
                <a:tc>
                  <a:txBody>
                    <a:bodyPr/>
                    <a:lstStyle/>
                    <a:p>
                      <a:pPr algn="ctr"/>
                      <a:endParaRPr lang="en-US" sz="2200" b="0" dirty="0">
                        <a:solidFill>
                          <a:schemeClr val="tx1"/>
                        </a:solidFill>
                      </a:endParaRPr>
                    </a:p>
                  </a:txBody>
                  <a:tcPr>
                    <a:solidFill>
                      <a:schemeClr val="accent6">
                        <a:lumMod val="20000"/>
                        <a:lumOff val="80000"/>
                      </a:schemeClr>
                    </a:solidFill>
                  </a:tcPr>
                </a:tc>
                <a:extLst>
                  <a:ext uri="{0D108BD9-81ED-4DB2-BD59-A6C34878D82A}">
                    <a16:rowId xmlns:a16="http://schemas.microsoft.com/office/drawing/2014/main" val="10000"/>
                  </a:ext>
                </a:extLst>
              </a:tr>
            </a:tbl>
          </a:graphicData>
        </a:graphic>
      </p:graphicFrame>
      <p:cxnSp>
        <p:nvCxnSpPr>
          <p:cNvPr id="7" name="Straight Arrow Connector 6"/>
          <p:cNvCxnSpPr/>
          <p:nvPr/>
        </p:nvCxnSpPr>
        <p:spPr>
          <a:xfrm>
            <a:off x="3950494" y="1868772"/>
            <a:ext cx="1" cy="295965"/>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3729038" y="2248428"/>
            <a:ext cx="442914" cy="426720"/>
          </a:xfrm>
          <a:prstGeom prst="rect">
            <a:avLst/>
          </a:prstGeom>
          <a:noFill/>
          <a:ln w="38100">
            <a:solidFill>
              <a:srgbClr val="92D050"/>
            </a:solidFill>
          </a:ln>
        </p:spPr>
        <p:txBody>
          <a:bodyPr wrap="square" rtlCol="0">
            <a:spAutoFit/>
          </a:bodyPr>
          <a:lstStyle/>
          <a:p>
            <a:endParaRPr lang="en-US" dirty="0">
              <a:solidFill>
                <a:srgbClr val="212121"/>
              </a:solidFill>
            </a:endParaRPr>
          </a:p>
        </p:txBody>
      </p:sp>
      <p:cxnSp>
        <p:nvCxnSpPr>
          <p:cNvPr id="13" name="Straight Arrow Connector 12"/>
          <p:cNvCxnSpPr/>
          <p:nvPr/>
        </p:nvCxnSpPr>
        <p:spPr>
          <a:xfrm>
            <a:off x="4486280" y="1868771"/>
            <a:ext cx="1" cy="295965"/>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4329116" y="2263430"/>
            <a:ext cx="442914" cy="426720"/>
          </a:xfrm>
          <a:prstGeom prst="rect">
            <a:avLst/>
          </a:prstGeom>
          <a:noFill/>
          <a:ln w="38100">
            <a:solidFill>
              <a:srgbClr val="92D050"/>
            </a:solidFill>
          </a:ln>
        </p:spPr>
        <p:txBody>
          <a:bodyPr wrap="square" rtlCol="0">
            <a:spAutoFit/>
          </a:bodyPr>
          <a:lstStyle/>
          <a:p>
            <a:endParaRPr lang="en-US" dirty="0">
              <a:solidFill>
                <a:srgbClr val="212121"/>
              </a:solidFill>
            </a:endParaRPr>
          </a:p>
        </p:txBody>
      </p:sp>
      <p:cxnSp>
        <p:nvCxnSpPr>
          <p:cNvPr id="15" name="Straight Arrow Connector 14"/>
          <p:cNvCxnSpPr/>
          <p:nvPr/>
        </p:nvCxnSpPr>
        <p:spPr>
          <a:xfrm>
            <a:off x="5079213" y="1868772"/>
            <a:ext cx="1" cy="295965"/>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857757" y="2248428"/>
            <a:ext cx="442914" cy="426720"/>
          </a:xfrm>
          <a:prstGeom prst="rect">
            <a:avLst/>
          </a:prstGeom>
          <a:noFill/>
          <a:ln w="38100">
            <a:solidFill>
              <a:srgbClr val="92D050"/>
            </a:solidFill>
          </a:ln>
        </p:spPr>
        <p:txBody>
          <a:bodyPr wrap="square" rtlCol="0">
            <a:spAutoFit/>
          </a:bodyPr>
          <a:lstStyle/>
          <a:p>
            <a:endParaRPr lang="en-US" dirty="0">
              <a:solidFill>
                <a:srgbClr val="212121"/>
              </a:solidFill>
            </a:endParaRPr>
          </a:p>
        </p:txBody>
      </p:sp>
      <p:cxnSp>
        <p:nvCxnSpPr>
          <p:cNvPr id="17" name="Straight Arrow Connector 16"/>
          <p:cNvCxnSpPr/>
          <p:nvPr/>
        </p:nvCxnSpPr>
        <p:spPr>
          <a:xfrm>
            <a:off x="5623220" y="1843252"/>
            <a:ext cx="1" cy="295965"/>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5401764" y="2222908"/>
            <a:ext cx="442914" cy="426720"/>
          </a:xfrm>
          <a:prstGeom prst="rect">
            <a:avLst/>
          </a:prstGeom>
          <a:noFill/>
          <a:ln w="38100">
            <a:solidFill>
              <a:srgbClr val="92D050"/>
            </a:solidFill>
          </a:ln>
        </p:spPr>
        <p:txBody>
          <a:bodyPr wrap="square" rtlCol="0">
            <a:spAutoFit/>
          </a:bodyPr>
          <a:lstStyle/>
          <a:p>
            <a:endParaRPr lang="en-US" dirty="0">
              <a:solidFill>
                <a:srgbClr val="212121"/>
              </a:solidFill>
            </a:endParaRPr>
          </a:p>
        </p:txBody>
      </p:sp>
      <p:cxnSp>
        <p:nvCxnSpPr>
          <p:cNvPr id="19" name="Straight Arrow Connector 18"/>
          <p:cNvCxnSpPr/>
          <p:nvPr/>
        </p:nvCxnSpPr>
        <p:spPr>
          <a:xfrm>
            <a:off x="6228809" y="1832480"/>
            <a:ext cx="1" cy="295965"/>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6007353" y="2212136"/>
            <a:ext cx="442914" cy="426720"/>
          </a:xfrm>
          <a:prstGeom prst="rect">
            <a:avLst/>
          </a:prstGeom>
          <a:noFill/>
          <a:ln w="38100">
            <a:solidFill>
              <a:srgbClr val="92D050"/>
            </a:solidFill>
          </a:ln>
        </p:spPr>
        <p:txBody>
          <a:bodyPr wrap="square" rtlCol="0">
            <a:spAutoFit/>
          </a:bodyPr>
          <a:lstStyle/>
          <a:p>
            <a:endParaRPr lang="en-US" dirty="0">
              <a:solidFill>
                <a:srgbClr val="212121"/>
              </a:solidFill>
            </a:endParaRPr>
          </a:p>
        </p:txBody>
      </p:sp>
      <p:cxnSp>
        <p:nvCxnSpPr>
          <p:cNvPr id="21" name="Straight Arrow Connector 20"/>
          <p:cNvCxnSpPr/>
          <p:nvPr/>
        </p:nvCxnSpPr>
        <p:spPr>
          <a:xfrm>
            <a:off x="6786566" y="1868772"/>
            <a:ext cx="1" cy="295965"/>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6565110" y="2248428"/>
            <a:ext cx="442914" cy="426720"/>
          </a:xfrm>
          <a:prstGeom prst="rect">
            <a:avLst/>
          </a:prstGeom>
          <a:noFill/>
          <a:ln w="38100">
            <a:solidFill>
              <a:srgbClr val="92D050"/>
            </a:solidFill>
          </a:ln>
        </p:spPr>
        <p:txBody>
          <a:bodyPr wrap="square" rtlCol="0">
            <a:spAutoFit/>
          </a:bodyPr>
          <a:lstStyle/>
          <a:p>
            <a:endParaRPr lang="en-US" dirty="0">
              <a:solidFill>
                <a:srgbClr val="212121"/>
              </a:solidFill>
            </a:endParaRPr>
          </a:p>
        </p:txBody>
      </p:sp>
      <p:cxnSp>
        <p:nvCxnSpPr>
          <p:cNvPr id="23" name="Straight Arrow Connector 22"/>
          <p:cNvCxnSpPr/>
          <p:nvPr/>
        </p:nvCxnSpPr>
        <p:spPr>
          <a:xfrm>
            <a:off x="7355853" y="1843252"/>
            <a:ext cx="1" cy="295965"/>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7134397" y="2222908"/>
            <a:ext cx="442914" cy="426720"/>
          </a:xfrm>
          <a:prstGeom prst="rect">
            <a:avLst/>
          </a:prstGeom>
          <a:noFill/>
          <a:ln w="38100">
            <a:solidFill>
              <a:srgbClr val="92D050"/>
            </a:solidFill>
          </a:ln>
        </p:spPr>
        <p:txBody>
          <a:bodyPr wrap="square" rtlCol="0">
            <a:spAutoFit/>
          </a:bodyPr>
          <a:lstStyle/>
          <a:p>
            <a:endParaRPr lang="en-US" dirty="0">
              <a:solidFill>
                <a:srgbClr val="212121"/>
              </a:solidFill>
            </a:endParaRPr>
          </a:p>
        </p:txBody>
      </p:sp>
      <p:cxnSp>
        <p:nvCxnSpPr>
          <p:cNvPr id="25" name="Straight Arrow Connector 24"/>
          <p:cNvCxnSpPr/>
          <p:nvPr/>
        </p:nvCxnSpPr>
        <p:spPr>
          <a:xfrm>
            <a:off x="7936161" y="1844168"/>
            <a:ext cx="1" cy="295965"/>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7714705" y="2223824"/>
            <a:ext cx="442914" cy="426720"/>
          </a:xfrm>
          <a:prstGeom prst="rect">
            <a:avLst/>
          </a:prstGeom>
          <a:noFill/>
          <a:ln w="38100">
            <a:solidFill>
              <a:srgbClr val="92D050"/>
            </a:solidFill>
          </a:ln>
        </p:spPr>
        <p:txBody>
          <a:bodyPr wrap="square" rtlCol="0">
            <a:spAutoFit/>
          </a:bodyPr>
          <a:lstStyle/>
          <a:p>
            <a:endParaRPr lang="en-US" dirty="0">
              <a:solidFill>
                <a:srgbClr val="212121"/>
              </a:solidFill>
            </a:endParaRPr>
          </a:p>
        </p:txBody>
      </p:sp>
      <p:cxnSp>
        <p:nvCxnSpPr>
          <p:cNvPr id="27" name="Straight Arrow Connector 26"/>
          <p:cNvCxnSpPr/>
          <p:nvPr/>
        </p:nvCxnSpPr>
        <p:spPr>
          <a:xfrm>
            <a:off x="8487332" y="1829165"/>
            <a:ext cx="1" cy="295965"/>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8265875" y="2222908"/>
            <a:ext cx="442914" cy="426720"/>
          </a:xfrm>
          <a:prstGeom prst="rect">
            <a:avLst/>
          </a:prstGeom>
          <a:noFill/>
          <a:ln w="38100">
            <a:solidFill>
              <a:srgbClr val="92D050"/>
            </a:solidFill>
          </a:ln>
        </p:spPr>
        <p:txBody>
          <a:bodyPr wrap="square" rtlCol="0">
            <a:spAutoFit/>
          </a:bodyPr>
          <a:lstStyle/>
          <a:p>
            <a:endParaRPr lang="en-US" dirty="0">
              <a:solidFill>
                <a:srgbClr val="212121"/>
              </a:solidFill>
            </a:endParaRPr>
          </a:p>
        </p:txBody>
      </p:sp>
      <p:cxnSp>
        <p:nvCxnSpPr>
          <p:cNvPr id="29" name="Straight Arrow Connector 28"/>
          <p:cNvCxnSpPr/>
          <p:nvPr/>
        </p:nvCxnSpPr>
        <p:spPr>
          <a:xfrm>
            <a:off x="9085756" y="1832480"/>
            <a:ext cx="1" cy="295965"/>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8864300" y="2212136"/>
            <a:ext cx="442914" cy="426720"/>
          </a:xfrm>
          <a:prstGeom prst="rect">
            <a:avLst/>
          </a:prstGeom>
          <a:noFill/>
          <a:ln w="38100">
            <a:solidFill>
              <a:srgbClr val="92D050"/>
            </a:solidFill>
          </a:ln>
        </p:spPr>
        <p:txBody>
          <a:bodyPr wrap="square" rtlCol="0">
            <a:spAutoFit/>
          </a:bodyPr>
          <a:lstStyle/>
          <a:p>
            <a:endParaRPr lang="en-US" dirty="0">
              <a:solidFill>
                <a:srgbClr val="212121"/>
              </a:solidFill>
            </a:endParaRPr>
          </a:p>
        </p:txBody>
      </p:sp>
      <p:sp>
        <p:nvSpPr>
          <p:cNvPr id="32" name="TextBox 31"/>
          <p:cNvSpPr txBox="1"/>
          <p:nvPr/>
        </p:nvSpPr>
        <p:spPr>
          <a:xfrm>
            <a:off x="5401764" y="2730232"/>
            <a:ext cx="442914" cy="369332"/>
          </a:xfrm>
          <a:prstGeom prst="rect">
            <a:avLst/>
          </a:prstGeom>
          <a:noFill/>
          <a:ln w="38100">
            <a:solidFill>
              <a:srgbClr val="FFFF00"/>
            </a:solidFill>
          </a:ln>
        </p:spPr>
        <p:txBody>
          <a:bodyPr wrap="square" rtlCol="0">
            <a:spAutoFit/>
          </a:bodyPr>
          <a:lstStyle>
            <a:defPPr>
              <a:defRPr lang="en-US"/>
            </a:defPPr>
            <a:lvl1pPr>
              <a:defRPr>
                <a:solidFill>
                  <a:srgbClr val="212121"/>
                </a:solidFill>
              </a:defRPr>
            </a:lvl1pPr>
          </a:lstStyle>
          <a:p>
            <a:endParaRPr lang="en-US" dirty="0">
              <a:solidFill>
                <a:srgbClr val="FFFF00"/>
              </a:solidFill>
            </a:endParaRPr>
          </a:p>
        </p:txBody>
      </p:sp>
      <p:sp>
        <p:nvSpPr>
          <p:cNvPr id="35" name="TextBox 34"/>
          <p:cNvSpPr txBox="1"/>
          <p:nvPr/>
        </p:nvSpPr>
        <p:spPr>
          <a:xfrm>
            <a:off x="7714704" y="3155215"/>
            <a:ext cx="442914" cy="426720"/>
          </a:xfrm>
          <a:prstGeom prst="rect">
            <a:avLst/>
          </a:prstGeom>
          <a:noFill/>
          <a:ln w="38100">
            <a:solidFill>
              <a:srgbClr val="FFFF00"/>
            </a:solidFill>
          </a:ln>
        </p:spPr>
        <p:txBody>
          <a:bodyPr wrap="square" rtlCol="0">
            <a:spAutoFit/>
          </a:bodyPr>
          <a:lstStyle/>
          <a:p>
            <a:endParaRPr lang="en-US" dirty="0">
              <a:solidFill>
                <a:srgbClr val="212121"/>
              </a:solidFill>
            </a:endParaRPr>
          </a:p>
        </p:txBody>
      </p:sp>
      <p:sp>
        <p:nvSpPr>
          <p:cNvPr id="31" name="TextBox 30"/>
          <p:cNvSpPr txBox="1"/>
          <p:nvPr/>
        </p:nvSpPr>
        <p:spPr>
          <a:xfrm>
            <a:off x="8265875" y="3631895"/>
            <a:ext cx="442914" cy="369332"/>
          </a:xfrm>
          <a:prstGeom prst="rect">
            <a:avLst/>
          </a:prstGeom>
          <a:noFill/>
          <a:ln w="38100">
            <a:solidFill>
              <a:srgbClr val="FFFF00"/>
            </a:solidFill>
          </a:ln>
        </p:spPr>
        <p:txBody>
          <a:bodyPr wrap="square" rtlCol="0">
            <a:spAutoFit/>
          </a:bodyPr>
          <a:lstStyle>
            <a:defPPr>
              <a:defRPr lang="en-US"/>
            </a:defPPr>
            <a:lvl1pPr>
              <a:defRPr>
                <a:solidFill>
                  <a:srgbClr val="212121"/>
                </a:solidFill>
              </a:defRPr>
            </a:lvl1pPr>
          </a:lstStyle>
          <a:p>
            <a:endParaRPr lang="en-US" dirty="0"/>
          </a:p>
        </p:txBody>
      </p:sp>
    </p:spTree>
    <p:extLst>
      <p:ext uri="{BB962C8B-B14F-4D97-AF65-F5344CB8AC3E}">
        <p14:creationId xmlns:p14="http://schemas.microsoft.com/office/powerpoint/2010/main" val="1701405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left)">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left)">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left)">
                                      <p:cBhvr>
                                        <p:cTn id="30" dur="500"/>
                                        <p:tgtEl>
                                          <p:spTgt spid="8"/>
                                        </p:tgtEl>
                                      </p:cBhvr>
                                    </p:animEffect>
                                  </p:childTnLst>
                                </p:cTn>
                              </p:par>
                              <p:par>
                                <p:cTn id="31" presetID="1" presetClass="entr" presetSubtype="0" fill="hold" nodeType="withEffect">
                                  <p:stCondLst>
                                    <p:cond delay="0"/>
                                  </p:stCondLst>
                                  <p:childTnLst>
                                    <p:set>
                                      <p:cBhvr>
                                        <p:cTn id="32" dur="1" fill="hold">
                                          <p:stCondLst>
                                            <p:cond delay="0"/>
                                          </p:stCondLst>
                                        </p:cTn>
                                        <p:tgtEl>
                                          <p:spTgt spid="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childTnLst>
                                </p:cTn>
                              </p:par>
                              <p:par>
                                <p:cTn id="35" presetID="26" presetClass="emph" presetSubtype="0" repeatCount="indefinite" fill="hold" grpId="1" nodeType="withEffect">
                                  <p:stCondLst>
                                    <p:cond delay="0"/>
                                  </p:stCondLst>
                                  <p:endCondLst>
                                    <p:cond evt="onNext" delay="0">
                                      <p:tgtEl>
                                        <p:sldTgt/>
                                      </p:tgtEl>
                                    </p:cond>
                                  </p:endCondLst>
                                  <p:childTnLst>
                                    <p:animEffect transition="out" filter="fade">
                                      <p:cBhvr>
                                        <p:cTn id="36" dur="500" tmFilter="0, 0; .2, .5; .8, .5; 1, 0"/>
                                        <p:tgtEl>
                                          <p:spTgt spid="9"/>
                                        </p:tgtEl>
                                      </p:cBhvr>
                                    </p:animEffect>
                                    <p:animScale>
                                      <p:cBhvr>
                                        <p:cTn id="37" dur="250" autoRev="1" fill="hold"/>
                                        <p:tgtEl>
                                          <p:spTgt spid="9"/>
                                        </p:tgtEl>
                                      </p:cBhvr>
                                      <p:by x="105000" y="105000"/>
                                    </p:animScale>
                                  </p:childTnLst>
                                </p:cTn>
                              </p:par>
                            </p:childTnLst>
                          </p:cTn>
                        </p:par>
                      </p:childTnLst>
                    </p:cTn>
                  </p:par>
                  <p:par>
                    <p:cTn id="38" fill="hold">
                      <p:stCondLst>
                        <p:cond delay="indefinite"/>
                      </p:stCondLst>
                      <p:childTnLst>
                        <p:par>
                          <p:cTn id="39" fill="hold">
                            <p:stCondLst>
                              <p:cond delay="0"/>
                            </p:stCondLst>
                            <p:childTnLst>
                              <p:par>
                                <p:cTn id="40" presetID="1" presetClass="exit" presetSubtype="0" fill="hold" grpId="2" nodeType="clickEffect">
                                  <p:stCondLst>
                                    <p:cond delay="0"/>
                                  </p:stCondLst>
                                  <p:childTnLst>
                                    <p:set>
                                      <p:cBhvr>
                                        <p:cTn id="41" dur="1" fill="hold">
                                          <p:stCondLst>
                                            <p:cond delay="0"/>
                                          </p:stCondLst>
                                        </p:cTn>
                                        <p:tgtEl>
                                          <p:spTgt spid="9"/>
                                        </p:tgtEl>
                                        <p:attrNameLst>
                                          <p:attrName>style.visibility</p:attrName>
                                        </p:attrNameLst>
                                      </p:cBhvr>
                                      <p:to>
                                        <p:strVal val="hidden"/>
                                      </p:to>
                                    </p:set>
                                  </p:childTnLst>
                                </p:cTn>
                              </p:par>
                              <p:par>
                                <p:cTn id="42" presetID="1" presetClass="exit" presetSubtype="0" fill="hold" nodeType="withEffect">
                                  <p:stCondLst>
                                    <p:cond delay="0"/>
                                  </p:stCondLst>
                                  <p:childTnLst>
                                    <p:set>
                                      <p:cBhvr>
                                        <p:cTn id="43" dur="1" fill="hold">
                                          <p:stCondLst>
                                            <p:cond delay="0"/>
                                          </p:stCondLst>
                                        </p:cTn>
                                        <p:tgtEl>
                                          <p:spTgt spid="7"/>
                                        </p:tgtEl>
                                        <p:attrNameLst>
                                          <p:attrName>style.visibility</p:attrName>
                                        </p:attrNameLst>
                                      </p:cBhvr>
                                      <p:to>
                                        <p:strVal val="hidden"/>
                                      </p:to>
                                    </p:set>
                                  </p:childTnLst>
                                </p:cTn>
                              </p:par>
                              <p:par>
                                <p:cTn id="44" presetID="1" presetClass="entr" presetSubtype="0" fill="hold" nodeType="withEffect">
                                  <p:stCondLst>
                                    <p:cond delay="0"/>
                                  </p:stCondLst>
                                  <p:childTnLst>
                                    <p:set>
                                      <p:cBhvr>
                                        <p:cTn id="45" dur="1" fill="hold">
                                          <p:stCondLst>
                                            <p:cond delay="0"/>
                                          </p:stCondLst>
                                        </p:cTn>
                                        <p:tgtEl>
                                          <p:spTgt spid="13"/>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14"/>
                                        </p:tgtEl>
                                        <p:attrNameLst>
                                          <p:attrName>style.visibility</p:attrName>
                                        </p:attrNameLst>
                                      </p:cBhvr>
                                      <p:to>
                                        <p:strVal val="visible"/>
                                      </p:to>
                                    </p:set>
                                  </p:childTnLst>
                                </p:cTn>
                              </p:par>
                              <p:par>
                                <p:cTn id="48" presetID="26" presetClass="emph" presetSubtype="0" repeatCount="indefinite" fill="hold" grpId="1" nodeType="withEffect">
                                  <p:stCondLst>
                                    <p:cond delay="0"/>
                                  </p:stCondLst>
                                  <p:endCondLst>
                                    <p:cond evt="onNext" delay="0">
                                      <p:tgtEl>
                                        <p:sldTgt/>
                                      </p:tgtEl>
                                    </p:cond>
                                  </p:endCondLst>
                                  <p:childTnLst>
                                    <p:animEffect transition="out" filter="fade">
                                      <p:cBhvr>
                                        <p:cTn id="49" dur="500" tmFilter="0, 0; .2, .5; .8, .5; 1, 0"/>
                                        <p:tgtEl>
                                          <p:spTgt spid="14"/>
                                        </p:tgtEl>
                                      </p:cBhvr>
                                    </p:animEffect>
                                    <p:animScale>
                                      <p:cBhvr>
                                        <p:cTn id="50" dur="250" autoRev="1" fill="hold"/>
                                        <p:tgtEl>
                                          <p:spTgt spid="14"/>
                                        </p:tgtEl>
                                      </p:cBhvr>
                                      <p:by x="105000" y="105000"/>
                                    </p:animScale>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grpId="2" nodeType="clickEffect">
                                  <p:stCondLst>
                                    <p:cond delay="0"/>
                                  </p:stCondLst>
                                  <p:childTnLst>
                                    <p:set>
                                      <p:cBhvr>
                                        <p:cTn id="54" dur="1" fill="hold">
                                          <p:stCondLst>
                                            <p:cond delay="0"/>
                                          </p:stCondLst>
                                        </p:cTn>
                                        <p:tgtEl>
                                          <p:spTgt spid="14"/>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13"/>
                                        </p:tgtEl>
                                        <p:attrNameLst>
                                          <p:attrName>style.visibility</p:attrName>
                                        </p:attrNameLst>
                                      </p:cBhvr>
                                      <p:to>
                                        <p:strVal val="hidden"/>
                                      </p:to>
                                    </p:set>
                                  </p:childTnLst>
                                </p:cTn>
                              </p:par>
                              <p:par>
                                <p:cTn id="57" presetID="1" presetClass="entr" presetSubtype="0" fill="hold" nodeType="withEffect">
                                  <p:stCondLst>
                                    <p:cond delay="0"/>
                                  </p:stCondLst>
                                  <p:childTnLst>
                                    <p:set>
                                      <p:cBhvr>
                                        <p:cTn id="58" dur="1" fill="hold">
                                          <p:stCondLst>
                                            <p:cond delay="0"/>
                                          </p:stCondLst>
                                        </p:cTn>
                                        <p:tgtEl>
                                          <p:spTgt spid="1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6"/>
                                        </p:tgtEl>
                                        <p:attrNameLst>
                                          <p:attrName>style.visibility</p:attrName>
                                        </p:attrNameLst>
                                      </p:cBhvr>
                                      <p:to>
                                        <p:strVal val="visible"/>
                                      </p:to>
                                    </p:set>
                                  </p:childTnLst>
                                </p:cTn>
                              </p:par>
                              <p:par>
                                <p:cTn id="61" presetID="26" presetClass="emph" presetSubtype="0" repeatCount="indefinite" fill="hold" grpId="1" nodeType="withEffect">
                                  <p:stCondLst>
                                    <p:cond delay="0"/>
                                  </p:stCondLst>
                                  <p:endCondLst>
                                    <p:cond evt="onNext" delay="0">
                                      <p:tgtEl>
                                        <p:sldTgt/>
                                      </p:tgtEl>
                                    </p:cond>
                                  </p:endCondLst>
                                  <p:childTnLst>
                                    <p:animEffect transition="out" filter="fade">
                                      <p:cBhvr>
                                        <p:cTn id="62" dur="500" tmFilter="0, 0; .2, .5; .8, .5; 1, 0"/>
                                        <p:tgtEl>
                                          <p:spTgt spid="16"/>
                                        </p:tgtEl>
                                      </p:cBhvr>
                                    </p:animEffect>
                                    <p:animScale>
                                      <p:cBhvr>
                                        <p:cTn id="63" dur="250" autoRev="1" fill="hold"/>
                                        <p:tgtEl>
                                          <p:spTgt spid="16"/>
                                        </p:tgtEl>
                                      </p:cBhvr>
                                      <p:by x="105000" y="105000"/>
                                    </p:animScale>
                                  </p:childTnLst>
                                </p:cTn>
                              </p:par>
                            </p:childTnLst>
                          </p:cTn>
                        </p:par>
                      </p:childTnLst>
                    </p:cTn>
                  </p:par>
                  <p:par>
                    <p:cTn id="64" fill="hold">
                      <p:stCondLst>
                        <p:cond delay="indefinite"/>
                      </p:stCondLst>
                      <p:childTnLst>
                        <p:par>
                          <p:cTn id="65" fill="hold">
                            <p:stCondLst>
                              <p:cond delay="0"/>
                            </p:stCondLst>
                            <p:childTnLst>
                              <p:par>
                                <p:cTn id="66" presetID="1" presetClass="exit" presetSubtype="0" fill="hold" grpId="2" nodeType="clickEffect">
                                  <p:stCondLst>
                                    <p:cond delay="0"/>
                                  </p:stCondLst>
                                  <p:childTnLst>
                                    <p:set>
                                      <p:cBhvr>
                                        <p:cTn id="67" dur="1" fill="hold">
                                          <p:stCondLst>
                                            <p:cond delay="0"/>
                                          </p:stCondLst>
                                        </p:cTn>
                                        <p:tgtEl>
                                          <p:spTgt spid="16"/>
                                        </p:tgtEl>
                                        <p:attrNameLst>
                                          <p:attrName>style.visibility</p:attrName>
                                        </p:attrNameLst>
                                      </p:cBhvr>
                                      <p:to>
                                        <p:strVal val="hidden"/>
                                      </p:to>
                                    </p:set>
                                  </p:childTnLst>
                                </p:cTn>
                              </p:par>
                              <p:par>
                                <p:cTn id="68" presetID="1" presetClass="exit" presetSubtype="0" fill="hold" nodeType="withEffect">
                                  <p:stCondLst>
                                    <p:cond delay="0"/>
                                  </p:stCondLst>
                                  <p:childTnLst>
                                    <p:set>
                                      <p:cBhvr>
                                        <p:cTn id="69" dur="1" fill="hold">
                                          <p:stCondLst>
                                            <p:cond delay="0"/>
                                          </p:stCondLst>
                                        </p:cTn>
                                        <p:tgtEl>
                                          <p:spTgt spid="15"/>
                                        </p:tgtEl>
                                        <p:attrNameLst>
                                          <p:attrName>style.visibility</p:attrName>
                                        </p:attrNameLst>
                                      </p:cBhvr>
                                      <p:to>
                                        <p:strVal val="hidden"/>
                                      </p:to>
                                    </p:set>
                                  </p:childTnLst>
                                </p:cTn>
                              </p:par>
                              <p:par>
                                <p:cTn id="70" presetID="1" presetClass="entr" presetSubtype="0" fill="hold" nodeType="withEffect">
                                  <p:stCondLst>
                                    <p:cond delay="0"/>
                                  </p:stCondLst>
                                  <p:childTnLst>
                                    <p:set>
                                      <p:cBhvr>
                                        <p:cTn id="71" dur="1" fill="hold">
                                          <p:stCondLst>
                                            <p:cond delay="0"/>
                                          </p:stCondLst>
                                        </p:cTn>
                                        <p:tgtEl>
                                          <p:spTgt spid="17"/>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18"/>
                                        </p:tgtEl>
                                        <p:attrNameLst>
                                          <p:attrName>style.visibility</p:attrName>
                                        </p:attrNameLst>
                                      </p:cBhvr>
                                      <p:to>
                                        <p:strVal val="visible"/>
                                      </p:to>
                                    </p:set>
                                  </p:childTnLst>
                                </p:cTn>
                              </p:par>
                              <p:par>
                                <p:cTn id="74" presetID="26" presetClass="emph" presetSubtype="0" repeatCount="indefinite" fill="hold" grpId="1" nodeType="withEffect">
                                  <p:stCondLst>
                                    <p:cond delay="0"/>
                                  </p:stCondLst>
                                  <p:endCondLst>
                                    <p:cond evt="onNext" delay="0">
                                      <p:tgtEl>
                                        <p:sldTgt/>
                                      </p:tgtEl>
                                    </p:cond>
                                  </p:endCondLst>
                                  <p:childTnLst>
                                    <p:animEffect transition="out" filter="fade">
                                      <p:cBhvr>
                                        <p:cTn id="75" dur="500" tmFilter="0, 0; .2, .5; .8, .5; 1, 0"/>
                                        <p:tgtEl>
                                          <p:spTgt spid="18"/>
                                        </p:tgtEl>
                                      </p:cBhvr>
                                    </p:animEffect>
                                    <p:animScale>
                                      <p:cBhvr>
                                        <p:cTn id="76" dur="250" autoRev="1" fill="hold"/>
                                        <p:tgtEl>
                                          <p:spTgt spid="18"/>
                                        </p:tgtEl>
                                      </p:cBhvr>
                                      <p:by x="105000" y="105000"/>
                                    </p:animScale>
                                  </p:childTnLst>
                                </p:cTn>
                              </p:par>
                              <p:par>
                                <p:cTn id="77" presetID="1" presetClass="entr" presetSubtype="0" fill="hold" grpId="0" nodeType="withEffect">
                                  <p:stCondLst>
                                    <p:cond delay="0"/>
                                  </p:stCondLst>
                                  <p:childTnLst>
                                    <p:set>
                                      <p:cBhvr>
                                        <p:cTn id="78" dur="1" fill="hold">
                                          <p:stCondLst>
                                            <p:cond delay="0"/>
                                          </p:stCondLst>
                                        </p:cTn>
                                        <p:tgtEl>
                                          <p:spTgt spid="32"/>
                                        </p:tgtEl>
                                        <p:attrNameLst>
                                          <p:attrName>style.visibility</p:attrName>
                                        </p:attrNameLst>
                                      </p:cBhvr>
                                      <p:to>
                                        <p:strVal val="visible"/>
                                      </p:to>
                                    </p:set>
                                  </p:childTnLst>
                                </p:cTn>
                              </p:par>
                              <p:par>
                                <p:cTn id="79" presetID="26" presetClass="emph" presetSubtype="0" repeatCount="indefinite" fill="hold" grpId="1" nodeType="withEffect">
                                  <p:stCondLst>
                                    <p:cond delay="0"/>
                                  </p:stCondLst>
                                  <p:endCondLst>
                                    <p:cond evt="onNext" delay="0">
                                      <p:tgtEl>
                                        <p:sldTgt/>
                                      </p:tgtEl>
                                    </p:cond>
                                  </p:endCondLst>
                                  <p:childTnLst>
                                    <p:animEffect transition="out" filter="fade">
                                      <p:cBhvr>
                                        <p:cTn id="80" dur="500" tmFilter="0, 0; .2, .5; .8, .5; 1, 0"/>
                                        <p:tgtEl>
                                          <p:spTgt spid="32"/>
                                        </p:tgtEl>
                                      </p:cBhvr>
                                    </p:animEffect>
                                    <p:animScale>
                                      <p:cBhvr>
                                        <p:cTn id="81" dur="250" autoRev="1" fill="hold"/>
                                        <p:tgtEl>
                                          <p:spTgt spid="32"/>
                                        </p:tgtEl>
                                      </p:cBhvr>
                                      <p:by x="105000" y="105000"/>
                                    </p:animScale>
                                  </p:childTnLst>
                                </p:cTn>
                              </p:par>
                            </p:childTnLst>
                          </p:cTn>
                        </p:par>
                      </p:childTnLst>
                    </p:cTn>
                  </p:par>
                  <p:par>
                    <p:cTn id="82" fill="hold">
                      <p:stCondLst>
                        <p:cond delay="indefinite"/>
                      </p:stCondLst>
                      <p:childTnLst>
                        <p:par>
                          <p:cTn id="83" fill="hold">
                            <p:stCondLst>
                              <p:cond delay="0"/>
                            </p:stCondLst>
                            <p:childTnLst>
                              <p:par>
                                <p:cTn id="84" presetID="1" presetClass="exit" presetSubtype="0" fill="hold" grpId="2" nodeType="clickEffect">
                                  <p:stCondLst>
                                    <p:cond delay="0"/>
                                  </p:stCondLst>
                                  <p:childTnLst>
                                    <p:set>
                                      <p:cBhvr>
                                        <p:cTn id="85" dur="1" fill="hold">
                                          <p:stCondLst>
                                            <p:cond delay="0"/>
                                          </p:stCondLst>
                                        </p:cTn>
                                        <p:tgtEl>
                                          <p:spTgt spid="32"/>
                                        </p:tgtEl>
                                        <p:attrNameLst>
                                          <p:attrName>style.visibility</p:attrName>
                                        </p:attrNameLst>
                                      </p:cBhvr>
                                      <p:to>
                                        <p:strVal val="hidden"/>
                                      </p:to>
                                    </p:set>
                                  </p:childTnLst>
                                </p:cTn>
                              </p:par>
                            </p:childTnLst>
                          </p:cTn>
                        </p:par>
                      </p:childTnLst>
                    </p:cTn>
                  </p:par>
                  <p:par>
                    <p:cTn id="86" fill="hold">
                      <p:stCondLst>
                        <p:cond delay="indefinite"/>
                      </p:stCondLst>
                      <p:childTnLst>
                        <p:par>
                          <p:cTn id="87" fill="hold">
                            <p:stCondLst>
                              <p:cond delay="0"/>
                            </p:stCondLst>
                            <p:childTnLst>
                              <p:par>
                                <p:cTn id="88" presetID="1" presetClass="exit" presetSubtype="0" fill="hold" grpId="2" nodeType="clickEffect">
                                  <p:stCondLst>
                                    <p:cond delay="0"/>
                                  </p:stCondLst>
                                  <p:childTnLst>
                                    <p:set>
                                      <p:cBhvr>
                                        <p:cTn id="89" dur="1" fill="hold">
                                          <p:stCondLst>
                                            <p:cond delay="0"/>
                                          </p:stCondLst>
                                        </p:cTn>
                                        <p:tgtEl>
                                          <p:spTgt spid="18"/>
                                        </p:tgtEl>
                                        <p:attrNameLst>
                                          <p:attrName>style.visibility</p:attrName>
                                        </p:attrNameLst>
                                      </p:cBhvr>
                                      <p:to>
                                        <p:strVal val="hidden"/>
                                      </p:to>
                                    </p:set>
                                  </p:childTnLst>
                                </p:cTn>
                              </p:par>
                              <p:par>
                                <p:cTn id="90" presetID="1" presetClass="exit" presetSubtype="0" fill="hold" nodeType="withEffect">
                                  <p:stCondLst>
                                    <p:cond delay="0"/>
                                  </p:stCondLst>
                                  <p:childTnLst>
                                    <p:set>
                                      <p:cBhvr>
                                        <p:cTn id="91" dur="1" fill="hold">
                                          <p:stCondLst>
                                            <p:cond delay="0"/>
                                          </p:stCondLst>
                                        </p:cTn>
                                        <p:tgtEl>
                                          <p:spTgt spid="17"/>
                                        </p:tgtEl>
                                        <p:attrNameLst>
                                          <p:attrName>style.visibility</p:attrName>
                                        </p:attrNameLst>
                                      </p:cBhvr>
                                      <p:to>
                                        <p:strVal val="hidden"/>
                                      </p:to>
                                    </p:set>
                                  </p:childTnLst>
                                </p:cTn>
                              </p:par>
                              <p:par>
                                <p:cTn id="92" presetID="1" presetClass="entr" presetSubtype="0" fill="hold" nodeType="withEffect">
                                  <p:stCondLst>
                                    <p:cond delay="0"/>
                                  </p:stCondLst>
                                  <p:childTnLst>
                                    <p:set>
                                      <p:cBhvr>
                                        <p:cTn id="93" dur="1" fill="hold">
                                          <p:stCondLst>
                                            <p:cond delay="0"/>
                                          </p:stCondLst>
                                        </p:cTn>
                                        <p:tgtEl>
                                          <p:spTgt spid="19"/>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20"/>
                                        </p:tgtEl>
                                        <p:attrNameLst>
                                          <p:attrName>style.visibility</p:attrName>
                                        </p:attrNameLst>
                                      </p:cBhvr>
                                      <p:to>
                                        <p:strVal val="visible"/>
                                      </p:to>
                                    </p:set>
                                  </p:childTnLst>
                                </p:cTn>
                              </p:par>
                              <p:par>
                                <p:cTn id="96" presetID="26" presetClass="emph" presetSubtype="0" repeatCount="indefinite" fill="hold" grpId="1" nodeType="withEffect">
                                  <p:stCondLst>
                                    <p:cond delay="0"/>
                                  </p:stCondLst>
                                  <p:endCondLst>
                                    <p:cond evt="onNext" delay="0">
                                      <p:tgtEl>
                                        <p:sldTgt/>
                                      </p:tgtEl>
                                    </p:cond>
                                  </p:endCondLst>
                                  <p:childTnLst>
                                    <p:animEffect transition="out" filter="fade">
                                      <p:cBhvr>
                                        <p:cTn id="97" dur="500" tmFilter="0, 0; .2, .5; .8, .5; 1, 0"/>
                                        <p:tgtEl>
                                          <p:spTgt spid="20"/>
                                        </p:tgtEl>
                                      </p:cBhvr>
                                    </p:animEffect>
                                    <p:animScale>
                                      <p:cBhvr>
                                        <p:cTn id="98" dur="250" autoRev="1" fill="hold"/>
                                        <p:tgtEl>
                                          <p:spTgt spid="20"/>
                                        </p:tgtEl>
                                      </p:cBhvr>
                                      <p:by x="105000" y="105000"/>
                                    </p:animScale>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grpId="2" nodeType="clickEffect">
                                  <p:stCondLst>
                                    <p:cond delay="0"/>
                                  </p:stCondLst>
                                  <p:childTnLst>
                                    <p:set>
                                      <p:cBhvr>
                                        <p:cTn id="102" dur="1" fill="hold">
                                          <p:stCondLst>
                                            <p:cond delay="0"/>
                                          </p:stCondLst>
                                        </p:cTn>
                                        <p:tgtEl>
                                          <p:spTgt spid="20"/>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19"/>
                                        </p:tgtEl>
                                        <p:attrNameLst>
                                          <p:attrName>style.visibility</p:attrName>
                                        </p:attrNameLst>
                                      </p:cBhvr>
                                      <p:to>
                                        <p:strVal val="hidden"/>
                                      </p:to>
                                    </p:set>
                                  </p:childTnLst>
                                </p:cTn>
                              </p:par>
                              <p:par>
                                <p:cTn id="105" presetID="1" presetClass="entr" presetSubtype="0" fill="hold" nodeType="withEffect">
                                  <p:stCondLst>
                                    <p:cond delay="0"/>
                                  </p:stCondLst>
                                  <p:childTnLst>
                                    <p:set>
                                      <p:cBhvr>
                                        <p:cTn id="106" dur="1" fill="hold">
                                          <p:stCondLst>
                                            <p:cond delay="0"/>
                                          </p:stCondLst>
                                        </p:cTn>
                                        <p:tgtEl>
                                          <p:spTgt spid="21"/>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22"/>
                                        </p:tgtEl>
                                        <p:attrNameLst>
                                          <p:attrName>style.visibility</p:attrName>
                                        </p:attrNameLst>
                                      </p:cBhvr>
                                      <p:to>
                                        <p:strVal val="visible"/>
                                      </p:to>
                                    </p:set>
                                  </p:childTnLst>
                                </p:cTn>
                              </p:par>
                              <p:par>
                                <p:cTn id="109" presetID="26" presetClass="emph" presetSubtype="0" repeatCount="indefinite" fill="hold" grpId="1" nodeType="withEffect">
                                  <p:stCondLst>
                                    <p:cond delay="0"/>
                                  </p:stCondLst>
                                  <p:endCondLst>
                                    <p:cond evt="onNext" delay="0">
                                      <p:tgtEl>
                                        <p:sldTgt/>
                                      </p:tgtEl>
                                    </p:cond>
                                  </p:endCondLst>
                                  <p:childTnLst>
                                    <p:animEffect transition="out" filter="fade">
                                      <p:cBhvr>
                                        <p:cTn id="110" dur="500" tmFilter="0, 0; .2, .5; .8, .5; 1, 0"/>
                                        <p:tgtEl>
                                          <p:spTgt spid="22"/>
                                        </p:tgtEl>
                                      </p:cBhvr>
                                    </p:animEffect>
                                    <p:animScale>
                                      <p:cBhvr>
                                        <p:cTn id="111" dur="250" autoRev="1" fill="hold"/>
                                        <p:tgtEl>
                                          <p:spTgt spid="22"/>
                                        </p:tgtEl>
                                      </p:cBhvr>
                                      <p:by x="105000" y="105000"/>
                                    </p:animScale>
                                  </p:childTnLst>
                                </p:cTn>
                              </p:par>
                            </p:childTnLst>
                          </p:cTn>
                        </p:par>
                      </p:childTnLst>
                    </p:cTn>
                  </p:par>
                  <p:par>
                    <p:cTn id="112" fill="hold">
                      <p:stCondLst>
                        <p:cond delay="indefinite"/>
                      </p:stCondLst>
                      <p:childTnLst>
                        <p:par>
                          <p:cTn id="113" fill="hold">
                            <p:stCondLst>
                              <p:cond delay="0"/>
                            </p:stCondLst>
                            <p:childTnLst>
                              <p:par>
                                <p:cTn id="114" presetID="1" presetClass="exit" presetSubtype="0" fill="hold" grpId="2" nodeType="clickEffect">
                                  <p:stCondLst>
                                    <p:cond delay="0"/>
                                  </p:stCondLst>
                                  <p:childTnLst>
                                    <p:set>
                                      <p:cBhvr>
                                        <p:cTn id="115" dur="1" fill="hold">
                                          <p:stCondLst>
                                            <p:cond delay="0"/>
                                          </p:stCondLst>
                                        </p:cTn>
                                        <p:tgtEl>
                                          <p:spTgt spid="22"/>
                                        </p:tgtEl>
                                        <p:attrNameLst>
                                          <p:attrName>style.visibility</p:attrName>
                                        </p:attrNameLst>
                                      </p:cBhvr>
                                      <p:to>
                                        <p:strVal val="hidden"/>
                                      </p:to>
                                    </p:set>
                                  </p:childTnLst>
                                </p:cTn>
                              </p:par>
                              <p:par>
                                <p:cTn id="116" presetID="1" presetClass="exit" presetSubtype="0" fill="hold" nodeType="withEffect">
                                  <p:stCondLst>
                                    <p:cond delay="0"/>
                                  </p:stCondLst>
                                  <p:childTnLst>
                                    <p:set>
                                      <p:cBhvr>
                                        <p:cTn id="117" dur="1" fill="hold">
                                          <p:stCondLst>
                                            <p:cond delay="0"/>
                                          </p:stCondLst>
                                        </p:cTn>
                                        <p:tgtEl>
                                          <p:spTgt spid="21"/>
                                        </p:tgtEl>
                                        <p:attrNameLst>
                                          <p:attrName>style.visibility</p:attrName>
                                        </p:attrNameLst>
                                      </p:cBhvr>
                                      <p:to>
                                        <p:strVal val="hidden"/>
                                      </p:to>
                                    </p:set>
                                  </p:childTnLst>
                                </p:cTn>
                              </p:par>
                              <p:par>
                                <p:cTn id="118" presetID="1" presetClass="entr" presetSubtype="0" fill="hold" nodeType="withEffect">
                                  <p:stCondLst>
                                    <p:cond delay="0"/>
                                  </p:stCondLst>
                                  <p:childTnLst>
                                    <p:set>
                                      <p:cBhvr>
                                        <p:cTn id="119" dur="1" fill="hold">
                                          <p:stCondLst>
                                            <p:cond delay="0"/>
                                          </p:stCondLst>
                                        </p:cTn>
                                        <p:tgtEl>
                                          <p:spTgt spid="23"/>
                                        </p:tgtEl>
                                        <p:attrNameLst>
                                          <p:attrName>style.visibility</p:attrName>
                                        </p:attrNameLst>
                                      </p:cBhvr>
                                      <p:to>
                                        <p:strVal val="visible"/>
                                      </p:to>
                                    </p:set>
                                  </p:childTnLst>
                                </p:cTn>
                              </p:par>
                              <p:par>
                                <p:cTn id="120" presetID="1" presetClass="entr" presetSubtype="0" fill="hold" grpId="0" nodeType="withEffect">
                                  <p:stCondLst>
                                    <p:cond delay="0"/>
                                  </p:stCondLst>
                                  <p:childTnLst>
                                    <p:set>
                                      <p:cBhvr>
                                        <p:cTn id="121" dur="1" fill="hold">
                                          <p:stCondLst>
                                            <p:cond delay="0"/>
                                          </p:stCondLst>
                                        </p:cTn>
                                        <p:tgtEl>
                                          <p:spTgt spid="24"/>
                                        </p:tgtEl>
                                        <p:attrNameLst>
                                          <p:attrName>style.visibility</p:attrName>
                                        </p:attrNameLst>
                                      </p:cBhvr>
                                      <p:to>
                                        <p:strVal val="visible"/>
                                      </p:to>
                                    </p:set>
                                  </p:childTnLst>
                                </p:cTn>
                              </p:par>
                              <p:par>
                                <p:cTn id="122" presetID="26" presetClass="emph" presetSubtype="0" repeatCount="indefinite" fill="hold" grpId="1" nodeType="withEffect">
                                  <p:stCondLst>
                                    <p:cond delay="0"/>
                                  </p:stCondLst>
                                  <p:endCondLst>
                                    <p:cond evt="onNext" delay="0">
                                      <p:tgtEl>
                                        <p:sldTgt/>
                                      </p:tgtEl>
                                    </p:cond>
                                  </p:endCondLst>
                                  <p:childTnLst>
                                    <p:animEffect transition="out" filter="fade">
                                      <p:cBhvr>
                                        <p:cTn id="123" dur="500" tmFilter="0, 0; .2, .5; .8, .5; 1, 0"/>
                                        <p:tgtEl>
                                          <p:spTgt spid="24"/>
                                        </p:tgtEl>
                                      </p:cBhvr>
                                    </p:animEffect>
                                    <p:animScale>
                                      <p:cBhvr>
                                        <p:cTn id="124" dur="250" autoRev="1" fill="hold"/>
                                        <p:tgtEl>
                                          <p:spTgt spid="24"/>
                                        </p:tgtEl>
                                      </p:cBhvr>
                                      <p:by x="105000" y="105000"/>
                                    </p:animScale>
                                  </p:childTnLst>
                                </p:cTn>
                              </p:par>
                            </p:childTnLst>
                          </p:cTn>
                        </p:par>
                      </p:childTnLst>
                    </p:cTn>
                  </p:par>
                  <p:par>
                    <p:cTn id="125" fill="hold">
                      <p:stCondLst>
                        <p:cond delay="indefinite"/>
                      </p:stCondLst>
                      <p:childTnLst>
                        <p:par>
                          <p:cTn id="126" fill="hold">
                            <p:stCondLst>
                              <p:cond delay="0"/>
                            </p:stCondLst>
                            <p:childTnLst>
                              <p:par>
                                <p:cTn id="127" presetID="1" presetClass="exit" presetSubtype="0" fill="hold" grpId="2" nodeType="clickEffect">
                                  <p:stCondLst>
                                    <p:cond delay="0"/>
                                  </p:stCondLst>
                                  <p:childTnLst>
                                    <p:set>
                                      <p:cBhvr>
                                        <p:cTn id="128" dur="1" fill="hold">
                                          <p:stCondLst>
                                            <p:cond delay="0"/>
                                          </p:stCondLst>
                                        </p:cTn>
                                        <p:tgtEl>
                                          <p:spTgt spid="24"/>
                                        </p:tgtEl>
                                        <p:attrNameLst>
                                          <p:attrName>style.visibility</p:attrName>
                                        </p:attrNameLst>
                                      </p:cBhvr>
                                      <p:to>
                                        <p:strVal val="hidden"/>
                                      </p:to>
                                    </p:set>
                                  </p:childTnLst>
                                </p:cTn>
                              </p:par>
                              <p:par>
                                <p:cTn id="129" presetID="1" presetClass="exit" presetSubtype="0" fill="hold" nodeType="withEffect">
                                  <p:stCondLst>
                                    <p:cond delay="0"/>
                                  </p:stCondLst>
                                  <p:childTnLst>
                                    <p:set>
                                      <p:cBhvr>
                                        <p:cTn id="130" dur="1" fill="hold">
                                          <p:stCondLst>
                                            <p:cond delay="0"/>
                                          </p:stCondLst>
                                        </p:cTn>
                                        <p:tgtEl>
                                          <p:spTgt spid="23"/>
                                        </p:tgtEl>
                                        <p:attrNameLst>
                                          <p:attrName>style.visibility</p:attrName>
                                        </p:attrNameLst>
                                      </p:cBhvr>
                                      <p:to>
                                        <p:strVal val="hidden"/>
                                      </p:to>
                                    </p:set>
                                  </p:childTnLst>
                                </p:cTn>
                              </p:par>
                              <p:par>
                                <p:cTn id="131" presetID="1" presetClass="entr" presetSubtype="0" fill="hold" nodeType="withEffect">
                                  <p:stCondLst>
                                    <p:cond delay="0"/>
                                  </p:stCondLst>
                                  <p:childTnLst>
                                    <p:set>
                                      <p:cBhvr>
                                        <p:cTn id="132" dur="1" fill="hold">
                                          <p:stCondLst>
                                            <p:cond delay="0"/>
                                          </p:stCondLst>
                                        </p:cTn>
                                        <p:tgtEl>
                                          <p:spTgt spid="25"/>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26"/>
                                        </p:tgtEl>
                                        <p:attrNameLst>
                                          <p:attrName>style.visibility</p:attrName>
                                        </p:attrNameLst>
                                      </p:cBhvr>
                                      <p:to>
                                        <p:strVal val="visible"/>
                                      </p:to>
                                    </p:set>
                                  </p:childTnLst>
                                </p:cTn>
                              </p:par>
                              <p:par>
                                <p:cTn id="135" presetID="26" presetClass="emph" presetSubtype="0" repeatCount="indefinite" fill="hold" grpId="1" nodeType="withEffect">
                                  <p:stCondLst>
                                    <p:cond delay="0"/>
                                  </p:stCondLst>
                                  <p:endCondLst>
                                    <p:cond evt="onNext" delay="0">
                                      <p:tgtEl>
                                        <p:sldTgt/>
                                      </p:tgtEl>
                                    </p:cond>
                                  </p:endCondLst>
                                  <p:childTnLst>
                                    <p:animEffect transition="out" filter="fade">
                                      <p:cBhvr>
                                        <p:cTn id="136" dur="500" tmFilter="0, 0; .2, .5; .8, .5; 1, 0"/>
                                        <p:tgtEl>
                                          <p:spTgt spid="26"/>
                                        </p:tgtEl>
                                      </p:cBhvr>
                                    </p:animEffect>
                                    <p:animScale>
                                      <p:cBhvr>
                                        <p:cTn id="137" dur="250" autoRev="1" fill="hold"/>
                                        <p:tgtEl>
                                          <p:spTgt spid="26"/>
                                        </p:tgtEl>
                                      </p:cBhvr>
                                      <p:by x="105000" y="105000"/>
                                    </p:animScale>
                                  </p:childTnLst>
                                </p:cTn>
                              </p:par>
                              <p:par>
                                <p:cTn id="138" presetID="1" presetClass="entr" presetSubtype="0" fill="hold" grpId="0" nodeType="withEffect">
                                  <p:stCondLst>
                                    <p:cond delay="0"/>
                                  </p:stCondLst>
                                  <p:childTnLst>
                                    <p:set>
                                      <p:cBhvr>
                                        <p:cTn id="139" dur="1" fill="hold">
                                          <p:stCondLst>
                                            <p:cond delay="0"/>
                                          </p:stCondLst>
                                        </p:cTn>
                                        <p:tgtEl>
                                          <p:spTgt spid="35"/>
                                        </p:tgtEl>
                                        <p:attrNameLst>
                                          <p:attrName>style.visibility</p:attrName>
                                        </p:attrNameLst>
                                      </p:cBhvr>
                                      <p:to>
                                        <p:strVal val="visible"/>
                                      </p:to>
                                    </p:set>
                                  </p:childTnLst>
                                </p:cTn>
                              </p:par>
                              <p:par>
                                <p:cTn id="140" presetID="26" presetClass="emph" presetSubtype="0" repeatCount="indefinite" fill="hold" grpId="1" nodeType="withEffect">
                                  <p:stCondLst>
                                    <p:cond delay="0"/>
                                  </p:stCondLst>
                                  <p:endCondLst>
                                    <p:cond evt="onNext" delay="0">
                                      <p:tgtEl>
                                        <p:sldTgt/>
                                      </p:tgtEl>
                                    </p:cond>
                                  </p:endCondLst>
                                  <p:childTnLst>
                                    <p:animEffect transition="out" filter="fade">
                                      <p:cBhvr>
                                        <p:cTn id="141" dur="500" tmFilter="0, 0; .2, .5; .8, .5; 1, 0"/>
                                        <p:tgtEl>
                                          <p:spTgt spid="35"/>
                                        </p:tgtEl>
                                      </p:cBhvr>
                                    </p:animEffect>
                                    <p:animScale>
                                      <p:cBhvr>
                                        <p:cTn id="142" dur="250" autoRev="1" fill="hold"/>
                                        <p:tgtEl>
                                          <p:spTgt spid="35"/>
                                        </p:tgtEl>
                                      </p:cBhvr>
                                      <p:by x="105000" y="105000"/>
                                    </p:animScale>
                                  </p:childTnLst>
                                </p:cTn>
                              </p:par>
                            </p:childTnLst>
                          </p:cTn>
                        </p:par>
                      </p:childTnLst>
                    </p:cTn>
                  </p:par>
                  <p:par>
                    <p:cTn id="143" fill="hold">
                      <p:stCondLst>
                        <p:cond delay="indefinite"/>
                      </p:stCondLst>
                      <p:childTnLst>
                        <p:par>
                          <p:cTn id="144" fill="hold">
                            <p:stCondLst>
                              <p:cond delay="0"/>
                            </p:stCondLst>
                            <p:childTnLst>
                              <p:par>
                                <p:cTn id="145" presetID="1" presetClass="exit" presetSubtype="0" fill="hold" grpId="2" nodeType="clickEffect">
                                  <p:stCondLst>
                                    <p:cond delay="0"/>
                                  </p:stCondLst>
                                  <p:childTnLst>
                                    <p:set>
                                      <p:cBhvr>
                                        <p:cTn id="146" dur="1" fill="hold">
                                          <p:stCondLst>
                                            <p:cond delay="0"/>
                                          </p:stCondLst>
                                        </p:cTn>
                                        <p:tgtEl>
                                          <p:spTgt spid="35"/>
                                        </p:tgtEl>
                                        <p:attrNameLst>
                                          <p:attrName>style.visibility</p:attrName>
                                        </p:attrNameLst>
                                      </p:cBhvr>
                                      <p:to>
                                        <p:strVal val="hidden"/>
                                      </p:to>
                                    </p:set>
                                  </p:childTnLst>
                                </p:cTn>
                              </p:par>
                            </p:childTnLst>
                          </p:cTn>
                        </p:par>
                      </p:childTnLst>
                    </p:cTn>
                  </p:par>
                  <p:par>
                    <p:cTn id="147" fill="hold">
                      <p:stCondLst>
                        <p:cond delay="indefinite"/>
                      </p:stCondLst>
                      <p:childTnLst>
                        <p:par>
                          <p:cTn id="148" fill="hold">
                            <p:stCondLst>
                              <p:cond delay="0"/>
                            </p:stCondLst>
                            <p:childTnLst>
                              <p:par>
                                <p:cTn id="149" presetID="1" presetClass="exit" presetSubtype="0" fill="hold" grpId="2" nodeType="clickEffect">
                                  <p:stCondLst>
                                    <p:cond delay="0"/>
                                  </p:stCondLst>
                                  <p:childTnLst>
                                    <p:set>
                                      <p:cBhvr>
                                        <p:cTn id="150" dur="1" fill="hold">
                                          <p:stCondLst>
                                            <p:cond delay="0"/>
                                          </p:stCondLst>
                                        </p:cTn>
                                        <p:tgtEl>
                                          <p:spTgt spid="26"/>
                                        </p:tgtEl>
                                        <p:attrNameLst>
                                          <p:attrName>style.visibility</p:attrName>
                                        </p:attrNameLst>
                                      </p:cBhvr>
                                      <p:to>
                                        <p:strVal val="hidden"/>
                                      </p:to>
                                    </p:set>
                                  </p:childTnLst>
                                </p:cTn>
                              </p:par>
                              <p:par>
                                <p:cTn id="151" presetID="1" presetClass="exit" presetSubtype="0" fill="hold" nodeType="withEffect">
                                  <p:stCondLst>
                                    <p:cond delay="0"/>
                                  </p:stCondLst>
                                  <p:childTnLst>
                                    <p:set>
                                      <p:cBhvr>
                                        <p:cTn id="152" dur="1" fill="hold">
                                          <p:stCondLst>
                                            <p:cond delay="0"/>
                                          </p:stCondLst>
                                        </p:cTn>
                                        <p:tgtEl>
                                          <p:spTgt spid="25"/>
                                        </p:tgtEl>
                                        <p:attrNameLst>
                                          <p:attrName>style.visibility</p:attrName>
                                        </p:attrNameLst>
                                      </p:cBhvr>
                                      <p:to>
                                        <p:strVal val="hidden"/>
                                      </p:to>
                                    </p:set>
                                  </p:childTnLst>
                                </p:cTn>
                              </p:par>
                              <p:par>
                                <p:cTn id="153" presetID="1" presetClass="entr" presetSubtype="0" fill="hold" nodeType="withEffect">
                                  <p:stCondLst>
                                    <p:cond delay="0"/>
                                  </p:stCondLst>
                                  <p:childTnLst>
                                    <p:set>
                                      <p:cBhvr>
                                        <p:cTn id="154" dur="1" fill="hold">
                                          <p:stCondLst>
                                            <p:cond delay="0"/>
                                          </p:stCondLst>
                                        </p:cTn>
                                        <p:tgtEl>
                                          <p:spTgt spid="27"/>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28"/>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31"/>
                                        </p:tgtEl>
                                        <p:attrNameLst>
                                          <p:attrName>style.visibility</p:attrName>
                                        </p:attrNameLst>
                                      </p:cBhvr>
                                      <p:to>
                                        <p:strVal val="visible"/>
                                      </p:to>
                                    </p:set>
                                  </p:childTnLst>
                                </p:cTn>
                              </p:par>
                              <p:par>
                                <p:cTn id="159" presetID="26" presetClass="emph" presetSubtype="0" repeatCount="indefinite" fill="hold" grpId="1" nodeType="withEffect">
                                  <p:stCondLst>
                                    <p:cond delay="0"/>
                                  </p:stCondLst>
                                  <p:endCondLst>
                                    <p:cond evt="onNext" delay="0">
                                      <p:tgtEl>
                                        <p:sldTgt/>
                                      </p:tgtEl>
                                    </p:cond>
                                  </p:endCondLst>
                                  <p:childTnLst>
                                    <p:animEffect transition="out" filter="fade">
                                      <p:cBhvr>
                                        <p:cTn id="160" dur="500" tmFilter="0, 0; .2, .5; .8, .5; 1, 0"/>
                                        <p:tgtEl>
                                          <p:spTgt spid="31"/>
                                        </p:tgtEl>
                                      </p:cBhvr>
                                    </p:animEffect>
                                    <p:animScale>
                                      <p:cBhvr>
                                        <p:cTn id="161" dur="250" autoRev="1" fill="hold"/>
                                        <p:tgtEl>
                                          <p:spTgt spid="31"/>
                                        </p:tgtEl>
                                      </p:cBhvr>
                                      <p:by x="105000" y="105000"/>
                                    </p:animScale>
                                  </p:childTnLst>
                                </p:cTn>
                              </p:par>
                            </p:childTnLst>
                          </p:cTn>
                        </p:par>
                      </p:childTnLst>
                    </p:cTn>
                  </p:par>
                  <p:par>
                    <p:cTn id="162" fill="hold">
                      <p:stCondLst>
                        <p:cond delay="indefinite"/>
                      </p:stCondLst>
                      <p:childTnLst>
                        <p:par>
                          <p:cTn id="163" fill="hold">
                            <p:stCondLst>
                              <p:cond delay="0"/>
                            </p:stCondLst>
                            <p:childTnLst>
                              <p:par>
                                <p:cTn id="164" presetID="1" presetClass="exit" presetSubtype="0" fill="hold" grpId="2" nodeType="clickEffect">
                                  <p:stCondLst>
                                    <p:cond delay="0"/>
                                  </p:stCondLst>
                                  <p:childTnLst>
                                    <p:set>
                                      <p:cBhvr>
                                        <p:cTn id="165" dur="1" fill="hold">
                                          <p:stCondLst>
                                            <p:cond delay="0"/>
                                          </p:stCondLst>
                                        </p:cTn>
                                        <p:tgtEl>
                                          <p:spTgt spid="31"/>
                                        </p:tgtEl>
                                        <p:attrNameLst>
                                          <p:attrName>style.visibility</p:attrName>
                                        </p:attrNameLst>
                                      </p:cBhvr>
                                      <p:to>
                                        <p:strVal val="hidden"/>
                                      </p:to>
                                    </p:set>
                                  </p:childTnLst>
                                </p:cTn>
                              </p:par>
                              <p:par>
                                <p:cTn id="166" presetID="26" presetClass="emph" presetSubtype="0" repeatCount="indefinite" fill="hold" grpId="1" nodeType="withEffect">
                                  <p:stCondLst>
                                    <p:cond delay="0"/>
                                  </p:stCondLst>
                                  <p:endCondLst>
                                    <p:cond evt="onNext" delay="0">
                                      <p:tgtEl>
                                        <p:sldTgt/>
                                      </p:tgtEl>
                                    </p:cond>
                                  </p:endCondLst>
                                  <p:childTnLst>
                                    <p:animEffect transition="out" filter="fade">
                                      <p:cBhvr>
                                        <p:cTn id="167" dur="500" tmFilter="0, 0; .2, .5; .8, .5; 1, 0"/>
                                        <p:tgtEl>
                                          <p:spTgt spid="28"/>
                                        </p:tgtEl>
                                      </p:cBhvr>
                                    </p:animEffect>
                                    <p:animScale>
                                      <p:cBhvr>
                                        <p:cTn id="168" dur="250" autoRev="1" fill="hold"/>
                                        <p:tgtEl>
                                          <p:spTgt spid="28"/>
                                        </p:tgtEl>
                                      </p:cBhvr>
                                      <p:by x="105000" y="105000"/>
                                    </p:animScale>
                                  </p:childTnLst>
                                </p:cTn>
                              </p:par>
                            </p:childTnLst>
                          </p:cTn>
                        </p:par>
                      </p:childTnLst>
                    </p:cTn>
                  </p:par>
                  <p:par>
                    <p:cTn id="169" fill="hold">
                      <p:stCondLst>
                        <p:cond delay="indefinite"/>
                      </p:stCondLst>
                      <p:childTnLst>
                        <p:par>
                          <p:cTn id="170" fill="hold">
                            <p:stCondLst>
                              <p:cond delay="0"/>
                            </p:stCondLst>
                            <p:childTnLst>
                              <p:par>
                                <p:cTn id="171" presetID="1" presetClass="exit" presetSubtype="0" fill="hold" grpId="2" nodeType="clickEffect">
                                  <p:stCondLst>
                                    <p:cond delay="0"/>
                                  </p:stCondLst>
                                  <p:childTnLst>
                                    <p:set>
                                      <p:cBhvr>
                                        <p:cTn id="172" dur="1" fill="hold">
                                          <p:stCondLst>
                                            <p:cond delay="0"/>
                                          </p:stCondLst>
                                        </p:cTn>
                                        <p:tgtEl>
                                          <p:spTgt spid="28"/>
                                        </p:tgtEl>
                                        <p:attrNameLst>
                                          <p:attrName>style.visibility</p:attrName>
                                        </p:attrNameLst>
                                      </p:cBhvr>
                                      <p:to>
                                        <p:strVal val="hidden"/>
                                      </p:to>
                                    </p:set>
                                  </p:childTnLst>
                                </p:cTn>
                              </p:par>
                              <p:par>
                                <p:cTn id="173" presetID="1" presetClass="exit" presetSubtype="0" fill="hold" nodeType="withEffect">
                                  <p:stCondLst>
                                    <p:cond delay="0"/>
                                  </p:stCondLst>
                                  <p:childTnLst>
                                    <p:set>
                                      <p:cBhvr>
                                        <p:cTn id="174" dur="1" fill="hold">
                                          <p:stCondLst>
                                            <p:cond delay="0"/>
                                          </p:stCondLst>
                                        </p:cTn>
                                        <p:tgtEl>
                                          <p:spTgt spid="27"/>
                                        </p:tgtEl>
                                        <p:attrNameLst>
                                          <p:attrName>style.visibility</p:attrName>
                                        </p:attrNameLst>
                                      </p:cBhvr>
                                      <p:to>
                                        <p:strVal val="hidden"/>
                                      </p:to>
                                    </p:set>
                                  </p:childTnLst>
                                </p:cTn>
                              </p:par>
                              <p:par>
                                <p:cTn id="175" presetID="1" presetClass="entr" presetSubtype="0" fill="hold" nodeType="withEffect">
                                  <p:stCondLst>
                                    <p:cond delay="0"/>
                                  </p:stCondLst>
                                  <p:childTnLst>
                                    <p:set>
                                      <p:cBhvr>
                                        <p:cTn id="176" dur="1" fill="hold">
                                          <p:stCondLst>
                                            <p:cond delay="0"/>
                                          </p:stCondLst>
                                        </p:cTn>
                                        <p:tgtEl>
                                          <p:spTgt spid="29"/>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30"/>
                                        </p:tgtEl>
                                        <p:attrNameLst>
                                          <p:attrName>style.visibility</p:attrName>
                                        </p:attrNameLst>
                                      </p:cBhvr>
                                      <p:to>
                                        <p:strVal val="visible"/>
                                      </p:to>
                                    </p:set>
                                  </p:childTnLst>
                                </p:cTn>
                              </p:par>
                              <p:par>
                                <p:cTn id="179" presetID="26" presetClass="emph" presetSubtype="0" repeatCount="indefinite" fill="hold" grpId="1" nodeType="withEffect">
                                  <p:stCondLst>
                                    <p:cond delay="0"/>
                                  </p:stCondLst>
                                  <p:endCondLst>
                                    <p:cond evt="onNext" delay="0">
                                      <p:tgtEl>
                                        <p:sldTgt/>
                                      </p:tgtEl>
                                    </p:cond>
                                  </p:endCondLst>
                                  <p:childTnLst>
                                    <p:animEffect transition="out" filter="fade">
                                      <p:cBhvr>
                                        <p:cTn id="180" dur="500" tmFilter="0, 0; .2, .5; .8, .5; 1, 0"/>
                                        <p:tgtEl>
                                          <p:spTgt spid="30"/>
                                        </p:tgtEl>
                                      </p:cBhvr>
                                    </p:animEffect>
                                    <p:animScale>
                                      <p:cBhvr>
                                        <p:cTn id="181" dur="250" autoRev="1" fill="hold"/>
                                        <p:tgtEl>
                                          <p:spTgt spid="30"/>
                                        </p:tgtEl>
                                      </p:cBhvr>
                                      <p:by x="105000" y="105000"/>
                                    </p:animScale>
                                  </p:childTnLst>
                                </p:cTn>
                              </p:par>
                            </p:childTnLst>
                          </p:cTn>
                        </p:par>
                      </p:childTnLst>
                    </p:cTn>
                  </p:par>
                  <p:par>
                    <p:cTn id="182" fill="hold">
                      <p:stCondLst>
                        <p:cond delay="indefinite"/>
                      </p:stCondLst>
                      <p:childTnLst>
                        <p:par>
                          <p:cTn id="183" fill="hold">
                            <p:stCondLst>
                              <p:cond delay="0"/>
                            </p:stCondLst>
                            <p:childTnLst>
                              <p:par>
                                <p:cTn id="184" presetID="1" presetClass="exit" presetSubtype="0" fill="hold" grpId="2" nodeType="clickEffect">
                                  <p:stCondLst>
                                    <p:cond delay="0"/>
                                  </p:stCondLst>
                                  <p:childTnLst>
                                    <p:set>
                                      <p:cBhvr>
                                        <p:cTn id="185" dur="1" fill="hold">
                                          <p:stCondLst>
                                            <p:cond delay="0"/>
                                          </p:stCondLst>
                                        </p:cTn>
                                        <p:tgtEl>
                                          <p:spTgt spid="30"/>
                                        </p:tgtEl>
                                        <p:attrNameLst>
                                          <p:attrName>style.visibility</p:attrName>
                                        </p:attrNameLst>
                                      </p:cBhvr>
                                      <p:to>
                                        <p:strVal val="hidden"/>
                                      </p:to>
                                    </p:set>
                                  </p:childTnLst>
                                </p:cTn>
                              </p:par>
                              <p:par>
                                <p:cTn id="186" presetID="1" presetClass="exit" presetSubtype="0" fill="hold" nodeType="withEffect">
                                  <p:stCondLst>
                                    <p:cond delay="0"/>
                                  </p:stCondLst>
                                  <p:childTnLst>
                                    <p:set>
                                      <p:cBhvr>
                                        <p:cTn id="187" dur="1" fill="hold">
                                          <p:stCondLst>
                                            <p:cond delay="0"/>
                                          </p:stCondLst>
                                        </p:cTn>
                                        <p:tgtEl>
                                          <p:spTgt spid="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9" grpId="2" animBg="1"/>
      <p:bldP spid="14" grpId="0" animBg="1"/>
      <p:bldP spid="14" grpId="1" animBg="1"/>
      <p:bldP spid="14" grpId="2" animBg="1"/>
      <p:bldP spid="16" grpId="0" animBg="1"/>
      <p:bldP spid="16" grpId="1" animBg="1"/>
      <p:bldP spid="16" grpId="2" animBg="1"/>
      <p:bldP spid="18" grpId="0" animBg="1"/>
      <p:bldP spid="18" grpId="1" animBg="1"/>
      <p:bldP spid="18" grpId="2" animBg="1"/>
      <p:bldP spid="20" grpId="0" animBg="1"/>
      <p:bldP spid="20" grpId="1" animBg="1"/>
      <p:bldP spid="20" grpId="2" animBg="1"/>
      <p:bldP spid="22" grpId="0" animBg="1"/>
      <p:bldP spid="22" grpId="1" animBg="1"/>
      <p:bldP spid="22" grpId="2" animBg="1"/>
      <p:bldP spid="24" grpId="0" animBg="1"/>
      <p:bldP spid="24" grpId="1" animBg="1"/>
      <p:bldP spid="24" grpId="2" animBg="1"/>
      <p:bldP spid="26" grpId="0" animBg="1"/>
      <p:bldP spid="26" grpId="1" animBg="1"/>
      <p:bldP spid="26" grpId="2" animBg="1"/>
      <p:bldP spid="28" grpId="0" animBg="1"/>
      <p:bldP spid="28" grpId="1" animBg="1"/>
      <p:bldP spid="28" grpId="2" animBg="1"/>
      <p:bldP spid="30" grpId="0" animBg="1"/>
      <p:bldP spid="30" grpId="1" animBg="1"/>
      <p:bldP spid="30" grpId="2" animBg="1"/>
      <p:bldP spid="32" grpId="0" animBg="1"/>
      <p:bldP spid="32" grpId="1" animBg="1"/>
      <p:bldP spid="32" grpId="2" animBg="1"/>
      <p:bldP spid="35" grpId="0" animBg="1"/>
      <p:bldP spid="35" grpId="1" animBg="1"/>
      <p:bldP spid="35" grpId="2" animBg="1"/>
      <p:bldP spid="31" grpId="0" animBg="1"/>
      <p:bldP spid="31" grpId="1" animBg="1"/>
      <p:bldP spid="31" grpId="2"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LRU (Least Recently Used) Page Replacement Algorithm</a:t>
            </a:r>
          </a:p>
        </p:txBody>
      </p:sp>
      <p:sp>
        <p:nvSpPr>
          <p:cNvPr id="3" name="Content Placeholder 2"/>
          <p:cNvSpPr>
            <a:spLocks noGrp="1"/>
          </p:cNvSpPr>
          <p:nvPr>
            <p:ph idx="1"/>
          </p:nvPr>
        </p:nvSpPr>
        <p:spPr/>
        <p:txBody>
          <a:bodyPr/>
          <a:lstStyle/>
          <a:p>
            <a:r>
              <a:rPr lang="en-US" dirty="0"/>
              <a:t>Page Reference String: </a:t>
            </a:r>
          </a:p>
          <a:p>
            <a:pPr lvl="1"/>
            <a:r>
              <a:rPr lang="en-US" spc="600" dirty="0"/>
              <a:t>3,1,2,3,4,2,3,0,3,1,3</a:t>
            </a:r>
          </a:p>
          <a:p>
            <a:pPr lvl="1"/>
            <a:r>
              <a:rPr lang="en-US" dirty="0"/>
              <a:t>Three frames</a:t>
            </a:r>
          </a:p>
        </p:txBody>
      </p:sp>
      <p:graphicFrame>
        <p:nvGraphicFramePr>
          <p:cNvPr id="4" name="Table 3"/>
          <p:cNvGraphicFramePr>
            <a:graphicFrameLocks noGrp="1"/>
          </p:cNvGraphicFramePr>
          <p:nvPr>
            <p:extLst>
              <p:ext uri="{D42A27DB-BD31-4B8C-83A1-F6EECF244321}">
                <p14:modId xmlns:p14="http://schemas.microsoft.com/office/powerpoint/2010/main" val="2810189165"/>
              </p:ext>
            </p:extLst>
          </p:nvPr>
        </p:nvGraphicFramePr>
        <p:xfrm>
          <a:off x="1019969" y="2292085"/>
          <a:ext cx="8424066" cy="457200"/>
        </p:xfrm>
        <a:graphic>
          <a:graphicData uri="http://schemas.openxmlformats.org/drawingml/2006/table">
            <a:tbl>
              <a:tblPr firstRow="1" bandRow="1">
                <a:tableStyleId>{93296810-A885-4BE3-A3E7-6D5BEEA58F35}</a:tableStyleId>
              </a:tblPr>
              <a:tblGrid>
                <a:gridCol w="2491314">
                  <a:extLst>
                    <a:ext uri="{9D8B030D-6E8A-4147-A177-3AD203B41FA5}">
                      <a16:colId xmlns:a16="http://schemas.microsoft.com/office/drawing/2014/main" val="20000"/>
                    </a:ext>
                  </a:extLst>
                </a:gridCol>
                <a:gridCol w="539341">
                  <a:extLst>
                    <a:ext uri="{9D8B030D-6E8A-4147-A177-3AD203B41FA5}">
                      <a16:colId xmlns:a16="http://schemas.microsoft.com/office/drawing/2014/main" val="20001"/>
                    </a:ext>
                  </a:extLst>
                </a:gridCol>
                <a:gridCol w="539341">
                  <a:extLst>
                    <a:ext uri="{9D8B030D-6E8A-4147-A177-3AD203B41FA5}">
                      <a16:colId xmlns:a16="http://schemas.microsoft.com/office/drawing/2014/main" val="20002"/>
                    </a:ext>
                  </a:extLst>
                </a:gridCol>
                <a:gridCol w="539341">
                  <a:extLst>
                    <a:ext uri="{9D8B030D-6E8A-4147-A177-3AD203B41FA5}">
                      <a16:colId xmlns:a16="http://schemas.microsoft.com/office/drawing/2014/main" val="20003"/>
                    </a:ext>
                  </a:extLst>
                </a:gridCol>
                <a:gridCol w="539341">
                  <a:extLst>
                    <a:ext uri="{9D8B030D-6E8A-4147-A177-3AD203B41FA5}">
                      <a16:colId xmlns:a16="http://schemas.microsoft.com/office/drawing/2014/main" val="20004"/>
                    </a:ext>
                  </a:extLst>
                </a:gridCol>
                <a:gridCol w="539341">
                  <a:extLst>
                    <a:ext uri="{9D8B030D-6E8A-4147-A177-3AD203B41FA5}">
                      <a16:colId xmlns:a16="http://schemas.microsoft.com/office/drawing/2014/main" val="20005"/>
                    </a:ext>
                  </a:extLst>
                </a:gridCol>
                <a:gridCol w="539341">
                  <a:extLst>
                    <a:ext uri="{9D8B030D-6E8A-4147-A177-3AD203B41FA5}">
                      <a16:colId xmlns:a16="http://schemas.microsoft.com/office/drawing/2014/main" val="20006"/>
                    </a:ext>
                  </a:extLst>
                </a:gridCol>
                <a:gridCol w="539341">
                  <a:extLst>
                    <a:ext uri="{9D8B030D-6E8A-4147-A177-3AD203B41FA5}">
                      <a16:colId xmlns:a16="http://schemas.microsoft.com/office/drawing/2014/main" val="20007"/>
                    </a:ext>
                  </a:extLst>
                </a:gridCol>
                <a:gridCol w="539341">
                  <a:extLst>
                    <a:ext uri="{9D8B030D-6E8A-4147-A177-3AD203B41FA5}">
                      <a16:colId xmlns:a16="http://schemas.microsoft.com/office/drawing/2014/main" val="20008"/>
                    </a:ext>
                  </a:extLst>
                </a:gridCol>
                <a:gridCol w="539341">
                  <a:extLst>
                    <a:ext uri="{9D8B030D-6E8A-4147-A177-3AD203B41FA5}">
                      <a16:colId xmlns:a16="http://schemas.microsoft.com/office/drawing/2014/main" val="20009"/>
                    </a:ext>
                  </a:extLst>
                </a:gridCol>
                <a:gridCol w="392886">
                  <a:extLst>
                    <a:ext uri="{9D8B030D-6E8A-4147-A177-3AD203B41FA5}">
                      <a16:colId xmlns:a16="http://schemas.microsoft.com/office/drawing/2014/main" val="20010"/>
                    </a:ext>
                  </a:extLst>
                </a:gridCol>
                <a:gridCol w="685797">
                  <a:extLst>
                    <a:ext uri="{9D8B030D-6E8A-4147-A177-3AD203B41FA5}">
                      <a16:colId xmlns:a16="http://schemas.microsoft.com/office/drawing/2014/main" val="20011"/>
                    </a:ext>
                  </a:extLst>
                </a:gridCol>
              </a:tblGrid>
              <a:tr h="370840">
                <a:tc>
                  <a:txBody>
                    <a:bodyPr/>
                    <a:lstStyle/>
                    <a:p>
                      <a:r>
                        <a:rPr lang="en-US" sz="2400" dirty="0"/>
                        <a:t>Page</a:t>
                      </a:r>
                      <a:r>
                        <a:rPr lang="en-US" sz="2400" baseline="0" dirty="0"/>
                        <a:t> Request</a:t>
                      </a:r>
                      <a:endParaRPr lang="en-US" sz="2400" dirty="0"/>
                    </a:p>
                  </a:txBody>
                  <a:tcPr/>
                </a:tc>
                <a:tc>
                  <a:txBody>
                    <a:bodyPr/>
                    <a:lstStyle/>
                    <a:p>
                      <a:pPr algn="ctr"/>
                      <a:r>
                        <a:rPr lang="en-US" sz="2400" dirty="0"/>
                        <a:t>3</a:t>
                      </a:r>
                    </a:p>
                  </a:txBody>
                  <a:tcPr/>
                </a:tc>
                <a:tc>
                  <a:txBody>
                    <a:bodyPr/>
                    <a:lstStyle/>
                    <a:p>
                      <a:pPr algn="ctr"/>
                      <a:r>
                        <a:rPr lang="en-US" sz="2400" dirty="0"/>
                        <a:t>1</a:t>
                      </a:r>
                    </a:p>
                  </a:txBody>
                  <a:tcPr/>
                </a:tc>
                <a:tc>
                  <a:txBody>
                    <a:bodyPr/>
                    <a:lstStyle/>
                    <a:p>
                      <a:pPr algn="ctr"/>
                      <a:r>
                        <a:rPr lang="en-US" sz="2400" dirty="0"/>
                        <a:t>2</a:t>
                      </a:r>
                    </a:p>
                  </a:txBody>
                  <a:tcPr/>
                </a:tc>
                <a:tc>
                  <a:txBody>
                    <a:bodyPr/>
                    <a:lstStyle/>
                    <a:p>
                      <a:pPr algn="ctr"/>
                      <a:r>
                        <a:rPr lang="en-US" sz="2400" dirty="0"/>
                        <a:t>3</a:t>
                      </a:r>
                    </a:p>
                  </a:txBody>
                  <a:tcPr/>
                </a:tc>
                <a:tc>
                  <a:txBody>
                    <a:bodyPr/>
                    <a:lstStyle/>
                    <a:p>
                      <a:pPr algn="ctr"/>
                      <a:r>
                        <a:rPr lang="en-US" sz="2400" dirty="0"/>
                        <a:t>4</a:t>
                      </a:r>
                    </a:p>
                  </a:txBody>
                  <a:tcPr/>
                </a:tc>
                <a:tc>
                  <a:txBody>
                    <a:bodyPr/>
                    <a:lstStyle/>
                    <a:p>
                      <a:pPr algn="ctr"/>
                      <a:r>
                        <a:rPr lang="en-US" sz="2400" dirty="0"/>
                        <a:t>2</a:t>
                      </a:r>
                    </a:p>
                  </a:txBody>
                  <a:tcPr/>
                </a:tc>
                <a:tc>
                  <a:txBody>
                    <a:bodyPr/>
                    <a:lstStyle/>
                    <a:p>
                      <a:pPr algn="ctr"/>
                      <a:r>
                        <a:rPr lang="en-US" sz="2400" dirty="0"/>
                        <a:t>3</a:t>
                      </a:r>
                    </a:p>
                  </a:txBody>
                  <a:tcPr/>
                </a:tc>
                <a:tc>
                  <a:txBody>
                    <a:bodyPr/>
                    <a:lstStyle/>
                    <a:p>
                      <a:pPr algn="ctr"/>
                      <a:r>
                        <a:rPr lang="en-US" sz="2400" dirty="0"/>
                        <a:t>0</a:t>
                      </a:r>
                    </a:p>
                  </a:txBody>
                  <a:tcPr/>
                </a:tc>
                <a:tc>
                  <a:txBody>
                    <a:bodyPr/>
                    <a:lstStyle/>
                    <a:p>
                      <a:pPr algn="ctr"/>
                      <a:r>
                        <a:rPr lang="en-US" sz="2400" dirty="0"/>
                        <a:t>3</a:t>
                      </a:r>
                    </a:p>
                  </a:txBody>
                  <a:tcPr/>
                </a:tc>
                <a:tc>
                  <a:txBody>
                    <a:bodyPr/>
                    <a:lstStyle/>
                    <a:p>
                      <a:pPr algn="ctr"/>
                      <a:r>
                        <a:rPr lang="en-US" sz="2400" dirty="0"/>
                        <a:t>1</a:t>
                      </a:r>
                    </a:p>
                  </a:txBody>
                  <a:tcPr/>
                </a:tc>
                <a:tc>
                  <a:txBody>
                    <a:bodyPr/>
                    <a:lstStyle/>
                    <a:p>
                      <a:pPr algn="ctr"/>
                      <a:r>
                        <a:rPr lang="en-US" sz="2400" dirty="0"/>
                        <a:t>3</a:t>
                      </a:r>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658299044"/>
              </p:ext>
            </p:extLst>
          </p:nvPr>
        </p:nvGraphicFramePr>
        <p:xfrm>
          <a:off x="1019969" y="2705152"/>
          <a:ext cx="8424069" cy="1371600"/>
        </p:xfrm>
        <a:graphic>
          <a:graphicData uri="http://schemas.openxmlformats.org/drawingml/2006/table">
            <a:tbl>
              <a:tblPr firstRow="1" bandRow="1">
                <a:tableStyleId>{2D5ABB26-0587-4C30-8999-92F81FD0307C}</a:tableStyleId>
              </a:tblPr>
              <a:tblGrid>
                <a:gridCol w="2537619">
                  <a:extLst>
                    <a:ext uri="{9D8B030D-6E8A-4147-A177-3AD203B41FA5}">
                      <a16:colId xmlns:a16="http://schemas.microsoft.com/office/drawing/2014/main" val="20000"/>
                    </a:ext>
                  </a:extLst>
                </a:gridCol>
                <a:gridCol w="457058">
                  <a:extLst>
                    <a:ext uri="{9D8B030D-6E8A-4147-A177-3AD203B41FA5}">
                      <a16:colId xmlns:a16="http://schemas.microsoft.com/office/drawing/2014/main" val="20001"/>
                    </a:ext>
                  </a:extLst>
                </a:gridCol>
                <a:gridCol w="532938">
                  <a:extLst>
                    <a:ext uri="{9D8B030D-6E8A-4147-A177-3AD203B41FA5}">
                      <a16:colId xmlns:a16="http://schemas.microsoft.com/office/drawing/2014/main" val="20002"/>
                    </a:ext>
                  </a:extLst>
                </a:gridCol>
                <a:gridCol w="532938">
                  <a:extLst>
                    <a:ext uri="{9D8B030D-6E8A-4147-A177-3AD203B41FA5}">
                      <a16:colId xmlns:a16="http://schemas.microsoft.com/office/drawing/2014/main" val="20003"/>
                    </a:ext>
                  </a:extLst>
                </a:gridCol>
                <a:gridCol w="532938">
                  <a:extLst>
                    <a:ext uri="{9D8B030D-6E8A-4147-A177-3AD203B41FA5}">
                      <a16:colId xmlns:a16="http://schemas.microsoft.com/office/drawing/2014/main" val="20004"/>
                    </a:ext>
                  </a:extLst>
                </a:gridCol>
                <a:gridCol w="532938">
                  <a:extLst>
                    <a:ext uri="{9D8B030D-6E8A-4147-A177-3AD203B41FA5}">
                      <a16:colId xmlns:a16="http://schemas.microsoft.com/office/drawing/2014/main" val="20005"/>
                    </a:ext>
                  </a:extLst>
                </a:gridCol>
                <a:gridCol w="532938">
                  <a:extLst>
                    <a:ext uri="{9D8B030D-6E8A-4147-A177-3AD203B41FA5}">
                      <a16:colId xmlns:a16="http://schemas.microsoft.com/office/drawing/2014/main" val="20006"/>
                    </a:ext>
                  </a:extLst>
                </a:gridCol>
                <a:gridCol w="532938">
                  <a:extLst>
                    <a:ext uri="{9D8B030D-6E8A-4147-A177-3AD203B41FA5}">
                      <a16:colId xmlns:a16="http://schemas.microsoft.com/office/drawing/2014/main" val="20007"/>
                    </a:ext>
                  </a:extLst>
                </a:gridCol>
                <a:gridCol w="532938">
                  <a:extLst>
                    <a:ext uri="{9D8B030D-6E8A-4147-A177-3AD203B41FA5}">
                      <a16:colId xmlns:a16="http://schemas.microsoft.com/office/drawing/2014/main" val="20008"/>
                    </a:ext>
                  </a:extLst>
                </a:gridCol>
                <a:gridCol w="532938">
                  <a:extLst>
                    <a:ext uri="{9D8B030D-6E8A-4147-A177-3AD203B41FA5}">
                      <a16:colId xmlns:a16="http://schemas.microsoft.com/office/drawing/2014/main" val="20009"/>
                    </a:ext>
                  </a:extLst>
                </a:gridCol>
                <a:gridCol w="522950">
                  <a:extLst>
                    <a:ext uri="{9D8B030D-6E8A-4147-A177-3AD203B41FA5}">
                      <a16:colId xmlns:a16="http://schemas.microsoft.com/office/drawing/2014/main" val="20010"/>
                    </a:ext>
                  </a:extLst>
                </a:gridCol>
                <a:gridCol w="642938">
                  <a:extLst>
                    <a:ext uri="{9D8B030D-6E8A-4147-A177-3AD203B41FA5}">
                      <a16:colId xmlns:a16="http://schemas.microsoft.com/office/drawing/2014/main" val="20011"/>
                    </a:ext>
                  </a:extLst>
                </a:gridCol>
              </a:tblGrid>
              <a:tr h="370840">
                <a:tc>
                  <a:txBody>
                    <a:bodyPr/>
                    <a:lstStyle/>
                    <a:p>
                      <a:r>
                        <a:rPr lang="en-US" sz="2400" dirty="0"/>
                        <a:t>Frame – 1</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Frame – 2</a:t>
                      </a:r>
                      <a:endParaRPr lang="en-US" sz="24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1"/>
                  </a:ext>
                </a:extLst>
              </a:tr>
              <a:tr h="40333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Frame – 3</a:t>
                      </a:r>
                      <a:endParaRPr lang="en-US" sz="24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2"/>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991920528"/>
              </p:ext>
            </p:extLst>
          </p:nvPr>
        </p:nvGraphicFramePr>
        <p:xfrm>
          <a:off x="1019969" y="4078382"/>
          <a:ext cx="8424064" cy="426720"/>
        </p:xfrm>
        <a:graphic>
          <a:graphicData uri="http://schemas.openxmlformats.org/drawingml/2006/table">
            <a:tbl>
              <a:tblPr firstRow="1" bandRow="1">
                <a:tableStyleId>{93296810-A885-4BE3-A3E7-6D5BEEA58F35}</a:tableStyleId>
              </a:tblPr>
              <a:tblGrid>
                <a:gridCol w="2491313">
                  <a:extLst>
                    <a:ext uri="{9D8B030D-6E8A-4147-A177-3AD203B41FA5}">
                      <a16:colId xmlns:a16="http://schemas.microsoft.com/office/drawing/2014/main" val="20000"/>
                    </a:ext>
                  </a:extLst>
                </a:gridCol>
                <a:gridCol w="539341">
                  <a:extLst>
                    <a:ext uri="{9D8B030D-6E8A-4147-A177-3AD203B41FA5}">
                      <a16:colId xmlns:a16="http://schemas.microsoft.com/office/drawing/2014/main" val="20001"/>
                    </a:ext>
                  </a:extLst>
                </a:gridCol>
                <a:gridCol w="539341">
                  <a:extLst>
                    <a:ext uri="{9D8B030D-6E8A-4147-A177-3AD203B41FA5}">
                      <a16:colId xmlns:a16="http://schemas.microsoft.com/office/drawing/2014/main" val="20002"/>
                    </a:ext>
                  </a:extLst>
                </a:gridCol>
                <a:gridCol w="539341">
                  <a:extLst>
                    <a:ext uri="{9D8B030D-6E8A-4147-A177-3AD203B41FA5}">
                      <a16:colId xmlns:a16="http://schemas.microsoft.com/office/drawing/2014/main" val="20003"/>
                    </a:ext>
                  </a:extLst>
                </a:gridCol>
                <a:gridCol w="539341">
                  <a:extLst>
                    <a:ext uri="{9D8B030D-6E8A-4147-A177-3AD203B41FA5}">
                      <a16:colId xmlns:a16="http://schemas.microsoft.com/office/drawing/2014/main" val="20004"/>
                    </a:ext>
                  </a:extLst>
                </a:gridCol>
                <a:gridCol w="539341">
                  <a:extLst>
                    <a:ext uri="{9D8B030D-6E8A-4147-A177-3AD203B41FA5}">
                      <a16:colId xmlns:a16="http://schemas.microsoft.com/office/drawing/2014/main" val="20005"/>
                    </a:ext>
                  </a:extLst>
                </a:gridCol>
                <a:gridCol w="539341">
                  <a:extLst>
                    <a:ext uri="{9D8B030D-6E8A-4147-A177-3AD203B41FA5}">
                      <a16:colId xmlns:a16="http://schemas.microsoft.com/office/drawing/2014/main" val="20006"/>
                    </a:ext>
                  </a:extLst>
                </a:gridCol>
                <a:gridCol w="539341">
                  <a:extLst>
                    <a:ext uri="{9D8B030D-6E8A-4147-A177-3AD203B41FA5}">
                      <a16:colId xmlns:a16="http://schemas.microsoft.com/office/drawing/2014/main" val="20007"/>
                    </a:ext>
                  </a:extLst>
                </a:gridCol>
                <a:gridCol w="539341">
                  <a:extLst>
                    <a:ext uri="{9D8B030D-6E8A-4147-A177-3AD203B41FA5}">
                      <a16:colId xmlns:a16="http://schemas.microsoft.com/office/drawing/2014/main" val="20008"/>
                    </a:ext>
                  </a:extLst>
                </a:gridCol>
                <a:gridCol w="539341">
                  <a:extLst>
                    <a:ext uri="{9D8B030D-6E8A-4147-A177-3AD203B41FA5}">
                      <a16:colId xmlns:a16="http://schemas.microsoft.com/office/drawing/2014/main" val="20009"/>
                    </a:ext>
                  </a:extLst>
                </a:gridCol>
                <a:gridCol w="539341">
                  <a:extLst>
                    <a:ext uri="{9D8B030D-6E8A-4147-A177-3AD203B41FA5}">
                      <a16:colId xmlns:a16="http://schemas.microsoft.com/office/drawing/2014/main" val="20010"/>
                    </a:ext>
                  </a:extLst>
                </a:gridCol>
                <a:gridCol w="539341">
                  <a:extLst>
                    <a:ext uri="{9D8B030D-6E8A-4147-A177-3AD203B41FA5}">
                      <a16:colId xmlns:a16="http://schemas.microsoft.com/office/drawing/2014/main" val="20011"/>
                    </a:ext>
                  </a:extLst>
                </a:gridCol>
              </a:tblGrid>
              <a:tr h="370840">
                <a:tc>
                  <a:txBody>
                    <a:bodyPr/>
                    <a:lstStyle/>
                    <a:p>
                      <a:r>
                        <a:rPr lang="en-US" sz="1900" b="0" dirty="0">
                          <a:solidFill>
                            <a:schemeClr val="tx1"/>
                          </a:solidFill>
                        </a:rPr>
                        <a:t>Page</a:t>
                      </a:r>
                      <a:r>
                        <a:rPr lang="en-US" sz="1900" b="0" baseline="0" dirty="0">
                          <a:solidFill>
                            <a:schemeClr val="tx1"/>
                          </a:solidFill>
                        </a:rPr>
                        <a:t> Faults </a:t>
                      </a:r>
                      <a:r>
                        <a:rPr lang="en-US" sz="1900" b="1" baseline="0" dirty="0">
                          <a:solidFill>
                            <a:schemeClr val="accent6"/>
                          </a:solidFill>
                        </a:rPr>
                        <a:t>(6)</a:t>
                      </a:r>
                      <a:endParaRPr lang="en-US" sz="1900" b="1" dirty="0">
                        <a:solidFill>
                          <a:schemeClr val="accent6"/>
                        </a:solidFill>
                      </a:endParaRPr>
                    </a:p>
                  </a:txBody>
                  <a:tcPr anchor="ctr">
                    <a:solidFill>
                      <a:schemeClr val="accent6">
                        <a:lumMod val="20000"/>
                        <a:lumOff val="80000"/>
                      </a:schemeClr>
                    </a:solidFill>
                  </a:tcPr>
                </a:tc>
                <a:tc>
                  <a:txBody>
                    <a:bodyPr/>
                    <a:lstStyle/>
                    <a:p>
                      <a:pPr algn="ctr"/>
                      <a:r>
                        <a:rPr lang="en-US" sz="2200" b="0" dirty="0">
                          <a:solidFill>
                            <a:schemeClr val="tx1"/>
                          </a:solidFill>
                        </a:rPr>
                        <a:t>F</a:t>
                      </a:r>
                    </a:p>
                  </a:txBody>
                  <a:tcPr>
                    <a:solidFill>
                      <a:schemeClr val="accent6">
                        <a:lumMod val="20000"/>
                        <a:lumOff val="80000"/>
                      </a:schemeClr>
                    </a:solidFill>
                  </a:tcPr>
                </a:tc>
                <a:tc>
                  <a:txBody>
                    <a:bodyPr/>
                    <a:lstStyle/>
                    <a:p>
                      <a:pPr algn="ctr"/>
                      <a:r>
                        <a:rPr lang="en-US" sz="2200" b="0" dirty="0">
                          <a:solidFill>
                            <a:schemeClr val="tx1"/>
                          </a:solidFill>
                        </a:rPr>
                        <a:t>F</a:t>
                      </a:r>
                    </a:p>
                  </a:txBody>
                  <a:tcPr>
                    <a:solidFill>
                      <a:schemeClr val="accent6">
                        <a:lumMod val="20000"/>
                        <a:lumOff val="80000"/>
                      </a:schemeClr>
                    </a:solidFill>
                  </a:tcPr>
                </a:tc>
                <a:tc>
                  <a:txBody>
                    <a:bodyPr/>
                    <a:lstStyle/>
                    <a:p>
                      <a:pPr algn="ctr"/>
                      <a:r>
                        <a:rPr lang="en-US" sz="2200" b="0" dirty="0">
                          <a:solidFill>
                            <a:schemeClr val="tx1"/>
                          </a:solidFill>
                        </a:rPr>
                        <a:t>F</a:t>
                      </a:r>
                    </a:p>
                  </a:txBody>
                  <a:tcPr>
                    <a:solidFill>
                      <a:schemeClr val="accent6">
                        <a:lumMod val="20000"/>
                        <a:lumOff val="80000"/>
                      </a:schemeClr>
                    </a:solidFill>
                  </a:tcPr>
                </a:tc>
                <a:tc>
                  <a:txBody>
                    <a:bodyPr/>
                    <a:lstStyle/>
                    <a:p>
                      <a:pPr algn="ctr"/>
                      <a:endParaRPr lang="en-US" sz="2200" b="0" dirty="0">
                        <a:solidFill>
                          <a:schemeClr val="tx1"/>
                        </a:solidFill>
                      </a:endParaRPr>
                    </a:p>
                  </a:txBody>
                  <a:tcPr>
                    <a:solidFill>
                      <a:schemeClr val="accent6">
                        <a:lumMod val="20000"/>
                        <a:lumOff val="80000"/>
                      </a:schemeClr>
                    </a:solidFill>
                  </a:tcPr>
                </a:tc>
                <a:tc>
                  <a:txBody>
                    <a:bodyPr/>
                    <a:lstStyle/>
                    <a:p>
                      <a:pPr algn="ctr"/>
                      <a:r>
                        <a:rPr lang="en-US" sz="2200" b="0" dirty="0">
                          <a:solidFill>
                            <a:schemeClr val="tx1"/>
                          </a:solidFill>
                        </a:rPr>
                        <a:t>F</a:t>
                      </a:r>
                    </a:p>
                  </a:txBody>
                  <a:tcPr>
                    <a:solidFill>
                      <a:schemeClr val="accent6">
                        <a:lumMod val="20000"/>
                        <a:lumOff val="80000"/>
                      </a:schemeClr>
                    </a:solidFill>
                  </a:tcPr>
                </a:tc>
                <a:tc>
                  <a:txBody>
                    <a:bodyPr/>
                    <a:lstStyle/>
                    <a:p>
                      <a:pPr algn="ctr"/>
                      <a:endParaRPr lang="en-US" sz="2200" b="0" dirty="0">
                        <a:solidFill>
                          <a:schemeClr val="tx1"/>
                        </a:solidFill>
                      </a:endParaRPr>
                    </a:p>
                  </a:txBody>
                  <a:tcPr>
                    <a:solidFill>
                      <a:schemeClr val="accent6">
                        <a:lumMod val="20000"/>
                        <a:lumOff val="80000"/>
                      </a:schemeClr>
                    </a:solidFill>
                  </a:tcPr>
                </a:tc>
                <a:tc>
                  <a:txBody>
                    <a:bodyPr/>
                    <a:lstStyle/>
                    <a:p>
                      <a:pPr algn="ctr"/>
                      <a:endParaRPr lang="en-US" sz="2200" b="0" dirty="0">
                        <a:solidFill>
                          <a:schemeClr val="tx1"/>
                        </a:solidFill>
                      </a:endParaRPr>
                    </a:p>
                  </a:txBody>
                  <a:tcPr>
                    <a:solidFill>
                      <a:schemeClr val="accent6">
                        <a:lumMod val="20000"/>
                        <a:lumOff val="80000"/>
                      </a:schemeClr>
                    </a:solidFill>
                  </a:tcPr>
                </a:tc>
                <a:tc>
                  <a:txBody>
                    <a:bodyPr/>
                    <a:lstStyle/>
                    <a:p>
                      <a:pPr algn="ctr"/>
                      <a:r>
                        <a:rPr lang="en-US" sz="2200" b="0" dirty="0">
                          <a:solidFill>
                            <a:schemeClr val="tx1"/>
                          </a:solidFill>
                        </a:rPr>
                        <a:t>F</a:t>
                      </a:r>
                    </a:p>
                  </a:txBody>
                  <a:tcPr>
                    <a:solidFill>
                      <a:schemeClr val="accent6">
                        <a:lumMod val="20000"/>
                        <a:lumOff val="80000"/>
                      </a:schemeClr>
                    </a:solidFill>
                  </a:tcPr>
                </a:tc>
                <a:tc>
                  <a:txBody>
                    <a:bodyPr/>
                    <a:lstStyle/>
                    <a:p>
                      <a:pPr algn="ctr"/>
                      <a:endParaRPr lang="en-US" sz="2200" b="0" dirty="0">
                        <a:solidFill>
                          <a:schemeClr val="tx1"/>
                        </a:solidFill>
                      </a:endParaRPr>
                    </a:p>
                  </a:txBody>
                  <a:tcPr>
                    <a:solidFill>
                      <a:schemeClr val="accent6">
                        <a:lumMod val="20000"/>
                        <a:lumOff val="80000"/>
                      </a:schemeClr>
                    </a:solidFill>
                  </a:tcPr>
                </a:tc>
                <a:tc>
                  <a:txBody>
                    <a:bodyPr/>
                    <a:lstStyle/>
                    <a:p>
                      <a:pPr algn="ctr"/>
                      <a:r>
                        <a:rPr lang="en-US" sz="2200" b="0" dirty="0">
                          <a:solidFill>
                            <a:schemeClr val="tx1"/>
                          </a:solidFill>
                        </a:rPr>
                        <a:t>F</a:t>
                      </a:r>
                    </a:p>
                  </a:txBody>
                  <a:tcPr>
                    <a:solidFill>
                      <a:schemeClr val="accent6">
                        <a:lumMod val="20000"/>
                        <a:lumOff val="80000"/>
                      </a:schemeClr>
                    </a:solidFill>
                  </a:tcPr>
                </a:tc>
                <a:tc>
                  <a:txBody>
                    <a:bodyPr/>
                    <a:lstStyle/>
                    <a:p>
                      <a:pPr algn="ctr"/>
                      <a:endParaRPr lang="en-US" sz="2200" b="0" dirty="0">
                        <a:solidFill>
                          <a:schemeClr val="tx1"/>
                        </a:solidFill>
                      </a:endParaRPr>
                    </a:p>
                  </a:txBody>
                  <a:tcPr>
                    <a:solidFill>
                      <a:schemeClr val="accent6">
                        <a:lumMod val="20000"/>
                        <a:lumOff val="80000"/>
                      </a:schemeClr>
                    </a:solidFill>
                  </a:tcPr>
                </a:tc>
                <a:extLst>
                  <a:ext uri="{0D108BD9-81ED-4DB2-BD59-A6C34878D82A}">
                    <a16:rowId xmlns:a16="http://schemas.microsoft.com/office/drawing/2014/main" val="10000"/>
                  </a:ext>
                </a:extLst>
              </a:tr>
            </a:tbl>
          </a:graphicData>
        </a:graphic>
      </p:graphicFrame>
      <p:cxnSp>
        <p:nvCxnSpPr>
          <p:cNvPr id="7" name="Straight Arrow Connector 6"/>
          <p:cNvCxnSpPr/>
          <p:nvPr/>
        </p:nvCxnSpPr>
        <p:spPr>
          <a:xfrm>
            <a:off x="3807646" y="1868771"/>
            <a:ext cx="1" cy="295965"/>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3568017" y="2282091"/>
            <a:ext cx="442914" cy="426720"/>
          </a:xfrm>
          <a:prstGeom prst="rect">
            <a:avLst/>
          </a:prstGeom>
          <a:noFill/>
          <a:ln w="38100">
            <a:solidFill>
              <a:srgbClr val="92D050"/>
            </a:solidFill>
          </a:ln>
        </p:spPr>
        <p:txBody>
          <a:bodyPr wrap="square" rtlCol="0">
            <a:spAutoFit/>
          </a:bodyPr>
          <a:lstStyle/>
          <a:p>
            <a:endParaRPr lang="en-US" dirty="0">
              <a:solidFill>
                <a:srgbClr val="212121"/>
              </a:solidFill>
            </a:endParaRPr>
          </a:p>
        </p:txBody>
      </p:sp>
      <p:cxnSp>
        <p:nvCxnSpPr>
          <p:cNvPr id="13" name="Straight Arrow Connector 12"/>
          <p:cNvCxnSpPr/>
          <p:nvPr/>
        </p:nvCxnSpPr>
        <p:spPr>
          <a:xfrm>
            <a:off x="4301036" y="1891627"/>
            <a:ext cx="1" cy="295965"/>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4093899" y="2304001"/>
            <a:ext cx="442914" cy="426720"/>
          </a:xfrm>
          <a:prstGeom prst="rect">
            <a:avLst/>
          </a:prstGeom>
          <a:noFill/>
          <a:ln w="38100">
            <a:solidFill>
              <a:srgbClr val="92D050"/>
            </a:solidFill>
          </a:ln>
        </p:spPr>
        <p:txBody>
          <a:bodyPr wrap="square" rtlCol="0">
            <a:spAutoFit/>
          </a:bodyPr>
          <a:lstStyle/>
          <a:p>
            <a:endParaRPr lang="en-US" dirty="0">
              <a:solidFill>
                <a:srgbClr val="212121"/>
              </a:solidFill>
            </a:endParaRPr>
          </a:p>
        </p:txBody>
      </p:sp>
      <p:cxnSp>
        <p:nvCxnSpPr>
          <p:cNvPr id="15" name="Straight Arrow Connector 14"/>
          <p:cNvCxnSpPr/>
          <p:nvPr/>
        </p:nvCxnSpPr>
        <p:spPr>
          <a:xfrm>
            <a:off x="4875833" y="1902435"/>
            <a:ext cx="1" cy="295965"/>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678265" y="2282091"/>
            <a:ext cx="442914" cy="426720"/>
          </a:xfrm>
          <a:prstGeom prst="rect">
            <a:avLst/>
          </a:prstGeom>
          <a:noFill/>
          <a:ln w="38100">
            <a:solidFill>
              <a:srgbClr val="92D050"/>
            </a:solidFill>
          </a:ln>
        </p:spPr>
        <p:txBody>
          <a:bodyPr wrap="square" rtlCol="0">
            <a:spAutoFit/>
          </a:bodyPr>
          <a:lstStyle/>
          <a:p>
            <a:endParaRPr lang="en-US" dirty="0">
              <a:solidFill>
                <a:srgbClr val="212121"/>
              </a:solidFill>
            </a:endParaRPr>
          </a:p>
        </p:txBody>
      </p:sp>
      <p:cxnSp>
        <p:nvCxnSpPr>
          <p:cNvPr id="17" name="Straight Arrow Connector 16"/>
          <p:cNvCxnSpPr/>
          <p:nvPr/>
        </p:nvCxnSpPr>
        <p:spPr>
          <a:xfrm>
            <a:off x="5389421" y="1872072"/>
            <a:ext cx="1" cy="295965"/>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5171803" y="2322565"/>
            <a:ext cx="442914" cy="426720"/>
          </a:xfrm>
          <a:prstGeom prst="rect">
            <a:avLst/>
          </a:prstGeom>
          <a:noFill/>
          <a:ln w="38100">
            <a:solidFill>
              <a:srgbClr val="92D050"/>
            </a:solidFill>
          </a:ln>
        </p:spPr>
        <p:txBody>
          <a:bodyPr wrap="square" rtlCol="0">
            <a:spAutoFit/>
          </a:bodyPr>
          <a:lstStyle/>
          <a:p>
            <a:endParaRPr lang="en-US" dirty="0">
              <a:solidFill>
                <a:srgbClr val="212121"/>
              </a:solidFill>
            </a:endParaRPr>
          </a:p>
        </p:txBody>
      </p:sp>
      <p:cxnSp>
        <p:nvCxnSpPr>
          <p:cNvPr id="19" name="Straight Arrow Connector 18"/>
          <p:cNvCxnSpPr/>
          <p:nvPr/>
        </p:nvCxnSpPr>
        <p:spPr>
          <a:xfrm>
            <a:off x="5940592" y="1904632"/>
            <a:ext cx="1" cy="295965"/>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5722973" y="2273435"/>
            <a:ext cx="442914" cy="426720"/>
          </a:xfrm>
          <a:prstGeom prst="rect">
            <a:avLst/>
          </a:prstGeom>
          <a:noFill/>
          <a:ln w="38100">
            <a:solidFill>
              <a:srgbClr val="92D050"/>
            </a:solidFill>
          </a:ln>
        </p:spPr>
        <p:txBody>
          <a:bodyPr wrap="square" rtlCol="0">
            <a:spAutoFit/>
          </a:bodyPr>
          <a:lstStyle/>
          <a:p>
            <a:endParaRPr lang="en-US" dirty="0">
              <a:solidFill>
                <a:srgbClr val="212121"/>
              </a:solidFill>
            </a:endParaRPr>
          </a:p>
        </p:txBody>
      </p:sp>
      <p:cxnSp>
        <p:nvCxnSpPr>
          <p:cNvPr id="21" name="Straight Arrow Connector 20"/>
          <p:cNvCxnSpPr/>
          <p:nvPr/>
        </p:nvCxnSpPr>
        <p:spPr>
          <a:xfrm>
            <a:off x="6454180" y="1868771"/>
            <a:ext cx="1" cy="295965"/>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6252407" y="2267493"/>
            <a:ext cx="442914" cy="426720"/>
          </a:xfrm>
          <a:prstGeom prst="rect">
            <a:avLst/>
          </a:prstGeom>
          <a:noFill/>
          <a:ln w="38100">
            <a:solidFill>
              <a:srgbClr val="92D050"/>
            </a:solidFill>
          </a:ln>
        </p:spPr>
        <p:txBody>
          <a:bodyPr wrap="square" rtlCol="0">
            <a:spAutoFit/>
          </a:bodyPr>
          <a:lstStyle/>
          <a:p>
            <a:endParaRPr lang="en-US" dirty="0">
              <a:solidFill>
                <a:srgbClr val="212121"/>
              </a:solidFill>
            </a:endParaRPr>
          </a:p>
        </p:txBody>
      </p:sp>
      <p:cxnSp>
        <p:nvCxnSpPr>
          <p:cNvPr id="23" name="Straight Arrow Connector 22"/>
          <p:cNvCxnSpPr/>
          <p:nvPr/>
        </p:nvCxnSpPr>
        <p:spPr>
          <a:xfrm>
            <a:off x="6956034" y="1886155"/>
            <a:ext cx="1" cy="295965"/>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6767616" y="2265455"/>
            <a:ext cx="442914" cy="426720"/>
          </a:xfrm>
          <a:prstGeom prst="rect">
            <a:avLst/>
          </a:prstGeom>
          <a:noFill/>
          <a:ln w="38100">
            <a:solidFill>
              <a:srgbClr val="92D050"/>
            </a:solidFill>
          </a:ln>
        </p:spPr>
        <p:txBody>
          <a:bodyPr wrap="square" rtlCol="0">
            <a:spAutoFit/>
          </a:bodyPr>
          <a:lstStyle/>
          <a:p>
            <a:endParaRPr lang="en-US" dirty="0">
              <a:solidFill>
                <a:srgbClr val="212121"/>
              </a:solidFill>
            </a:endParaRPr>
          </a:p>
        </p:txBody>
      </p:sp>
      <p:cxnSp>
        <p:nvCxnSpPr>
          <p:cNvPr id="25" name="Straight Arrow Connector 24"/>
          <p:cNvCxnSpPr/>
          <p:nvPr/>
        </p:nvCxnSpPr>
        <p:spPr>
          <a:xfrm>
            <a:off x="7495009" y="1913202"/>
            <a:ext cx="1" cy="295965"/>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7318786" y="2252478"/>
            <a:ext cx="442914" cy="426720"/>
          </a:xfrm>
          <a:prstGeom prst="rect">
            <a:avLst/>
          </a:prstGeom>
          <a:noFill/>
          <a:ln w="38100">
            <a:solidFill>
              <a:srgbClr val="92D050"/>
            </a:solidFill>
          </a:ln>
        </p:spPr>
        <p:txBody>
          <a:bodyPr wrap="square" rtlCol="0">
            <a:spAutoFit/>
          </a:bodyPr>
          <a:lstStyle/>
          <a:p>
            <a:endParaRPr lang="en-US" dirty="0">
              <a:solidFill>
                <a:srgbClr val="212121"/>
              </a:solidFill>
            </a:endParaRPr>
          </a:p>
        </p:txBody>
      </p:sp>
      <p:cxnSp>
        <p:nvCxnSpPr>
          <p:cNvPr id="27" name="Straight Arrow Connector 26"/>
          <p:cNvCxnSpPr/>
          <p:nvPr/>
        </p:nvCxnSpPr>
        <p:spPr>
          <a:xfrm>
            <a:off x="8069677" y="1900613"/>
            <a:ext cx="1" cy="295965"/>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7848220" y="2280269"/>
            <a:ext cx="442914" cy="426720"/>
          </a:xfrm>
          <a:prstGeom prst="rect">
            <a:avLst/>
          </a:prstGeom>
          <a:noFill/>
          <a:ln w="38100">
            <a:solidFill>
              <a:srgbClr val="92D050"/>
            </a:solidFill>
          </a:ln>
        </p:spPr>
        <p:txBody>
          <a:bodyPr wrap="square" rtlCol="0">
            <a:spAutoFit/>
          </a:bodyPr>
          <a:lstStyle/>
          <a:p>
            <a:endParaRPr lang="en-US" dirty="0">
              <a:solidFill>
                <a:srgbClr val="212121"/>
              </a:solidFill>
            </a:endParaRPr>
          </a:p>
        </p:txBody>
      </p:sp>
      <p:cxnSp>
        <p:nvCxnSpPr>
          <p:cNvPr id="29" name="Straight Arrow Connector 28"/>
          <p:cNvCxnSpPr/>
          <p:nvPr/>
        </p:nvCxnSpPr>
        <p:spPr>
          <a:xfrm>
            <a:off x="8539719" y="1902375"/>
            <a:ext cx="1" cy="295965"/>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8337832" y="2265455"/>
            <a:ext cx="442914" cy="426720"/>
          </a:xfrm>
          <a:prstGeom prst="rect">
            <a:avLst/>
          </a:prstGeom>
          <a:noFill/>
          <a:ln w="38100">
            <a:solidFill>
              <a:srgbClr val="92D050"/>
            </a:solidFill>
          </a:ln>
        </p:spPr>
        <p:txBody>
          <a:bodyPr wrap="square" rtlCol="0">
            <a:spAutoFit/>
          </a:bodyPr>
          <a:lstStyle/>
          <a:p>
            <a:endParaRPr lang="en-US" dirty="0">
              <a:solidFill>
                <a:srgbClr val="212121"/>
              </a:solidFill>
            </a:endParaRPr>
          </a:p>
        </p:txBody>
      </p:sp>
      <p:sp>
        <p:nvSpPr>
          <p:cNvPr id="32" name="TextBox 31"/>
          <p:cNvSpPr txBox="1"/>
          <p:nvPr/>
        </p:nvSpPr>
        <p:spPr>
          <a:xfrm>
            <a:off x="5676894" y="3194065"/>
            <a:ext cx="442914" cy="369332"/>
          </a:xfrm>
          <a:prstGeom prst="rect">
            <a:avLst/>
          </a:prstGeom>
          <a:noFill/>
          <a:ln w="38100">
            <a:solidFill>
              <a:srgbClr val="FFFF00"/>
            </a:solidFill>
          </a:ln>
        </p:spPr>
        <p:txBody>
          <a:bodyPr wrap="square" rtlCol="0">
            <a:spAutoFit/>
          </a:bodyPr>
          <a:lstStyle>
            <a:defPPr>
              <a:defRPr lang="en-US"/>
            </a:defPPr>
            <a:lvl1pPr>
              <a:defRPr>
                <a:solidFill>
                  <a:srgbClr val="212121"/>
                </a:solidFill>
              </a:defRPr>
            </a:lvl1pPr>
          </a:lstStyle>
          <a:p>
            <a:endParaRPr lang="en-US" dirty="0">
              <a:solidFill>
                <a:srgbClr val="FFFF00"/>
              </a:solidFill>
            </a:endParaRPr>
          </a:p>
        </p:txBody>
      </p:sp>
      <p:sp>
        <p:nvSpPr>
          <p:cNvPr id="35" name="TextBox 34"/>
          <p:cNvSpPr txBox="1"/>
          <p:nvPr/>
        </p:nvSpPr>
        <p:spPr>
          <a:xfrm>
            <a:off x="8318262" y="3598189"/>
            <a:ext cx="442914" cy="426720"/>
          </a:xfrm>
          <a:prstGeom prst="rect">
            <a:avLst/>
          </a:prstGeom>
          <a:noFill/>
          <a:ln w="38100">
            <a:solidFill>
              <a:srgbClr val="FFFF00"/>
            </a:solidFill>
          </a:ln>
        </p:spPr>
        <p:txBody>
          <a:bodyPr wrap="square" rtlCol="0">
            <a:spAutoFit/>
          </a:bodyPr>
          <a:lstStyle/>
          <a:p>
            <a:endParaRPr lang="en-US" dirty="0">
              <a:solidFill>
                <a:srgbClr val="212121"/>
              </a:solidFill>
            </a:endParaRPr>
          </a:p>
        </p:txBody>
      </p:sp>
      <p:sp>
        <p:nvSpPr>
          <p:cNvPr id="31" name="TextBox 30"/>
          <p:cNvSpPr txBox="1"/>
          <p:nvPr/>
        </p:nvSpPr>
        <p:spPr>
          <a:xfrm>
            <a:off x="7273552" y="3213730"/>
            <a:ext cx="442914" cy="369332"/>
          </a:xfrm>
          <a:prstGeom prst="rect">
            <a:avLst/>
          </a:prstGeom>
          <a:noFill/>
          <a:ln w="38100">
            <a:solidFill>
              <a:srgbClr val="FFFF00"/>
            </a:solidFill>
          </a:ln>
        </p:spPr>
        <p:txBody>
          <a:bodyPr wrap="square" rtlCol="0">
            <a:spAutoFit/>
          </a:bodyPr>
          <a:lstStyle>
            <a:defPPr>
              <a:defRPr lang="en-US"/>
            </a:defPPr>
            <a:lvl1pPr>
              <a:defRPr>
                <a:solidFill>
                  <a:srgbClr val="212121"/>
                </a:solidFill>
              </a:defRPr>
            </a:lvl1pPr>
          </a:lstStyle>
          <a:p>
            <a:endParaRPr lang="en-US" dirty="0"/>
          </a:p>
        </p:txBody>
      </p:sp>
      <p:cxnSp>
        <p:nvCxnSpPr>
          <p:cNvPr id="33" name="Straight Arrow Connector 32"/>
          <p:cNvCxnSpPr/>
          <p:nvPr/>
        </p:nvCxnSpPr>
        <p:spPr>
          <a:xfrm>
            <a:off x="9115596" y="1900612"/>
            <a:ext cx="1" cy="295965"/>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8890069" y="2274369"/>
            <a:ext cx="442914" cy="369332"/>
          </a:xfrm>
          <a:prstGeom prst="rect">
            <a:avLst/>
          </a:prstGeom>
          <a:noFill/>
          <a:ln w="38100">
            <a:solidFill>
              <a:srgbClr val="92D050"/>
            </a:solidFill>
          </a:ln>
        </p:spPr>
        <p:txBody>
          <a:bodyPr wrap="square" rtlCol="0">
            <a:spAutoFit/>
          </a:bodyPr>
          <a:lstStyle>
            <a:defPPr>
              <a:defRPr lang="en-US"/>
            </a:defPPr>
            <a:lvl1pPr>
              <a:defRPr>
                <a:solidFill>
                  <a:srgbClr val="212121"/>
                </a:solidFill>
              </a:defRPr>
            </a:lvl1pPr>
          </a:lstStyle>
          <a:p>
            <a:endParaRPr lang="en-US" dirty="0"/>
          </a:p>
        </p:txBody>
      </p:sp>
    </p:spTree>
    <p:extLst>
      <p:ext uri="{BB962C8B-B14F-4D97-AF65-F5344CB8AC3E}">
        <p14:creationId xmlns:p14="http://schemas.microsoft.com/office/powerpoint/2010/main" val="1025131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left)">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left)">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left)">
                                      <p:cBhvr>
                                        <p:cTn id="30" dur="500"/>
                                        <p:tgtEl>
                                          <p:spTgt spid="8"/>
                                        </p:tgtEl>
                                      </p:cBhvr>
                                    </p:animEffect>
                                  </p:childTnLst>
                                </p:cTn>
                              </p:par>
                              <p:par>
                                <p:cTn id="31" presetID="1" presetClass="entr" presetSubtype="0" fill="hold" nodeType="withEffect">
                                  <p:stCondLst>
                                    <p:cond delay="0"/>
                                  </p:stCondLst>
                                  <p:childTnLst>
                                    <p:set>
                                      <p:cBhvr>
                                        <p:cTn id="32" dur="1" fill="hold">
                                          <p:stCondLst>
                                            <p:cond delay="0"/>
                                          </p:stCondLst>
                                        </p:cTn>
                                        <p:tgtEl>
                                          <p:spTgt spid="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childTnLst>
                                </p:cTn>
                              </p:par>
                              <p:par>
                                <p:cTn id="35" presetID="26" presetClass="emph" presetSubtype="0" repeatCount="indefinite" fill="hold" grpId="1" nodeType="withEffect">
                                  <p:stCondLst>
                                    <p:cond delay="0"/>
                                  </p:stCondLst>
                                  <p:endCondLst>
                                    <p:cond evt="onNext" delay="0">
                                      <p:tgtEl>
                                        <p:sldTgt/>
                                      </p:tgtEl>
                                    </p:cond>
                                  </p:endCondLst>
                                  <p:childTnLst>
                                    <p:animEffect transition="out" filter="fade">
                                      <p:cBhvr>
                                        <p:cTn id="36" dur="500" tmFilter="0, 0; .2, .5; .8, .5; 1, 0"/>
                                        <p:tgtEl>
                                          <p:spTgt spid="9"/>
                                        </p:tgtEl>
                                      </p:cBhvr>
                                    </p:animEffect>
                                    <p:animScale>
                                      <p:cBhvr>
                                        <p:cTn id="37" dur="250" autoRev="1" fill="hold"/>
                                        <p:tgtEl>
                                          <p:spTgt spid="9"/>
                                        </p:tgtEl>
                                      </p:cBhvr>
                                      <p:by x="105000" y="105000"/>
                                    </p:animScale>
                                  </p:childTnLst>
                                </p:cTn>
                              </p:par>
                            </p:childTnLst>
                          </p:cTn>
                        </p:par>
                      </p:childTnLst>
                    </p:cTn>
                  </p:par>
                  <p:par>
                    <p:cTn id="38" fill="hold">
                      <p:stCondLst>
                        <p:cond delay="indefinite"/>
                      </p:stCondLst>
                      <p:childTnLst>
                        <p:par>
                          <p:cTn id="39" fill="hold">
                            <p:stCondLst>
                              <p:cond delay="0"/>
                            </p:stCondLst>
                            <p:childTnLst>
                              <p:par>
                                <p:cTn id="40" presetID="1" presetClass="exit" presetSubtype="0" fill="hold" grpId="2" nodeType="clickEffect">
                                  <p:stCondLst>
                                    <p:cond delay="0"/>
                                  </p:stCondLst>
                                  <p:childTnLst>
                                    <p:set>
                                      <p:cBhvr>
                                        <p:cTn id="41" dur="1" fill="hold">
                                          <p:stCondLst>
                                            <p:cond delay="0"/>
                                          </p:stCondLst>
                                        </p:cTn>
                                        <p:tgtEl>
                                          <p:spTgt spid="9"/>
                                        </p:tgtEl>
                                        <p:attrNameLst>
                                          <p:attrName>style.visibility</p:attrName>
                                        </p:attrNameLst>
                                      </p:cBhvr>
                                      <p:to>
                                        <p:strVal val="hidden"/>
                                      </p:to>
                                    </p:set>
                                  </p:childTnLst>
                                </p:cTn>
                              </p:par>
                              <p:par>
                                <p:cTn id="42" presetID="1" presetClass="exit" presetSubtype="0" fill="hold" nodeType="withEffect">
                                  <p:stCondLst>
                                    <p:cond delay="0"/>
                                  </p:stCondLst>
                                  <p:childTnLst>
                                    <p:set>
                                      <p:cBhvr>
                                        <p:cTn id="43" dur="1" fill="hold">
                                          <p:stCondLst>
                                            <p:cond delay="0"/>
                                          </p:stCondLst>
                                        </p:cTn>
                                        <p:tgtEl>
                                          <p:spTgt spid="7"/>
                                        </p:tgtEl>
                                        <p:attrNameLst>
                                          <p:attrName>style.visibility</p:attrName>
                                        </p:attrNameLst>
                                      </p:cBhvr>
                                      <p:to>
                                        <p:strVal val="hidden"/>
                                      </p:to>
                                    </p:set>
                                  </p:childTnLst>
                                </p:cTn>
                              </p:par>
                              <p:par>
                                <p:cTn id="44" presetID="1" presetClass="entr" presetSubtype="0" fill="hold" nodeType="withEffect">
                                  <p:stCondLst>
                                    <p:cond delay="0"/>
                                  </p:stCondLst>
                                  <p:childTnLst>
                                    <p:set>
                                      <p:cBhvr>
                                        <p:cTn id="45" dur="1" fill="hold">
                                          <p:stCondLst>
                                            <p:cond delay="0"/>
                                          </p:stCondLst>
                                        </p:cTn>
                                        <p:tgtEl>
                                          <p:spTgt spid="13"/>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14"/>
                                        </p:tgtEl>
                                        <p:attrNameLst>
                                          <p:attrName>style.visibility</p:attrName>
                                        </p:attrNameLst>
                                      </p:cBhvr>
                                      <p:to>
                                        <p:strVal val="visible"/>
                                      </p:to>
                                    </p:set>
                                  </p:childTnLst>
                                </p:cTn>
                              </p:par>
                              <p:par>
                                <p:cTn id="48" presetID="26" presetClass="emph" presetSubtype="0" repeatCount="indefinite" fill="hold" grpId="1" nodeType="withEffect">
                                  <p:stCondLst>
                                    <p:cond delay="0"/>
                                  </p:stCondLst>
                                  <p:endCondLst>
                                    <p:cond evt="onNext" delay="0">
                                      <p:tgtEl>
                                        <p:sldTgt/>
                                      </p:tgtEl>
                                    </p:cond>
                                  </p:endCondLst>
                                  <p:childTnLst>
                                    <p:animEffect transition="out" filter="fade">
                                      <p:cBhvr>
                                        <p:cTn id="49" dur="500" tmFilter="0, 0; .2, .5; .8, .5; 1, 0"/>
                                        <p:tgtEl>
                                          <p:spTgt spid="14"/>
                                        </p:tgtEl>
                                      </p:cBhvr>
                                    </p:animEffect>
                                    <p:animScale>
                                      <p:cBhvr>
                                        <p:cTn id="50" dur="250" autoRev="1" fill="hold"/>
                                        <p:tgtEl>
                                          <p:spTgt spid="14"/>
                                        </p:tgtEl>
                                      </p:cBhvr>
                                      <p:by x="105000" y="105000"/>
                                    </p:animScale>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grpId="2" nodeType="clickEffect">
                                  <p:stCondLst>
                                    <p:cond delay="0"/>
                                  </p:stCondLst>
                                  <p:childTnLst>
                                    <p:set>
                                      <p:cBhvr>
                                        <p:cTn id="54" dur="1" fill="hold">
                                          <p:stCondLst>
                                            <p:cond delay="0"/>
                                          </p:stCondLst>
                                        </p:cTn>
                                        <p:tgtEl>
                                          <p:spTgt spid="14"/>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13"/>
                                        </p:tgtEl>
                                        <p:attrNameLst>
                                          <p:attrName>style.visibility</p:attrName>
                                        </p:attrNameLst>
                                      </p:cBhvr>
                                      <p:to>
                                        <p:strVal val="hidden"/>
                                      </p:to>
                                    </p:set>
                                  </p:childTnLst>
                                </p:cTn>
                              </p:par>
                              <p:par>
                                <p:cTn id="57" presetID="1" presetClass="entr" presetSubtype="0" fill="hold" nodeType="withEffect">
                                  <p:stCondLst>
                                    <p:cond delay="0"/>
                                  </p:stCondLst>
                                  <p:childTnLst>
                                    <p:set>
                                      <p:cBhvr>
                                        <p:cTn id="58" dur="1" fill="hold">
                                          <p:stCondLst>
                                            <p:cond delay="0"/>
                                          </p:stCondLst>
                                        </p:cTn>
                                        <p:tgtEl>
                                          <p:spTgt spid="1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6"/>
                                        </p:tgtEl>
                                        <p:attrNameLst>
                                          <p:attrName>style.visibility</p:attrName>
                                        </p:attrNameLst>
                                      </p:cBhvr>
                                      <p:to>
                                        <p:strVal val="visible"/>
                                      </p:to>
                                    </p:set>
                                  </p:childTnLst>
                                </p:cTn>
                              </p:par>
                              <p:par>
                                <p:cTn id="61" presetID="26" presetClass="emph" presetSubtype="0" repeatCount="indefinite" fill="hold" grpId="1" nodeType="withEffect">
                                  <p:stCondLst>
                                    <p:cond delay="0"/>
                                  </p:stCondLst>
                                  <p:endCondLst>
                                    <p:cond evt="onNext" delay="0">
                                      <p:tgtEl>
                                        <p:sldTgt/>
                                      </p:tgtEl>
                                    </p:cond>
                                  </p:endCondLst>
                                  <p:childTnLst>
                                    <p:animEffect transition="out" filter="fade">
                                      <p:cBhvr>
                                        <p:cTn id="62" dur="500" tmFilter="0, 0; .2, .5; .8, .5; 1, 0"/>
                                        <p:tgtEl>
                                          <p:spTgt spid="16"/>
                                        </p:tgtEl>
                                      </p:cBhvr>
                                    </p:animEffect>
                                    <p:animScale>
                                      <p:cBhvr>
                                        <p:cTn id="63" dur="250" autoRev="1" fill="hold"/>
                                        <p:tgtEl>
                                          <p:spTgt spid="16"/>
                                        </p:tgtEl>
                                      </p:cBhvr>
                                      <p:by x="105000" y="105000"/>
                                    </p:animScale>
                                  </p:childTnLst>
                                </p:cTn>
                              </p:par>
                            </p:childTnLst>
                          </p:cTn>
                        </p:par>
                      </p:childTnLst>
                    </p:cTn>
                  </p:par>
                  <p:par>
                    <p:cTn id="64" fill="hold">
                      <p:stCondLst>
                        <p:cond delay="indefinite"/>
                      </p:stCondLst>
                      <p:childTnLst>
                        <p:par>
                          <p:cTn id="65" fill="hold">
                            <p:stCondLst>
                              <p:cond delay="0"/>
                            </p:stCondLst>
                            <p:childTnLst>
                              <p:par>
                                <p:cTn id="66" presetID="1" presetClass="exit" presetSubtype="0" fill="hold" grpId="2" nodeType="clickEffect">
                                  <p:stCondLst>
                                    <p:cond delay="0"/>
                                  </p:stCondLst>
                                  <p:childTnLst>
                                    <p:set>
                                      <p:cBhvr>
                                        <p:cTn id="67" dur="1" fill="hold">
                                          <p:stCondLst>
                                            <p:cond delay="0"/>
                                          </p:stCondLst>
                                        </p:cTn>
                                        <p:tgtEl>
                                          <p:spTgt spid="16"/>
                                        </p:tgtEl>
                                        <p:attrNameLst>
                                          <p:attrName>style.visibility</p:attrName>
                                        </p:attrNameLst>
                                      </p:cBhvr>
                                      <p:to>
                                        <p:strVal val="hidden"/>
                                      </p:to>
                                    </p:set>
                                  </p:childTnLst>
                                </p:cTn>
                              </p:par>
                              <p:par>
                                <p:cTn id="68" presetID="1" presetClass="exit" presetSubtype="0" fill="hold" nodeType="withEffect">
                                  <p:stCondLst>
                                    <p:cond delay="0"/>
                                  </p:stCondLst>
                                  <p:childTnLst>
                                    <p:set>
                                      <p:cBhvr>
                                        <p:cTn id="69" dur="1" fill="hold">
                                          <p:stCondLst>
                                            <p:cond delay="0"/>
                                          </p:stCondLst>
                                        </p:cTn>
                                        <p:tgtEl>
                                          <p:spTgt spid="15"/>
                                        </p:tgtEl>
                                        <p:attrNameLst>
                                          <p:attrName>style.visibility</p:attrName>
                                        </p:attrNameLst>
                                      </p:cBhvr>
                                      <p:to>
                                        <p:strVal val="hidden"/>
                                      </p:to>
                                    </p:set>
                                  </p:childTnLst>
                                </p:cTn>
                              </p:par>
                              <p:par>
                                <p:cTn id="70" presetID="1" presetClass="entr" presetSubtype="0" fill="hold" nodeType="withEffect">
                                  <p:stCondLst>
                                    <p:cond delay="0"/>
                                  </p:stCondLst>
                                  <p:childTnLst>
                                    <p:set>
                                      <p:cBhvr>
                                        <p:cTn id="71" dur="1" fill="hold">
                                          <p:stCondLst>
                                            <p:cond delay="0"/>
                                          </p:stCondLst>
                                        </p:cTn>
                                        <p:tgtEl>
                                          <p:spTgt spid="17"/>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18"/>
                                        </p:tgtEl>
                                        <p:attrNameLst>
                                          <p:attrName>style.visibility</p:attrName>
                                        </p:attrNameLst>
                                      </p:cBhvr>
                                      <p:to>
                                        <p:strVal val="visible"/>
                                      </p:to>
                                    </p:set>
                                  </p:childTnLst>
                                </p:cTn>
                              </p:par>
                              <p:par>
                                <p:cTn id="74" presetID="26" presetClass="emph" presetSubtype="0" repeatCount="indefinite" fill="hold" grpId="1" nodeType="withEffect">
                                  <p:stCondLst>
                                    <p:cond delay="0"/>
                                  </p:stCondLst>
                                  <p:endCondLst>
                                    <p:cond evt="onNext" delay="0">
                                      <p:tgtEl>
                                        <p:sldTgt/>
                                      </p:tgtEl>
                                    </p:cond>
                                  </p:endCondLst>
                                  <p:childTnLst>
                                    <p:animEffect transition="out" filter="fade">
                                      <p:cBhvr>
                                        <p:cTn id="75" dur="500" tmFilter="0, 0; .2, .5; .8, .5; 1, 0"/>
                                        <p:tgtEl>
                                          <p:spTgt spid="18"/>
                                        </p:tgtEl>
                                      </p:cBhvr>
                                    </p:animEffect>
                                    <p:animScale>
                                      <p:cBhvr>
                                        <p:cTn id="76" dur="250" autoRev="1" fill="hold"/>
                                        <p:tgtEl>
                                          <p:spTgt spid="18"/>
                                        </p:tgtEl>
                                      </p:cBhvr>
                                      <p:by x="105000" y="105000"/>
                                    </p:animScale>
                                  </p:childTnLst>
                                </p:cTn>
                              </p:par>
                            </p:childTnLst>
                          </p:cTn>
                        </p:par>
                      </p:childTnLst>
                    </p:cTn>
                  </p:par>
                  <p:par>
                    <p:cTn id="77" fill="hold">
                      <p:stCondLst>
                        <p:cond delay="indefinite"/>
                      </p:stCondLst>
                      <p:childTnLst>
                        <p:par>
                          <p:cTn id="78" fill="hold">
                            <p:stCondLst>
                              <p:cond delay="0"/>
                            </p:stCondLst>
                            <p:childTnLst>
                              <p:par>
                                <p:cTn id="79" presetID="1" presetClass="exit" presetSubtype="0" fill="hold" grpId="2" nodeType="clickEffect">
                                  <p:stCondLst>
                                    <p:cond delay="0"/>
                                  </p:stCondLst>
                                  <p:childTnLst>
                                    <p:set>
                                      <p:cBhvr>
                                        <p:cTn id="80" dur="1" fill="hold">
                                          <p:stCondLst>
                                            <p:cond delay="0"/>
                                          </p:stCondLst>
                                        </p:cTn>
                                        <p:tgtEl>
                                          <p:spTgt spid="18"/>
                                        </p:tgtEl>
                                        <p:attrNameLst>
                                          <p:attrName>style.visibility</p:attrName>
                                        </p:attrNameLst>
                                      </p:cBhvr>
                                      <p:to>
                                        <p:strVal val="hidden"/>
                                      </p:to>
                                    </p:set>
                                  </p:childTnLst>
                                </p:cTn>
                              </p:par>
                              <p:par>
                                <p:cTn id="81" presetID="1" presetClass="exit" presetSubtype="0" fill="hold" nodeType="withEffect">
                                  <p:stCondLst>
                                    <p:cond delay="0"/>
                                  </p:stCondLst>
                                  <p:childTnLst>
                                    <p:set>
                                      <p:cBhvr>
                                        <p:cTn id="82" dur="1" fill="hold">
                                          <p:stCondLst>
                                            <p:cond delay="0"/>
                                          </p:stCondLst>
                                        </p:cTn>
                                        <p:tgtEl>
                                          <p:spTgt spid="17"/>
                                        </p:tgtEl>
                                        <p:attrNameLst>
                                          <p:attrName>style.visibility</p:attrName>
                                        </p:attrNameLst>
                                      </p:cBhvr>
                                      <p:to>
                                        <p:strVal val="hidden"/>
                                      </p:to>
                                    </p:set>
                                  </p:childTnLst>
                                </p:cTn>
                              </p:par>
                              <p:par>
                                <p:cTn id="83" presetID="1" presetClass="entr" presetSubtype="0" fill="hold" nodeType="withEffect">
                                  <p:stCondLst>
                                    <p:cond delay="0"/>
                                  </p:stCondLst>
                                  <p:childTnLst>
                                    <p:set>
                                      <p:cBhvr>
                                        <p:cTn id="84" dur="1" fill="hold">
                                          <p:stCondLst>
                                            <p:cond delay="0"/>
                                          </p:stCondLst>
                                        </p:cTn>
                                        <p:tgtEl>
                                          <p:spTgt spid="19"/>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20"/>
                                        </p:tgtEl>
                                        <p:attrNameLst>
                                          <p:attrName>style.visibility</p:attrName>
                                        </p:attrNameLst>
                                      </p:cBhvr>
                                      <p:to>
                                        <p:strVal val="visible"/>
                                      </p:to>
                                    </p:set>
                                  </p:childTnLst>
                                </p:cTn>
                              </p:par>
                              <p:par>
                                <p:cTn id="87" presetID="26" presetClass="emph" presetSubtype="0" repeatCount="indefinite" fill="hold" grpId="1" nodeType="withEffect">
                                  <p:stCondLst>
                                    <p:cond delay="0"/>
                                  </p:stCondLst>
                                  <p:endCondLst>
                                    <p:cond evt="onNext" delay="0">
                                      <p:tgtEl>
                                        <p:sldTgt/>
                                      </p:tgtEl>
                                    </p:cond>
                                  </p:endCondLst>
                                  <p:childTnLst>
                                    <p:animEffect transition="out" filter="fade">
                                      <p:cBhvr>
                                        <p:cTn id="88" dur="500" tmFilter="0, 0; .2, .5; .8, .5; 1, 0"/>
                                        <p:tgtEl>
                                          <p:spTgt spid="20"/>
                                        </p:tgtEl>
                                      </p:cBhvr>
                                    </p:animEffect>
                                    <p:animScale>
                                      <p:cBhvr>
                                        <p:cTn id="89" dur="250" autoRev="1" fill="hold"/>
                                        <p:tgtEl>
                                          <p:spTgt spid="20"/>
                                        </p:tgtEl>
                                      </p:cBhvr>
                                      <p:by x="105000" y="105000"/>
                                    </p:animScale>
                                  </p:childTnLst>
                                </p:cTn>
                              </p:par>
                              <p:par>
                                <p:cTn id="90" presetID="1" presetClass="entr" presetSubtype="0" fill="hold" grpId="0" nodeType="withEffect">
                                  <p:stCondLst>
                                    <p:cond delay="0"/>
                                  </p:stCondLst>
                                  <p:childTnLst>
                                    <p:set>
                                      <p:cBhvr>
                                        <p:cTn id="91" dur="1" fill="hold">
                                          <p:stCondLst>
                                            <p:cond delay="0"/>
                                          </p:stCondLst>
                                        </p:cTn>
                                        <p:tgtEl>
                                          <p:spTgt spid="32"/>
                                        </p:tgtEl>
                                        <p:attrNameLst>
                                          <p:attrName>style.visibility</p:attrName>
                                        </p:attrNameLst>
                                      </p:cBhvr>
                                      <p:to>
                                        <p:strVal val="visible"/>
                                      </p:to>
                                    </p:set>
                                  </p:childTnLst>
                                </p:cTn>
                              </p:par>
                              <p:par>
                                <p:cTn id="92" presetID="26" presetClass="emph" presetSubtype="0" repeatCount="indefinite" fill="hold" grpId="1" nodeType="withEffect">
                                  <p:stCondLst>
                                    <p:cond delay="0"/>
                                  </p:stCondLst>
                                  <p:endCondLst>
                                    <p:cond evt="onNext" delay="0">
                                      <p:tgtEl>
                                        <p:sldTgt/>
                                      </p:tgtEl>
                                    </p:cond>
                                  </p:endCondLst>
                                  <p:childTnLst>
                                    <p:animEffect transition="out" filter="fade">
                                      <p:cBhvr>
                                        <p:cTn id="93" dur="500" tmFilter="0, 0; .2, .5; .8, .5; 1, 0"/>
                                        <p:tgtEl>
                                          <p:spTgt spid="32"/>
                                        </p:tgtEl>
                                      </p:cBhvr>
                                    </p:animEffect>
                                    <p:animScale>
                                      <p:cBhvr>
                                        <p:cTn id="94" dur="250" autoRev="1" fill="hold"/>
                                        <p:tgtEl>
                                          <p:spTgt spid="32"/>
                                        </p:tgtEl>
                                      </p:cBhvr>
                                      <p:by x="105000" y="105000"/>
                                    </p:animScale>
                                  </p:childTnLst>
                                </p:cTn>
                              </p:par>
                            </p:childTnLst>
                          </p:cTn>
                        </p:par>
                      </p:childTnLst>
                    </p:cTn>
                  </p:par>
                  <p:par>
                    <p:cTn id="95" fill="hold">
                      <p:stCondLst>
                        <p:cond delay="indefinite"/>
                      </p:stCondLst>
                      <p:childTnLst>
                        <p:par>
                          <p:cTn id="96" fill="hold">
                            <p:stCondLst>
                              <p:cond delay="0"/>
                            </p:stCondLst>
                            <p:childTnLst>
                              <p:par>
                                <p:cTn id="97" presetID="1" presetClass="exit" presetSubtype="0" fill="hold" grpId="2" nodeType="clickEffect">
                                  <p:stCondLst>
                                    <p:cond delay="0"/>
                                  </p:stCondLst>
                                  <p:childTnLst>
                                    <p:set>
                                      <p:cBhvr>
                                        <p:cTn id="98" dur="1" fill="hold">
                                          <p:stCondLst>
                                            <p:cond delay="0"/>
                                          </p:stCondLst>
                                        </p:cTn>
                                        <p:tgtEl>
                                          <p:spTgt spid="32"/>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grpId="2" nodeType="clickEffect">
                                  <p:stCondLst>
                                    <p:cond delay="0"/>
                                  </p:stCondLst>
                                  <p:childTnLst>
                                    <p:set>
                                      <p:cBhvr>
                                        <p:cTn id="102" dur="1" fill="hold">
                                          <p:stCondLst>
                                            <p:cond delay="0"/>
                                          </p:stCondLst>
                                        </p:cTn>
                                        <p:tgtEl>
                                          <p:spTgt spid="20"/>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19"/>
                                        </p:tgtEl>
                                        <p:attrNameLst>
                                          <p:attrName>style.visibility</p:attrName>
                                        </p:attrNameLst>
                                      </p:cBhvr>
                                      <p:to>
                                        <p:strVal val="hidden"/>
                                      </p:to>
                                    </p:set>
                                  </p:childTnLst>
                                </p:cTn>
                              </p:par>
                              <p:par>
                                <p:cTn id="105" presetID="1" presetClass="entr" presetSubtype="0" fill="hold" nodeType="withEffect">
                                  <p:stCondLst>
                                    <p:cond delay="0"/>
                                  </p:stCondLst>
                                  <p:childTnLst>
                                    <p:set>
                                      <p:cBhvr>
                                        <p:cTn id="106" dur="1" fill="hold">
                                          <p:stCondLst>
                                            <p:cond delay="0"/>
                                          </p:stCondLst>
                                        </p:cTn>
                                        <p:tgtEl>
                                          <p:spTgt spid="21"/>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22"/>
                                        </p:tgtEl>
                                        <p:attrNameLst>
                                          <p:attrName>style.visibility</p:attrName>
                                        </p:attrNameLst>
                                      </p:cBhvr>
                                      <p:to>
                                        <p:strVal val="visible"/>
                                      </p:to>
                                    </p:set>
                                  </p:childTnLst>
                                </p:cTn>
                              </p:par>
                              <p:par>
                                <p:cTn id="109" presetID="26" presetClass="emph" presetSubtype="0" repeatCount="indefinite" fill="hold" grpId="1" nodeType="withEffect">
                                  <p:stCondLst>
                                    <p:cond delay="0"/>
                                  </p:stCondLst>
                                  <p:endCondLst>
                                    <p:cond evt="onNext" delay="0">
                                      <p:tgtEl>
                                        <p:sldTgt/>
                                      </p:tgtEl>
                                    </p:cond>
                                  </p:endCondLst>
                                  <p:childTnLst>
                                    <p:animEffect transition="out" filter="fade">
                                      <p:cBhvr>
                                        <p:cTn id="110" dur="500" tmFilter="0, 0; .2, .5; .8, .5; 1, 0"/>
                                        <p:tgtEl>
                                          <p:spTgt spid="22"/>
                                        </p:tgtEl>
                                      </p:cBhvr>
                                    </p:animEffect>
                                    <p:animScale>
                                      <p:cBhvr>
                                        <p:cTn id="111" dur="250" autoRev="1" fill="hold"/>
                                        <p:tgtEl>
                                          <p:spTgt spid="22"/>
                                        </p:tgtEl>
                                      </p:cBhvr>
                                      <p:by x="105000" y="105000"/>
                                    </p:animScale>
                                  </p:childTnLst>
                                </p:cTn>
                              </p:par>
                            </p:childTnLst>
                          </p:cTn>
                        </p:par>
                      </p:childTnLst>
                    </p:cTn>
                  </p:par>
                  <p:par>
                    <p:cTn id="112" fill="hold">
                      <p:stCondLst>
                        <p:cond delay="indefinite"/>
                      </p:stCondLst>
                      <p:childTnLst>
                        <p:par>
                          <p:cTn id="113" fill="hold">
                            <p:stCondLst>
                              <p:cond delay="0"/>
                            </p:stCondLst>
                            <p:childTnLst>
                              <p:par>
                                <p:cTn id="114" presetID="1" presetClass="exit" presetSubtype="0" fill="hold" grpId="2" nodeType="clickEffect">
                                  <p:stCondLst>
                                    <p:cond delay="0"/>
                                  </p:stCondLst>
                                  <p:childTnLst>
                                    <p:set>
                                      <p:cBhvr>
                                        <p:cTn id="115" dur="1" fill="hold">
                                          <p:stCondLst>
                                            <p:cond delay="0"/>
                                          </p:stCondLst>
                                        </p:cTn>
                                        <p:tgtEl>
                                          <p:spTgt spid="22"/>
                                        </p:tgtEl>
                                        <p:attrNameLst>
                                          <p:attrName>style.visibility</p:attrName>
                                        </p:attrNameLst>
                                      </p:cBhvr>
                                      <p:to>
                                        <p:strVal val="hidden"/>
                                      </p:to>
                                    </p:set>
                                  </p:childTnLst>
                                </p:cTn>
                              </p:par>
                              <p:par>
                                <p:cTn id="116" presetID="1" presetClass="exit" presetSubtype="0" fill="hold" nodeType="withEffect">
                                  <p:stCondLst>
                                    <p:cond delay="0"/>
                                  </p:stCondLst>
                                  <p:childTnLst>
                                    <p:set>
                                      <p:cBhvr>
                                        <p:cTn id="117" dur="1" fill="hold">
                                          <p:stCondLst>
                                            <p:cond delay="0"/>
                                          </p:stCondLst>
                                        </p:cTn>
                                        <p:tgtEl>
                                          <p:spTgt spid="21"/>
                                        </p:tgtEl>
                                        <p:attrNameLst>
                                          <p:attrName>style.visibility</p:attrName>
                                        </p:attrNameLst>
                                      </p:cBhvr>
                                      <p:to>
                                        <p:strVal val="hidden"/>
                                      </p:to>
                                    </p:set>
                                  </p:childTnLst>
                                </p:cTn>
                              </p:par>
                              <p:par>
                                <p:cTn id="118" presetID="1" presetClass="entr" presetSubtype="0" fill="hold" nodeType="withEffect">
                                  <p:stCondLst>
                                    <p:cond delay="0"/>
                                  </p:stCondLst>
                                  <p:childTnLst>
                                    <p:set>
                                      <p:cBhvr>
                                        <p:cTn id="119" dur="1" fill="hold">
                                          <p:stCondLst>
                                            <p:cond delay="0"/>
                                          </p:stCondLst>
                                        </p:cTn>
                                        <p:tgtEl>
                                          <p:spTgt spid="23"/>
                                        </p:tgtEl>
                                        <p:attrNameLst>
                                          <p:attrName>style.visibility</p:attrName>
                                        </p:attrNameLst>
                                      </p:cBhvr>
                                      <p:to>
                                        <p:strVal val="visible"/>
                                      </p:to>
                                    </p:set>
                                  </p:childTnLst>
                                </p:cTn>
                              </p:par>
                              <p:par>
                                <p:cTn id="120" presetID="1" presetClass="entr" presetSubtype="0" fill="hold" grpId="0" nodeType="withEffect">
                                  <p:stCondLst>
                                    <p:cond delay="0"/>
                                  </p:stCondLst>
                                  <p:childTnLst>
                                    <p:set>
                                      <p:cBhvr>
                                        <p:cTn id="121" dur="1" fill="hold">
                                          <p:stCondLst>
                                            <p:cond delay="0"/>
                                          </p:stCondLst>
                                        </p:cTn>
                                        <p:tgtEl>
                                          <p:spTgt spid="24"/>
                                        </p:tgtEl>
                                        <p:attrNameLst>
                                          <p:attrName>style.visibility</p:attrName>
                                        </p:attrNameLst>
                                      </p:cBhvr>
                                      <p:to>
                                        <p:strVal val="visible"/>
                                      </p:to>
                                    </p:set>
                                  </p:childTnLst>
                                </p:cTn>
                              </p:par>
                              <p:par>
                                <p:cTn id="122" presetID="26" presetClass="emph" presetSubtype="0" repeatCount="indefinite" fill="hold" grpId="1" nodeType="withEffect">
                                  <p:stCondLst>
                                    <p:cond delay="0"/>
                                  </p:stCondLst>
                                  <p:endCondLst>
                                    <p:cond evt="onNext" delay="0">
                                      <p:tgtEl>
                                        <p:sldTgt/>
                                      </p:tgtEl>
                                    </p:cond>
                                  </p:endCondLst>
                                  <p:childTnLst>
                                    <p:animEffect transition="out" filter="fade">
                                      <p:cBhvr>
                                        <p:cTn id="123" dur="500" tmFilter="0, 0; .2, .5; .8, .5; 1, 0"/>
                                        <p:tgtEl>
                                          <p:spTgt spid="24"/>
                                        </p:tgtEl>
                                      </p:cBhvr>
                                    </p:animEffect>
                                    <p:animScale>
                                      <p:cBhvr>
                                        <p:cTn id="124" dur="250" autoRev="1" fill="hold"/>
                                        <p:tgtEl>
                                          <p:spTgt spid="24"/>
                                        </p:tgtEl>
                                      </p:cBhvr>
                                      <p:by x="105000" y="105000"/>
                                    </p:animScale>
                                  </p:childTnLst>
                                </p:cTn>
                              </p:par>
                            </p:childTnLst>
                          </p:cTn>
                        </p:par>
                      </p:childTnLst>
                    </p:cTn>
                  </p:par>
                  <p:par>
                    <p:cTn id="125" fill="hold">
                      <p:stCondLst>
                        <p:cond delay="indefinite"/>
                      </p:stCondLst>
                      <p:childTnLst>
                        <p:par>
                          <p:cTn id="126" fill="hold">
                            <p:stCondLst>
                              <p:cond delay="0"/>
                            </p:stCondLst>
                            <p:childTnLst>
                              <p:par>
                                <p:cTn id="127" presetID="1" presetClass="exit" presetSubtype="0" fill="hold" grpId="2" nodeType="clickEffect">
                                  <p:stCondLst>
                                    <p:cond delay="0"/>
                                  </p:stCondLst>
                                  <p:childTnLst>
                                    <p:set>
                                      <p:cBhvr>
                                        <p:cTn id="128" dur="1" fill="hold">
                                          <p:stCondLst>
                                            <p:cond delay="0"/>
                                          </p:stCondLst>
                                        </p:cTn>
                                        <p:tgtEl>
                                          <p:spTgt spid="24"/>
                                        </p:tgtEl>
                                        <p:attrNameLst>
                                          <p:attrName>style.visibility</p:attrName>
                                        </p:attrNameLst>
                                      </p:cBhvr>
                                      <p:to>
                                        <p:strVal val="hidden"/>
                                      </p:to>
                                    </p:set>
                                  </p:childTnLst>
                                </p:cTn>
                              </p:par>
                              <p:par>
                                <p:cTn id="129" presetID="1" presetClass="exit" presetSubtype="0" fill="hold" nodeType="withEffect">
                                  <p:stCondLst>
                                    <p:cond delay="0"/>
                                  </p:stCondLst>
                                  <p:childTnLst>
                                    <p:set>
                                      <p:cBhvr>
                                        <p:cTn id="130" dur="1" fill="hold">
                                          <p:stCondLst>
                                            <p:cond delay="0"/>
                                          </p:stCondLst>
                                        </p:cTn>
                                        <p:tgtEl>
                                          <p:spTgt spid="23"/>
                                        </p:tgtEl>
                                        <p:attrNameLst>
                                          <p:attrName>style.visibility</p:attrName>
                                        </p:attrNameLst>
                                      </p:cBhvr>
                                      <p:to>
                                        <p:strVal val="hidden"/>
                                      </p:to>
                                    </p:set>
                                  </p:childTnLst>
                                </p:cTn>
                              </p:par>
                              <p:par>
                                <p:cTn id="131" presetID="1" presetClass="entr" presetSubtype="0" fill="hold" nodeType="withEffect">
                                  <p:stCondLst>
                                    <p:cond delay="0"/>
                                  </p:stCondLst>
                                  <p:childTnLst>
                                    <p:set>
                                      <p:cBhvr>
                                        <p:cTn id="132" dur="1" fill="hold">
                                          <p:stCondLst>
                                            <p:cond delay="0"/>
                                          </p:stCondLst>
                                        </p:cTn>
                                        <p:tgtEl>
                                          <p:spTgt spid="25"/>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26"/>
                                        </p:tgtEl>
                                        <p:attrNameLst>
                                          <p:attrName>style.visibility</p:attrName>
                                        </p:attrNameLst>
                                      </p:cBhvr>
                                      <p:to>
                                        <p:strVal val="visible"/>
                                      </p:to>
                                    </p:set>
                                  </p:childTnLst>
                                </p:cTn>
                              </p:par>
                              <p:par>
                                <p:cTn id="135" presetID="26" presetClass="emph" presetSubtype="0" repeatCount="indefinite" fill="hold" grpId="1" nodeType="withEffect">
                                  <p:stCondLst>
                                    <p:cond delay="0"/>
                                  </p:stCondLst>
                                  <p:endCondLst>
                                    <p:cond evt="onNext" delay="0">
                                      <p:tgtEl>
                                        <p:sldTgt/>
                                      </p:tgtEl>
                                    </p:cond>
                                  </p:endCondLst>
                                  <p:childTnLst>
                                    <p:animEffect transition="out" filter="fade">
                                      <p:cBhvr>
                                        <p:cTn id="136" dur="500" tmFilter="0, 0; .2, .5; .8, .5; 1, 0"/>
                                        <p:tgtEl>
                                          <p:spTgt spid="26"/>
                                        </p:tgtEl>
                                      </p:cBhvr>
                                    </p:animEffect>
                                    <p:animScale>
                                      <p:cBhvr>
                                        <p:cTn id="137" dur="250" autoRev="1" fill="hold"/>
                                        <p:tgtEl>
                                          <p:spTgt spid="26"/>
                                        </p:tgtEl>
                                      </p:cBhvr>
                                      <p:by x="105000" y="105000"/>
                                    </p:animScale>
                                  </p:childTnLst>
                                </p:cTn>
                              </p:par>
                              <p:par>
                                <p:cTn id="138" presetID="1" presetClass="entr" presetSubtype="0" fill="hold" grpId="0" nodeType="withEffect">
                                  <p:stCondLst>
                                    <p:cond delay="0"/>
                                  </p:stCondLst>
                                  <p:childTnLst>
                                    <p:set>
                                      <p:cBhvr>
                                        <p:cTn id="139" dur="1" fill="hold">
                                          <p:stCondLst>
                                            <p:cond delay="0"/>
                                          </p:stCondLst>
                                        </p:cTn>
                                        <p:tgtEl>
                                          <p:spTgt spid="31"/>
                                        </p:tgtEl>
                                        <p:attrNameLst>
                                          <p:attrName>style.visibility</p:attrName>
                                        </p:attrNameLst>
                                      </p:cBhvr>
                                      <p:to>
                                        <p:strVal val="visible"/>
                                      </p:to>
                                    </p:set>
                                  </p:childTnLst>
                                </p:cTn>
                              </p:par>
                              <p:par>
                                <p:cTn id="140" presetID="26" presetClass="emph" presetSubtype="0" repeatCount="indefinite" fill="hold" grpId="1" nodeType="withEffect">
                                  <p:stCondLst>
                                    <p:cond delay="0"/>
                                  </p:stCondLst>
                                  <p:endCondLst>
                                    <p:cond evt="onNext" delay="0">
                                      <p:tgtEl>
                                        <p:sldTgt/>
                                      </p:tgtEl>
                                    </p:cond>
                                  </p:endCondLst>
                                  <p:childTnLst>
                                    <p:animEffect transition="out" filter="fade">
                                      <p:cBhvr>
                                        <p:cTn id="141" dur="500" tmFilter="0, 0; .2, .5; .8, .5; 1, 0"/>
                                        <p:tgtEl>
                                          <p:spTgt spid="31"/>
                                        </p:tgtEl>
                                      </p:cBhvr>
                                    </p:animEffect>
                                    <p:animScale>
                                      <p:cBhvr>
                                        <p:cTn id="142" dur="250" autoRev="1" fill="hold"/>
                                        <p:tgtEl>
                                          <p:spTgt spid="31"/>
                                        </p:tgtEl>
                                      </p:cBhvr>
                                      <p:by x="105000" y="105000"/>
                                    </p:animScale>
                                  </p:childTnLst>
                                </p:cTn>
                              </p:par>
                            </p:childTnLst>
                          </p:cTn>
                        </p:par>
                      </p:childTnLst>
                    </p:cTn>
                  </p:par>
                  <p:par>
                    <p:cTn id="143" fill="hold">
                      <p:stCondLst>
                        <p:cond delay="indefinite"/>
                      </p:stCondLst>
                      <p:childTnLst>
                        <p:par>
                          <p:cTn id="144" fill="hold">
                            <p:stCondLst>
                              <p:cond delay="0"/>
                            </p:stCondLst>
                            <p:childTnLst>
                              <p:par>
                                <p:cTn id="145" presetID="1" presetClass="exit" presetSubtype="0" fill="hold" grpId="2" nodeType="clickEffect">
                                  <p:stCondLst>
                                    <p:cond delay="0"/>
                                  </p:stCondLst>
                                  <p:childTnLst>
                                    <p:set>
                                      <p:cBhvr>
                                        <p:cTn id="146" dur="1" fill="hold">
                                          <p:stCondLst>
                                            <p:cond delay="0"/>
                                          </p:stCondLst>
                                        </p:cTn>
                                        <p:tgtEl>
                                          <p:spTgt spid="31"/>
                                        </p:tgtEl>
                                        <p:attrNameLst>
                                          <p:attrName>style.visibility</p:attrName>
                                        </p:attrNameLst>
                                      </p:cBhvr>
                                      <p:to>
                                        <p:strVal val="hidden"/>
                                      </p:to>
                                    </p:set>
                                  </p:childTnLst>
                                </p:cTn>
                              </p:par>
                            </p:childTnLst>
                          </p:cTn>
                        </p:par>
                      </p:childTnLst>
                    </p:cTn>
                  </p:par>
                  <p:par>
                    <p:cTn id="147" fill="hold">
                      <p:stCondLst>
                        <p:cond delay="indefinite"/>
                      </p:stCondLst>
                      <p:childTnLst>
                        <p:par>
                          <p:cTn id="148" fill="hold">
                            <p:stCondLst>
                              <p:cond delay="0"/>
                            </p:stCondLst>
                            <p:childTnLst>
                              <p:par>
                                <p:cTn id="149" presetID="1" presetClass="exit" presetSubtype="0" fill="hold" grpId="2" nodeType="clickEffect">
                                  <p:stCondLst>
                                    <p:cond delay="0"/>
                                  </p:stCondLst>
                                  <p:childTnLst>
                                    <p:set>
                                      <p:cBhvr>
                                        <p:cTn id="150" dur="1" fill="hold">
                                          <p:stCondLst>
                                            <p:cond delay="0"/>
                                          </p:stCondLst>
                                        </p:cTn>
                                        <p:tgtEl>
                                          <p:spTgt spid="26"/>
                                        </p:tgtEl>
                                        <p:attrNameLst>
                                          <p:attrName>style.visibility</p:attrName>
                                        </p:attrNameLst>
                                      </p:cBhvr>
                                      <p:to>
                                        <p:strVal val="hidden"/>
                                      </p:to>
                                    </p:set>
                                  </p:childTnLst>
                                </p:cTn>
                              </p:par>
                              <p:par>
                                <p:cTn id="151" presetID="1" presetClass="exit" presetSubtype="0" fill="hold" nodeType="withEffect">
                                  <p:stCondLst>
                                    <p:cond delay="0"/>
                                  </p:stCondLst>
                                  <p:childTnLst>
                                    <p:set>
                                      <p:cBhvr>
                                        <p:cTn id="152" dur="1" fill="hold">
                                          <p:stCondLst>
                                            <p:cond delay="0"/>
                                          </p:stCondLst>
                                        </p:cTn>
                                        <p:tgtEl>
                                          <p:spTgt spid="25"/>
                                        </p:tgtEl>
                                        <p:attrNameLst>
                                          <p:attrName>style.visibility</p:attrName>
                                        </p:attrNameLst>
                                      </p:cBhvr>
                                      <p:to>
                                        <p:strVal val="hidden"/>
                                      </p:to>
                                    </p:set>
                                  </p:childTnLst>
                                </p:cTn>
                              </p:par>
                              <p:par>
                                <p:cTn id="153" presetID="1" presetClass="entr" presetSubtype="0" fill="hold" nodeType="withEffect">
                                  <p:stCondLst>
                                    <p:cond delay="0"/>
                                  </p:stCondLst>
                                  <p:childTnLst>
                                    <p:set>
                                      <p:cBhvr>
                                        <p:cTn id="154" dur="1" fill="hold">
                                          <p:stCondLst>
                                            <p:cond delay="0"/>
                                          </p:stCondLst>
                                        </p:cTn>
                                        <p:tgtEl>
                                          <p:spTgt spid="27"/>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28"/>
                                        </p:tgtEl>
                                        <p:attrNameLst>
                                          <p:attrName>style.visibility</p:attrName>
                                        </p:attrNameLst>
                                      </p:cBhvr>
                                      <p:to>
                                        <p:strVal val="visible"/>
                                      </p:to>
                                    </p:set>
                                  </p:childTnLst>
                                </p:cTn>
                              </p:par>
                              <p:par>
                                <p:cTn id="157" presetID="26" presetClass="emph" presetSubtype="0" repeatCount="indefinite" fill="hold" grpId="1" nodeType="withEffect">
                                  <p:stCondLst>
                                    <p:cond delay="0"/>
                                  </p:stCondLst>
                                  <p:endCondLst>
                                    <p:cond evt="onNext" delay="0">
                                      <p:tgtEl>
                                        <p:sldTgt/>
                                      </p:tgtEl>
                                    </p:cond>
                                  </p:endCondLst>
                                  <p:childTnLst>
                                    <p:animEffect transition="out" filter="fade">
                                      <p:cBhvr>
                                        <p:cTn id="158" dur="500" tmFilter="0, 0; .2, .5; .8, .5; 1, 0"/>
                                        <p:tgtEl>
                                          <p:spTgt spid="28"/>
                                        </p:tgtEl>
                                      </p:cBhvr>
                                    </p:animEffect>
                                    <p:animScale>
                                      <p:cBhvr>
                                        <p:cTn id="159" dur="250" autoRev="1" fill="hold"/>
                                        <p:tgtEl>
                                          <p:spTgt spid="28"/>
                                        </p:tgtEl>
                                      </p:cBhvr>
                                      <p:by x="105000" y="105000"/>
                                    </p:animScale>
                                  </p:childTnLst>
                                </p:cTn>
                              </p:par>
                            </p:childTnLst>
                          </p:cTn>
                        </p:par>
                      </p:childTnLst>
                    </p:cTn>
                  </p:par>
                  <p:par>
                    <p:cTn id="160" fill="hold">
                      <p:stCondLst>
                        <p:cond delay="indefinite"/>
                      </p:stCondLst>
                      <p:childTnLst>
                        <p:par>
                          <p:cTn id="161" fill="hold">
                            <p:stCondLst>
                              <p:cond delay="0"/>
                            </p:stCondLst>
                            <p:childTnLst>
                              <p:par>
                                <p:cTn id="162" presetID="1" presetClass="exit" presetSubtype="0" fill="hold" grpId="2" nodeType="clickEffect">
                                  <p:stCondLst>
                                    <p:cond delay="0"/>
                                  </p:stCondLst>
                                  <p:childTnLst>
                                    <p:set>
                                      <p:cBhvr>
                                        <p:cTn id="163" dur="1" fill="hold">
                                          <p:stCondLst>
                                            <p:cond delay="0"/>
                                          </p:stCondLst>
                                        </p:cTn>
                                        <p:tgtEl>
                                          <p:spTgt spid="28"/>
                                        </p:tgtEl>
                                        <p:attrNameLst>
                                          <p:attrName>style.visibility</p:attrName>
                                        </p:attrNameLst>
                                      </p:cBhvr>
                                      <p:to>
                                        <p:strVal val="hidden"/>
                                      </p:to>
                                    </p:set>
                                  </p:childTnLst>
                                </p:cTn>
                              </p:par>
                              <p:par>
                                <p:cTn id="164" presetID="1" presetClass="exit" presetSubtype="0" fill="hold" nodeType="withEffect">
                                  <p:stCondLst>
                                    <p:cond delay="0"/>
                                  </p:stCondLst>
                                  <p:childTnLst>
                                    <p:set>
                                      <p:cBhvr>
                                        <p:cTn id="165" dur="1" fill="hold">
                                          <p:stCondLst>
                                            <p:cond delay="0"/>
                                          </p:stCondLst>
                                        </p:cTn>
                                        <p:tgtEl>
                                          <p:spTgt spid="27"/>
                                        </p:tgtEl>
                                        <p:attrNameLst>
                                          <p:attrName>style.visibility</p:attrName>
                                        </p:attrNameLst>
                                      </p:cBhvr>
                                      <p:to>
                                        <p:strVal val="hidden"/>
                                      </p:to>
                                    </p:set>
                                  </p:childTnLst>
                                </p:cTn>
                              </p:par>
                              <p:par>
                                <p:cTn id="166" presetID="1" presetClass="entr" presetSubtype="0" fill="hold" nodeType="withEffect">
                                  <p:stCondLst>
                                    <p:cond delay="0"/>
                                  </p:stCondLst>
                                  <p:childTnLst>
                                    <p:set>
                                      <p:cBhvr>
                                        <p:cTn id="167" dur="1" fill="hold">
                                          <p:stCondLst>
                                            <p:cond delay="0"/>
                                          </p:stCondLst>
                                        </p:cTn>
                                        <p:tgtEl>
                                          <p:spTgt spid="29"/>
                                        </p:tgtEl>
                                        <p:attrNameLst>
                                          <p:attrName>style.visibility</p:attrName>
                                        </p:attrNameLst>
                                      </p:cBhvr>
                                      <p:to>
                                        <p:strVal val="visible"/>
                                      </p:to>
                                    </p:set>
                                  </p:childTnLst>
                                </p:cTn>
                              </p:par>
                              <p:par>
                                <p:cTn id="168" presetID="1" presetClass="entr" presetSubtype="0" fill="hold" grpId="0" nodeType="withEffect">
                                  <p:stCondLst>
                                    <p:cond delay="0"/>
                                  </p:stCondLst>
                                  <p:childTnLst>
                                    <p:set>
                                      <p:cBhvr>
                                        <p:cTn id="169" dur="1" fill="hold">
                                          <p:stCondLst>
                                            <p:cond delay="0"/>
                                          </p:stCondLst>
                                        </p:cTn>
                                        <p:tgtEl>
                                          <p:spTgt spid="30"/>
                                        </p:tgtEl>
                                        <p:attrNameLst>
                                          <p:attrName>style.visibility</p:attrName>
                                        </p:attrNameLst>
                                      </p:cBhvr>
                                      <p:to>
                                        <p:strVal val="visible"/>
                                      </p:to>
                                    </p:set>
                                  </p:childTnLst>
                                </p:cTn>
                              </p:par>
                              <p:par>
                                <p:cTn id="170" presetID="26" presetClass="emph" presetSubtype="0" repeatCount="indefinite" fill="hold" grpId="1" nodeType="withEffect">
                                  <p:stCondLst>
                                    <p:cond delay="0"/>
                                  </p:stCondLst>
                                  <p:endCondLst>
                                    <p:cond evt="onNext" delay="0">
                                      <p:tgtEl>
                                        <p:sldTgt/>
                                      </p:tgtEl>
                                    </p:cond>
                                  </p:endCondLst>
                                  <p:childTnLst>
                                    <p:animEffect transition="out" filter="fade">
                                      <p:cBhvr>
                                        <p:cTn id="171" dur="500" tmFilter="0, 0; .2, .5; .8, .5; 1, 0"/>
                                        <p:tgtEl>
                                          <p:spTgt spid="30"/>
                                        </p:tgtEl>
                                      </p:cBhvr>
                                    </p:animEffect>
                                    <p:animScale>
                                      <p:cBhvr>
                                        <p:cTn id="172" dur="250" autoRev="1" fill="hold"/>
                                        <p:tgtEl>
                                          <p:spTgt spid="30"/>
                                        </p:tgtEl>
                                      </p:cBhvr>
                                      <p:by x="105000" y="105000"/>
                                    </p:animScale>
                                  </p:childTnLst>
                                </p:cTn>
                              </p:par>
                            </p:childTnLst>
                          </p:cTn>
                        </p:par>
                      </p:childTnLst>
                    </p:cTn>
                  </p:par>
                  <p:par>
                    <p:cTn id="173" fill="hold">
                      <p:stCondLst>
                        <p:cond delay="indefinite"/>
                      </p:stCondLst>
                      <p:childTnLst>
                        <p:par>
                          <p:cTn id="174" fill="hold">
                            <p:stCondLst>
                              <p:cond delay="0"/>
                            </p:stCondLst>
                            <p:childTnLst>
                              <p:par>
                                <p:cTn id="175" presetID="1" presetClass="exit" presetSubtype="0" fill="hold" grpId="2" nodeType="clickEffect">
                                  <p:stCondLst>
                                    <p:cond delay="0"/>
                                  </p:stCondLst>
                                  <p:childTnLst>
                                    <p:set>
                                      <p:cBhvr>
                                        <p:cTn id="176" dur="1" fill="hold">
                                          <p:stCondLst>
                                            <p:cond delay="0"/>
                                          </p:stCondLst>
                                        </p:cTn>
                                        <p:tgtEl>
                                          <p:spTgt spid="30"/>
                                        </p:tgtEl>
                                        <p:attrNameLst>
                                          <p:attrName>style.visibility</p:attrName>
                                        </p:attrNameLst>
                                      </p:cBhvr>
                                      <p:to>
                                        <p:strVal val="hidden"/>
                                      </p:to>
                                    </p:set>
                                  </p:childTnLst>
                                </p:cTn>
                              </p:par>
                              <p:par>
                                <p:cTn id="177" presetID="1" presetClass="exit" presetSubtype="0" fill="hold" nodeType="withEffect">
                                  <p:stCondLst>
                                    <p:cond delay="0"/>
                                  </p:stCondLst>
                                  <p:childTnLst>
                                    <p:set>
                                      <p:cBhvr>
                                        <p:cTn id="178" dur="1" fill="hold">
                                          <p:stCondLst>
                                            <p:cond delay="0"/>
                                          </p:stCondLst>
                                        </p:cTn>
                                        <p:tgtEl>
                                          <p:spTgt spid="29"/>
                                        </p:tgtEl>
                                        <p:attrNameLst>
                                          <p:attrName>style.visibility</p:attrName>
                                        </p:attrNameLst>
                                      </p:cBhvr>
                                      <p:to>
                                        <p:strVal val="hidden"/>
                                      </p:to>
                                    </p:set>
                                  </p:childTnLst>
                                </p:cTn>
                              </p:par>
                              <p:par>
                                <p:cTn id="179" presetID="1" presetClass="entr" presetSubtype="0" fill="hold" nodeType="withEffect">
                                  <p:stCondLst>
                                    <p:cond delay="0"/>
                                  </p:stCondLst>
                                  <p:childTnLst>
                                    <p:set>
                                      <p:cBhvr>
                                        <p:cTn id="180" dur="1" fill="hold">
                                          <p:stCondLst>
                                            <p:cond delay="0"/>
                                          </p:stCondLst>
                                        </p:cTn>
                                        <p:tgtEl>
                                          <p:spTgt spid="33"/>
                                        </p:tgtEl>
                                        <p:attrNameLst>
                                          <p:attrName>style.visibility</p:attrName>
                                        </p:attrNameLst>
                                      </p:cBhvr>
                                      <p:to>
                                        <p:strVal val="visible"/>
                                      </p:to>
                                    </p:set>
                                  </p:childTnLst>
                                </p:cTn>
                              </p:par>
                              <p:par>
                                <p:cTn id="181" presetID="1" presetClass="exit" presetSubtype="0" fill="hold" nodeType="withEffect">
                                  <p:stCondLst>
                                    <p:cond delay="0"/>
                                  </p:stCondLst>
                                  <p:childTnLst>
                                    <p:set>
                                      <p:cBhvr>
                                        <p:cTn id="182" dur="1" fill="hold">
                                          <p:stCondLst>
                                            <p:cond delay="0"/>
                                          </p:stCondLst>
                                        </p:cTn>
                                        <p:tgtEl>
                                          <p:spTgt spid="33"/>
                                        </p:tgtEl>
                                        <p:attrNameLst>
                                          <p:attrName>style.visibility</p:attrName>
                                        </p:attrNameLst>
                                      </p:cBhvr>
                                      <p:to>
                                        <p:strVal val="hidden"/>
                                      </p:to>
                                    </p:set>
                                  </p:childTnLst>
                                </p:cTn>
                              </p:par>
                              <p:par>
                                <p:cTn id="183" presetID="1" presetClass="entr" presetSubtype="0" fill="hold" grpId="0" nodeType="withEffect">
                                  <p:stCondLst>
                                    <p:cond delay="0"/>
                                  </p:stCondLst>
                                  <p:childTnLst>
                                    <p:set>
                                      <p:cBhvr>
                                        <p:cTn id="184" dur="1" fill="hold">
                                          <p:stCondLst>
                                            <p:cond delay="0"/>
                                          </p:stCondLst>
                                        </p:cTn>
                                        <p:tgtEl>
                                          <p:spTgt spid="34"/>
                                        </p:tgtEl>
                                        <p:attrNameLst>
                                          <p:attrName>style.visibility</p:attrName>
                                        </p:attrNameLst>
                                      </p:cBhvr>
                                      <p:to>
                                        <p:strVal val="visible"/>
                                      </p:to>
                                    </p:set>
                                  </p:childTnLst>
                                </p:cTn>
                              </p:par>
                              <p:par>
                                <p:cTn id="185" presetID="1" presetClass="entr" presetSubtype="0" fill="hold" grpId="0" nodeType="withEffect">
                                  <p:stCondLst>
                                    <p:cond delay="0"/>
                                  </p:stCondLst>
                                  <p:childTnLst>
                                    <p:set>
                                      <p:cBhvr>
                                        <p:cTn id="186" dur="1" fill="hold">
                                          <p:stCondLst>
                                            <p:cond delay="0"/>
                                          </p:stCondLst>
                                        </p:cTn>
                                        <p:tgtEl>
                                          <p:spTgt spid="35"/>
                                        </p:tgtEl>
                                        <p:attrNameLst>
                                          <p:attrName>style.visibility</p:attrName>
                                        </p:attrNameLst>
                                      </p:cBhvr>
                                      <p:to>
                                        <p:strVal val="visible"/>
                                      </p:to>
                                    </p:set>
                                  </p:childTnLst>
                                </p:cTn>
                              </p:par>
                              <p:par>
                                <p:cTn id="187" presetID="26" presetClass="emph" presetSubtype="0" repeatCount="indefinite" fill="hold" grpId="1" nodeType="withEffect">
                                  <p:stCondLst>
                                    <p:cond delay="0"/>
                                  </p:stCondLst>
                                  <p:endCondLst>
                                    <p:cond evt="onNext" delay="0">
                                      <p:tgtEl>
                                        <p:sldTgt/>
                                      </p:tgtEl>
                                    </p:cond>
                                  </p:endCondLst>
                                  <p:childTnLst>
                                    <p:animEffect transition="out" filter="fade">
                                      <p:cBhvr>
                                        <p:cTn id="188" dur="500" tmFilter="0, 0; .2, .5; .8, .5; 1, 0"/>
                                        <p:tgtEl>
                                          <p:spTgt spid="35"/>
                                        </p:tgtEl>
                                      </p:cBhvr>
                                    </p:animEffect>
                                    <p:animScale>
                                      <p:cBhvr>
                                        <p:cTn id="189" dur="250" autoRev="1" fill="hold"/>
                                        <p:tgtEl>
                                          <p:spTgt spid="35"/>
                                        </p:tgtEl>
                                      </p:cBhvr>
                                      <p:by x="105000" y="105000"/>
                                    </p:animScale>
                                  </p:childTnLst>
                                </p:cTn>
                              </p:par>
                            </p:childTnLst>
                          </p:cTn>
                        </p:par>
                      </p:childTnLst>
                    </p:cTn>
                  </p:par>
                  <p:par>
                    <p:cTn id="190" fill="hold">
                      <p:stCondLst>
                        <p:cond delay="indefinite"/>
                      </p:stCondLst>
                      <p:childTnLst>
                        <p:par>
                          <p:cTn id="191" fill="hold">
                            <p:stCondLst>
                              <p:cond delay="0"/>
                            </p:stCondLst>
                            <p:childTnLst>
                              <p:par>
                                <p:cTn id="192" presetID="1" presetClass="exit" presetSubtype="0" fill="hold" grpId="2" nodeType="clickEffect">
                                  <p:stCondLst>
                                    <p:cond delay="0"/>
                                  </p:stCondLst>
                                  <p:childTnLst>
                                    <p:set>
                                      <p:cBhvr>
                                        <p:cTn id="193" dur="1" fill="hold">
                                          <p:stCondLst>
                                            <p:cond delay="0"/>
                                          </p:stCondLst>
                                        </p:cTn>
                                        <p:tgtEl>
                                          <p:spTgt spid="35"/>
                                        </p:tgtEl>
                                        <p:attrNameLst>
                                          <p:attrName>style.visibility</p:attrName>
                                        </p:attrNameLst>
                                      </p:cBhvr>
                                      <p:to>
                                        <p:strVal val="hidden"/>
                                      </p:to>
                                    </p:set>
                                  </p:childTnLst>
                                </p:cTn>
                              </p:par>
                              <p:par>
                                <p:cTn id="194" presetID="26" presetClass="emph" presetSubtype="0" repeatCount="indefinite" fill="hold" grpId="1" nodeType="withEffect">
                                  <p:stCondLst>
                                    <p:cond delay="0"/>
                                  </p:stCondLst>
                                  <p:endCondLst>
                                    <p:cond evt="onNext" delay="0">
                                      <p:tgtEl>
                                        <p:sldTgt/>
                                      </p:tgtEl>
                                    </p:cond>
                                  </p:endCondLst>
                                  <p:childTnLst>
                                    <p:animEffect transition="out" filter="fade">
                                      <p:cBhvr>
                                        <p:cTn id="195" dur="500" tmFilter="0, 0; .2, .5; .8, .5; 1, 0"/>
                                        <p:tgtEl>
                                          <p:spTgt spid="34"/>
                                        </p:tgtEl>
                                      </p:cBhvr>
                                    </p:animEffect>
                                    <p:animScale>
                                      <p:cBhvr>
                                        <p:cTn id="196" dur="250" autoRev="1" fill="hold"/>
                                        <p:tgtEl>
                                          <p:spTgt spid="34"/>
                                        </p:tgtEl>
                                      </p:cBhvr>
                                      <p:by x="105000" y="105000"/>
                                    </p:animScale>
                                  </p:childTnLst>
                                </p:cTn>
                              </p:par>
                            </p:childTnLst>
                          </p:cTn>
                        </p:par>
                      </p:childTnLst>
                    </p:cTn>
                  </p:par>
                  <p:par>
                    <p:cTn id="197" fill="hold">
                      <p:stCondLst>
                        <p:cond delay="indefinite"/>
                      </p:stCondLst>
                      <p:childTnLst>
                        <p:par>
                          <p:cTn id="198" fill="hold">
                            <p:stCondLst>
                              <p:cond delay="0"/>
                            </p:stCondLst>
                            <p:childTnLst>
                              <p:par>
                                <p:cTn id="199" presetID="1" presetClass="exit" presetSubtype="0" fill="hold" grpId="2" nodeType="clickEffect">
                                  <p:stCondLst>
                                    <p:cond delay="0"/>
                                  </p:stCondLst>
                                  <p:childTnLst>
                                    <p:set>
                                      <p:cBhvr>
                                        <p:cTn id="200" dur="1" fill="hold">
                                          <p:stCondLst>
                                            <p:cond delay="0"/>
                                          </p:stCondLst>
                                        </p:cTn>
                                        <p:tgtEl>
                                          <p:spTgt spid="3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9" grpId="2" animBg="1"/>
      <p:bldP spid="14" grpId="0" animBg="1"/>
      <p:bldP spid="14" grpId="1" animBg="1"/>
      <p:bldP spid="14" grpId="2" animBg="1"/>
      <p:bldP spid="16" grpId="0" animBg="1"/>
      <p:bldP spid="16" grpId="1" animBg="1"/>
      <p:bldP spid="16" grpId="2" animBg="1"/>
      <p:bldP spid="18" grpId="0" animBg="1"/>
      <p:bldP spid="18" grpId="1" animBg="1"/>
      <p:bldP spid="18" grpId="2" animBg="1"/>
      <p:bldP spid="20" grpId="0" animBg="1"/>
      <p:bldP spid="20" grpId="1" animBg="1"/>
      <p:bldP spid="20" grpId="2" animBg="1"/>
      <p:bldP spid="22" grpId="0" animBg="1"/>
      <p:bldP spid="22" grpId="1" animBg="1"/>
      <p:bldP spid="22" grpId="2" animBg="1"/>
      <p:bldP spid="24" grpId="0" animBg="1"/>
      <p:bldP spid="24" grpId="1" animBg="1"/>
      <p:bldP spid="24" grpId="2" animBg="1"/>
      <p:bldP spid="26" grpId="0" animBg="1"/>
      <p:bldP spid="26" grpId="1" animBg="1"/>
      <p:bldP spid="26" grpId="2" animBg="1"/>
      <p:bldP spid="28" grpId="0" animBg="1"/>
      <p:bldP spid="28" grpId="1" animBg="1"/>
      <p:bldP spid="28" grpId="2" animBg="1"/>
      <p:bldP spid="30" grpId="0" animBg="1"/>
      <p:bldP spid="30" grpId="1" animBg="1"/>
      <p:bldP spid="30" grpId="2" animBg="1"/>
      <p:bldP spid="32" grpId="0" animBg="1"/>
      <p:bldP spid="32" grpId="1" animBg="1"/>
      <p:bldP spid="32" grpId="2" animBg="1"/>
      <p:bldP spid="35" grpId="0" animBg="1"/>
      <p:bldP spid="35" grpId="1" animBg="1"/>
      <p:bldP spid="35" grpId="2" animBg="1"/>
      <p:bldP spid="31" grpId="0" animBg="1"/>
      <p:bldP spid="31" grpId="1" animBg="1"/>
      <p:bldP spid="31" grpId="2" animBg="1"/>
      <p:bldP spid="34" grpId="0" animBg="1"/>
      <p:bldP spid="34" grpId="1" animBg="1"/>
      <p:bldP spid="34" grpId="2"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5C147-25E9-756C-79EB-8D82A6AE216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4F48DC2-020B-A056-ABE6-51586BC0B81D}"/>
              </a:ext>
            </a:extLst>
          </p:cNvPr>
          <p:cNvSpPr>
            <a:spLocks noGrp="1"/>
          </p:cNvSpPr>
          <p:nvPr>
            <p:ph type="title"/>
          </p:nvPr>
        </p:nvSpPr>
        <p:spPr>
          <a:xfrm>
            <a:off x="831850" y="1709738"/>
            <a:ext cx="10770870" cy="2852737"/>
          </a:xfrm>
        </p:spPr>
        <p:txBody>
          <a:bodyPr>
            <a:normAutofit/>
          </a:bodyPr>
          <a:lstStyle/>
          <a:p>
            <a:r>
              <a:rPr lang="fr-FR" dirty="0">
                <a:solidFill>
                  <a:schemeClr val="accent6">
                    <a:lumMod val="50000"/>
                  </a:schemeClr>
                </a:solidFill>
              </a:rPr>
              <a:t>Page Replacement Algorithme:</a:t>
            </a:r>
            <a:br>
              <a:rPr lang="fr-FR" dirty="0">
                <a:solidFill>
                  <a:schemeClr val="accent6">
                    <a:lumMod val="50000"/>
                  </a:schemeClr>
                </a:solidFill>
              </a:rPr>
            </a:br>
            <a:r>
              <a:rPr lang="fr-FR" dirty="0">
                <a:solidFill>
                  <a:schemeClr val="accent6">
                    <a:lumMod val="50000"/>
                  </a:schemeClr>
                </a:solidFill>
              </a:rPr>
              <a:t>OPT</a:t>
            </a:r>
            <a:r>
              <a:rPr lang="en-US" dirty="0"/>
              <a:t> (Optimal)</a:t>
            </a:r>
            <a:endParaRPr lang="fr-FR" dirty="0">
              <a:solidFill>
                <a:schemeClr val="accent6">
                  <a:lumMod val="50000"/>
                </a:schemeClr>
              </a:solidFill>
            </a:endParaRPr>
          </a:p>
        </p:txBody>
      </p:sp>
      <p:sp>
        <p:nvSpPr>
          <p:cNvPr id="5" name="Text Placeholder 4">
            <a:extLst>
              <a:ext uri="{FF2B5EF4-FFF2-40B4-BE49-F238E27FC236}">
                <a16:creationId xmlns:a16="http://schemas.microsoft.com/office/drawing/2014/main" id="{E50B1E58-C1C7-9501-7281-5C3FE0804AD9}"/>
              </a:ext>
            </a:extLst>
          </p:cNvPr>
          <p:cNvSpPr>
            <a:spLocks noGrp="1"/>
          </p:cNvSpPr>
          <p:nvPr>
            <p:ph type="body" idx="1"/>
          </p:nvPr>
        </p:nvSpPr>
        <p:spPr/>
        <p:txBody>
          <a:bodyPr/>
          <a:lstStyle/>
          <a:p>
            <a:r>
              <a:rPr lang="en-US" dirty="0"/>
              <a:t>Section – 7.3</a:t>
            </a:r>
          </a:p>
          <a:p>
            <a:endParaRPr lang="en-US" dirty="0"/>
          </a:p>
        </p:txBody>
      </p:sp>
    </p:spTree>
    <p:extLst>
      <p:ext uri="{BB962C8B-B14F-4D97-AF65-F5344CB8AC3E}">
        <p14:creationId xmlns:p14="http://schemas.microsoft.com/office/powerpoint/2010/main" val="27708625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Optimal Page Replacement Algorithm</a:t>
            </a:r>
          </a:p>
        </p:txBody>
      </p:sp>
      <p:sp>
        <p:nvSpPr>
          <p:cNvPr id="3" name="Content Placeholder 2"/>
          <p:cNvSpPr>
            <a:spLocks noGrp="1"/>
          </p:cNvSpPr>
          <p:nvPr>
            <p:ph idx="1"/>
          </p:nvPr>
        </p:nvSpPr>
        <p:spPr/>
        <p:txBody>
          <a:bodyPr/>
          <a:lstStyle/>
          <a:p>
            <a:r>
              <a:rPr lang="en-US" dirty="0"/>
              <a:t>When page fault occurs, some set of pages will be in the memory. </a:t>
            </a:r>
          </a:p>
          <a:p>
            <a:r>
              <a:rPr lang="en-US" dirty="0"/>
              <a:t>One of these pages will be referenced on the very next instruction. </a:t>
            </a:r>
          </a:p>
          <a:p>
            <a:r>
              <a:rPr lang="en-US" dirty="0"/>
              <a:t>Other pages may not be referenced until 10, 100, or perhaps 1000 instructions later.</a:t>
            </a:r>
          </a:p>
          <a:p>
            <a:r>
              <a:rPr lang="en-US" dirty="0"/>
              <a:t>This algorithm will remove the page which reference far away as compare to other pages.</a:t>
            </a:r>
          </a:p>
          <a:p>
            <a:r>
              <a:rPr lang="en-US" dirty="0"/>
              <a:t>The only problem with this algorithm is that it is </a:t>
            </a:r>
            <a:r>
              <a:rPr lang="en-US" b="1" dirty="0">
                <a:solidFill>
                  <a:schemeClr val="accent6"/>
                </a:solidFill>
              </a:rPr>
              <a:t>unrealizable</a:t>
            </a:r>
            <a:r>
              <a:rPr lang="en-US" dirty="0"/>
              <a:t>. </a:t>
            </a:r>
          </a:p>
          <a:p>
            <a:r>
              <a:rPr lang="en-US" dirty="0"/>
              <a:t>At the time of the page fault, the </a:t>
            </a:r>
            <a:r>
              <a:rPr lang="en-US" b="1" dirty="0">
                <a:solidFill>
                  <a:schemeClr val="accent6"/>
                </a:solidFill>
              </a:rPr>
              <a:t>operating system has no way of knowing when each of the pages will be referenced next</a:t>
            </a:r>
            <a:r>
              <a:rPr lang="en-US" dirty="0"/>
              <a:t>.</a:t>
            </a:r>
          </a:p>
        </p:txBody>
      </p:sp>
    </p:spTree>
    <p:extLst>
      <p:ext uri="{BB962C8B-B14F-4D97-AF65-F5344CB8AC3E}">
        <p14:creationId xmlns:p14="http://schemas.microsoft.com/office/powerpoint/2010/main" val="1704556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Optimal Page Replacement Algorithm</a:t>
            </a:r>
          </a:p>
        </p:txBody>
      </p:sp>
      <p:sp>
        <p:nvSpPr>
          <p:cNvPr id="3" name="Content Placeholder 2"/>
          <p:cNvSpPr>
            <a:spLocks noGrp="1"/>
          </p:cNvSpPr>
          <p:nvPr>
            <p:ph idx="1"/>
          </p:nvPr>
        </p:nvSpPr>
        <p:spPr/>
        <p:txBody>
          <a:bodyPr/>
          <a:lstStyle/>
          <a:p>
            <a:r>
              <a:rPr lang="en-US" dirty="0"/>
              <a:t>Page Reference String: </a:t>
            </a:r>
          </a:p>
          <a:p>
            <a:pPr lvl="1"/>
            <a:r>
              <a:rPr lang="en-US" spc="600" dirty="0"/>
              <a:t>4,7,6,1,7,6,1,2,7,2</a:t>
            </a:r>
          </a:p>
          <a:p>
            <a:pPr lvl="1"/>
            <a:r>
              <a:rPr lang="en-US" dirty="0"/>
              <a:t>Three frames</a:t>
            </a:r>
          </a:p>
        </p:txBody>
      </p:sp>
      <p:graphicFrame>
        <p:nvGraphicFramePr>
          <p:cNvPr id="4" name="Table 3"/>
          <p:cNvGraphicFramePr>
            <a:graphicFrameLocks noGrp="1"/>
          </p:cNvGraphicFramePr>
          <p:nvPr/>
        </p:nvGraphicFramePr>
        <p:xfrm>
          <a:off x="1019969" y="2248428"/>
          <a:ext cx="8324056" cy="457200"/>
        </p:xfrm>
        <a:graphic>
          <a:graphicData uri="http://schemas.openxmlformats.org/drawingml/2006/table">
            <a:tbl>
              <a:tblPr firstRow="1" bandRow="1">
                <a:tableStyleId>{93296810-A885-4BE3-A3E7-6D5BEEA58F35}</a:tableStyleId>
              </a:tblPr>
              <a:tblGrid>
                <a:gridCol w="2630126">
                  <a:extLst>
                    <a:ext uri="{9D8B030D-6E8A-4147-A177-3AD203B41FA5}">
                      <a16:colId xmlns:a16="http://schemas.microsoft.com/office/drawing/2014/main" val="20000"/>
                    </a:ext>
                  </a:extLst>
                </a:gridCol>
                <a:gridCol w="569393">
                  <a:extLst>
                    <a:ext uri="{9D8B030D-6E8A-4147-A177-3AD203B41FA5}">
                      <a16:colId xmlns:a16="http://schemas.microsoft.com/office/drawing/2014/main" val="20001"/>
                    </a:ext>
                  </a:extLst>
                </a:gridCol>
                <a:gridCol w="569393">
                  <a:extLst>
                    <a:ext uri="{9D8B030D-6E8A-4147-A177-3AD203B41FA5}">
                      <a16:colId xmlns:a16="http://schemas.microsoft.com/office/drawing/2014/main" val="20002"/>
                    </a:ext>
                  </a:extLst>
                </a:gridCol>
                <a:gridCol w="569393">
                  <a:extLst>
                    <a:ext uri="{9D8B030D-6E8A-4147-A177-3AD203B41FA5}">
                      <a16:colId xmlns:a16="http://schemas.microsoft.com/office/drawing/2014/main" val="20003"/>
                    </a:ext>
                  </a:extLst>
                </a:gridCol>
                <a:gridCol w="569393">
                  <a:extLst>
                    <a:ext uri="{9D8B030D-6E8A-4147-A177-3AD203B41FA5}">
                      <a16:colId xmlns:a16="http://schemas.microsoft.com/office/drawing/2014/main" val="20004"/>
                    </a:ext>
                  </a:extLst>
                </a:gridCol>
                <a:gridCol w="569393">
                  <a:extLst>
                    <a:ext uri="{9D8B030D-6E8A-4147-A177-3AD203B41FA5}">
                      <a16:colId xmlns:a16="http://schemas.microsoft.com/office/drawing/2014/main" val="20005"/>
                    </a:ext>
                  </a:extLst>
                </a:gridCol>
                <a:gridCol w="569393">
                  <a:extLst>
                    <a:ext uri="{9D8B030D-6E8A-4147-A177-3AD203B41FA5}">
                      <a16:colId xmlns:a16="http://schemas.microsoft.com/office/drawing/2014/main" val="20006"/>
                    </a:ext>
                  </a:extLst>
                </a:gridCol>
                <a:gridCol w="569393">
                  <a:extLst>
                    <a:ext uri="{9D8B030D-6E8A-4147-A177-3AD203B41FA5}">
                      <a16:colId xmlns:a16="http://schemas.microsoft.com/office/drawing/2014/main" val="20007"/>
                    </a:ext>
                  </a:extLst>
                </a:gridCol>
                <a:gridCol w="569393">
                  <a:extLst>
                    <a:ext uri="{9D8B030D-6E8A-4147-A177-3AD203B41FA5}">
                      <a16:colId xmlns:a16="http://schemas.microsoft.com/office/drawing/2014/main" val="20008"/>
                    </a:ext>
                  </a:extLst>
                </a:gridCol>
                <a:gridCol w="569393">
                  <a:extLst>
                    <a:ext uri="{9D8B030D-6E8A-4147-A177-3AD203B41FA5}">
                      <a16:colId xmlns:a16="http://schemas.microsoft.com/office/drawing/2014/main" val="20009"/>
                    </a:ext>
                  </a:extLst>
                </a:gridCol>
                <a:gridCol w="569393">
                  <a:extLst>
                    <a:ext uri="{9D8B030D-6E8A-4147-A177-3AD203B41FA5}">
                      <a16:colId xmlns:a16="http://schemas.microsoft.com/office/drawing/2014/main" val="20010"/>
                    </a:ext>
                  </a:extLst>
                </a:gridCol>
              </a:tblGrid>
              <a:tr h="370840">
                <a:tc>
                  <a:txBody>
                    <a:bodyPr/>
                    <a:lstStyle/>
                    <a:p>
                      <a:r>
                        <a:rPr lang="en-US" sz="2400" dirty="0"/>
                        <a:t>Page</a:t>
                      </a:r>
                      <a:r>
                        <a:rPr lang="en-US" sz="2400" baseline="0" dirty="0"/>
                        <a:t> Request</a:t>
                      </a:r>
                      <a:endParaRPr lang="en-US" sz="2400" dirty="0"/>
                    </a:p>
                  </a:txBody>
                  <a:tcPr/>
                </a:tc>
                <a:tc>
                  <a:txBody>
                    <a:bodyPr/>
                    <a:lstStyle/>
                    <a:p>
                      <a:pPr algn="ctr"/>
                      <a:r>
                        <a:rPr lang="en-US" sz="2400" dirty="0"/>
                        <a:t>4</a:t>
                      </a:r>
                    </a:p>
                  </a:txBody>
                  <a:tcPr/>
                </a:tc>
                <a:tc>
                  <a:txBody>
                    <a:bodyPr/>
                    <a:lstStyle/>
                    <a:p>
                      <a:pPr algn="ctr"/>
                      <a:r>
                        <a:rPr lang="en-US" sz="2400" dirty="0"/>
                        <a:t>7</a:t>
                      </a:r>
                    </a:p>
                  </a:txBody>
                  <a:tcPr/>
                </a:tc>
                <a:tc>
                  <a:txBody>
                    <a:bodyPr/>
                    <a:lstStyle/>
                    <a:p>
                      <a:pPr algn="ctr"/>
                      <a:r>
                        <a:rPr lang="en-US" sz="2400" dirty="0"/>
                        <a:t>6</a:t>
                      </a:r>
                    </a:p>
                  </a:txBody>
                  <a:tcPr/>
                </a:tc>
                <a:tc>
                  <a:txBody>
                    <a:bodyPr/>
                    <a:lstStyle/>
                    <a:p>
                      <a:pPr algn="ctr"/>
                      <a:r>
                        <a:rPr lang="en-US" sz="2400" dirty="0"/>
                        <a:t>1</a:t>
                      </a:r>
                    </a:p>
                  </a:txBody>
                  <a:tcPr/>
                </a:tc>
                <a:tc>
                  <a:txBody>
                    <a:bodyPr/>
                    <a:lstStyle/>
                    <a:p>
                      <a:pPr algn="ctr"/>
                      <a:r>
                        <a:rPr lang="en-US" sz="2400" dirty="0"/>
                        <a:t>7</a:t>
                      </a:r>
                    </a:p>
                  </a:txBody>
                  <a:tcPr/>
                </a:tc>
                <a:tc>
                  <a:txBody>
                    <a:bodyPr/>
                    <a:lstStyle/>
                    <a:p>
                      <a:pPr algn="ctr"/>
                      <a:r>
                        <a:rPr lang="en-US" sz="2400" dirty="0"/>
                        <a:t>6</a:t>
                      </a:r>
                    </a:p>
                  </a:txBody>
                  <a:tcPr/>
                </a:tc>
                <a:tc>
                  <a:txBody>
                    <a:bodyPr/>
                    <a:lstStyle/>
                    <a:p>
                      <a:pPr algn="ctr"/>
                      <a:r>
                        <a:rPr lang="en-US" sz="2400" dirty="0"/>
                        <a:t>1</a:t>
                      </a:r>
                    </a:p>
                  </a:txBody>
                  <a:tcPr/>
                </a:tc>
                <a:tc>
                  <a:txBody>
                    <a:bodyPr/>
                    <a:lstStyle/>
                    <a:p>
                      <a:pPr algn="ctr"/>
                      <a:r>
                        <a:rPr lang="en-US" sz="2400" dirty="0"/>
                        <a:t>2</a:t>
                      </a:r>
                    </a:p>
                  </a:txBody>
                  <a:tcPr/>
                </a:tc>
                <a:tc>
                  <a:txBody>
                    <a:bodyPr/>
                    <a:lstStyle/>
                    <a:p>
                      <a:pPr algn="ctr"/>
                      <a:r>
                        <a:rPr lang="en-US" sz="2400" dirty="0"/>
                        <a:t>7</a:t>
                      </a:r>
                    </a:p>
                  </a:txBody>
                  <a:tcPr/>
                </a:tc>
                <a:tc>
                  <a:txBody>
                    <a:bodyPr/>
                    <a:lstStyle/>
                    <a:p>
                      <a:pPr algn="ctr"/>
                      <a:r>
                        <a:rPr lang="en-US" sz="2400" dirty="0"/>
                        <a:t>2</a:t>
                      </a:r>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622402739"/>
              </p:ext>
            </p:extLst>
          </p:nvPr>
        </p:nvGraphicFramePr>
        <p:xfrm>
          <a:off x="1019969" y="2705152"/>
          <a:ext cx="8324056" cy="1371600"/>
        </p:xfrm>
        <a:graphic>
          <a:graphicData uri="http://schemas.openxmlformats.org/drawingml/2006/table">
            <a:tbl>
              <a:tblPr firstRow="1" bandRow="1">
                <a:tableStyleId>{2D5ABB26-0587-4C30-8999-92F81FD0307C}</a:tableStyleId>
              </a:tblPr>
              <a:tblGrid>
                <a:gridCol w="2630126">
                  <a:extLst>
                    <a:ext uri="{9D8B030D-6E8A-4147-A177-3AD203B41FA5}">
                      <a16:colId xmlns:a16="http://schemas.microsoft.com/office/drawing/2014/main" val="20000"/>
                    </a:ext>
                  </a:extLst>
                </a:gridCol>
                <a:gridCol w="569393">
                  <a:extLst>
                    <a:ext uri="{9D8B030D-6E8A-4147-A177-3AD203B41FA5}">
                      <a16:colId xmlns:a16="http://schemas.microsoft.com/office/drawing/2014/main" val="20001"/>
                    </a:ext>
                  </a:extLst>
                </a:gridCol>
                <a:gridCol w="569393">
                  <a:extLst>
                    <a:ext uri="{9D8B030D-6E8A-4147-A177-3AD203B41FA5}">
                      <a16:colId xmlns:a16="http://schemas.microsoft.com/office/drawing/2014/main" val="20002"/>
                    </a:ext>
                  </a:extLst>
                </a:gridCol>
                <a:gridCol w="569393">
                  <a:extLst>
                    <a:ext uri="{9D8B030D-6E8A-4147-A177-3AD203B41FA5}">
                      <a16:colId xmlns:a16="http://schemas.microsoft.com/office/drawing/2014/main" val="20003"/>
                    </a:ext>
                  </a:extLst>
                </a:gridCol>
                <a:gridCol w="569393">
                  <a:extLst>
                    <a:ext uri="{9D8B030D-6E8A-4147-A177-3AD203B41FA5}">
                      <a16:colId xmlns:a16="http://schemas.microsoft.com/office/drawing/2014/main" val="20004"/>
                    </a:ext>
                  </a:extLst>
                </a:gridCol>
                <a:gridCol w="569393">
                  <a:extLst>
                    <a:ext uri="{9D8B030D-6E8A-4147-A177-3AD203B41FA5}">
                      <a16:colId xmlns:a16="http://schemas.microsoft.com/office/drawing/2014/main" val="20005"/>
                    </a:ext>
                  </a:extLst>
                </a:gridCol>
                <a:gridCol w="569393">
                  <a:extLst>
                    <a:ext uri="{9D8B030D-6E8A-4147-A177-3AD203B41FA5}">
                      <a16:colId xmlns:a16="http://schemas.microsoft.com/office/drawing/2014/main" val="20006"/>
                    </a:ext>
                  </a:extLst>
                </a:gridCol>
                <a:gridCol w="569393">
                  <a:extLst>
                    <a:ext uri="{9D8B030D-6E8A-4147-A177-3AD203B41FA5}">
                      <a16:colId xmlns:a16="http://schemas.microsoft.com/office/drawing/2014/main" val="20007"/>
                    </a:ext>
                  </a:extLst>
                </a:gridCol>
                <a:gridCol w="569393">
                  <a:extLst>
                    <a:ext uri="{9D8B030D-6E8A-4147-A177-3AD203B41FA5}">
                      <a16:colId xmlns:a16="http://schemas.microsoft.com/office/drawing/2014/main" val="20008"/>
                    </a:ext>
                  </a:extLst>
                </a:gridCol>
                <a:gridCol w="569393">
                  <a:extLst>
                    <a:ext uri="{9D8B030D-6E8A-4147-A177-3AD203B41FA5}">
                      <a16:colId xmlns:a16="http://schemas.microsoft.com/office/drawing/2014/main" val="20009"/>
                    </a:ext>
                  </a:extLst>
                </a:gridCol>
                <a:gridCol w="569393">
                  <a:extLst>
                    <a:ext uri="{9D8B030D-6E8A-4147-A177-3AD203B41FA5}">
                      <a16:colId xmlns:a16="http://schemas.microsoft.com/office/drawing/2014/main" val="20010"/>
                    </a:ext>
                  </a:extLst>
                </a:gridCol>
              </a:tblGrid>
              <a:tr h="370840">
                <a:tc>
                  <a:txBody>
                    <a:bodyPr/>
                    <a:lstStyle/>
                    <a:p>
                      <a:r>
                        <a:rPr lang="en-US" sz="2400" dirty="0"/>
                        <a:t>Frame – 1</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Frame – 2</a:t>
                      </a:r>
                      <a:endParaRPr lang="en-US" sz="24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1"/>
                  </a:ext>
                </a:extLst>
              </a:tr>
              <a:tr h="40333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Frame – 3</a:t>
                      </a:r>
                      <a:endParaRPr lang="en-US" sz="24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4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2"/>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2692632694"/>
              </p:ext>
            </p:extLst>
          </p:nvPr>
        </p:nvGraphicFramePr>
        <p:xfrm>
          <a:off x="1019969" y="4078382"/>
          <a:ext cx="8324056" cy="426720"/>
        </p:xfrm>
        <a:graphic>
          <a:graphicData uri="http://schemas.openxmlformats.org/drawingml/2006/table">
            <a:tbl>
              <a:tblPr firstRow="1" bandRow="1">
                <a:tableStyleId>{93296810-A885-4BE3-A3E7-6D5BEEA58F35}</a:tableStyleId>
              </a:tblPr>
              <a:tblGrid>
                <a:gridCol w="2630126">
                  <a:extLst>
                    <a:ext uri="{9D8B030D-6E8A-4147-A177-3AD203B41FA5}">
                      <a16:colId xmlns:a16="http://schemas.microsoft.com/office/drawing/2014/main" val="20000"/>
                    </a:ext>
                  </a:extLst>
                </a:gridCol>
                <a:gridCol w="569393">
                  <a:extLst>
                    <a:ext uri="{9D8B030D-6E8A-4147-A177-3AD203B41FA5}">
                      <a16:colId xmlns:a16="http://schemas.microsoft.com/office/drawing/2014/main" val="20001"/>
                    </a:ext>
                  </a:extLst>
                </a:gridCol>
                <a:gridCol w="569393">
                  <a:extLst>
                    <a:ext uri="{9D8B030D-6E8A-4147-A177-3AD203B41FA5}">
                      <a16:colId xmlns:a16="http://schemas.microsoft.com/office/drawing/2014/main" val="20002"/>
                    </a:ext>
                  </a:extLst>
                </a:gridCol>
                <a:gridCol w="569393">
                  <a:extLst>
                    <a:ext uri="{9D8B030D-6E8A-4147-A177-3AD203B41FA5}">
                      <a16:colId xmlns:a16="http://schemas.microsoft.com/office/drawing/2014/main" val="20003"/>
                    </a:ext>
                  </a:extLst>
                </a:gridCol>
                <a:gridCol w="569393">
                  <a:extLst>
                    <a:ext uri="{9D8B030D-6E8A-4147-A177-3AD203B41FA5}">
                      <a16:colId xmlns:a16="http://schemas.microsoft.com/office/drawing/2014/main" val="20004"/>
                    </a:ext>
                  </a:extLst>
                </a:gridCol>
                <a:gridCol w="569393">
                  <a:extLst>
                    <a:ext uri="{9D8B030D-6E8A-4147-A177-3AD203B41FA5}">
                      <a16:colId xmlns:a16="http://schemas.microsoft.com/office/drawing/2014/main" val="20005"/>
                    </a:ext>
                  </a:extLst>
                </a:gridCol>
                <a:gridCol w="569393">
                  <a:extLst>
                    <a:ext uri="{9D8B030D-6E8A-4147-A177-3AD203B41FA5}">
                      <a16:colId xmlns:a16="http://schemas.microsoft.com/office/drawing/2014/main" val="20006"/>
                    </a:ext>
                  </a:extLst>
                </a:gridCol>
                <a:gridCol w="569393">
                  <a:extLst>
                    <a:ext uri="{9D8B030D-6E8A-4147-A177-3AD203B41FA5}">
                      <a16:colId xmlns:a16="http://schemas.microsoft.com/office/drawing/2014/main" val="20007"/>
                    </a:ext>
                  </a:extLst>
                </a:gridCol>
                <a:gridCol w="569393">
                  <a:extLst>
                    <a:ext uri="{9D8B030D-6E8A-4147-A177-3AD203B41FA5}">
                      <a16:colId xmlns:a16="http://schemas.microsoft.com/office/drawing/2014/main" val="20008"/>
                    </a:ext>
                  </a:extLst>
                </a:gridCol>
                <a:gridCol w="569393">
                  <a:extLst>
                    <a:ext uri="{9D8B030D-6E8A-4147-A177-3AD203B41FA5}">
                      <a16:colId xmlns:a16="http://schemas.microsoft.com/office/drawing/2014/main" val="20009"/>
                    </a:ext>
                  </a:extLst>
                </a:gridCol>
                <a:gridCol w="569393">
                  <a:extLst>
                    <a:ext uri="{9D8B030D-6E8A-4147-A177-3AD203B41FA5}">
                      <a16:colId xmlns:a16="http://schemas.microsoft.com/office/drawing/2014/main" val="20010"/>
                    </a:ext>
                  </a:extLst>
                </a:gridCol>
              </a:tblGrid>
              <a:tr h="370840">
                <a:tc>
                  <a:txBody>
                    <a:bodyPr/>
                    <a:lstStyle/>
                    <a:p>
                      <a:r>
                        <a:rPr lang="en-US" sz="1900" b="0" dirty="0">
                          <a:solidFill>
                            <a:schemeClr val="tx1"/>
                          </a:solidFill>
                        </a:rPr>
                        <a:t>Page</a:t>
                      </a:r>
                      <a:r>
                        <a:rPr lang="en-US" sz="1900" b="0" baseline="0" dirty="0">
                          <a:solidFill>
                            <a:schemeClr val="tx1"/>
                          </a:solidFill>
                        </a:rPr>
                        <a:t> Faults </a:t>
                      </a:r>
                      <a:r>
                        <a:rPr lang="en-US" sz="1900" b="1" baseline="0" dirty="0">
                          <a:solidFill>
                            <a:schemeClr val="accent6"/>
                          </a:solidFill>
                        </a:rPr>
                        <a:t>(5)</a:t>
                      </a:r>
                      <a:endParaRPr lang="en-US" sz="1900" b="1" dirty="0">
                        <a:solidFill>
                          <a:schemeClr val="accent6"/>
                        </a:solidFill>
                      </a:endParaRPr>
                    </a:p>
                  </a:txBody>
                  <a:tcPr anchor="ctr">
                    <a:solidFill>
                      <a:schemeClr val="accent6">
                        <a:lumMod val="20000"/>
                        <a:lumOff val="80000"/>
                      </a:schemeClr>
                    </a:solidFill>
                  </a:tcPr>
                </a:tc>
                <a:tc>
                  <a:txBody>
                    <a:bodyPr/>
                    <a:lstStyle/>
                    <a:p>
                      <a:pPr algn="ctr"/>
                      <a:r>
                        <a:rPr lang="en-US" sz="2200" b="0" dirty="0">
                          <a:solidFill>
                            <a:schemeClr val="tx1"/>
                          </a:solidFill>
                        </a:rPr>
                        <a:t>F</a:t>
                      </a:r>
                    </a:p>
                  </a:txBody>
                  <a:tcPr>
                    <a:solidFill>
                      <a:schemeClr val="accent6">
                        <a:lumMod val="20000"/>
                        <a:lumOff val="80000"/>
                      </a:schemeClr>
                    </a:solidFill>
                  </a:tcPr>
                </a:tc>
                <a:tc>
                  <a:txBody>
                    <a:bodyPr/>
                    <a:lstStyle/>
                    <a:p>
                      <a:pPr algn="ctr"/>
                      <a:r>
                        <a:rPr lang="en-US" sz="2200" b="0" dirty="0">
                          <a:solidFill>
                            <a:schemeClr val="tx1"/>
                          </a:solidFill>
                        </a:rPr>
                        <a:t>F</a:t>
                      </a:r>
                    </a:p>
                  </a:txBody>
                  <a:tcPr>
                    <a:solidFill>
                      <a:schemeClr val="accent6">
                        <a:lumMod val="20000"/>
                        <a:lumOff val="80000"/>
                      </a:schemeClr>
                    </a:solidFill>
                  </a:tcPr>
                </a:tc>
                <a:tc>
                  <a:txBody>
                    <a:bodyPr/>
                    <a:lstStyle/>
                    <a:p>
                      <a:pPr algn="ctr"/>
                      <a:r>
                        <a:rPr lang="en-US" sz="2200" b="0" dirty="0">
                          <a:solidFill>
                            <a:schemeClr val="tx1"/>
                          </a:solidFill>
                        </a:rPr>
                        <a:t>F</a:t>
                      </a:r>
                    </a:p>
                  </a:txBody>
                  <a:tcPr>
                    <a:solidFill>
                      <a:schemeClr val="accent6">
                        <a:lumMod val="20000"/>
                        <a:lumOff val="80000"/>
                      </a:schemeClr>
                    </a:solidFill>
                  </a:tcPr>
                </a:tc>
                <a:tc>
                  <a:txBody>
                    <a:bodyPr/>
                    <a:lstStyle/>
                    <a:p>
                      <a:pPr algn="ctr"/>
                      <a:r>
                        <a:rPr lang="en-US" sz="2200" b="0" dirty="0">
                          <a:solidFill>
                            <a:schemeClr val="tx1"/>
                          </a:solidFill>
                        </a:rPr>
                        <a:t>F</a:t>
                      </a:r>
                    </a:p>
                  </a:txBody>
                  <a:tcPr>
                    <a:solidFill>
                      <a:schemeClr val="accent6">
                        <a:lumMod val="20000"/>
                        <a:lumOff val="80000"/>
                      </a:schemeClr>
                    </a:solidFill>
                  </a:tcPr>
                </a:tc>
                <a:tc>
                  <a:txBody>
                    <a:bodyPr/>
                    <a:lstStyle/>
                    <a:p>
                      <a:pPr algn="ctr"/>
                      <a:endParaRPr lang="en-US" sz="2200" b="0" dirty="0">
                        <a:solidFill>
                          <a:schemeClr val="tx1"/>
                        </a:solidFill>
                      </a:endParaRPr>
                    </a:p>
                  </a:txBody>
                  <a:tcPr>
                    <a:solidFill>
                      <a:schemeClr val="accent6">
                        <a:lumMod val="20000"/>
                        <a:lumOff val="80000"/>
                      </a:schemeClr>
                    </a:solidFill>
                  </a:tcPr>
                </a:tc>
                <a:tc>
                  <a:txBody>
                    <a:bodyPr/>
                    <a:lstStyle/>
                    <a:p>
                      <a:pPr algn="ctr"/>
                      <a:endParaRPr lang="en-US" sz="2200" b="0" dirty="0">
                        <a:solidFill>
                          <a:schemeClr val="tx1"/>
                        </a:solidFill>
                      </a:endParaRPr>
                    </a:p>
                  </a:txBody>
                  <a:tcPr>
                    <a:solidFill>
                      <a:schemeClr val="accent6">
                        <a:lumMod val="20000"/>
                        <a:lumOff val="80000"/>
                      </a:schemeClr>
                    </a:solidFill>
                  </a:tcPr>
                </a:tc>
                <a:tc>
                  <a:txBody>
                    <a:bodyPr/>
                    <a:lstStyle/>
                    <a:p>
                      <a:pPr algn="ctr"/>
                      <a:endParaRPr lang="en-US" sz="2200" b="0" dirty="0">
                        <a:solidFill>
                          <a:schemeClr val="tx1"/>
                        </a:solidFill>
                      </a:endParaRPr>
                    </a:p>
                  </a:txBody>
                  <a:tcPr>
                    <a:solidFill>
                      <a:schemeClr val="accent6">
                        <a:lumMod val="20000"/>
                        <a:lumOff val="80000"/>
                      </a:schemeClr>
                    </a:solidFill>
                  </a:tcPr>
                </a:tc>
                <a:tc>
                  <a:txBody>
                    <a:bodyPr/>
                    <a:lstStyle/>
                    <a:p>
                      <a:pPr algn="ctr"/>
                      <a:r>
                        <a:rPr lang="en-US" sz="2200" b="0" dirty="0">
                          <a:solidFill>
                            <a:schemeClr val="tx1"/>
                          </a:solidFill>
                        </a:rPr>
                        <a:t>F</a:t>
                      </a:r>
                    </a:p>
                  </a:txBody>
                  <a:tcPr>
                    <a:solidFill>
                      <a:schemeClr val="accent6">
                        <a:lumMod val="20000"/>
                        <a:lumOff val="80000"/>
                      </a:schemeClr>
                    </a:solidFill>
                  </a:tcPr>
                </a:tc>
                <a:tc>
                  <a:txBody>
                    <a:bodyPr/>
                    <a:lstStyle/>
                    <a:p>
                      <a:pPr algn="ctr"/>
                      <a:endParaRPr lang="en-US" sz="2200" b="0" dirty="0">
                        <a:solidFill>
                          <a:schemeClr val="tx1"/>
                        </a:solidFill>
                      </a:endParaRPr>
                    </a:p>
                  </a:txBody>
                  <a:tcPr>
                    <a:solidFill>
                      <a:schemeClr val="accent6">
                        <a:lumMod val="20000"/>
                        <a:lumOff val="80000"/>
                      </a:schemeClr>
                    </a:solidFill>
                  </a:tcPr>
                </a:tc>
                <a:tc>
                  <a:txBody>
                    <a:bodyPr/>
                    <a:lstStyle/>
                    <a:p>
                      <a:pPr algn="ctr"/>
                      <a:endParaRPr lang="en-US" sz="2200" b="0" dirty="0">
                        <a:solidFill>
                          <a:schemeClr val="tx1"/>
                        </a:solidFill>
                      </a:endParaRPr>
                    </a:p>
                  </a:txBody>
                  <a:tcPr>
                    <a:solidFill>
                      <a:schemeClr val="accent6">
                        <a:lumMod val="20000"/>
                        <a:lumOff val="80000"/>
                      </a:schemeClr>
                    </a:solidFill>
                  </a:tcPr>
                </a:tc>
                <a:extLst>
                  <a:ext uri="{0D108BD9-81ED-4DB2-BD59-A6C34878D82A}">
                    <a16:rowId xmlns:a16="http://schemas.microsoft.com/office/drawing/2014/main" val="10000"/>
                  </a:ext>
                </a:extLst>
              </a:tr>
            </a:tbl>
          </a:graphicData>
        </a:graphic>
      </p:graphicFrame>
      <p:cxnSp>
        <p:nvCxnSpPr>
          <p:cNvPr id="7" name="Straight Arrow Connector 6"/>
          <p:cNvCxnSpPr/>
          <p:nvPr/>
        </p:nvCxnSpPr>
        <p:spPr>
          <a:xfrm>
            <a:off x="3950494" y="1868772"/>
            <a:ext cx="1" cy="295965"/>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3729038" y="2248428"/>
            <a:ext cx="442914" cy="426720"/>
          </a:xfrm>
          <a:prstGeom prst="rect">
            <a:avLst/>
          </a:prstGeom>
          <a:noFill/>
          <a:ln w="38100">
            <a:solidFill>
              <a:srgbClr val="92D050"/>
            </a:solidFill>
          </a:ln>
        </p:spPr>
        <p:txBody>
          <a:bodyPr wrap="square" rtlCol="0">
            <a:spAutoFit/>
          </a:bodyPr>
          <a:lstStyle/>
          <a:p>
            <a:endParaRPr lang="en-US" dirty="0">
              <a:solidFill>
                <a:srgbClr val="212121"/>
              </a:solidFill>
            </a:endParaRPr>
          </a:p>
        </p:txBody>
      </p:sp>
      <p:cxnSp>
        <p:nvCxnSpPr>
          <p:cNvPr id="13" name="Straight Arrow Connector 12"/>
          <p:cNvCxnSpPr/>
          <p:nvPr/>
        </p:nvCxnSpPr>
        <p:spPr>
          <a:xfrm>
            <a:off x="4486280" y="1868771"/>
            <a:ext cx="1" cy="295965"/>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4329116" y="2263430"/>
            <a:ext cx="442914" cy="426720"/>
          </a:xfrm>
          <a:prstGeom prst="rect">
            <a:avLst/>
          </a:prstGeom>
          <a:noFill/>
          <a:ln w="38100">
            <a:solidFill>
              <a:srgbClr val="92D050"/>
            </a:solidFill>
          </a:ln>
        </p:spPr>
        <p:txBody>
          <a:bodyPr wrap="square" rtlCol="0">
            <a:spAutoFit/>
          </a:bodyPr>
          <a:lstStyle/>
          <a:p>
            <a:endParaRPr lang="en-US" dirty="0">
              <a:solidFill>
                <a:srgbClr val="212121"/>
              </a:solidFill>
            </a:endParaRPr>
          </a:p>
        </p:txBody>
      </p:sp>
      <p:cxnSp>
        <p:nvCxnSpPr>
          <p:cNvPr id="15" name="Straight Arrow Connector 14"/>
          <p:cNvCxnSpPr/>
          <p:nvPr/>
        </p:nvCxnSpPr>
        <p:spPr>
          <a:xfrm>
            <a:off x="5079213" y="1868772"/>
            <a:ext cx="1" cy="295965"/>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857757" y="2248428"/>
            <a:ext cx="442914" cy="426720"/>
          </a:xfrm>
          <a:prstGeom prst="rect">
            <a:avLst/>
          </a:prstGeom>
          <a:noFill/>
          <a:ln w="38100">
            <a:solidFill>
              <a:srgbClr val="92D050"/>
            </a:solidFill>
          </a:ln>
        </p:spPr>
        <p:txBody>
          <a:bodyPr wrap="square" rtlCol="0">
            <a:spAutoFit/>
          </a:bodyPr>
          <a:lstStyle/>
          <a:p>
            <a:endParaRPr lang="en-US" dirty="0">
              <a:solidFill>
                <a:srgbClr val="212121"/>
              </a:solidFill>
            </a:endParaRPr>
          </a:p>
        </p:txBody>
      </p:sp>
      <p:cxnSp>
        <p:nvCxnSpPr>
          <p:cNvPr id="17" name="Straight Arrow Connector 16"/>
          <p:cNvCxnSpPr/>
          <p:nvPr/>
        </p:nvCxnSpPr>
        <p:spPr>
          <a:xfrm>
            <a:off x="5623220" y="1843252"/>
            <a:ext cx="1" cy="295965"/>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5401764" y="2222908"/>
            <a:ext cx="442914" cy="426720"/>
          </a:xfrm>
          <a:prstGeom prst="rect">
            <a:avLst/>
          </a:prstGeom>
          <a:noFill/>
          <a:ln w="38100">
            <a:solidFill>
              <a:srgbClr val="92D050"/>
            </a:solidFill>
          </a:ln>
        </p:spPr>
        <p:txBody>
          <a:bodyPr wrap="square" rtlCol="0">
            <a:spAutoFit/>
          </a:bodyPr>
          <a:lstStyle/>
          <a:p>
            <a:endParaRPr lang="en-US" dirty="0">
              <a:solidFill>
                <a:srgbClr val="212121"/>
              </a:solidFill>
            </a:endParaRPr>
          </a:p>
        </p:txBody>
      </p:sp>
      <p:cxnSp>
        <p:nvCxnSpPr>
          <p:cNvPr id="19" name="Straight Arrow Connector 18"/>
          <p:cNvCxnSpPr/>
          <p:nvPr/>
        </p:nvCxnSpPr>
        <p:spPr>
          <a:xfrm>
            <a:off x="6228809" y="1832480"/>
            <a:ext cx="1" cy="295965"/>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6007353" y="2212136"/>
            <a:ext cx="442914" cy="426720"/>
          </a:xfrm>
          <a:prstGeom prst="rect">
            <a:avLst/>
          </a:prstGeom>
          <a:noFill/>
          <a:ln w="38100">
            <a:solidFill>
              <a:srgbClr val="92D050"/>
            </a:solidFill>
          </a:ln>
        </p:spPr>
        <p:txBody>
          <a:bodyPr wrap="square" rtlCol="0">
            <a:spAutoFit/>
          </a:bodyPr>
          <a:lstStyle/>
          <a:p>
            <a:endParaRPr lang="en-US" dirty="0">
              <a:solidFill>
                <a:srgbClr val="212121"/>
              </a:solidFill>
            </a:endParaRPr>
          </a:p>
        </p:txBody>
      </p:sp>
      <p:cxnSp>
        <p:nvCxnSpPr>
          <p:cNvPr id="21" name="Straight Arrow Connector 20"/>
          <p:cNvCxnSpPr/>
          <p:nvPr/>
        </p:nvCxnSpPr>
        <p:spPr>
          <a:xfrm>
            <a:off x="6786566" y="1868772"/>
            <a:ext cx="1" cy="295965"/>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6565110" y="2248428"/>
            <a:ext cx="442914" cy="426720"/>
          </a:xfrm>
          <a:prstGeom prst="rect">
            <a:avLst/>
          </a:prstGeom>
          <a:noFill/>
          <a:ln w="38100">
            <a:solidFill>
              <a:srgbClr val="92D050"/>
            </a:solidFill>
          </a:ln>
        </p:spPr>
        <p:txBody>
          <a:bodyPr wrap="square" rtlCol="0">
            <a:spAutoFit/>
          </a:bodyPr>
          <a:lstStyle/>
          <a:p>
            <a:endParaRPr lang="en-US" dirty="0">
              <a:solidFill>
                <a:srgbClr val="212121"/>
              </a:solidFill>
            </a:endParaRPr>
          </a:p>
        </p:txBody>
      </p:sp>
      <p:cxnSp>
        <p:nvCxnSpPr>
          <p:cNvPr id="23" name="Straight Arrow Connector 22"/>
          <p:cNvCxnSpPr/>
          <p:nvPr/>
        </p:nvCxnSpPr>
        <p:spPr>
          <a:xfrm>
            <a:off x="7355853" y="1843252"/>
            <a:ext cx="1" cy="295965"/>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7134397" y="2222908"/>
            <a:ext cx="442914" cy="426720"/>
          </a:xfrm>
          <a:prstGeom prst="rect">
            <a:avLst/>
          </a:prstGeom>
          <a:noFill/>
          <a:ln w="38100">
            <a:solidFill>
              <a:srgbClr val="92D050"/>
            </a:solidFill>
          </a:ln>
        </p:spPr>
        <p:txBody>
          <a:bodyPr wrap="square" rtlCol="0">
            <a:spAutoFit/>
          </a:bodyPr>
          <a:lstStyle/>
          <a:p>
            <a:endParaRPr lang="en-US" dirty="0">
              <a:solidFill>
                <a:srgbClr val="212121"/>
              </a:solidFill>
            </a:endParaRPr>
          </a:p>
        </p:txBody>
      </p:sp>
      <p:cxnSp>
        <p:nvCxnSpPr>
          <p:cNvPr id="25" name="Straight Arrow Connector 24"/>
          <p:cNvCxnSpPr/>
          <p:nvPr/>
        </p:nvCxnSpPr>
        <p:spPr>
          <a:xfrm>
            <a:off x="7936161" y="1844168"/>
            <a:ext cx="1" cy="295965"/>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7714705" y="2223824"/>
            <a:ext cx="442914" cy="426720"/>
          </a:xfrm>
          <a:prstGeom prst="rect">
            <a:avLst/>
          </a:prstGeom>
          <a:noFill/>
          <a:ln w="38100">
            <a:solidFill>
              <a:srgbClr val="92D050"/>
            </a:solidFill>
          </a:ln>
        </p:spPr>
        <p:txBody>
          <a:bodyPr wrap="square" rtlCol="0">
            <a:spAutoFit/>
          </a:bodyPr>
          <a:lstStyle/>
          <a:p>
            <a:endParaRPr lang="en-US" dirty="0">
              <a:solidFill>
                <a:srgbClr val="212121"/>
              </a:solidFill>
            </a:endParaRPr>
          </a:p>
        </p:txBody>
      </p:sp>
      <p:cxnSp>
        <p:nvCxnSpPr>
          <p:cNvPr id="27" name="Straight Arrow Connector 26"/>
          <p:cNvCxnSpPr/>
          <p:nvPr/>
        </p:nvCxnSpPr>
        <p:spPr>
          <a:xfrm>
            <a:off x="8487332" y="1829165"/>
            <a:ext cx="1" cy="295965"/>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8265875" y="2222908"/>
            <a:ext cx="442914" cy="426720"/>
          </a:xfrm>
          <a:prstGeom prst="rect">
            <a:avLst/>
          </a:prstGeom>
          <a:noFill/>
          <a:ln w="38100">
            <a:solidFill>
              <a:srgbClr val="92D050"/>
            </a:solidFill>
          </a:ln>
        </p:spPr>
        <p:txBody>
          <a:bodyPr wrap="square" rtlCol="0">
            <a:spAutoFit/>
          </a:bodyPr>
          <a:lstStyle/>
          <a:p>
            <a:endParaRPr lang="en-US" dirty="0">
              <a:solidFill>
                <a:srgbClr val="212121"/>
              </a:solidFill>
            </a:endParaRPr>
          </a:p>
        </p:txBody>
      </p:sp>
      <p:cxnSp>
        <p:nvCxnSpPr>
          <p:cNvPr id="29" name="Straight Arrow Connector 28"/>
          <p:cNvCxnSpPr/>
          <p:nvPr/>
        </p:nvCxnSpPr>
        <p:spPr>
          <a:xfrm>
            <a:off x="9085756" y="1832480"/>
            <a:ext cx="1" cy="295965"/>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8864300" y="2212136"/>
            <a:ext cx="442914" cy="426720"/>
          </a:xfrm>
          <a:prstGeom prst="rect">
            <a:avLst/>
          </a:prstGeom>
          <a:noFill/>
          <a:ln w="38100">
            <a:solidFill>
              <a:srgbClr val="92D050"/>
            </a:solidFill>
          </a:ln>
        </p:spPr>
        <p:txBody>
          <a:bodyPr wrap="square" rtlCol="0">
            <a:spAutoFit/>
          </a:bodyPr>
          <a:lstStyle/>
          <a:p>
            <a:endParaRPr lang="en-US" dirty="0">
              <a:solidFill>
                <a:srgbClr val="212121"/>
              </a:solidFill>
            </a:endParaRPr>
          </a:p>
        </p:txBody>
      </p:sp>
      <p:sp>
        <p:nvSpPr>
          <p:cNvPr id="32" name="TextBox 31"/>
          <p:cNvSpPr txBox="1"/>
          <p:nvPr/>
        </p:nvSpPr>
        <p:spPr>
          <a:xfrm>
            <a:off x="5401764" y="2730232"/>
            <a:ext cx="442914" cy="369332"/>
          </a:xfrm>
          <a:prstGeom prst="rect">
            <a:avLst/>
          </a:prstGeom>
          <a:noFill/>
          <a:ln w="38100">
            <a:solidFill>
              <a:srgbClr val="FFFF00"/>
            </a:solidFill>
          </a:ln>
        </p:spPr>
        <p:txBody>
          <a:bodyPr wrap="square" rtlCol="0">
            <a:spAutoFit/>
          </a:bodyPr>
          <a:lstStyle>
            <a:defPPr>
              <a:defRPr lang="en-US"/>
            </a:defPPr>
            <a:lvl1pPr>
              <a:defRPr>
                <a:solidFill>
                  <a:srgbClr val="212121"/>
                </a:solidFill>
              </a:defRPr>
            </a:lvl1pPr>
          </a:lstStyle>
          <a:p>
            <a:endParaRPr lang="en-US" dirty="0">
              <a:solidFill>
                <a:srgbClr val="FFFF00"/>
              </a:solidFill>
            </a:endParaRPr>
          </a:p>
        </p:txBody>
      </p:sp>
      <p:sp>
        <p:nvSpPr>
          <p:cNvPr id="35" name="TextBox 34"/>
          <p:cNvSpPr txBox="1"/>
          <p:nvPr/>
        </p:nvSpPr>
        <p:spPr>
          <a:xfrm>
            <a:off x="7714704" y="2748496"/>
            <a:ext cx="442914" cy="426720"/>
          </a:xfrm>
          <a:prstGeom prst="rect">
            <a:avLst/>
          </a:prstGeom>
          <a:noFill/>
          <a:ln w="38100">
            <a:solidFill>
              <a:srgbClr val="FFFF00"/>
            </a:solidFill>
          </a:ln>
        </p:spPr>
        <p:txBody>
          <a:bodyPr wrap="square" rtlCol="0">
            <a:spAutoFit/>
          </a:bodyPr>
          <a:lstStyle/>
          <a:p>
            <a:endParaRPr lang="en-US" dirty="0">
              <a:solidFill>
                <a:srgbClr val="212121"/>
              </a:solidFill>
            </a:endParaRPr>
          </a:p>
        </p:txBody>
      </p:sp>
    </p:spTree>
    <p:extLst>
      <p:ext uri="{BB962C8B-B14F-4D97-AF65-F5344CB8AC3E}">
        <p14:creationId xmlns:p14="http://schemas.microsoft.com/office/powerpoint/2010/main" val="2524509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left)">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left)">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left)">
                                      <p:cBhvr>
                                        <p:cTn id="30" dur="500"/>
                                        <p:tgtEl>
                                          <p:spTgt spid="8"/>
                                        </p:tgtEl>
                                      </p:cBhvr>
                                    </p:animEffect>
                                  </p:childTnLst>
                                </p:cTn>
                              </p:par>
                              <p:par>
                                <p:cTn id="31" presetID="1" presetClass="entr" presetSubtype="0" fill="hold" nodeType="withEffect">
                                  <p:stCondLst>
                                    <p:cond delay="0"/>
                                  </p:stCondLst>
                                  <p:childTnLst>
                                    <p:set>
                                      <p:cBhvr>
                                        <p:cTn id="32" dur="1" fill="hold">
                                          <p:stCondLst>
                                            <p:cond delay="0"/>
                                          </p:stCondLst>
                                        </p:cTn>
                                        <p:tgtEl>
                                          <p:spTgt spid="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childTnLst>
                                </p:cTn>
                              </p:par>
                              <p:par>
                                <p:cTn id="35" presetID="26" presetClass="emph" presetSubtype="0" repeatCount="indefinite" fill="hold" grpId="1" nodeType="withEffect">
                                  <p:stCondLst>
                                    <p:cond delay="0"/>
                                  </p:stCondLst>
                                  <p:endCondLst>
                                    <p:cond evt="onNext" delay="0">
                                      <p:tgtEl>
                                        <p:sldTgt/>
                                      </p:tgtEl>
                                    </p:cond>
                                  </p:endCondLst>
                                  <p:childTnLst>
                                    <p:animEffect transition="out" filter="fade">
                                      <p:cBhvr>
                                        <p:cTn id="36" dur="500" tmFilter="0, 0; .2, .5; .8, .5; 1, 0"/>
                                        <p:tgtEl>
                                          <p:spTgt spid="9"/>
                                        </p:tgtEl>
                                      </p:cBhvr>
                                    </p:animEffect>
                                    <p:animScale>
                                      <p:cBhvr>
                                        <p:cTn id="37" dur="250" autoRev="1" fill="hold"/>
                                        <p:tgtEl>
                                          <p:spTgt spid="9"/>
                                        </p:tgtEl>
                                      </p:cBhvr>
                                      <p:by x="105000" y="105000"/>
                                    </p:animScale>
                                  </p:childTnLst>
                                </p:cTn>
                              </p:par>
                            </p:childTnLst>
                          </p:cTn>
                        </p:par>
                      </p:childTnLst>
                    </p:cTn>
                  </p:par>
                  <p:par>
                    <p:cTn id="38" fill="hold">
                      <p:stCondLst>
                        <p:cond delay="indefinite"/>
                      </p:stCondLst>
                      <p:childTnLst>
                        <p:par>
                          <p:cTn id="39" fill="hold">
                            <p:stCondLst>
                              <p:cond delay="0"/>
                            </p:stCondLst>
                            <p:childTnLst>
                              <p:par>
                                <p:cTn id="40" presetID="1" presetClass="exit" presetSubtype="0" fill="hold" grpId="2" nodeType="clickEffect">
                                  <p:stCondLst>
                                    <p:cond delay="0"/>
                                  </p:stCondLst>
                                  <p:childTnLst>
                                    <p:set>
                                      <p:cBhvr>
                                        <p:cTn id="41" dur="1" fill="hold">
                                          <p:stCondLst>
                                            <p:cond delay="0"/>
                                          </p:stCondLst>
                                        </p:cTn>
                                        <p:tgtEl>
                                          <p:spTgt spid="9"/>
                                        </p:tgtEl>
                                        <p:attrNameLst>
                                          <p:attrName>style.visibility</p:attrName>
                                        </p:attrNameLst>
                                      </p:cBhvr>
                                      <p:to>
                                        <p:strVal val="hidden"/>
                                      </p:to>
                                    </p:set>
                                  </p:childTnLst>
                                </p:cTn>
                              </p:par>
                              <p:par>
                                <p:cTn id="42" presetID="1" presetClass="exit" presetSubtype="0" fill="hold" nodeType="withEffect">
                                  <p:stCondLst>
                                    <p:cond delay="0"/>
                                  </p:stCondLst>
                                  <p:childTnLst>
                                    <p:set>
                                      <p:cBhvr>
                                        <p:cTn id="43" dur="1" fill="hold">
                                          <p:stCondLst>
                                            <p:cond delay="0"/>
                                          </p:stCondLst>
                                        </p:cTn>
                                        <p:tgtEl>
                                          <p:spTgt spid="7"/>
                                        </p:tgtEl>
                                        <p:attrNameLst>
                                          <p:attrName>style.visibility</p:attrName>
                                        </p:attrNameLst>
                                      </p:cBhvr>
                                      <p:to>
                                        <p:strVal val="hidden"/>
                                      </p:to>
                                    </p:set>
                                  </p:childTnLst>
                                </p:cTn>
                              </p:par>
                              <p:par>
                                <p:cTn id="44" presetID="1" presetClass="entr" presetSubtype="0" fill="hold" nodeType="withEffect">
                                  <p:stCondLst>
                                    <p:cond delay="0"/>
                                  </p:stCondLst>
                                  <p:childTnLst>
                                    <p:set>
                                      <p:cBhvr>
                                        <p:cTn id="45" dur="1" fill="hold">
                                          <p:stCondLst>
                                            <p:cond delay="0"/>
                                          </p:stCondLst>
                                        </p:cTn>
                                        <p:tgtEl>
                                          <p:spTgt spid="13"/>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14"/>
                                        </p:tgtEl>
                                        <p:attrNameLst>
                                          <p:attrName>style.visibility</p:attrName>
                                        </p:attrNameLst>
                                      </p:cBhvr>
                                      <p:to>
                                        <p:strVal val="visible"/>
                                      </p:to>
                                    </p:set>
                                  </p:childTnLst>
                                </p:cTn>
                              </p:par>
                              <p:par>
                                <p:cTn id="48" presetID="26" presetClass="emph" presetSubtype="0" repeatCount="indefinite" fill="hold" grpId="1" nodeType="withEffect">
                                  <p:stCondLst>
                                    <p:cond delay="0"/>
                                  </p:stCondLst>
                                  <p:endCondLst>
                                    <p:cond evt="onNext" delay="0">
                                      <p:tgtEl>
                                        <p:sldTgt/>
                                      </p:tgtEl>
                                    </p:cond>
                                  </p:endCondLst>
                                  <p:childTnLst>
                                    <p:animEffect transition="out" filter="fade">
                                      <p:cBhvr>
                                        <p:cTn id="49" dur="500" tmFilter="0, 0; .2, .5; .8, .5; 1, 0"/>
                                        <p:tgtEl>
                                          <p:spTgt spid="14"/>
                                        </p:tgtEl>
                                      </p:cBhvr>
                                    </p:animEffect>
                                    <p:animScale>
                                      <p:cBhvr>
                                        <p:cTn id="50" dur="250" autoRev="1" fill="hold"/>
                                        <p:tgtEl>
                                          <p:spTgt spid="14"/>
                                        </p:tgtEl>
                                      </p:cBhvr>
                                      <p:by x="105000" y="105000"/>
                                    </p:animScale>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grpId="2" nodeType="clickEffect">
                                  <p:stCondLst>
                                    <p:cond delay="0"/>
                                  </p:stCondLst>
                                  <p:childTnLst>
                                    <p:set>
                                      <p:cBhvr>
                                        <p:cTn id="54" dur="1" fill="hold">
                                          <p:stCondLst>
                                            <p:cond delay="0"/>
                                          </p:stCondLst>
                                        </p:cTn>
                                        <p:tgtEl>
                                          <p:spTgt spid="14"/>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13"/>
                                        </p:tgtEl>
                                        <p:attrNameLst>
                                          <p:attrName>style.visibility</p:attrName>
                                        </p:attrNameLst>
                                      </p:cBhvr>
                                      <p:to>
                                        <p:strVal val="hidden"/>
                                      </p:to>
                                    </p:set>
                                  </p:childTnLst>
                                </p:cTn>
                              </p:par>
                              <p:par>
                                <p:cTn id="57" presetID="1" presetClass="entr" presetSubtype="0" fill="hold" nodeType="withEffect">
                                  <p:stCondLst>
                                    <p:cond delay="0"/>
                                  </p:stCondLst>
                                  <p:childTnLst>
                                    <p:set>
                                      <p:cBhvr>
                                        <p:cTn id="58" dur="1" fill="hold">
                                          <p:stCondLst>
                                            <p:cond delay="0"/>
                                          </p:stCondLst>
                                        </p:cTn>
                                        <p:tgtEl>
                                          <p:spTgt spid="1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6"/>
                                        </p:tgtEl>
                                        <p:attrNameLst>
                                          <p:attrName>style.visibility</p:attrName>
                                        </p:attrNameLst>
                                      </p:cBhvr>
                                      <p:to>
                                        <p:strVal val="visible"/>
                                      </p:to>
                                    </p:set>
                                  </p:childTnLst>
                                </p:cTn>
                              </p:par>
                              <p:par>
                                <p:cTn id="61" presetID="26" presetClass="emph" presetSubtype="0" repeatCount="indefinite" fill="hold" grpId="1" nodeType="withEffect">
                                  <p:stCondLst>
                                    <p:cond delay="0"/>
                                  </p:stCondLst>
                                  <p:endCondLst>
                                    <p:cond evt="onNext" delay="0">
                                      <p:tgtEl>
                                        <p:sldTgt/>
                                      </p:tgtEl>
                                    </p:cond>
                                  </p:endCondLst>
                                  <p:childTnLst>
                                    <p:animEffect transition="out" filter="fade">
                                      <p:cBhvr>
                                        <p:cTn id="62" dur="500" tmFilter="0, 0; .2, .5; .8, .5; 1, 0"/>
                                        <p:tgtEl>
                                          <p:spTgt spid="16"/>
                                        </p:tgtEl>
                                      </p:cBhvr>
                                    </p:animEffect>
                                    <p:animScale>
                                      <p:cBhvr>
                                        <p:cTn id="63" dur="250" autoRev="1" fill="hold"/>
                                        <p:tgtEl>
                                          <p:spTgt spid="16"/>
                                        </p:tgtEl>
                                      </p:cBhvr>
                                      <p:by x="105000" y="105000"/>
                                    </p:animScale>
                                  </p:childTnLst>
                                </p:cTn>
                              </p:par>
                            </p:childTnLst>
                          </p:cTn>
                        </p:par>
                      </p:childTnLst>
                    </p:cTn>
                  </p:par>
                  <p:par>
                    <p:cTn id="64" fill="hold">
                      <p:stCondLst>
                        <p:cond delay="indefinite"/>
                      </p:stCondLst>
                      <p:childTnLst>
                        <p:par>
                          <p:cTn id="65" fill="hold">
                            <p:stCondLst>
                              <p:cond delay="0"/>
                            </p:stCondLst>
                            <p:childTnLst>
                              <p:par>
                                <p:cTn id="66" presetID="1" presetClass="exit" presetSubtype="0" fill="hold" grpId="2" nodeType="clickEffect">
                                  <p:stCondLst>
                                    <p:cond delay="0"/>
                                  </p:stCondLst>
                                  <p:childTnLst>
                                    <p:set>
                                      <p:cBhvr>
                                        <p:cTn id="67" dur="1" fill="hold">
                                          <p:stCondLst>
                                            <p:cond delay="0"/>
                                          </p:stCondLst>
                                        </p:cTn>
                                        <p:tgtEl>
                                          <p:spTgt spid="16"/>
                                        </p:tgtEl>
                                        <p:attrNameLst>
                                          <p:attrName>style.visibility</p:attrName>
                                        </p:attrNameLst>
                                      </p:cBhvr>
                                      <p:to>
                                        <p:strVal val="hidden"/>
                                      </p:to>
                                    </p:set>
                                  </p:childTnLst>
                                </p:cTn>
                              </p:par>
                              <p:par>
                                <p:cTn id="68" presetID="1" presetClass="exit" presetSubtype="0" fill="hold" nodeType="withEffect">
                                  <p:stCondLst>
                                    <p:cond delay="0"/>
                                  </p:stCondLst>
                                  <p:childTnLst>
                                    <p:set>
                                      <p:cBhvr>
                                        <p:cTn id="69" dur="1" fill="hold">
                                          <p:stCondLst>
                                            <p:cond delay="0"/>
                                          </p:stCondLst>
                                        </p:cTn>
                                        <p:tgtEl>
                                          <p:spTgt spid="15"/>
                                        </p:tgtEl>
                                        <p:attrNameLst>
                                          <p:attrName>style.visibility</p:attrName>
                                        </p:attrNameLst>
                                      </p:cBhvr>
                                      <p:to>
                                        <p:strVal val="hidden"/>
                                      </p:to>
                                    </p:set>
                                  </p:childTnLst>
                                </p:cTn>
                              </p:par>
                              <p:par>
                                <p:cTn id="70" presetID="1" presetClass="entr" presetSubtype="0" fill="hold" nodeType="withEffect">
                                  <p:stCondLst>
                                    <p:cond delay="0"/>
                                  </p:stCondLst>
                                  <p:childTnLst>
                                    <p:set>
                                      <p:cBhvr>
                                        <p:cTn id="71" dur="1" fill="hold">
                                          <p:stCondLst>
                                            <p:cond delay="0"/>
                                          </p:stCondLst>
                                        </p:cTn>
                                        <p:tgtEl>
                                          <p:spTgt spid="17"/>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18"/>
                                        </p:tgtEl>
                                        <p:attrNameLst>
                                          <p:attrName>style.visibility</p:attrName>
                                        </p:attrNameLst>
                                      </p:cBhvr>
                                      <p:to>
                                        <p:strVal val="visible"/>
                                      </p:to>
                                    </p:set>
                                  </p:childTnLst>
                                </p:cTn>
                              </p:par>
                              <p:par>
                                <p:cTn id="74" presetID="26" presetClass="emph" presetSubtype="0" repeatCount="indefinite" fill="hold" grpId="1" nodeType="withEffect">
                                  <p:stCondLst>
                                    <p:cond delay="0"/>
                                  </p:stCondLst>
                                  <p:endCondLst>
                                    <p:cond evt="onNext" delay="0">
                                      <p:tgtEl>
                                        <p:sldTgt/>
                                      </p:tgtEl>
                                    </p:cond>
                                  </p:endCondLst>
                                  <p:childTnLst>
                                    <p:animEffect transition="out" filter="fade">
                                      <p:cBhvr>
                                        <p:cTn id="75" dur="500" tmFilter="0, 0; .2, .5; .8, .5; 1, 0"/>
                                        <p:tgtEl>
                                          <p:spTgt spid="18"/>
                                        </p:tgtEl>
                                      </p:cBhvr>
                                    </p:animEffect>
                                    <p:animScale>
                                      <p:cBhvr>
                                        <p:cTn id="76" dur="250" autoRev="1" fill="hold"/>
                                        <p:tgtEl>
                                          <p:spTgt spid="18"/>
                                        </p:tgtEl>
                                      </p:cBhvr>
                                      <p:by x="105000" y="105000"/>
                                    </p:animScale>
                                  </p:childTnLst>
                                </p:cTn>
                              </p:par>
                              <p:par>
                                <p:cTn id="77" presetID="1" presetClass="entr" presetSubtype="0" fill="hold" grpId="0" nodeType="withEffect">
                                  <p:stCondLst>
                                    <p:cond delay="0"/>
                                  </p:stCondLst>
                                  <p:childTnLst>
                                    <p:set>
                                      <p:cBhvr>
                                        <p:cTn id="78" dur="1" fill="hold">
                                          <p:stCondLst>
                                            <p:cond delay="0"/>
                                          </p:stCondLst>
                                        </p:cTn>
                                        <p:tgtEl>
                                          <p:spTgt spid="32"/>
                                        </p:tgtEl>
                                        <p:attrNameLst>
                                          <p:attrName>style.visibility</p:attrName>
                                        </p:attrNameLst>
                                      </p:cBhvr>
                                      <p:to>
                                        <p:strVal val="visible"/>
                                      </p:to>
                                    </p:set>
                                  </p:childTnLst>
                                </p:cTn>
                              </p:par>
                              <p:par>
                                <p:cTn id="79" presetID="26" presetClass="emph" presetSubtype="0" repeatCount="indefinite" fill="hold" grpId="1" nodeType="withEffect">
                                  <p:stCondLst>
                                    <p:cond delay="0"/>
                                  </p:stCondLst>
                                  <p:endCondLst>
                                    <p:cond evt="onNext" delay="0">
                                      <p:tgtEl>
                                        <p:sldTgt/>
                                      </p:tgtEl>
                                    </p:cond>
                                  </p:endCondLst>
                                  <p:childTnLst>
                                    <p:animEffect transition="out" filter="fade">
                                      <p:cBhvr>
                                        <p:cTn id="80" dur="500" tmFilter="0, 0; .2, .5; .8, .5; 1, 0"/>
                                        <p:tgtEl>
                                          <p:spTgt spid="32"/>
                                        </p:tgtEl>
                                      </p:cBhvr>
                                    </p:animEffect>
                                    <p:animScale>
                                      <p:cBhvr>
                                        <p:cTn id="81" dur="250" autoRev="1" fill="hold"/>
                                        <p:tgtEl>
                                          <p:spTgt spid="32"/>
                                        </p:tgtEl>
                                      </p:cBhvr>
                                      <p:by x="105000" y="105000"/>
                                    </p:animScale>
                                  </p:childTnLst>
                                </p:cTn>
                              </p:par>
                            </p:childTnLst>
                          </p:cTn>
                        </p:par>
                      </p:childTnLst>
                    </p:cTn>
                  </p:par>
                  <p:par>
                    <p:cTn id="82" fill="hold">
                      <p:stCondLst>
                        <p:cond delay="indefinite"/>
                      </p:stCondLst>
                      <p:childTnLst>
                        <p:par>
                          <p:cTn id="83" fill="hold">
                            <p:stCondLst>
                              <p:cond delay="0"/>
                            </p:stCondLst>
                            <p:childTnLst>
                              <p:par>
                                <p:cTn id="84" presetID="1" presetClass="exit" presetSubtype="0" fill="hold" grpId="2" nodeType="clickEffect">
                                  <p:stCondLst>
                                    <p:cond delay="0"/>
                                  </p:stCondLst>
                                  <p:childTnLst>
                                    <p:set>
                                      <p:cBhvr>
                                        <p:cTn id="85" dur="1" fill="hold">
                                          <p:stCondLst>
                                            <p:cond delay="0"/>
                                          </p:stCondLst>
                                        </p:cTn>
                                        <p:tgtEl>
                                          <p:spTgt spid="32"/>
                                        </p:tgtEl>
                                        <p:attrNameLst>
                                          <p:attrName>style.visibility</p:attrName>
                                        </p:attrNameLst>
                                      </p:cBhvr>
                                      <p:to>
                                        <p:strVal val="hidden"/>
                                      </p:to>
                                    </p:set>
                                  </p:childTnLst>
                                </p:cTn>
                              </p:par>
                            </p:childTnLst>
                          </p:cTn>
                        </p:par>
                      </p:childTnLst>
                    </p:cTn>
                  </p:par>
                  <p:par>
                    <p:cTn id="86" fill="hold">
                      <p:stCondLst>
                        <p:cond delay="indefinite"/>
                      </p:stCondLst>
                      <p:childTnLst>
                        <p:par>
                          <p:cTn id="87" fill="hold">
                            <p:stCondLst>
                              <p:cond delay="0"/>
                            </p:stCondLst>
                            <p:childTnLst>
                              <p:par>
                                <p:cTn id="88" presetID="1" presetClass="exit" presetSubtype="0" fill="hold" grpId="2" nodeType="clickEffect">
                                  <p:stCondLst>
                                    <p:cond delay="0"/>
                                  </p:stCondLst>
                                  <p:childTnLst>
                                    <p:set>
                                      <p:cBhvr>
                                        <p:cTn id="89" dur="1" fill="hold">
                                          <p:stCondLst>
                                            <p:cond delay="0"/>
                                          </p:stCondLst>
                                        </p:cTn>
                                        <p:tgtEl>
                                          <p:spTgt spid="18"/>
                                        </p:tgtEl>
                                        <p:attrNameLst>
                                          <p:attrName>style.visibility</p:attrName>
                                        </p:attrNameLst>
                                      </p:cBhvr>
                                      <p:to>
                                        <p:strVal val="hidden"/>
                                      </p:to>
                                    </p:set>
                                  </p:childTnLst>
                                </p:cTn>
                              </p:par>
                              <p:par>
                                <p:cTn id="90" presetID="1" presetClass="exit" presetSubtype="0" fill="hold" nodeType="withEffect">
                                  <p:stCondLst>
                                    <p:cond delay="0"/>
                                  </p:stCondLst>
                                  <p:childTnLst>
                                    <p:set>
                                      <p:cBhvr>
                                        <p:cTn id="91" dur="1" fill="hold">
                                          <p:stCondLst>
                                            <p:cond delay="0"/>
                                          </p:stCondLst>
                                        </p:cTn>
                                        <p:tgtEl>
                                          <p:spTgt spid="17"/>
                                        </p:tgtEl>
                                        <p:attrNameLst>
                                          <p:attrName>style.visibility</p:attrName>
                                        </p:attrNameLst>
                                      </p:cBhvr>
                                      <p:to>
                                        <p:strVal val="hidden"/>
                                      </p:to>
                                    </p:set>
                                  </p:childTnLst>
                                </p:cTn>
                              </p:par>
                              <p:par>
                                <p:cTn id="92" presetID="1" presetClass="entr" presetSubtype="0" fill="hold" nodeType="withEffect">
                                  <p:stCondLst>
                                    <p:cond delay="0"/>
                                  </p:stCondLst>
                                  <p:childTnLst>
                                    <p:set>
                                      <p:cBhvr>
                                        <p:cTn id="93" dur="1" fill="hold">
                                          <p:stCondLst>
                                            <p:cond delay="0"/>
                                          </p:stCondLst>
                                        </p:cTn>
                                        <p:tgtEl>
                                          <p:spTgt spid="19"/>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20"/>
                                        </p:tgtEl>
                                        <p:attrNameLst>
                                          <p:attrName>style.visibility</p:attrName>
                                        </p:attrNameLst>
                                      </p:cBhvr>
                                      <p:to>
                                        <p:strVal val="visible"/>
                                      </p:to>
                                    </p:set>
                                  </p:childTnLst>
                                </p:cTn>
                              </p:par>
                              <p:par>
                                <p:cTn id="96" presetID="26" presetClass="emph" presetSubtype="0" repeatCount="indefinite" fill="hold" grpId="1" nodeType="withEffect">
                                  <p:stCondLst>
                                    <p:cond delay="0"/>
                                  </p:stCondLst>
                                  <p:endCondLst>
                                    <p:cond evt="onNext" delay="0">
                                      <p:tgtEl>
                                        <p:sldTgt/>
                                      </p:tgtEl>
                                    </p:cond>
                                  </p:endCondLst>
                                  <p:childTnLst>
                                    <p:animEffect transition="out" filter="fade">
                                      <p:cBhvr>
                                        <p:cTn id="97" dur="500" tmFilter="0, 0; .2, .5; .8, .5; 1, 0"/>
                                        <p:tgtEl>
                                          <p:spTgt spid="20"/>
                                        </p:tgtEl>
                                      </p:cBhvr>
                                    </p:animEffect>
                                    <p:animScale>
                                      <p:cBhvr>
                                        <p:cTn id="98" dur="250" autoRev="1" fill="hold"/>
                                        <p:tgtEl>
                                          <p:spTgt spid="20"/>
                                        </p:tgtEl>
                                      </p:cBhvr>
                                      <p:by x="105000" y="105000"/>
                                    </p:animScale>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grpId="2" nodeType="clickEffect">
                                  <p:stCondLst>
                                    <p:cond delay="0"/>
                                  </p:stCondLst>
                                  <p:childTnLst>
                                    <p:set>
                                      <p:cBhvr>
                                        <p:cTn id="102" dur="1" fill="hold">
                                          <p:stCondLst>
                                            <p:cond delay="0"/>
                                          </p:stCondLst>
                                        </p:cTn>
                                        <p:tgtEl>
                                          <p:spTgt spid="20"/>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19"/>
                                        </p:tgtEl>
                                        <p:attrNameLst>
                                          <p:attrName>style.visibility</p:attrName>
                                        </p:attrNameLst>
                                      </p:cBhvr>
                                      <p:to>
                                        <p:strVal val="hidden"/>
                                      </p:to>
                                    </p:set>
                                  </p:childTnLst>
                                </p:cTn>
                              </p:par>
                              <p:par>
                                <p:cTn id="105" presetID="1" presetClass="entr" presetSubtype="0" fill="hold" nodeType="withEffect">
                                  <p:stCondLst>
                                    <p:cond delay="0"/>
                                  </p:stCondLst>
                                  <p:childTnLst>
                                    <p:set>
                                      <p:cBhvr>
                                        <p:cTn id="106" dur="1" fill="hold">
                                          <p:stCondLst>
                                            <p:cond delay="0"/>
                                          </p:stCondLst>
                                        </p:cTn>
                                        <p:tgtEl>
                                          <p:spTgt spid="21"/>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22"/>
                                        </p:tgtEl>
                                        <p:attrNameLst>
                                          <p:attrName>style.visibility</p:attrName>
                                        </p:attrNameLst>
                                      </p:cBhvr>
                                      <p:to>
                                        <p:strVal val="visible"/>
                                      </p:to>
                                    </p:set>
                                  </p:childTnLst>
                                </p:cTn>
                              </p:par>
                              <p:par>
                                <p:cTn id="109" presetID="26" presetClass="emph" presetSubtype="0" repeatCount="indefinite" fill="hold" grpId="1" nodeType="withEffect">
                                  <p:stCondLst>
                                    <p:cond delay="0"/>
                                  </p:stCondLst>
                                  <p:endCondLst>
                                    <p:cond evt="onNext" delay="0">
                                      <p:tgtEl>
                                        <p:sldTgt/>
                                      </p:tgtEl>
                                    </p:cond>
                                  </p:endCondLst>
                                  <p:childTnLst>
                                    <p:animEffect transition="out" filter="fade">
                                      <p:cBhvr>
                                        <p:cTn id="110" dur="500" tmFilter="0, 0; .2, .5; .8, .5; 1, 0"/>
                                        <p:tgtEl>
                                          <p:spTgt spid="22"/>
                                        </p:tgtEl>
                                      </p:cBhvr>
                                    </p:animEffect>
                                    <p:animScale>
                                      <p:cBhvr>
                                        <p:cTn id="111" dur="250" autoRev="1" fill="hold"/>
                                        <p:tgtEl>
                                          <p:spTgt spid="22"/>
                                        </p:tgtEl>
                                      </p:cBhvr>
                                      <p:by x="105000" y="105000"/>
                                    </p:animScale>
                                  </p:childTnLst>
                                </p:cTn>
                              </p:par>
                            </p:childTnLst>
                          </p:cTn>
                        </p:par>
                      </p:childTnLst>
                    </p:cTn>
                  </p:par>
                  <p:par>
                    <p:cTn id="112" fill="hold">
                      <p:stCondLst>
                        <p:cond delay="indefinite"/>
                      </p:stCondLst>
                      <p:childTnLst>
                        <p:par>
                          <p:cTn id="113" fill="hold">
                            <p:stCondLst>
                              <p:cond delay="0"/>
                            </p:stCondLst>
                            <p:childTnLst>
                              <p:par>
                                <p:cTn id="114" presetID="1" presetClass="exit" presetSubtype="0" fill="hold" grpId="2" nodeType="clickEffect">
                                  <p:stCondLst>
                                    <p:cond delay="0"/>
                                  </p:stCondLst>
                                  <p:childTnLst>
                                    <p:set>
                                      <p:cBhvr>
                                        <p:cTn id="115" dur="1" fill="hold">
                                          <p:stCondLst>
                                            <p:cond delay="0"/>
                                          </p:stCondLst>
                                        </p:cTn>
                                        <p:tgtEl>
                                          <p:spTgt spid="22"/>
                                        </p:tgtEl>
                                        <p:attrNameLst>
                                          <p:attrName>style.visibility</p:attrName>
                                        </p:attrNameLst>
                                      </p:cBhvr>
                                      <p:to>
                                        <p:strVal val="hidden"/>
                                      </p:to>
                                    </p:set>
                                  </p:childTnLst>
                                </p:cTn>
                              </p:par>
                              <p:par>
                                <p:cTn id="116" presetID="1" presetClass="exit" presetSubtype="0" fill="hold" nodeType="withEffect">
                                  <p:stCondLst>
                                    <p:cond delay="0"/>
                                  </p:stCondLst>
                                  <p:childTnLst>
                                    <p:set>
                                      <p:cBhvr>
                                        <p:cTn id="117" dur="1" fill="hold">
                                          <p:stCondLst>
                                            <p:cond delay="0"/>
                                          </p:stCondLst>
                                        </p:cTn>
                                        <p:tgtEl>
                                          <p:spTgt spid="21"/>
                                        </p:tgtEl>
                                        <p:attrNameLst>
                                          <p:attrName>style.visibility</p:attrName>
                                        </p:attrNameLst>
                                      </p:cBhvr>
                                      <p:to>
                                        <p:strVal val="hidden"/>
                                      </p:to>
                                    </p:set>
                                  </p:childTnLst>
                                </p:cTn>
                              </p:par>
                              <p:par>
                                <p:cTn id="118" presetID="1" presetClass="entr" presetSubtype="0" fill="hold" nodeType="withEffect">
                                  <p:stCondLst>
                                    <p:cond delay="0"/>
                                  </p:stCondLst>
                                  <p:childTnLst>
                                    <p:set>
                                      <p:cBhvr>
                                        <p:cTn id="119" dur="1" fill="hold">
                                          <p:stCondLst>
                                            <p:cond delay="0"/>
                                          </p:stCondLst>
                                        </p:cTn>
                                        <p:tgtEl>
                                          <p:spTgt spid="23"/>
                                        </p:tgtEl>
                                        <p:attrNameLst>
                                          <p:attrName>style.visibility</p:attrName>
                                        </p:attrNameLst>
                                      </p:cBhvr>
                                      <p:to>
                                        <p:strVal val="visible"/>
                                      </p:to>
                                    </p:set>
                                  </p:childTnLst>
                                </p:cTn>
                              </p:par>
                              <p:par>
                                <p:cTn id="120" presetID="1" presetClass="entr" presetSubtype="0" fill="hold" grpId="0" nodeType="withEffect">
                                  <p:stCondLst>
                                    <p:cond delay="0"/>
                                  </p:stCondLst>
                                  <p:childTnLst>
                                    <p:set>
                                      <p:cBhvr>
                                        <p:cTn id="121" dur="1" fill="hold">
                                          <p:stCondLst>
                                            <p:cond delay="0"/>
                                          </p:stCondLst>
                                        </p:cTn>
                                        <p:tgtEl>
                                          <p:spTgt spid="24"/>
                                        </p:tgtEl>
                                        <p:attrNameLst>
                                          <p:attrName>style.visibility</p:attrName>
                                        </p:attrNameLst>
                                      </p:cBhvr>
                                      <p:to>
                                        <p:strVal val="visible"/>
                                      </p:to>
                                    </p:set>
                                  </p:childTnLst>
                                </p:cTn>
                              </p:par>
                              <p:par>
                                <p:cTn id="122" presetID="26" presetClass="emph" presetSubtype="0" repeatCount="indefinite" fill="hold" grpId="1" nodeType="withEffect">
                                  <p:stCondLst>
                                    <p:cond delay="0"/>
                                  </p:stCondLst>
                                  <p:endCondLst>
                                    <p:cond evt="onNext" delay="0">
                                      <p:tgtEl>
                                        <p:sldTgt/>
                                      </p:tgtEl>
                                    </p:cond>
                                  </p:endCondLst>
                                  <p:childTnLst>
                                    <p:animEffect transition="out" filter="fade">
                                      <p:cBhvr>
                                        <p:cTn id="123" dur="500" tmFilter="0, 0; .2, .5; .8, .5; 1, 0"/>
                                        <p:tgtEl>
                                          <p:spTgt spid="24"/>
                                        </p:tgtEl>
                                      </p:cBhvr>
                                    </p:animEffect>
                                    <p:animScale>
                                      <p:cBhvr>
                                        <p:cTn id="124" dur="250" autoRev="1" fill="hold"/>
                                        <p:tgtEl>
                                          <p:spTgt spid="24"/>
                                        </p:tgtEl>
                                      </p:cBhvr>
                                      <p:by x="105000" y="105000"/>
                                    </p:animScale>
                                  </p:childTnLst>
                                </p:cTn>
                              </p:par>
                            </p:childTnLst>
                          </p:cTn>
                        </p:par>
                      </p:childTnLst>
                    </p:cTn>
                  </p:par>
                  <p:par>
                    <p:cTn id="125" fill="hold">
                      <p:stCondLst>
                        <p:cond delay="indefinite"/>
                      </p:stCondLst>
                      <p:childTnLst>
                        <p:par>
                          <p:cTn id="126" fill="hold">
                            <p:stCondLst>
                              <p:cond delay="0"/>
                            </p:stCondLst>
                            <p:childTnLst>
                              <p:par>
                                <p:cTn id="127" presetID="1" presetClass="exit" presetSubtype="0" fill="hold" grpId="2" nodeType="clickEffect">
                                  <p:stCondLst>
                                    <p:cond delay="0"/>
                                  </p:stCondLst>
                                  <p:childTnLst>
                                    <p:set>
                                      <p:cBhvr>
                                        <p:cTn id="128" dur="1" fill="hold">
                                          <p:stCondLst>
                                            <p:cond delay="0"/>
                                          </p:stCondLst>
                                        </p:cTn>
                                        <p:tgtEl>
                                          <p:spTgt spid="24"/>
                                        </p:tgtEl>
                                        <p:attrNameLst>
                                          <p:attrName>style.visibility</p:attrName>
                                        </p:attrNameLst>
                                      </p:cBhvr>
                                      <p:to>
                                        <p:strVal val="hidden"/>
                                      </p:to>
                                    </p:set>
                                  </p:childTnLst>
                                </p:cTn>
                              </p:par>
                              <p:par>
                                <p:cTn id="129" presetID="1" presetClass="exit" presetSubtype="0" fill="hold" nodeType="withEffect">
                                  <p:stCondLst>
                                    <p:cond delay="0"/>
                                  </p:stCondLst>
                                  <p:childTnLst>
                                    <p:set>
                                      <p:cBhvr>
                                        <p:cTn id="130" dur="1" fill="hold">
                                          <p:stCondLst>
                                            <p:cond delay="0"/>
                                          </p:stCondLst>
                                        </p:cTn>
                                        <p:tgtEl>
                                          <p:spTgt spid="23"/>
                                        </p:tgtEl>
                                        <p:attrNameLst>
                                          <p:attrName>style.visibility</p:attrName>
                                        </p:attrNameLst>
                                      </p:cBhvr>
                                      <p:to>
                                        <p:strVal val="hidden"/>
                                      </p:to>
                                    </p:set>
                                  </p:childTnLst>
                                </p:cTn>
                              </p:par>
                              <p:par>
                                <p:cTn id="131" presetID="1" presetClass="entr" presetSubtype="0" fill="hold" nodeType="withEffect">
                                  <p:stCondLst>
                                    <p:cond delay="0"/>
                                  </p:stCondLst>
                                  <p:childTnLst>
                                    <p:set>
                                      <p:cBhvr>
                                        <p:cTn id="132" dur="1" fill="hold">
                                          <p:stCondLst>
                                            <p:cond delay="0"/>
                                          </p:stCondLst>
                                        </p:cTn>
                                        <p:tgtEl>
                                          <p:spTgt spid="25"/>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26"/>
                                        </p:tgtEl>
                                        <p:attrNameLst>
                                          <p:attrName>style.visibility</p:attrName>
                                        </p:attrNameLst>
                                      </p:cBhvr>
                                      <p:to>
                                        <p:strVal val="visible"/>
                                      </p:to>
                                    </p:set>
                                  </p:childTnLst>
                                </p:cTn>
                              </p:par>
                              <p:par>
                                <p:cTn id="135" presetID="26" presetClass="emph" presetSubtype="0" repeatCount="indefinite" fill="hold" grpId="1" nodeType="withEffect">
                                  <p:stCondLst>
                                    <p:cond delay="0"/>
                                  </p:stCondLst>
                                  <p:endCondLst>
                                    <p:cond evt="onNext" delay="0">
                                      <p:tgtEl>
                                        <p:sldTgt/>
                                      </p:tgtEl>
                                    </p:cond>
                                  </p:endCondLst>
                                  <p:childTnLst>
                                    <p:animEffect transition="out" filter="fade">
                                      <p:cBhvr>
                                        <p:cTn id="136" dur="500" tmFilter="0, 0; .2, .5; .8, .5; 1, 0"/>
                                        <p:tgtEl>
                                          <p:spTgt spid="26"/>
                                        </p:tgtEl>
                                      </p:cBhvr>
                                    </p:animEffect>
                                    <p:animScale>
                                      <p:cBhvr>
                                        <p:cTn id="137" dur="250" autoRev="1" fill="hold"/>
                                        <p:tgtEl>
                                          <p:spTgt spid="26"/>
                                        </p:tgtEl>
                                      </p:cBhvr>
                                      <p:by x="105000" y="105000"/>
                                    </p:animScale>
                                  </p:childTnLst>
                                </p:cTn>
                              </p:par>
                              <p:par>
                                <p:cTn id="138" presetID="1" presetClass="entr" presetSubtype="0" fill="hold" grpId="0" nodeType="withEffect">
                                  <p:stCondLst>
                                    <p:cond delay="0"/>
                                  </p:stCondLst>
                                  <p:childTnLst>
                                    <p:set>
                                      <p:cBhvr>
                                        <p:cTn id="139" dur="1" fill="hold">
                                          <p:stCondLst>
                                            <p:cond delay="0"/>
                                          </p:stCondLst>
                                        </p:cTn>
                                        <p:tgtEl>
                                          <p:spTgt spid="35"/>
                                        </p:tgtEl>
                                        <p:attrNameLst>
                                          <p:attrName>style.visibility</p:attrName>
                                        </p:attrNameLst>
                                      </p:cBhvr>
                                      <p:to>
                                        <p:strVal val="visible"/>
                                      </p:to>
                                    </p:set>
                                  </p:childTnLst>
                                </p:cTn>
                              </p:par>
                              <p:par>
                                <p:cTn id="140" presetID="26" presetClass="emph" presetSubtype="0" repeatCount="indefinite" fill="hold" grpId="1" nodeType="withEffect">
                                  <p:stCondLst>
                                    <p:cond delay="0"/>
                                  </p:stCondLst>
                                  <p:endCondLst>
                                    <p:cond evt="onNext" delay="0">
                                      <p:tgtEl>
                                        <p:sldTgt/>
                                      </p:tgtEl>
                                    </p:cond>
                                  </p:endCondLst>
                                  <p:childTnLst>
                                    <p:animEffect transition="out" filter="fade">
                                      <p:cBhvr>
                                        <p:cTn id="141" dur="500" tmFilter="0, 0; .2, .5; .8, .5; 1, 0"/>
                                        <p:tgtEl>
                                          <p:spTgt spid="35"/>
                                        </p:tgtEl>
                                      </p:cBhvr>
                                    </p:animEffect>
                                    <p:animScale>
                                      <p:cBhvr>
                                        <p:cTn id="142" dur="250" autoRev="1" fill="hold"/>
                                        <p:tgtEl>
                                          <p:spTgt spid="35"/>
                                        </p:tgtEl>
                                      </p:cBhvr>
                                      <p:by x="105000" y="105000"/>
                                    </p:animScale>
                                  </p:childTnLst>
                                </p:cTn>
                              </p:par>
                            </p:childTnLst>
                          </p:cTn>
                        </p:par>
                      </p:childTnLst>
                    </p:cTn>
                  </p:par>
                  <p:par>
                    <p:cTn id="143" fill="hold">
                      <p:stCondLst>
                        <p:cond delay="indefinite"/>
                      </p:stCondLst>
                      <p:childTnLst>
                        <p:par>
                          <p:cTn id="144" fill="hold">
                            <p:stCondLst>
                              <p:cond delay="0"/>
                            </p:stCondLst>
                            <p:childTnLst>
                              <p:par>
                                <p:cTn id="145" presetID="1" presetClass="exit" presetSubtype="0" fill="hold" grpId="2" nodeType="clickEffect">
                                  <p:stCondLst>
                                    <p:cond delay="0"/>
                                  </p:stCondLst>
                                  <p:childTnLst>
                                    <p:set>
                                      <p:cBhvr>
                                        <p:cTn id="146" dur="1" fill="hold">
                                          <p:stCondLst>
                                            <p:cond delay="0"/>
                                          </p:stCondLst>
                                        </p:cTn>
                                        <p:tgtEl>
                                          <p:spTgt spid="35"/>
                                        </p:tgtEl>
                                        <p:attrNameLst>
                                          <p:attrName>style.visibility</p:attrName>
                                        </p:attrNameLst>
                                      </p:cBhvr>
                                      <p:to>
                                        <p:strVal val="hidden"/>
                                      </p:to>
                                    </p:set>
                                  </p:childTnLst>
                                </p:cTn>
                              </p:par>
                            </p:childTnLst>
                          </p:cTn>
                        </p:par>
                      </p:childTnLst>
                    </p:cTn>
                  </p:par>
                  <p:par>
                    <p:cTn id="147" fill="hold">
                      <p:stCondLst>
                        <p:cond delay="indefinite"/>
                      </p:stCondLst>
                      <p:childTnLst>
                        <p:par>
                          <p:cTn id="148" fill="hold">
                            <p:stCondLst>
                              <p:cond delay="0"/>
                            </p:stCondLst>
                            <p:childTnLst>
                              <p:par>
                                <p:cTn id="149" presetID="1" presetClass="exit" presetSubtype="0" fill="hold" grpId="2" nodeType="clickEffect">
                                  <p:stCondLst>
                                    <p:cond delay="0"/>
                                  </p:stCondLst>
                                  <p:childTnLst>
                                    <p:set>
                                      <p:cBhvr>
                                        <p:cTn id="150" dur="1" fill="hold">
                                          <p:stCondLst>
                                            <p:cond delay="0"/>
                                          </p:stCondLst>
                                        </p:cTn>
                                        <p:tgtEl>
                                          <p:spTgt spid="26"/>
                                        </p:tgtEl>
                                        <p:attrNameLst>
                                          <p:attrName>style.visibility</p:attrName>
                                        </p:attrNameLst>
                                      </p:cBhvr>
                                      <p:to>
                                        <p:strVal val="hidden"/>
                                      </p:to>
                                    </p:set>
                                  </p:childTnLst>
                                </p:cTn>
                              </p:par>
                              <p:par>
                                <p:cTn id="151" presetID="1" presetClass="exit" presetSubtype="0" fill="hold" nodeType="withEffect">
                                  <p:stCondLst>
                                    <p:cond delay="0"/>
                                  </p:stCondLst>
                                  <p:childTnLst>
                                    <p:set>
                                      <p:cBhvr>
                                        <p:cTn id="152" dur="1" fill="hold">
                                          <p:stCondLst>
                                            <p:cond delay="0"/>
                                          </p:stCondLst>
                                        </p:cTn>
                                        <p:tgtEl>
                                          <p:spTgt spid="25"/>
                                        </p:tgtEl>
                                        <p:attrNameLst>
                                          <p:attrName>style.visibility</p:attrName>
                                        </p:attrNameLst>
                                      </p:cBhvr>
                                      <p:to>
                                        <p:strVal val="hidden"/>
                                      </p:to>
                                    </p:set>
                                  </p:childTnLst>
                                </p:cTn>
                              </p:par>
                              <p:par>
                                <p:cTn id="153" presetID="1" presetClass="entr" presetSubtype="0" fill="hold" nodeType="withEffect">
                                  <p:stCondLst>
                                    <p:cond delay="0"/>
                                  </p:stCondLst>
                                  <p:childTnLst>
                                    <p:set>
                                      <p:cBhvr>
                                        <p:cTn id="154" dur="1" fill="hold">
                                          <p:stCondLst>
                                            <p:cond delay="0"/>
                                          </p:stCondLst>
                                        </p:cTn>
                                        <p:tgtEl>
                                          <p:spTgt spid="27"/>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28"/>
                                        </p:tgtEl>
                                        <p:attrNameLst>
                                          <p:attrName>style.visibility</p:attrName>
                                        </p:attrNameLst>
                                      </p:cBhvr>
                                      <p:to>
                                        <p:strVal val="visible"/>
                                      </p:to>
                                    </p:set>
                                  </p:childTnLst>
                                </p:cTn>
                              </p:par>
                              <p:par>
                                <p:cTn id="157" presetID="26" presetClass="emph" presetSubtype="0" repeatCount="indefinite" fill="hold" grpId="1" nodeType="withEffect">
                                  <p:stCondLst>
                                    <p:cond delay="0"/>
                                  </p:stCondLst>
                                  <p:endCondLst>
                                    <p:cond evt="onNext" delay="0">
                                      <p:tgtEl>
                                        <p:sldTgt/>
                                      </p:tgtEl>
                                    </p:cond>
                                  </p:endCondLst>
                                  <p:childTnLst>
                                    <p:animEffect transition="out" filter="fade">
                                      <p:cBhvr>
                                        <p:cTn id="158" dur="500" tmFilter="0, 0; .2, .5; .8, .5; 1, 0"/>
                                        <p:tgtEl>
                                          <p:spTgt spid="28"/>
                                        </p:tgtEl>
                                      </p:cBhvr>
                                    </p:animEffect>
                                    <p:animScale>
                                      <p:cBhvr>
                                        <p:cTn id="159" dur="250" autoRev="1" fill="hold"/>
                                        <p:tgtEl>
                                          <p:spTgt spid="28"/>
                                        </p:tgtEl>
                                      </p:cBhvr>
                                      <p:by x="105000" y="105000"/>
                                    </p:animScale>
                                  </p:childTnLst>
                                </p:cTn>
                              </p:par>
                            </p:childTnLst>
                          </p:cTn>
                        </p:par>
                      </p:childTnLst>
                    </p:cTn>
                  </p:par>
                  <p:par>
                    <p:cTn id="160" fill="hold">
                      <p:stCondLst>
                        <p:cond delay="indefinite"/>
                      </p:stCondLst>
                      <p:childTnLst>
                        <p:par>
                          <p:cTn id="161" fill="hold">
                            <p:stCondLst>
                              <p:cond delay="0"/>
                            </p:stCondLst>
                            <p:childTnLst>
                              <p:par>
                                <p:cTn id="162" presetID="1" presetClass="exit" presetSubtype="0" fill="hold" grpId="2" nodeType="clickEffect">
                                  <p:stCondLst>
                                    <p:cond delay="0"/>
                                  </p:stCondLst>
                                  <p:childTnLst>
                                    <p:set>
                                      <p:cBhvr>
                                        <p:cTn id="163" dur="1" fill="hold">
                                          <p:stCondLst>
                                            <p:cond delay="0"/>
                                          </p:stCondLst>
                                        </p:cTn>
                                        <p:tgtEl>
                                          <p:spTgt spid="28"/>
                                        </p:tgtEl>
                                        <p:attrNameLst>
                                          <p:attrName>style.visibility</p:attrName>
                                        </p:attrNameLst>
                                      </p:cBhvr>
                                      <p:to>
                                        <p:strVal val="hidden"/>
                                      </p:to>
                                    </p:set>
                                  </p:childTnLst>
                                </p:cTn>
                              </p:par>
                              <p:par>
                                <p:cTn id="164" presetID="1" presetClass="exit" presetSubtype="0" fill="hold" nodeType="withEffect">
                                  <p:stCondLst>
                                    <p:cond delay="0"/>
                                  </p:stCondLst>
                                  <p:childTnLst>
                                    <p:set>
                                      <p:cBhvr>
                                        <p:cTn id="165" dur="1" fill="hold">
                                          <p:stCondLst>
                                            <p:cond delay="0"/>
                                          </p:stCondLst>
                                        </p:cTn>
                                        <p:tgtEl>
                                          <p:spTgt spid="27"/>
                                        </p:tgtEl>
                                        <p:attrNameLst>
                                          <p:attrName>style.visibility</p:attrName>
                                        </p:attrNameLst>
                                      </p:cBhvr>
                                      <p:to>
                                        <p:strVal val="hidden"/>
                                      </p:to>
                                    </p:set>
                                  </p:childTnLst>
                                </p:cTn>
                              </p:par>
                              <p:par>
                                <p:cTn id="166" presetID="1" presetClass="entr" presetSubtype="0" fill="hold" nodeType="withEffect">
                                  <p:stCondLst>
                                    <p:cond delay="0"/>
                                  </p:stCondLst>
                                  <p:childTnLst>
                                    <p:set>
                                      <p:cBhvr>
                                        <p:cTn id="167" dur="1" fill="hold">
                                          <p:stCondLst>
                                            <p:cond delay="0"/>
                                          </p:stCondLst>
                                        </p:cTn>
                                        <p:tgtEl>
                                          <p:spTgt spid="29"/>
                                        </p:tgtEl>
                                        <p:attrNameLst>
                                          <p:attrName>style.visibility</p:attrName>
                                        </p:attrNameLst>
                                      </p:cBhvr>
                                      <p:to>
                                        <p:strVal val="visible"/>
                                      </p:to>
                                    </p:set>
                                  </p:childTnLst>
                                </p:cTn>
                              </p:par>
                              <p:par>
                                <p:cTn id="168" presetID="1" presetClass="entr" presetSubtype="0" fill="hold" grpId="0" nodeType="withEffect">
                                  <p:stCondLst>
                                    <p:cond delay="0"/>
                                  </p:stCondLst>
                                  <p:childTnLst>
                                    <p:set>
                                      <p:cBhvr>
                                        <p:cTn id="169" dur="1" fill="hold">
                                          <p:stCondLst>
                                            <p:cond delay="0"/>
                                          </p:stCondLst>
                                        </p:cTn>
                                        <p:tgtEl>
                                          <p:spTgt spid="30"/>
                                        </p:tgtEl>
                                        <p:attrNameLst>
                                          <p:attrName>style.visibility</p:attrName>
                                        </p:attrNameLst>
                                      </p:cBhvr>
                                      <p:to>
                                        <p:strVal val="visible"/>
                                      </p:to>
                                    </p:set>
                                  </p:childTnLst>
                                </p:cTn>
                              </p:par>
                              <p:par>
                                <p:cTn id="170" presetID="26" presetClass="emph" presetSubtype="0" repeatCount="indefinite" fill="hold" grpId="1" nodeType="withEffect">
                                  <p:stCondLst>
                                    <p:cond delay="0"/>
                                  </p:stCondLst>
                                  <p:endCondLst>
                                    <p:cond evt="onNext" delay="0">
                                      <p:tgtEl>
                                        <p:sldTgt/>
                                      </p:tgtEl>
                                    </p:cond>
                                  </p:endCondLst>
                                  <p:childTnLst>
                                    <p:animEffect transition="out" filter="fade">
                                      <p:cBhvr>
                                        <p:cTn id="171" dur="500" tmFilter="0, 0; .2, .5; .8, .5; 1, 0"/>
                                        <p:tgtEl>
                                          <p:spTgt spid="30"/>
                                        </p:tgtEl>
                                      </p:cBhvr>
                                    </p:animEffect>
                                    <p:animScale>
                                      <p:cBhvr>
                                        <p:cTn id="172" dur="250" autoRev="1" fill="hold"/>
                                        <p:tgtEl>
                                          <p:spTgt spid="30"/>
                                        </p:tgtEl>
                                      </p:cBhvr>
                                      <p:by x="105000" y="105000"/>
                                    </p:animScale>
                                  </p:childTnLst>
                                </p:cTn>
                              </p:par>
                            </p:childTnLst>
                          </p:cTn>
                        </p:par>
                      </p:childTnLst>
                    </p:cTn>
                  </p:par>
                  <p:par>
                    <p:cTn id="173" fill="hold">
                      <p:stCondLst>
                        <p:cond delay="indefinite"/>
                      </p:stCondLst>
                      <p:childTnLst>
                        <p:par>
                          <p:cTn id="174" fill="hold">
                            <p:stCondLst>
                              <p:cond delay="0"/>
                            </p:stCondLst>
                            <p:childTnLst>
                              <p:par>
                                <p:cTn id="175" presetID="1" presetClass="exit" presetSubtype="0" fill="hold" grpId="2" nodeType="clickEffect">
                                  <p:stCondLst>
                                    <p:cond delay="0"/>
                                  </p:stCondLst>
                                  <p:childTnLst>
                                    <p:set>
                                      <p:cBhvr>
                                        <p:cTn id="176" dur="1" fill="hold">
                                          <p:stCondLst>
                                            <p:cond delay="0"/>
                                          </p:stCondLst>
                                        </p:cTn>
                                        <p:tgtEl>
                                          <p:spTgt spid="30"/>
                                        </p:tgtEl>
                                        <p:attrNameLst>
                                          <p:attrName>style.visibility</p:attrName>
                                        </p:attrNameLst>
                                      </p:cBhvr>
                                      <p:to>
                                        <p:strVal val="hidden"/>
                                      </p:to>
                                    </p:set>
                                  </p:childTnLst>
                                </p:cTn>
                              </p:par>
                              <p:par>
                                <p:cTn id="177" presetID="1" presetClass="exit" presetSubtype="0" fill="hold" nodeType="withEffect">
                                  <p:stCondLst>
                                    <p:cond delay="0"/>
                                  </p:stCondLst>
                                  <p:childTnLst>
                                    <p:set>
                                      <p:cBhvr>
                                        <p:cTn id="178" dur="1" fill="hold">
                                          <p:stCondLst>
                                            <p:cond delay="0"/>
                                          </p:stCondLst>
                                        </p:cTn>
                                        <p:tgtEl>
                                          <p:spTgt spid="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9" grpId="2" animBg="1"/>
      <p:bldP spid="14" grpId="0" animBg="1"/>
      <p:bldP spid="14" grpId="1" animBg="1"/>
      <p:bldP spid="14" grpId="2" animBg="1"/>
      <p:bldP spid="16" grpId="0" animBg="1"/>
      <p:bldP spid="16" grpId="1" animBg="1"/>
      <p:bldP spid="16" grpId="2" animBg="1"/>
      <p:bldP spid="18" grpId="0" animBg="1"/>
      <p:bldP spid="18" grpId="1" animBg="1"/>
      <p:bldP spid="18" grpId="2" animBg="1"/>
      <p:bldP spid="20" grpId="0" animBg="1"/>
      <p:bldP spid="20" grpId="1" animBg="1"/>
      <p:bldP spid="20" grpId="2" animBg="1"/>
      <p:bldP spid="22" grpId="0" animBg="1"/>
      <p:bldP spid="22" grpId="1" animBg="1"/>
      <p:bldP spid="22" grpId="2" animBg="1"/>
      <p:bldP spid="24" grpId="0" animBg="1"/>
      <p:bldP spid="24" grpId="1" animBg="1"/>
      <p:bldP spid="24" grpId="2" animBg="1"/>
      <p:bldP spid="26" grpId="0" animBg="1"/>
      <p:bldP spid="26" grpId="1" animBg="1"/>
      <p:bldP spid="26" grpId="2" animBg="1"/>
      <p:bldP spid="28" grpId="0" animBg="1"/>
      <p:bldP spid="28" grpId="1" animBg="1"/>
      <p:bldP spid="28" grpId="2" animBg="1"/>
      <p:bldP spid="30" grpId="0" animBg="1"/>
      <p:bldP spid="30" grpId="1" animBg="1"/>
      <p:bldP spid="30" grpId="2" animBg="1"/>
      <p:bldP spid="32" grpId="0" animBg="1"/>
      <p:bldP spid="32" grpId="1" animBg="1"/>
      <p:bldP spid="32" grpId="2" animBg="1"/>
      <p:bldP spid="35" grpId="0" animBg="1"/>
      <p:bldP spid="35" grpId="1" animBg="1"/>
      <p:bldP spid="35" grpId="2" animBg="1"/>
    </p:bldLst>
  </p:timing>
</p:sld>
</file>

<file path=ppt/slides/slide6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47076983-6098-4D75-8E3B-99B088ABB8A4}"/>
              </a:ext>
            </a:extLst>
          </p:cNvPr>
          <p:cNvSpPr>
            <a:spLocks noGrp="1"/>
          </p:cNvSpPr>
          <p:nvPr>
            <p:ph type="body" sz="quarter" idx="11"/>
          </p:nvPr>
        </p:nvSpPr>
        <p:spPr/>
        <p:txBody>
          <a:bodyPr/>
          <a:lstStyle/>
          <a:p>
            <a:r>
              <a:rPr lang="en-IN" dirty="0" err="1"/>
              <a:t>asha.gondaliya</a:t>
            </a:r>
            <a:r>
              <a:rPr lang="en-IN" dirty="0"/>
              <a:t>@​darshan.ac.in</a:t>
            </a:r>
            <a:endParaRPr lang="en-US" dirty="0"/>
          </a:p>
        </p:txBody>
      </p:sp>
      <p:sp>
        <p:nvSpPr>
          <p:cNvPr id="12" name="Text Placeholder 3">
            <a:extLst>
              <a:ext uri="{FF2B5EF4-FFF2-40B4-BE49-F238E27FC236}">
                <a16:creationId xmlns:a16="http://schemas.microsoft.com/office/drawing/2014/main" id="{A05BAC4B-D894-4260-872E-77744EE844B3}"/>
              </a:ext>
            </a:extLst>
          </p:cNvPr>
          <p:cNvSpPr>
            <a:spLocks noGrp="1"/>
          </p:cNvSpPr>
          <p:nvPr>
            <p:ph type="body" sz="quarter" idx="12"/>
          </p:nvPr>
        </p:nvSpPr>
        <p:spPr/>
        <p:txBody>
          <a:bodyPr/>
          <a:lstStyle/>
          <a:p>
            <a:endParaRPr lang="en-US" dirty="0"/>
          </a:p>
        </p:txBody>
      </p:sp>
      <p:sp>
        <p:nvSpPr>
          <p:cNvPr id="2" name="Text Placeholder 1">
            <a:extLst>
              <a:ext uri="{FF2B5EF4-FFF2-40B4-BE49-F238E27FC236}">
                <a16:creationId xmlns:a16="http://schemas.microsoft.com/office/drawing/2014/main" id="{6EE20B01-2C98-438F-91A2-5BCFB793FEFB}"/>
              </a:ext>
            </a:extLst>
          </p:cNvPr>
          <p:cNvSpPr>
            <a:spLocks noGrp="1"/>
          </p:cNvSpPr>
          <p:nvPr>
            <p:ph type="body" sz="quarter" idx="13"/>
          </p:nvPr>
        </p:nvSpPr>
        <p:spPr/>
        <p:txBody>
          <a:bodyPr/>
          <a:lstStyle/>
          <a:p>
            <a:r>
              <a:rPr lang="en-US" dirty="0"/>
              <a:t>Computer Engineering Department</a:t>
            </a:r>
          </a:p>
        </p:txBody>
      </p:sp>
      <p:sp>
        <p:nvSpPr>
          <p:cNvPr id="6" name="Text Placeholder 5">
            <a:extLst>
              <a:ext uri="{FF2B5EF4-FFF2-40B4-BE49-F238E27FC236}">
                <a16:creationId xmlns:a16="http://schemas.microsoft.com/office/drawing/2014/main" id="{DE283884-0326-C47B-1F6B-60B10599E44D}"/>
              </a:ext>
            </a:extLst>
          </p:cNvPr>
          <p:cNvSpPr>
            <a:spLocks noGrp="1"/>
          </p:cNvSpPr>
          <p:nvPr>
            <p:ph type="body" sz="quarter" idx="14"/>
          </p:nvPr>
        </p:nvSpPr>
        <p:spPr/>
        <p:txBody>
          <a:bodyPr/>
          <a:lstStyle/>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gradFill flip="none" rotWithShape="1">
                  <a:gsLst>
                    <a:gs pos="10000">
                      <a:srgbClr val="3E2622"/>
                    </a:gs>
                    <a:gs pos="100000">
                      <a:srgbClr val="795547"/>
                    </a:gs>
                  </a:gsLst>
                  <a:lin ang="0" scaled="1"/>
                  <a:tileRect/>
                </a:gradFill>
                <a:effectLst/>
                <a:uLnTx/>
                <a:uFillTx/>
                <a:latin typeface="Roboto Condensed"/>
                <a:ea typeface="+mn-ea"/>
                <a:cs typeface="+mn-cs"/>
              </a:rPr>
              <a:t>Prof. </a:t>
            </a:r>
            <a:r>
              <a:rPr lang="en-US" dirty="0">
                <a:gradFill flip="none" rotWithShape="1">
                  <a:gsLst>
                    <a:gs pos="10000">
                      <a:srgbClr val="3E2622"/>
                    </a:gs>
                    <a:gs pos="100000">
                      <a:srgbClr val="795547"/>
                    </a:gs>
                  </a:gsLst>
                  <a:lin ang="0" scaled="1"/>
                  <a:tileRect/>
                </a:gradFill>
                <a:latin typeface="Roboto Condensed"/>
              </a:rPr>
              <a:t>Asha</a:t>
            </a:r>
            <a:r>
              <a:rPr kumimoji="0" lang="en-US" sz="1800" b="1" i="0" u="none" strike="noStrike" kern="1200" cap="none" spc="0" normalizeH="0" baseline="0" noProof="0" dirty="0">
                <a:ln>
                  <a:noFill/>
                </a:ln>
                <a:gradFill flip="none" rotWithShape="1">
                  <a:gsLst>
                    <a:gs pos="10000">
                      <a:srgbClr val="3E2622"/>
                    </a:gs>
                    <a:gs pos="100000">
                      <a:srgbClr val="795547"/>
                    </a:gs>
                  </a:gsLst>
                  <a:lin ang="0" scaled="1"/>
                  <a:tileRect/>
                </a:gradFill>
                <a:effectLst/>
                <a:uLnTx/>
                <a:uFillTx/>
                <a:latin typeface="Roboto Condensed"/>
                <a:ea typeface="+mn-ea"/>
                <a:cs typeface="+mn-cs"/>
              </a:rPr>
              <a:t> </a:t>
            </a:r>
            <a:r>
              <a:rPr lang="en-US" dirty="0">
                <a:gradFill flip="none" rotWithShape="1">
                  <a:gsLst>
                    <a:gs pos="10000">
                      <a:srgbClr val="3E2622"/>
                    </a:gs>
                    <a:gs pos="100000">
                      <a:srgbClr val="795547"/>
                    </a:gs>
                  </a:gsLst>
                  <a:lin ang="0" scaled="1"/>
                  <a:tileRect/>
                </a:gradFill>
                <a:latin typeface="Roboto Condensed"/>
              </a:rPr>
              <a:t>A</a:t>
            </a:r>
            <a:r>
              <a:rPr kumimoji="0" lang="en-US" sz="1800" b="1" i="0" u="none" strike="noStrike" kern="1200" cap="none" spc="0" normalizeH="0" baseline="0" noProof="0" dirty="0">
                <a:ln>
                  <a:noFill/>
                </a:ln>
                <a:gradFill flip="none" rotWithShape="1">
                  <a:gsLst>
                    <a:gs pos="10000">
                      <a:srgbClr val="3E2622"/>
                    </a:gs>
                    <a:gs pos="100000">
                      <a:srgbClr val="795547"/>
                    </a:gs>
                  </a:gsLst>
                  <a:lin ang="0" scaled="1"/>
                  <a:tileRect/>
                </a:gradFill>
                <a:effectLst/>
                <a:uLnTx/>
                <a:uFillTx/>
                <a:latin typeface="Roboto Condensed"/>
                <a:ea typeface="+mn-ea"/>
                <a:cs typeface="+mn-cs"/>
              </a:rPr>
              <a:t>. Gondaliya</a:t>
            </a:r>
          </a:p>
        </p:txBody>
      </p:sp>
      <p:sp>
        <p:nvSpPr>
          <p:cNvPr id="7" name="Text Placeholder 6">
            <a:extLst>
              <a:ext uri="{FF2B5EF4-FFF2-40B4-BE49-F238E27FC236}">
                <a16:creationId xmlns:a16="http://schemas.microsoft.com/office/drawing/2014/main" id="{34F77176-AD0A-BB46-F2E7-9F5B86D3FA4A}"/>
              </a:ext>
            </a:extLst>
          </p:cNvPr>
          <p:cNvSpPr>
            <a:spLocks noGrp="1"/>
          </p:cNvSpPr>
          <p:nvPr>
            <p:ph type="body" sz="quarter" idx="16"/>
          </p:nvPr>
        </p:nvSpPr>
        <p:spPr>
          <a:xfrm>
            <a:off x="2820293" y="20384"/>
            <a:ext cx="4646358" cy="734653"/>
          </a:xfrm>
        </p:spPr>
        <p:txBody>
          <a:bodyPr/>
          <a:lstStyle/>
          <a:p>
            <a:pPr>
              <a:lnSpc>
                <a:spcPct val="150000"/>
              </a:lnSpc>
            </a:pPr>
            <a:r>
              <a:rPr lang="en-US" dirty="0"/>
              <a:t>Operating</a:t>
            </a:r>
            <a:r>
              <a:rPr lang="en-US" dirty="0">
                <a:latin typeface="Roboto Condensed Light" panose="02000000000000000000" pitchFamily="2" charset="0"/>
                <a:ea typeface="Roboto Condensed Light" panose="02000000000000000000" pitchFamily="2" charset="0"/>
              </a:rPr>
              <a:t> </a:t>
            </a:r>
            <a:r>
              <a:rPr lang="en-US" dirty="0"/>
              <a:t>System </a:t>
            </a:r>
            <a:r>
              <a:rPr lang="en-US" dirty="0">
                <a:latin typeface="Roboto Condensed Light" panose="02000000000000000000" pitchFamily="2" charset="0"/>
                <a:ea typeface="Roboto Condensed Light" panose="02000000000000000000" pitchFamily="2" charset="0"/>
              </a:rPr>
              <a:t>(OS)</a:t>
            </a:r>
          </a:p>
          <a:p>
            <a:pPr>
              <a:lnSpc>
                <a:spcPct val="150000"/>
              </a:lnSpc>
            </a:pPr>
            <a:r>
              <a:rPr lang="en-US" dirty="0">
                <a:latin typeface="Roboto Condensed Light" panose="02000000000000000000" pitchFamily="2" charset="0"/>
                <a:ea typeface="Roboto Condensed Light" panose="02000000000000000000" pitchFamily="2" charset="0"/>
              </a:rPr>
              <a:t>DU # 2302CS401 </a:t>
            </a:r>
          </a:p>
        </p:txBody>
      </p:sp>
      <p:pic>
        <p:nvPicPr>
          <p:cNvPr id="9" name="Picture Placeholder 8">
            <a:extLst>
              <a:ext uri="{FF2B5EF4-FFF2-40B4-BE49-F238E27FC236}">
                <a16:creationId xmlns:a16="http://schemas.microsoft.com/office/drawing/2014/main" id="{51E7ED95-25B1-4CD2-8807-9C1E3D4A50D1}"/>
              </a:ext>
            </a:extLst>
          </p:cNvPr>
          <p:cNvPicPr>
            <a:picLocks noGrp="1" noChangeAspect="1"/>
          </p:cNvPicPr>
          <p:nvPr>
            <p:ph type="pic" sz="quarter" idx="10"/>
          </p:nvPr>
        </p:nvPicPr>
        <p:blipFill>
          <a:blip r:embed="rId3" cstate="print">
            <a:extLst>
              <a:ext uri="{28A0092B-C50C-407E-A947-70E740481C1C}">
                <a14:useLocalDpi xmlns:a14="http://schemas.microsoft.com/office/drawing/2010/main" val="0"/>
              </a:ext>
            </a:extLst>
          </a:blip>
          <a:srcRect/>
          <a:stretch>
            <a:fillRect/>
          </a:stretch>
        </p:blipFill>
        <p:spPr/>
      </p:pic>
    </p:spTree>
    <p:extLst>
      <p:ext uri="{BB962C8B-B14F-4D97-AF65-F5344CB8AC3E}">
        <p14:creationId xmlns:p14="http://schemas.microsoft.com/office/powerpoint/2010/main" val="3904025101"/>
      </p:ext>
    </p:extLst>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themeOverride>
</file>

<file path=ppt/theme/themeOverride2.xml><?xml version="1.0" encoding="utf-8"?>
<a:themeOverride xmlns:a="http://schemas.openxmlformats.org/drawingml/2006/main">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themeOverride>
</file>

<file path=ppt/theme/themeOverride3.xml><?xml version="1.0" encoding="utf-8"?>
<a:themeOverride xmlns:a="http://schemas.openxmlformats.org/drawingml/2006/main">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themeOverride>
</file>

<file path=ppt/theme/themeOverride4.xml><?xml version="1.0" encoding="utf-8"?>
<a:themeOverride xmlns:a="http://schemas.openxmlformats.org/drawingml/2006/main">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themeOverride>
</file>

<file path=ppt/theme/themeOverride5.xml><?xml version="1.0" encoding="utf-8"?>
<a:themeOverride xmlns:a="http://schemas.openxmlformats.org/drawingml/2006/main">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themeOverride>
</file>

<file path=ppt/theme/themeOverride6.xml><?xml version="1.0" encoding="utf-8"?>
<a:themeOverride xmlns:a="http://schemas.openxmlformats.org/drawingml/2006/main">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themeOverride>
</file>

<file path=ppt/theme/themeOverride7.xml><?xml version="1.0" encoding="utf-8"?>
<a:themeOverride xmlns:a="http://schemas.openxmlformats.org/drawingml/2006/main">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themeOverride>
</file>

<file path=ppt/theme/themeOverride8.xml><?xml version="1.0" encoding="utf-8"?>
<a:themeOverride xmlns:a="http://schemas.openxmlformats.org/drawingml/2006/main">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themeOverride>
</file>

<file path=ppt/theme/themeOverride9.xml><?xml version="1.0" encoding="utf-8"?>
<a:themeOverride xmlns:a="http://schemas.openxmlformats.org/drawingml/2006/main">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themeOverride>
</file>

<file path=ppt/theme/themeOverride10.xml><?xml version="1.0" encoding="utf-8"?>
<a:themeOverride xmlns:a="http://schemas.openxmlformats.org/drawingml/2006/main">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themeOverride>
</file>

<file path=ppt/theme/themeOverride11.xml><?xml version="1.0" encoding="utf-8"?>
<a:themeOverride xmlns:a="http://schemas.openxmlformats.org/drawingml/2006/main">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themeOverride>
</file>

<file path=docProps/app.xml><?xml version="1.0" encoding="utf-8"?>
<Properties xmlns="http://schemas.openxmlformats.org/officeDocument/2006/extended-properties" xmlns:vt="http://schemas.openxmlformats.org/officeDocument/2006/docPropsVTypes">
  <TotalTime>11951</TotalTime>
  <Words>4307</Words>
  <Application>Microsoft Office PowerPoint</Application>
  <PresentationFormat>Widescreen</PresentationFormat>
  <Paragraphs>1078</Paragraphs>
  <Slides>66</Slides>
  <Notes>7</Notes>
  <HiddenSlides>0</HiddenSlides>
  <MMClips>0</MMClips>
  <ScaleCrop>false</ScaleCrop>
  <HeadingPairs>
    <vt:vector size="6" baseType="variant">
      <vt:variant>
        <vt:lpstr>Fonts Used</vt:lpstr>
      </vt:variant>
      <vt:variant>
        <vt:i4>7</vt:i4>
      </vt:variant>
      <vt:variant>
        <vt:lpstr>Theme</vt:lpstr>
      </vt:variant>
      <vt:variant>
        <vt:i4>6</vt:i4>
      </vt:variant>
      <vt:variant>
        <vt:lpstr>Slide Titles</vt:lpstr>
      </vt:variant>
      <vt:variant>
        <vt:i4>66</vt:i4>
      </vt:variant>
    </vt:vector>
  </HeadingPairs>
  <TitlesOfParts>
    <vt:vector size="79" baseType="lpstr">
      <vt:lpstr>Arial</vt:lpstr>
      <vt:lpstr>Calibri</vt:lpstr>
      <vt:lpstr>Roboto Condensed</vt:lpstr>
      <vt:lpstr>Roboto Condensed Light</vt:lpstr>
      <vt:lpstr>Wingdings</vt:lpstr>
      <vt:lpstr>Wingdings 2</vt:lpstr>
      <vt:lpstr>Wingdings 3</vt:lpstr>
      <vt:lpstr>Office Theme</vt:lpstr>
      <vt:lpstr>1_Office Theme</vt:lpstr>
      <vt:lpstr>2_Office Theme</vt:lpstr>
      <vt:lpstr>3_Office Theme</vt:lpstr>
      <vt:lpstr>4_Office Theme</vt:lpstr>
      <vt:lpstr>5_Office Theme</vt:lpstr>
      <vt:lpstr>Unit-4 Memory Management  CO4 - use memory management strategies and allocation techniques</vt:lpstr>
      <vt:lpstr>PowerPoint Presentation</vt:lpstr>
      <vt:lpstr>PowerPoint Presentation</vt:lpstr>
      <vt:lpstr>Memory Management: Concept</vt:lpstr>
      <vt:lpstr>What is Memory?</vt:lpstr>
      <vt:lpstr>Memory Hierarchy</vt:lpstr>
      <vt:lpstr>Memory Hierarchy</vt:lpstr>
      <vt:lpstr>Logical and Physical Address</vt:lpstr>
      <vt:lpstr>Logical Address and Physical Address</vt:lpstr>
      <vt:lpstr>Logical Address and Physical Address</vt:lpstr>
      <vt:lpstr>Basic Memory Management Techniques</vt:lpstr>
      <vt:lpstr>Memory Allocation</vt:lpstr>
      <vt:lpstr>Memory Allocation</vt:lpstr>
      <vt:lpstr>Contiguous Memory Allocation</vt:lpstr>
      <vt:lpstr>Contiguous Memory Allocation</vt:lpstr>
      <vt:lpstr>Contiguous Memory Allocation(Conti..)</vt:lpstr>
      <vt:lpstr>Fixed / Static partition</vt:lpstr>
      <vt:lpstr>Fixed /Static Partition </vt:lpstr>
      <vt:lpstr>Fixed / Static partition(Conti..) </vt:lpstr>
      <vt:lpstr>Fixed / Static Partitions(Conti..)</vt:lpstr>
      <vt:lpstr>Dynamic / Variable Partition</vt:lpstr>
      <vt:lpstr>Dynamic / Variable Partitions(Conti..)</vt:lpstr>
      <vt:lpstr>Dynamic / Variable Partitions(Conti..)</vt:lpstr>
      <vt:lpstr>Dynamic / Variable Partitions</vt:lpstr>
      <vt:lpstr>Swapping</vt:lpstr>
      <vt:lpstr>Swapping </vt:lpstr>
      <vt:lpstr>Swapping(Conti..) </vt:lpstr>
      <vt:lpstr>Non-Contiguous Memory Allocation</vt:lpstr>
      <vt:lpstr>Non-Contiguous Memory Allocation</vt:lpstr>
      <vt:lpstr>Non-Contiguous Memory Allocation(Conti..)</vt:lpstr>
      <vt:lpstr>Paging</vt:lpstr>
      <vt:lpstr>Paging</vt:lpstr>
      <vt:lpstr>Address Translation in Paging</vt:lpstr>
      <vt:lpstr>Paging</vt:lpstr>
      <vt:lpstr>Segmentation</vt:lpstr>
      <vt:lpstr>Segmentation</vt:lpstr>
      <vt:lpstr>Segmentation(Conti..)</vt:lpstr>
      <vt:lpstr>Segmentation(Conti..)</vt:lpstr>
      <vt:lpstr>Segmentation(Conti..)</vt:lpstr>
      <vt:lpstr>The concept of virtual memory</vt:lpstr>
      <vt:lpstr>Virtual Memory</vt:lpstr>
      <vt:lpstr>Virtual Memory(Conti..)</vt:lpstr>
      <vt:lpstr>Virtual Memory(Conti..)</vt:lpstr>
      <vt:lpstr>Virtual Memory(Conti..)</vt:lpstr>
      <vt:lpstr>Concept of a Page Fault</vt:lpstr>
      <vt:lpstr>Page Fault</vt:lpstr>
      <vt:lpstr>Page Fault</vt:lpstr>
      <vt:lpstr>Page Fault</vt:lpstr>
      <vt:lpstr>Memory Allocation Strategies (First Fit, Best Fit, and Worst Fit)</vt:lpstr>
      <vt:lpstr>Strategies to select partition </vt:lpstr>
      <vt:lpstr>Strategies to select partition(Conti..)</vt:lpstr>
      <vt:lpstr>Strategies to select partition(Conti..) </vt:lpstr>
      <vt:lpstr>Strategies to select partition(Conti..) </vt:lpstr>
      <vt:lpstr>Page Replacement Algorithmes: FIFO, LRU, OPT</vt:lpstr>
      <vt:lpstr>Page replacement algorithms</vt:lpstr>
      <vt:lpstr>Page Replacement Algorithme: FIFO(First In First Out Page ) </vt:lpstr>
      <vt:lpstr>1. FIFO Page Replacement Algorithm</vt:lpstr>
      <vt:lpstr>FIFO Page Replacement Algorithm</vt:lpstr>
      <vt:lpstr>Page Replacement Algorithme: LRU (Least Recently Used)</vt:lpstr>
      <vt:lpstr>LRU (Least Recently Used) Page Replacement Algorithm</vt:lpstr>
      <vt:lpstr>LRU (Least Recently Used) Page Replacement Algorithm</vt:lpstr>
      <vt:lpstr>LRU (Least Recently Used) Page Replacement Algorithm</vt:lpstr>
      <vt:lpstr>Page Replacement Algorithme: OPT (Optimal)</vt:lpstr>
      <vt:lpstr>Optimal Page Replacement Algorithm</vt:lpstr>
      <vt:lpstr>Optimal Page Replacement Algorithm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Aakash</cp:lastModifiedBy>
  <cp:revision>795</cp:revision>
  <dcterms:created xsi:type="dcterms:W3CDTF">2020-05-01T05:09:15Z</dcterms:created>
  <dcterms:modified xsi:type="dcterms:W3CDTF">2026-01-27T09:24:00Z</dcterms:modified>
</cp:coreProperties>
</file>